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5 次课｜体系结构设计（一）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本次目标与衔接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要会写需求验收准则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要对上视图和关注点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要认出分层缺陷和不可修改处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3493007"/>
            <a:ext cx="8321040" cy="45491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承接 T2：运行环境约束物理视图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4094225"/>
            <a:ext cx="7918704" cy="45491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承接 E2：4+1 已看过下单场景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695444"/>
            <a:ext cx="7516367" cy="45491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本讲写清需求、分层和不可变约束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296662"/>
            <a:ext cx="7114031" cy="45491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引出 E3：先写验收准则，再与 AI 协作</a:t>
            </a:r>
          </a:p>
        </p:txBody>
      </p:sp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需求分成三层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3167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教材管理只在这一节当例子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说法来自 2024 第 3-1 讲第 3–4 页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962656"/>
            <a:ext cx="8321040" cy="58750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陈述要清晰、简明、一致、无二义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696462"/>
            <a:ext cx="7918704" cy="58750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业务需求：对目标的高层次要求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430268"/>
            <a:ext cx="7516367" cy="58750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用户需求：软件必须完成的任务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164074"/>
            <a:ext cx="7114031" cy="58750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功能需求：为完成任务必须做的功能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参与者与用例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教材管理已写明：筛选、排序、增、删、改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场景：从一个参与者看外部行为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298698"/>
            <a:ext cx="7918704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用例：一类场景的共同抽象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参与者可以是人，也可以是外部系统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031486"/>
            <a:ext cx="7114031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参与者看不见的内部步骤，不算用例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用例描述的六项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要写清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用例名称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参与者看得见的一件事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参与者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谁发起，包括外部系统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前置条件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开始前已经成立的事实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主事件流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正常情况下的交互顺序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辅事件流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特殊或异常时改走哪条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后置条件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20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结束后系统处在什么状态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规则和验收准则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教材管理的旧课件没有写死具体规则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业务规则：这种情况必须怎样处理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298698"/>
            <a:ext cx="7918704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验收准则：做到哪一步才算合格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准则要在和 AI 协作生成之前写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031486"/>
            <a:ext cx="7114031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写不出判据的，先标成待追问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口述收成三份清单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教材管理先只收到列表上的操作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一句口述拆进这三份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写不清的不补课件里没有的数字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3675887"/>
            <a:ext cx="2468879" cy="13258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参与者与用例</a:t>
            </a:r>
          </a:p>
        </p:txBody>
      </p:sp>
      <p:sp>
        <p:nvSpPr>
          <p:cNvPr id="5" name="fig"/>
          <p:cNvSpPr/>
          <p:nvPr/>
        </p:nvSpPr>
        <p:spPr>
          <a:xfrm>
            <a:off x="2953512" y="4192523"/>
            <a:ext cx="310896" cy="292608"/>
          </a:xfrm>
          <a:prstGeom prst="right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3337560" y="3675887"/>
            <a:ext cx="2468879" cy="13258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业务规则</a:t>
            </a:r>
          </a:p>
        </p:txBody>
      </p:sp>
      <p:sp>
        <p:nvSpPr>
          <p:cNvPr id="7" name="fig"/>
          <p:cNvSpPr/>
          <p:nvPr/>
        </p:nvSpPr>
        <p:spPr>
          <a:xfrm>
            <a:off x="5879592" y="4192523"/>
            <a:ext cx="310896" cy="292608"/>
          </a:xfrm>
          <a:prstGeom prst="right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6263640" y="3675887"/>
            <a:ext cx="2468879" cy="13258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需求验收准则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追问演练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教材管理只提供筛选、排序、增、删、改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学生提一条需求，教师连续追问三轮，把含混的地方挤出来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298698"/>
            <a:ext cx="7918704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第一轮：参与者是谁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4165091"/>
            <a:ext cx="7516367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第二轮：哪些才是用例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5031486"/>
            <a:ext cx="7114031" cy="720089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第三轮：怎样才算做对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体系结构与四张视图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847087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结构是元素、可见属性，以及它们的关系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场景把一次活动串起这四张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名称来自 Kruchten 1995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3493007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逻辑视图：功能与结构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3493007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进程视图：运行时谁通信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4718303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开发视图：模块怎么分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4718303"/>
            <a:ext cx="4091939" cy="10881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物理视图：落到哪台机器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逻辑视图局部：订单链</a:t>
            </a:r>
          </a:p>
        </p:txBody>
      </p:sp>
      <p:pic>
        <p:nvPicPr>
          <p:cNvPr id="3" name="pic#archify#crop#c247ba6a8721f64bdfa1f0d4c7bb0b219ff6a60c#SDC/E2/diagrams/mall-logical.html#mall-logical-order.png" descr="mall-logical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88" y="1298448"/>
            <a:ext cx="8050022" cy="3566159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4901183"/>
            <a:ext cx="8412480" cy="6766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/order/cancelOrder 只发延迟消息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派生图，局部，meng004/​mall，mall-logical.html，c247ba6a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逻辑视图局部：改密链</a:t>
            </a:r>
          </a:p>
        </p:txBody>
      </p:sp>
      <p:pic>
        <p:nvPicPr>
          <p:cNvPr id="3" name="pic#archify#crop#c247ba6a8721f64bdfa1f0d4c7bb0b219ff6a60c#SDC/E2/diagrams/mall-logical.html#mall-logical-password.png" descr="mall-logical-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298448"/>
            <a:ext cx="8631936" cy="1489775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4901183"/>
            <a:ext cx="8412480" cy="6766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返回码在控制器里译成文案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派生图，局部，meng004/​mall，mall-logical.html，c247ba6a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进程视图局部：立即返回</a:t>
            </a:r>
          </a:p>
        </p:txBody>
      </p:sp>
      <p:pic>
        <p:nvPicPr>
          <p:cNvPr id="3" name="pic#archify#crop#c247ba6a8721f64bdfa1f0d4c7bb0b219ff6a60c#SDC/E2/diagrams/mall-cancel.html#mall-cancel-now.png" descr="mall-cancel-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298448"/>
            <a:ext cx="8631935" cy="3214601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4901183"/>
            <a:ext cx="8412480" cy="6766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成功返回时，订单仍待付款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派生图，局部，meng004/​mall，mall-cancel.html，c247ba6a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局部：虚线从队列回到订单服务</a:t>
            </a:r>
          </a:p>
        </p:txBody>
      </p:sp>
      <p:pic>
        <p:nvPicPr>
          <p:cNvPr id="3" name="pic#archify#crop#c247ba6a8721f64bdfa1f0d4c7bb0b219ff6a60c#SDC/E2/diagrams/mall-cancel.html#mall-cancel-later.png" descr="mall-cancel-l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17" y="1298448"/>
            <a:ext cx="7043166" cy="4279392"/>
          </a:xfrm>
          <a:prstGeom prst="rect">
            <a:avLst/>
          </a:prstGeom>
        </p:spPr>
      </p:pic>
      <p:sp>
        <p:nvSpPr>
          <p:cNvPr id="4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派生图，局部，meng004/​mall，mall-cancel.html，c247ba6a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开发视图局部：七个模块</a:t>
            </a:r>
          </a:p>
        </p:txBody>
      </p:sp>
      <p:pic>
        <p:nvPicPr>
          <p:cNvPr id="3" name="pic#archify#crop#c247ba6a8721f64bdfa1f0d4c7bb0b219ff6a60c#SDC/E2/diagrams/mall-dependencies.html#mall-dependencies-all.png" descr="mall-dependencies-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42" y="1298448"/>
            <a:ext cx="8082714" cy="4279392"/>
          </a:xfrm>
          <a:prstGeom prst="rect">
            <a:avLst/>
          </a:prstGeom>
        </p:spPr>
      </p:pic>
      <p:sp>
        <p:nvSpPr>
          <p:cNvPr id="4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派生图，局部，meng004/​mall，mall-dependencies.html，c247ba6a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开发视图局部：生成代码</a:t>
            </a:r>
          </a:p>
        </p:txBody>
      </p:sp>
      <p:pic>
        <p:nvPicPr>
          <p:cNvPr id="3" name="pic#archify#crop#c247ba6a8721f64bdfa1f0d4c7bb0b219ff6a60c#SDC/E2/diagrams/mall-dependencies.html#mall-dependencies-mbg.png" descr="mall-dependencies-m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298448"/>
            <a:ext cx="8631936" cy="3531246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365760" y="4901183"/>
            <a:ext cx="8412480" cy="67665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放大后能看清连向 mall-mbg 的线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局部放大。图片来源：archify 派生图，局部，meng004/​mall，mall-dependencies.html，c247ba6a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物理视图：容器端口与宿主映射</a:t>
            </a:r>
          </a:p>
        </p:txBody>
      </p:sp>
      <p:pic>
        <p:nvPicPr>
          <p:cNvPr id="3" name="pic#derived#derived#c247ba6a8721f64bdfa1f0d4c7bb0b219ff6a60c#SDC/E2/说明.md" descr="说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45" y="1481328"/>
            <a:ext cx="8198909" cy="3639311"/>
          </a:xfrm>
          <a:prstGeom prst="rect">
            <a:avLst/>
          </a:prstGeom>
        </p:spPr>
      </p:pic>
      <p:sp>
        <p:nvSpPr>
          <p:cNvPr id="4" name="ann"/>
          <p:cNvSpPr/>
          <p:nvPr/>
        </p:nvSpPr>
        <p:spPr>
          <a:xfrm>
            <a:off x="365760" y="5157216"/>
            <a:ext cx="2020824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DB 13306</a:t>
            </a:r>
          </a:p>
        </p:txBody>
      </p:sp>
      <p:sp>
        <p:nvSpPr>
          <p:cNvPr id="5" name="ann"/>
          <p:cNvSpPr/>
          <p:nvPr/>
        </p:nvSpPr>
        <p:spPr>
          <a:xfrm>
            <a:off x="2496312" y="5157216"/>
            <a:ext cx="2020824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MQ 5673</a:t>
            </a:r>
          </a:p>
        </p:txBody>
      </p:sp>
      <p:sp>
        <p:nvSpPr>
          <p:cNvPr id="6" name="ann"/>
          <p:cNvSpPr/>
          <p:nvPr/>
        </p:nvSpPr>
        <p:spPr>
          <a:xfrm>
            <a:off x="4626864" y="5157216"/>
            <a:ext cx="2020824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Redis 16379</a:t>
            </a:r>
          </a:p>
        </p:txBody>
      </p:sp>
      <p:sp>
        <p:nvSpPr>
          <p:cNvPr id="7" name="ann"/>
          <p:cNvSpPr/>
          <p:nvPr/>
        </p:nvSpPr>
        <p:spPr>
          <a:xfrm>
            <a:off x="6757416" y="5157216"/>
            <a:ext cx="2020824" cy="402336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36576" rIns="36576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Mongo 27018</a:t>
            </a:r>
          </a:p>
        </p:txBody>
      </p:sp>
      <p:sp>
        <p:nvSpPr>
          <p:cNvPr id="8" name="fn"/>
          <p:cNvSpPr txBox="1"/>
          <p:nvPr/>
        </p:nvSpPr>
        <p:spPr>
          <a:xfrm>
            <a:off x="411480" y="5614416"/>
            <a:ext cx="8321040" cy="29260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图片来源：Mermaid 派生图，meng004/​mall，说明.md，c247ba6a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+1 场景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下单—支付—超时取消把四张视图串起来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下单：同一请求写订单，并发出延迟消息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3313175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587496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支付：更新订单，并扣减库存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4468368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4742688"/>
            <a:ext cx="8321040" cy="88087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超时取消：到期后检查状态，释放锁库存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风格与边界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风格是某类系统惯用的组织方式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边界是依赖不许越过的地方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开发视图把生成代码标成不可直接改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分层是一种风格，方向要能被检查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Layer 与 Tier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3167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4-1 第 14 页列出这个题目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Layer 不由部署方式来定义</a:t>
            </a:r>
          </a:p>
        </p:txBody>
      </p:sp>
      <p:sp>
        <p:nvSpPr>
          <p:cNvPr id="4" name="fig"/>
          <p:cNvSpPr/>
          <p:nvPr/>
        </p:nvSpPr>
        <p:spPr>
          <a:xfrm>
            <a:off x="365760" y="2962656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Layer</a:t>
            </a:r>
          </a:p>
        </p:txBody>
      </p:sp>
      <p:sp>
        <p:nvSpPr>
          <p:cNvPr id="5" name="fig"/>
          <p:cNvSpPr/>
          <p:nvPr/>
        </p:nvSpPr>
        <p:spPr>
          <a:xfrm>
            <a:off x="4663440" y="2962656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Tier</a:t>
            </a:r>
          </a:p>
        </p:txBody>
      </p:sp>
      <p:sp>
        <p:nvSpPr>
          <p:cNvPr id="6" name="fig"/>
          <p:cNvSpPr/>
          <p:nvPr/>
        </p:nvSpPr>
        <p:spPr>
          <a:xfrm>
            <a:off x="365760" y="3739896"/>
            <a:ext cx="4114800" cy="6156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逻辑上的职责划分</a:t>
            </a:r>
          </a:p>
        </p:txBody>
      </p:sp>
      <p:sp>
        <p:nvSpPr>
          <p:cNvPr id="7" name="fig"/>
          <p:cNvSpPr/>
          <p:nvPr/>
        </p:nvSpPr>
        <p:spPr>
          <a:xfrm>
            <a:off x="4663440" y="3739896"/>
            <a:ext cx="4114800" cy="6156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独立进程或机器</a:t>
            </a:r>
          </a:p>
        </p:txBody>
      </p:sp>
      <p:sp>
        <p:nvSpPr>
          <p:cNvPr id="8" name="fig"/>
          <p:cNvSpPr/>
          <p:nvPr/>
        </p:nvSpPr>
        <p:spPr>
          <a:xfrm>
            <a:off x="365760" y="4447032"/>
            <a:ext cx="4114800" cy="6156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控制器、服务、数据访问</a:t>
            </a:r>
          </a:p>
        </p:txBody>
      </p:sp>
      <p:sp>
        <p:nvSpPr>
          <p:cNvPr id="9" name="fig"/>
          <p:cNvSpPr/>
          <p:nvPr/>
        </p:nvSpPr>
        <p:spPr>
          <a:xfrm>
            <a:off x="4663440" y="4447032"/>
            <a:ext cx="4114800" cy="6156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门户进程与数据库容器</a:t>
            </a:r>
          </a:p>
        </p:txBody>
      </p:sp>
      <p:sp>
        <p:nvSpPr>
          <p:cNvPr id="10" name="fig"/>
          <p:cNvSpPr/>
          <p:nvPr/>
        </p:nvSpPr>
        <p:spPr>
          <a:xfrm>
            <a:off x="365760" y="5154168"/>
            <a:ext cx="4114800" cy="6156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与部署无必然绑定</a:t>
            </a:r>
          </a:p>
        </p:txBody>
      </p:sp>
      <p:sp>
        <p:nvSpPr>
          <p:cNvPr id="11" name="fig"/>
          <p:cNvSpPr/>
          <p:nvPr/>
        </p:nvSpPr>
        <p:spPr>
          <a:xfrm>
            <a:off x="4663440" y="5154168"/>
            <a:ext cx="4114800" cy="6156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跨网络通常是跨 Tier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分层各自干什么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控制器接收请求，转给服务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服务写业务规则，并标事务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数据访问负责读写存储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依赖向下，下层不调用上层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逻辑泄漏：改密返回码</a:t>
            </a:r>
          </a:p>
        </p:txBody>
      </p:sp>
      <p:sp>
        <p:nvSpPr>
          <p:cNvPr id="3" name="code"/>
          <p:cNvSpPr txBox="1"/>
          <p:nvPr/>
        </p:nvSpPr>
        <p:spPr>
          <a:xfrm>
            <a:off x="411480" y="1481328"/>
            <a:ext cx="8138160" cy="318211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int status ​= ​adminService.​updatePassword(​updatePasswordParam);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 (​status ​&gt; ​0)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return CommonResult.​success(​status);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 else if (​status ​== ​-1)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return CommonResult.​failed(​"提交参数不合法");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 else if (​status ​== ​-2)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return CommonResult.​failed(​"找不到该用户");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 else if (​status ​== ​-3)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return CommonResult.​failed(​"旧密码错误");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 else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return CommonResult.​failed(​);</a:t>
            </a:r>
          </a:p>
        </p:txBody>
      </p:sp>
      <p:sp>
        <p:nvSpPr>
          <p:cNvPr id="4" name="fn"/>
          <p:cNvSpPr txBox="1"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出处：mall-admin/​src/​main/​java/​com/​macro/​mall/​controller/​UmsAdminController.java:​148-158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服务使用生成查询</a:t>
            </a:r>
          </a:p>
        </p:txBody>
      </p:sp>
      <p:sp>
        <p:nvSpPr>
          <p:cNvPr id="3" name="code"/>
          <p:cNvSpPr txBox="1"/>
          <p:nvPr/>
        </p:nvSpPr>
        <p:spPr>
          <a:xfrm>
            <a:off x="411480" y="1481328"/>
            <a:ext cx="8138160" cy="318211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OmsOrderExample orderExample ​= ​new OmsOrderExample(​);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OmsOrderExample.​Criteria criteria ​= ​orderExample.​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createCriteria(​);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criteria.​andDeleteStatusEqualTo(​0)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.​andMemberIdEqualTo(​member.​getId(​));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if(​status!=null){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criteria.​andStatusEqualTo(​status);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orderExample.​setOrderByClause(​"create_time desc");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List&lt;OmsOrder&gt; ​orderList ​= ​orderMapper.​selectByExample(​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orderExample);</a:t>
            </a:r>
          </a:p>
        </p:txBody>
      </p:sp>
      <p:sp>
        <p:nvSpPr>
          <p:cNvPr id="4" name="fn"/>
          <p:cNvSpPr txBox="1"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出处：mall-portal/​src/​main/​java/​com/​macro/​mall/​portal/​service/​impl/​OmsPortalOrderServiceImpl.java:​359-367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事务注解在接口上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generateOrder 的事务注解锁在接口上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实现类第 94 行没有重复这行注解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@Transactional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Map&lt;String,​ Object&gt; ​generateOrder(​OrderParam orderParam);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56616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出处：mall-portal/​src/​main/​java/​com/​macro/​mall/​portal/​service/​OmsPortalOrderService.java:​26-27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840480"/>
            <a:ext cx="8138160" cy="43891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public Map&lt;String,​ Object&gt; ​generateOrder(​OrderParam orderParam) {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429768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出处：mall-portal/​src/​main/​java/​com/​macro/​mall/​portal/​service/​impl/​OmsPortalOrderServiceImpl.java:​94-94</a:t>
            </a:r>
          </a:p>
        </p:txBody>
      </p:sp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违背分层的四种形态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逻辑泄漏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业务判断跑到上层</a:t>
            </a:r>
          </a:p>
        </p:txBody>
      </p:sp>
      <p:sp>
        <p:nvSpPr>
          <p:cNvPr id="4" name="fig"/>
          <p:cNvSpPr/>
          <p:nvPr/>
        </p:nvSpPr>
        <p:spPr>
          <a:xfrm>
            <a:off x="4640580" y="1572768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跨层调用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越过相邻的层</a:t>
            </a:r>
          </a:p>
        </p:txBody>
      </p:sp>
      <p:sp>
        <p:nvSpPr>
          <p:cNvPr id="5" name="fig"/>
          <p:cNvSpPr/>
          <p:nvPr/>
        </p:nvSpPr>
        <p:spPr>
          <a:xfrm>
            <a:off x="411480" y="3758183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依赖生成代码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直接拿生成查询</a:t>
            </a:r>
          </a:p>
        </p:txBody>
      </p:sp>
      <p:sp>
        <p:nvSpPr>
          <p:cNvPr id="6" name="fig"/>
          <p:cNvSpPr/>
          <p:nvPr/>
        </p:nvSpPr>
        <p:spPr>
          <a:xfrm>
            <a:off x="4640580" y="3758183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循环依赖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两层互相调用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依赖规则的结构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示意：mall 里没有 ArchUnit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规则：服务层的类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不得依赖控制器所在的包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违反时构建失败，不靠人翻文档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含 AI 组件时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接入可以是模型即服务、检索增强、智能体编排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模型按不可靠的外部依赖对待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架构上要隔离、超时、重试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还要能缓存，并且能够降级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约束只写在文档里，为什么迟早会被违背？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文档不会在每次提交时执行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后来的修改对不上旧句子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可执行的规则才会让构建失败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先找出不许改的部分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mall-mbg 的生成代码，不手改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后台和前台共用的表结构，不改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实体上的 Schema 注解，被直接当成接口说明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接手时先标出这三处，再谈改哪里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注解被当成接口说明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676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766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注解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订单 id 与订单编号有；memberId、couponId 没有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code"/>
          <p:cNvSpPr txBox="1"/>
          <p:nvPr/>
        </p:nvSpPr>
        <p:spPr>
          <a:xfrm>
            <a:off x="411480" y="2231136"/>
            <a:ext cx="8138160" cy="290779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public class OmsOrder implements Serializable {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@Schema(​title ​= ​"订单id")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Long id;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/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Long memberId;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/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Long couponId;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/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@Schema(​title ​= ​"订单编号")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String orderSn;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157216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出处：mall-mbg/​src/​main/​java/​com/​macro/​mall/​model/​OmsOrder.java:​8-17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视图和决策记录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视图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决策记录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说明系统现在长什么样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说明当初为什么这样定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元素、依赖、部署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上下文、决定、后果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改了结构就要改图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还要写被否决的方案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决策记录的四段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段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要写清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上下文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当时面对什么限制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决定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选了哪一种做法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后果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因此得到什么、失去什么</a:t>
                      </a:r>
                    </a:p>
                  </a:txBody>
                  <a:tcPr anchor="ctr"/>
                </a:tc>
              </a:tr>
              <a:tr h="749811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被否决方案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放弃了什么，为什么放弃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后台和门户各有一套订单服务，这是架构缺陷，还是合理的边界？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后台类注释写的是订单管理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前台类注释写的是前台订单管理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同一条规则若两处各写一份，就变成重复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记住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要点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需求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收成三份清单；含混处靠追问挤出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视图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四张视图加场景；场景是下单—支付—超时取消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分层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四种违背；依赖方向要能被检查</a:t>
                      </a:r>
                    </a:p>
                  </a:txBody>
                  <a:tcPr anchor="ctr"/>
                </a:tc>
              </a:tr>
              <a:tr h="749811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约束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生成代码、共用表、Schema 注解；决策记录写四段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实验 E3 开始前完成。题干和选项与课前作业一致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需求验收准则应当在什么时间写出来？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代码实现完成之后，用于验收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与 AI 协作生成之前，作为判定产出是否合格的依据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提交作品时随说明一起补写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期末答辩前统一补写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AI 生成的代码只要通过现有测试，就可以直接合并。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依赖注入的三种方式中，哪一种最容易让编写特征测试变困难？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构造函数注入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Setter 注入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字段注入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三种方式没有差别</a:t>
            </a:r>
          </a:p>
        </p:txBody>
      </p:sp>
    </p:spTree>
  </p:cSld>
  <p:clrMapOvr>
    <a:masterClrMapping/>
  </p:clrMapOvr>
  <p:hf sldNum="0" hdr="0" ftr="0" dt="0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预习题（4—5）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“事务由数据访问层承担还是由服务层承担”属于哪一类设计决策？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命名决策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格式决策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测试框架选型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体系结构决策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让 AI 生成代码之前，应当先交出需求验收准则与不可变约束。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做完这两题，再看下一页的阅读</a:t>
            </a:r>
          </a:p>
        </p:txBody>
      </p:sp>
    </p:spTree>
  </p:cSld>
  <p:clrMapOvr>
    <a:masterClrMapping/>
  </p:clrMapOvr>
  <p:hf sldNum="0" hdr="0" ftr="0" dt="0"/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课后阅读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[25]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Kruchten 1995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[11]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Newman《微服务设计》</a:t>
                      </a:r>
                    </a:p>
                  </a:txBody>
                  <a:tcPr anchor="ctr"/>
                </a:tc>
              </a:tr>
              <a:tr h="749807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[7]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Fowler《企业应用架构模式》第 1、3、4 章</a:t>
                      </a:r>
                    </a:p>
                  </a:txBody>
                  <a:tcPr anchor="ctr"/>
                </a:tc>
              </a:tr>
              <a:tr h="749811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[8]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Ford 等《演进式架构》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