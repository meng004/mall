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2 次课｜开发环境与棕地仓库导读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三个工具：IDEA 与 Qoder CN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IDEA 角色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集成开发环境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IDEA 职责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编码、构建、运行调试与调用分析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IDEA 边界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编译、运行和测试结果是事实依据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Qoder 角色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IDE 内的 AI 编码助手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Qoder 职责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借助 skill 理解代码，起草修改与测试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Qoder 边界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须人工审查和测试验证，不得触碰不可变约束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三个工具：DeepSeek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4980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/>
                </a:tc>
              </a:tr>
              <a:tr h="74980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提供推理的大模型服务</a:t>
                      </a:r>
                    </a:p>
                  </a:txBody>
                  <a:tcPr anchor="ctr"/>
                </a:tc>
              </a:tr>
              <a:tr h="74980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为助手提供推理</a:t>
                      </a:r>
                    </a:p>
                  </a:txBody>
                  <a:tcPr anchor="ctr"/>
                </a:tc>
              </a:tr>
              <a:tr h="74980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边界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不掌握本地运行时事实，可能出错，不得上传密钥与隐私数据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谁提出、谁执行、谁裁决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人对产出的正确性与质量负责，并要能解释每一处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提出：Qoder CN 起草，DeepSeek 推理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313175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587496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执行：IDEA 编码、构建、运行调试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446836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742688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裁决：人工审查，编译运行测试是事实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环境检查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必备 JDK 17、Maven、IDEA；Qoder 与 DeepSeek 选开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运行环境与模型入口由教师、助教课前准备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根 pom.xml 第 36 行写死了 docker.host（192.168.3.101:2375）</a:t>
            </a:r>
          </a:p>
        </p:txBody>
      </p:sp>
      <p:sp>
        <p:nvSpPr>
          <p:cNvPr id="4" name="cap"/>
          <p:cNvSpPr txBox="1"/>
          <p:nvPr/>
        </p:nvSpPr>
        <p:spPr>
          <a:xfrm>
            <a:off x="502920" y="3712464"/>
            <a:ext cx="8138160" cy="38404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构建命令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4133088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mvn -B -DskipTests -Ddocker.skip=true -pl mall-portal -am package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后台菜单局部</a:t>
            </a:r>
          </a:p>
        </p:txBody>
      </p:sp>
      <p:pic>
        <p:nvPicPr>
          <p:cNvPr id="3" name="pic#mall#crop#baseline-dcaa93b3#document/resource/mall_admin_show.png#admin-nav.png" descr="admin-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" y="1298448"/>
            <a:ext cx="6982358" cy="3035808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370832"/>
            <a:ext cx="8412480" cy="120700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图中侧栏三段：商品、订单、营销、权限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现场演示后台：商品、订单、促销、内容、用户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局部放大。图片来源：macrozheng/​mall，Apache-2.0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前台首页局部</a:t>
            </a:r>
          </a:p>
        </p:txBody>
      </p:sp>
      <p:pic>
        <p:nvPicPr>
          <p:cNvPr id="3" name="pic#mall#crop#baseline-dcaa93b3#document/resource/re_mall_app_show.jpg#app-home.jpg" descr="app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92" y="1298448"/>
            <a:ext cx="6602215" cy="2505456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3840480"/>
            <a:ext cx="8412480" cy="1737359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图中是前台首页顶部的搜索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现场演示前台：首页、搜索、购物车、下单、会员中心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下单从购物车进入前台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局部放大。图片来源：macrozheng/​mall，Apache-2.0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系统架构与业务架构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左图是系统架构，右图是业务架构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两张整图只作定位</a:t>
            </a:r>
          </a:p>
        </p:txBody>
      </p:sp>
      <p:pic>
        <p:nvPicPr>
          <p:cNvPr id="4" name="pic#mall#full#baseline-dcaa93b3#document/resource/re_mall_system_arch.jpg" descr="re_mall_system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13703"/>
            <a:ext cx="4197096" cy="2385072"/>
          </a:xfrm>
          <a:prstGeom prst="rect">
            <a:avLst/>
          </a:prstGeom>
        </p:spPr>
      </p:pic>
      <p:pic>
        <p:nvPicPr>
          <p:cNvPr id="5" name="pic#mall#full#baseline-dcaa93b3#document/resource/re_mall_business_arch.jpg" descr="re_mall_business_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3157560"/>
            <a:ext cx="4197096" cy="2097359"/>
          </a:xfrm>
          <a:prstGeom prst="rect">
            <a:avLst/>
          </a:prstGeom>
        </p:spPr>
      </p:pic>
      <p:sp>
        <p:nvSpPr>
          <p:cNvPr id="6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图片来源：macrozheng/​mall，Apache-2.0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系统架构局部</a:t>
            </a:r>
          </a:p>
        </p:txBody>
      </p:sp>
      <p:pic>
        <p:nvPicPr>
          <p:cNvPr id="3" name="pic#mall#crop#baseline-dcaa93b3#document/resource/re_mall_system_arch.jpg#system-core.png" descr="system-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80" y="1298448"/>
            <a:ext cx="3740638" cy="2505456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3840480"/>
            <a:ext cx="8412480" cy="1737359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三个应用：mall-admin、mall-portal、mall-search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RabbitMQ（消息队列）与 MySQL（数据库）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节点摘录后重排，连线关系看上一页整图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节点摘录（已重排）。图片来源：macrozheng/​mall，Apache-2.0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业务架构局部</a:t>
            </a:r>
          </a:p>
        </p:txBody>
      </p:sp>
      <p:pic>
        <p:nvPicPr>
          <p:cNvPr id="3" name="pic#mall#crop#baseline-dcaa93b3#document/resource/re_mall_business_arch.jpg#business-front.png" descr="business-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05" y="1298448"/>
            <a:ext cx="8275588" cy="3566159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前台业务块里的商品、购物车、下单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局部摘录。图片来源：macrozheng/​mall，Apache-2.0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七个模块，以及调用层次的局限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admin、portal 依赖 mbg 与 security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security、mbg 依赖 common；search、demo 依赖 mbg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调用层次追不到 CancelOrderReceiver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493007"/>
            <a:ext cx="4091939" cy="47548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mall-common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3493007"/>
            <a:ext cx="4091939" cy="47548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mall-mbg 生成代码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105655"/>
            <a:ext cx="4091939" cy="47548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mall-security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105655"/>
            <a:ext cx="4091939" cy="47548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mall-admin</a:t>
            </a:r>
          </a:p>
        </p:txBody>
      </p:sp>
      <p:sp>
        <p:nvSpPr>
          <p:cNvPr id="8" name="fig"/>
          <p:cNvSpPr/>
          <p:nvPr/>
        </p:nvSpPr>
        <p:spPr>
          <a:xfrm>
            <a:off x="411480" y="4718303"/>
            <a:ext cx="4091939" cy="47548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mall-portal</a:t>
            </a:r>
          </a:p>
        </p:txBody>
      </p:sp>
      <p:sp>
        <p:nvSpPr>
          <p:cNvPr id="9" name="fig"/>
          <p:cNvSpPr/>
          <p:nvPr/>
        </p:nvSpPr>
        <p:spPr>
          <a:xfrm>
            <a:off x="4640580" y="4718303"/>
            <a:ext cx="4091939" cy="47548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mall-search</a:t>
            </a:r>
          </a:p>
        </p:txBody>
      </p:sp>
      <p:sp>
        <p:nvSpPr>
          <p:cNvPr id="10" name="fig"/>
          <p:cNvSpPr/>
          <p:nvPr/>
        </p:nvSpPr>
        <p:spPr>
          <a:xfrm>
            <a:off x="2526030" y="5330952"/>
            <a:ext cx="4091939" cy="47548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mall-demo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任务步骤 ⓪–⑤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465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⓪ 构建与只读查询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019300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293620"/>
            <a:ext cx="8321040" cy="4465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① 依赖图与两项判断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274015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014472"/>
            <a:ext cx="8321040" cy="4465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② 调用链与文件:行号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3735324"/>
            <a:ext cx="8321040" cy="4465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③ 核实一项推断</a:t>
            </a:r>
          </a:p>
        </p:txBody>
      </p:sp>
      <p:sp>
        <p:nvSpPr>
          <p:cNvPr id="10" name="fig"/>
          <p:cNvSpPr/>
          <p:nvPr/>
        </p:nvSpPr>
        <p:spPr>
          <a:xfrm>
            <a:off x="4434840" y="418185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ig"/>
          <p:cNvSpPr/>
          <p:nvPr/>
        </p:nvSpPr>
        <p:spPr>
          <a:xfrm>
            <a:off x="411480" y="4456176"/>
            <a:ext cx="8321040" cy="4465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④ 疑点清单</a:t>
            </a:r>
          </a:p>
        </p:txBody>
      </p:sp>
      <p:sp>
        <p:nvSpPr>
          <p:cNvPr id="12" name="fig"/>
          <p:cNvSpPr/>
          <p:nvPr/>
        </p:nvSpPr>
        <p:spPr>
          <a:xfrm>
            <a:off x="4434840" y="490270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"/>
          <p:cNvSpPr/>
          <p:nvPr/>
        </p:nvSpPr>
        <p:spPr>
          <a:xfrm>
            <a:off x="411480" y="5177028"/>
            <a:ext cx="8321040" cy="4465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⑤ 环境问题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任务⓪ 构建与只读查询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完成构建，在课程环境运行 mall，并做一次只读查询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只读查询在教师准备好的课程机器上执行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未启动先记成环境问题；不要复制教师机器上的路径</a:t>
            </a:r>
          </a:p>
        </p:txBody>
      </p:sp>
      <p:sp>
        <p:nvSpPr>
          <p:cNvPr id="4" name="cap"/>
          <p:cNvSpPr txBox="1"/>
          <p:nvPr/>
        </p:nvSpPr>
        <p:spPr>
          <a:xfrm>
            <a:off x="502920" y="3712464"/>
            <a:ext cx="8138160" cy="38404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构建命令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4133088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mvn -B -DskipTests -Ddocker.skip=true -pl mall-portal -am package</a:t>
            </a:r>
          </a:p>
        </p:txBody>
      </p:sp>
      <p:sp>
        <p:nvSpPr>
          <p:cNvPr id="6" name="cap"/>
          <p:cNvSpPr txBox="1"/>
          <p:nvPr/>
        </p:nvSpPr>
        <p:spPr>
          <a:xfrm>
            <a:off x="502920" y="4590288"/>
            <a:ext cx="8138160" cy="38404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只读查询命令</a:t>
            </a:r>
          </a:p>
        </p:txBody>
      </p:sp>
      <p:sp>
        <p:nvSpPr>
          <p:cNvPr id="7" name="code-cmd"/>
          <p:cNvSpPr txBox="1"/>
          <p:nvPr/>
        </p:nvSpPr>
        <p:spPr>
          <a:xfrm>
            <a:off x="502920" y="5010912"/>
            <a:ext cx="8138160" cy="713232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lang="zh-CN" altLang="en-US">
                <a:latin typeface="Consolas"/>
                <a:ea typeface="Consolas"/>
                <a:cs typeface="Consolas"/>
              </a:rPr>
              <a:t>curl --noproxy '*' 'http://127.0.0.1:18085/product/search?keyword=HUAWEI%20P20&amp;pageNum=1&amp;pageSize=5'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任务① 依赖图与两项判断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5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要做的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依赖图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七个模块，标出生成代码边界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任选两项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直接依赖或传递依赖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任选两项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进程与库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任选两项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数据归属</a:t>
                      </a:r>
                    </a:p>
                  </a:txBody>
                  <a:tcPr anchor="ctr"/>
                </a:tc>
              </a:tr>
              <a:tr h="6766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边界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mall-mbg 是生成代码，要标在图上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任务② 一条调用链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示例：下单—支付—超时取消。每一跳附上 文件:行号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也可以选别的链，但要同样写到存储或消息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入口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42214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696462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服务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415594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430268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存储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88975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5164074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消息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任务③ 核实一项推断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在所选调用链里挑一项推断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用断点，或用可重复运行来核实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记录预期、观察与修正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工具通过不能代替所选链的核实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公开的商品查询即使通过，也不等于下单或取消已经执行成功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任务④⑤ 疑点与环境问题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列出疑点清单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用可维护性的五个子特性，把设计问题与理解不足区分开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核对之后，可以确认原来的设计是合理的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同时记录环境问题，以及你怎么解决的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环境故障不要写成业务失败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本次怎么评分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412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5669280"/>
              </a:tblGrid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分值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看什么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30（10+20）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七个模块与生成边界 10；所选链从入口到服务、存储／消息的调用和数据流 20，附文件:行号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30（20+10）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依赖、进程与库、数据归属中的两项实际判断 20；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区分设计疑点与理解不足 10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40（20+20）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本人构建并做只读查询 20；受控测试、断点或可重复运行核实，记下预期、观察与修正 20</a:t>
                      </a:r>
                    </a:p>
                  </a:txBody>
                  <a:tcPr anchor="ctr"/>
                </a:tc>
              </a:tr>
              <a:tr h="749811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不要求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不修改产品代码，不制造缺陷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抽人讲解，并提一个问题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2 名学生，各讲一个类属于哪个模块、被谁调用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要讲清这个类的职责和调用者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962656"/>
            <a:ext cx="8814816" cy="278891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Qoder CN 对某段代码的解释与 IDEA 调用层次的结果不一致，以哪个为准？怎么核实？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签到题（判断正误）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修改既有系统时，应先判断哪些部分不允许改动，再动手设计。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选 A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选 B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25968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25968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一页说明，按五问组织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不超过 2 分钟的本人录屏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课后须在 48 小时内上传，然后再于 48 小时内完成 3 份互评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AI 使用写明三种工具各做了什么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哪些结论由本人核实，也要写明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