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48"/>
  </p:handoutMasterIdLst>
  <p:sldIdLst>
    <p:sldId id="256" r:id="rId9"/>
    <p:sldId id="257" r:id="rId10"/>
    <p:sldId id="258" r:id="rId11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</p:sldIdLst>
  <p:sldSz cx="9144000" cy="6858000" type="screen4x3"/>
  <p:notesSz cx="6760845" cy="9931400"/>
  <p:custDataLst>
    <p:tags r:id="rId5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FF3300"/>
    <a:srgbClr val="CC0000"/>
    <a:srgbClr val="FFFFCC"/>
    <a:srgbClr val="FFCCFF"/>
    <a:srgbClr val="FFFFFF"/>
    <a:srgbClr val="3399FF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73" autoAdjust="0"/>
    <p:restoredTop sz="86423" autoAdjust="0"/>
  </p:normalViewPr>
  <p:slideViewPr>
    <p:cSldViewPr showGuides="1">
      <p:cViewPr varScale="1">
        <p:scale>
          <a:sx n="93" d="100"/>
          <a:sy n="93" d="100"/>
        </p:scale>
        <p:origin x="812" y="64"/>
      </p:cViewPr>
      <p:guideLst>
        <p:guide orient="horz" pos="2160"/>
        <p:guide pos="2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>
        <p:scale>
          <a:sx n="100" d="100"/>
          <a:sy n="100" d="100"/>
        </p:scale>
        <p:origin x="1662" y="-1344"/>
      </p:cViewPr>
      <p:guideLst>
        <p:guide orient="horz" pos="3129"/>
        <p:guide pos="213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48" Type="http://schemas.openxmlformats.org/officeDocument/2006/relationships/handoutMaster" Target="handoutMasters/handout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ableStyles" Target="tableStyles.xml"/><Relationship Id="rId52" Type="http://schemas.openxmlformats.org/officeDocument/2006/relationships/tags" Target="tags/tag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3975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3975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9BFF2AA-1B51-48D4-AF79-5A13FE5BDCE2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7463" y="0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8525" y="744538"/>
            <a:ext cx="4967288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719638"/>
            <a:ext cx="5411787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7463" y="9431338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fld id="{BF21029A-2C2D-4ABF-B6A0-347AF3B9548E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usc_r5_c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3" descr="usc_r5_c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30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3" descr="（白底）中文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28600"/>
            <a:ext cx="16764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1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371600"/>
          </a:xfrm>
        </p:spPr>
        <p:txBody>
          <a:bodyPr/>
          <a:lstStyle>
            <a:lvl1pPr>
              <a:defRPr sz="45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11816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0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fld id="{13B25BE5-3F7A-4904-922D-A053C7DF175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4.jpeg"/><Relationship Id="rId13" Type="http://schemas.openxmlformats.org/officeDocument/2006/relationships/image" Target="../media/image1.jpeg"/><Relationship Id="rId14" Type="http://schemas.openxmlformats.org/officeDocument/2006/relationships/image" Target="../media/image2.jpeg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96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295400"/>
            <a:ext cx="7958138" cy="109538"/>
          </a:xfrm>
          <a:custGeom>
            <a:avLst/>
            <a:gdLst>
              <a:gd name="T0" fmla="*/ 0 w 1000"/>
              <a:gd name="T1" fmla="*/ 0 h 1000"/>
              <a:gd name="T2" fmla="*/ 4655511 w 1000"/>
              <a:gd name="T3" fmla="*/ 0 h 1000"/>
              <a:gd name="T4" fmla="*/ 4655511 w 1000"/>
              <a:gd name="T5" fmla="*/ 109538 h 1000"/>
              <a:gd name="T6" fmla="*/ 0 w 1000"/>
              <a:gd name="T7" fmla="*/ 109538 h 1000"/>
              <a:gd name="T8" fmla="*/ 0 w 1000"/>
              <a:gd name="T9" fmla="*/ 0 h 1000"/>
              <a:gd name="T10" fmla="*/ 7958138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5548313" y="6308725"/>
            <a:ext cx="36718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>
                <a:solidFill>
                  <a:srgbClr val="009900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计算机科学与技术学院</a:t>
            </a:r>
            <a:endParaRPr lang="zh-CN" altLang="en-US">
              <a:solidFill>
                <a:srgbClr val="009900"/>
              </a:solidFill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  <p:pic>
        <p:nvPicPr>
          <p:cNvPr id="1031" name="Picture 8" descr="计算机学院logo-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413" y="6261100"/>
            <a:ext cx="50958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9" descr="usc_r5_c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6221413"/>
            <a:ext cx="2217737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13" descr="usc_r5_c2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938" y="6219825"/>
            <a:ext cx="2227262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l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3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3200" b="0" lang="zh-CN" altLang="en-US">
                <a:latin typeface="微软雅黑"/>
                <a:ea typeface="微软雅黑"/>
                <a:cs typeface="微软雅黑"/>
              </a:rPr>
              <a:t>软件设计与规范</a:t>
            </a:r>
          </a:p>
        </p:txBody>
      </p:sp>
      <p:sp>
        <p:nvSpPr>
          <p:cNvPr id="3" name="body"/>
          <p:cNvSpPr>
            <a:spLocks noGrp="1"/>
          </p:cNvSpPr>
          <p:nvPr>
            <p:ph type="subTitle" idx="1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第 10 次课｜变更影响分析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李萌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计算机科学与技术学院</a:t>
            </a:r>
          </a:p>
        </p:txBody>
      </p:sp>
    </p:spTree>
  </p:cSld>
  <p:clrMapOvr>
    <a:masterClrMapping/>
  </p:clrMapOvr>
  <p:hf sldNum="0" hdr="0" ftr="0" dt="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演示规则与投票口径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3—5 人按评价标准实名演示，全班按同一细则投票。实验 E4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365760" y="2267712"/>
          <a:ext cx="813816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坏味道的具体变化场景、原结构与改动位置15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调用链与必须保持的可观察行为15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所用模式的名称、问题、方案、效果四要素15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与更简单方案比较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新增一种变化的修改位置、收益与代价15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相同特征测试改前、改后均通过25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源码或一次小型变化演示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证明修改范围的变化15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签到</a:t>
            </a:r>
          </a:p>
        </p:txBody>
      </p:sp>
      <p:sp>
        <p:nvSpPr>
          <p:cNvPr id="3" name="fig"/>
          <p:cNvSpPr/>
          <p:nvPr/>
        </p:nvSpPr>
        <p:spPr>
          <a:xfrm>
            <a:off x="164592" y="1572768"/>
            <a:ext cx="8814816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变更影响分析需要沿调用链确定受影响的模块与回归测试范围。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3014472"/>
            <a:ext cx="7918704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请判断正误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4456176"/>
            <a:ext cx="7516367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请看完演示再投票</a:t>
            </a:r>
          </a:p>
        </p:txBody>
      </p:sp>
    </p:spTree>
  </p:cSld>
  <p:clrMapOvr>
    <a:masterClrMapping/>
  </p:clrMapOvr>
  <p:hf sldNum="0" hdr="0" ftr="0" dt="0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本次目标与不要求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教师先以 E5-00 库存预警演示步骤①—⑤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学生以本人从候选库所选需求完成同样步骤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定位修改点，分析影响面，提交变更计划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不要求提前实现新需求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不得以搜索命中文件数代替分析</a:t>
            </a:r>
          </a:p>
        </p:txBody>
      </p:sp>
      <p:sp>
        <p:nvSpPr>
          <p:cNvPr id="7" name="fig"/>
          <p:cNvSpPr/>
          <p:nvPr/>
        </p:nvSpPr>
        <p:spPr>
          <a:xfrm>
            <a:off x="164592" y="5032857"/>
            <a:ext cx="881481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不得用同一实现重复领取 E2/E4 或 E3/E6 成绩</a:t>
            </a:r>
          </a:p>
        </p:txBody>
      </p:sp>
    </p:spTree>
  </p:cSld>
  <p:clrMapOvr>
    <a:masterClrMapping/>
  </p:clrMapOvr>
  <p:hf sldNum="0" hdr="0" ftr="0" dt="0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教师示例 E5-00：支付成功不读阈值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84708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Issue #44。入口 POST /order/paySuccess，控制器第 51 行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第 263 行扣库存，第 264 行返回。这里不读 SKU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支付宝回调经 paySuccessByOrderSn 进入本方法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3401568"/>
            <a:ext cx="8138160" cy="1956815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orderMapper.​updateByPrimaryKeySelective(​order);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​//恢复所有下单商品的锁定库存，扣减真实库存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OmsOrderDetail orderDetail ​= ​portalOrderDao.​getDetail(​orderId);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int count ​= ​portalOrderDao.​updateSkuStock(​orderDetail.​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getOrderItemList(​));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return count;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376672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出处：meng004/​mall@​6518df70cba7bd7ba7d7a96719d7decc77f5c917:​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mall-portal/​src/​main/​java/​com/​macro/​mall/​portal/​service/​impl/​OmsPortalOrderServiceImpl.java:​260-264</a:t>
            </a:r>
          </a:p>
        </p:txBody>
      </p:sp>
    </p:spTree>
  </p:cSld>
  <p:clrMapOvr>
    <a:masterClrMapping/>
  </p:clrMapOvr>
  <p:hf sldNum="0" hdr="0" ftr="0" dt="0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教师示例 E5-00：锁定现状的测试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订单 9，SKU 7。扣减打桩返回 3。可售已低于阈值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注入实现后第 63、64 行失败；第 59 行未失败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2505456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assertEquals(​3,​ service.​paySuccess(​9L,​ 1));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verify(​dao).​updateSkuStock(​detail.​getOrderItemList(​));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verify(​skuStockMapper,​ never(​)).​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updateByPrimaryKeySelective(​any(​));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assertAll(​</a:t>
            </a:r>
          </a:p>
          <a:p>
            <a:pPr algn="l" eaLnBrk="1" hangingPunct="1" marL="2682240" indent="-26822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    (​) ​-&gt; ​verify(​skuStockMapper,​ never(​)).​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selectByPrimaryKey(​any(​)),​</a:t>
            </a:r>
          </a:p>
          <a:p>
            <a:pPr algn="l" eaLnBrk="1" hangingPunct="1" marL="2682240" indent="-26822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    (​) ​-&gt; ​assertTrue(​log.​list.​isEmpty(​)));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358384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出处：meng004/​mall@​ce706dee1dd909d2bf3d9760d538fc5f9a0cf461:​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mall-portal/​src/​test/​java/​com/​macro/​mall/​sdc/​e5/​SDCE500Test.java:​59-64</a:t>
            </a:r>
          </a:p>
        </p:txBody>
      </p:sp>
    </p:spTree>
  </p:cSld>
  <p:clrMapOvr>
    <a:masterClrMapping/>
  </p:clrMapOvr>
  <p:hf sldNum="0" hdr="0" ftr="0" dt="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教师示例 E5-00：对照结论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无红灯。只锁定现状，不实现预警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365760" y="2267712"/>
          <a:ext cx="813816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项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记录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Issue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#44。同一需求是 E6-07 的 #26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E5-00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改前、改后均 pass。未改产品代码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E6-07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实现对照：只改 OmsPortalOrderServiceImpl，增加 29 行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结论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符合。EXPECT_BASE=pass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细节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各 1 项。失败 0，跳过 0</a:t>
                      </a:r>
                    </a:p>
                  </a:txBody>
                  <a:tcPr anchor="ctr"/>
                </a:tc>
              </a:tr>
              <a:tr h="51729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注入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第 63、64 行失败；第 59 行仍是 3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候选靶点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六项里选一项。教师示例不作为个人选题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365760" y="2267712"/>
          <a:ext cx="813816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题目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E5-01 #21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分类删除限制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E5-02 #22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品牌列表的可选厂家筛选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E5-03 #41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收货地址邮政编码规则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E5-04 #23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只清除指定日期以前的浏览记录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E5-05 #24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收藏列表增加商品名筛选</a:t>
                      </a:r>
                    </a:p>
                  </a:txBody>
                  <a:tcPr anchor="ctr"/>
                </a:tc>
              </a:tr>
              <a:tr h="51729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E5-06 #25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首页人气推荐批次去重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步骤① 需求、范围与不改边界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以 E5-00 为例：可售低于该 SKU 阈值才告警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等于或空值不告警。只读，不改库存数字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不改接口、HTTP 返回、Mapper 和库存 SQL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换成你的选题，同样先写范围和边界</a:t>
            </a:r>
          </a:p>
        </p:txBody>
      </p:sp>
    </p:spTree>
  </p:cSld>
  <p:clrMapOvr>
    <a:masterClrMapping/>
  </p:clrMapOvr>
  <p:hf sldNum="0" hdr="0" ftr="0" dt="0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步骤② 改动与不改动清单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投影用类名加行号。说明里写文件名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365760" y="2267712"/>
          <a:ext cx="813816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角色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文件与行号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唯一拟改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OmsPortalOrderServiceImpl.java 第 165、263 行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服务接口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OmsPortalOrderService.java 第 26、32 行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控制器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OmsPortalOrderController.java 第 52 行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DAO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PortalOrderDao.java 第 22 行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XML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PortalOrderDao.xml 第 50 行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步骤③ 被排除的方案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写进扣减 SQL。可售不变，也不能记日志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定时扫表。现成任务是取消，注解被注释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改看商品表。没有锁定，订单也不写它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另做公开接口。调用方都要改</a:t>
            </a:r>
          </a:p>
        </p:txBody>
      </p:sp>
    </p:spTree>
  </p:cSld>
  <p:clrMapOvr>
    <a:masterClrMapping/>
  </p:clrMapOvr>
  <p:hf sldNum="0" hdr="0" ftr="0" dt="0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步骤④ 兼容性、数据与失败风险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顺序是先写库存，再读；先判空，再比较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读失败若冒出去，已成功的扣减会回滚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付款不改变可售，可能再记一条日志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不增列。返回值仍是扣减得到的行数</a:t>
            </a:r>
          </a:p>
        </p:txBody>
      </p:sp>
    </p:spTree>
  </p:cSld>
  <p:clrMapOvr>
    <a:masterClrMapping/>
  </p:clrMapOvr>
  <p:hf sldNum="0" hdr="0" ftr="0" dt="0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步骤⑤ 测试输入、期望结果与测试层次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1381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240280"/>
                <a:gridCol w="2468880"/>
                <a:gridCol w="2377440"/>
              </a:tblGrid>
              <a:tr h="85953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输入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期望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层次</a:t>
                      </a:r>
                    </a:p>
                  </a:txBody>
                  <a:tcPr anchor="ctr"/>
                </a:tc>
              </a:tr>
              <a:tr h="85953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T1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订单 9，SKU 7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返回 3；不读 SKU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Mock 单测</a:t>
                      </a:r>
                    </a:p>
                  </a:txBody>
                  <a:tcPr anchor="ctr"/>
                </a:tc>
              </a:tr>
              <a:tr h="85953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T2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可售 4，阈值 5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一条预警，返回仍 3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计划，未写</a:t>
                      </a:r>
                    </a:p>
                  </a:txBody>
                  <a:tcPr anchor="ctr"/>
                </a:tc>
              </a:tr>
              <a:tr h="85953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T6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扣减后查询失败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返回仍 3，记不可用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计划，未写</a:t>
                      </a:r>
                    </a:p>
                  </a:txBody>
                  <a:tcPr anchor="ctr"/>
                </a:tc>
              </a:tr>
              <a:tr h="85953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T8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库存与锁定同减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可售不变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要真实库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常见失分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清单不写文件和行号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用搜索命中的文件数代替调用链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不写一条被你排除的做法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计划不写层次，或把全绿说成规则已成立</a:t>
            </a:r>
          </a:p>
        </p:txBody>
      </p:sp>
    </p:spTree>
  </p:cSld>
  <p:clrMapOvr>
    <a:masterClrMapping/>
  </p:clrMapOvr>
  <p:hf sldNum="0" hdr="0" ftr="0" dt="0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这次变更最可能出问题的地方在哪？你打算用什么方式验证？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先说触发顺序里靠前的那一处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再说输入、期望，以及哪一层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没跑过的，写成还没验证</a:t>
            </a:r>
          </a:p>
        </p:txBody>
      </p:sp>
    </p:spTree>
  </p:cSld>
  <p:clrMapOvr>
    <a:masterClrMapping/>
  </p:clrMapOvr>
  <p:hf sldNum="0" hdr="0" ftr="0" dt="0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抽 1 人讲影响面的确定过程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抽 1 人讲影响面怎么定下来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从入口讲到服务，再到存储或调用方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指出一处改、一处不改，并给行号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示例只改订单实现类，接口可以不动</a:t>
            </a:r>
          </a:p>
        </p:txBody>
      </p:sp>
    </p:spTree>
  </p:cSld>
  <p:clrMapOvr>
    <a:masterClrMapping/>
  </p:clrMapOvr>
  <p:hf sldNum="0" hdr="0" ftr="0" dt="0"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评分细则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三栏是 30、30、40。命中文件的个数不能代替分析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365760" y="2267712"/>
          <a:ext cx="813816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需求、范围与不改边界10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入口→接口→服务→存储／调用方的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改动与不改动清单20（附 文件:行号与理由）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落点选择与被排除方案15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兼容性、数据与失败风险及其触发顺序15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沿源码、调用关系与受控测试或运行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核实关键影响判断20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把需求与风险逐条映射为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测试输入、期望结果与测试层次20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提交要求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384048" y="1444752"/>
            <a:ext cx="8366760" cy="4480560"/>
          </a:xfrm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一页说明（按五问组织）＋不超过2分钟本人录屏，课后48小时内上传，再于48小时内完成3份互评。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录屏由本人讲解，并展示本实验相应的证据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说明里写本人的选择、执行和证据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参考实现可以看，不能代替本人的计划</a:t>
            </a:r>
          </a:p>
        </p:txBody>
      </p:sp>
    </p:spTree>
  </p:cSld>
  <p:clrMapOvr>
    <a:masterClrMapping/>
  </p:clrMapOvr>
  <p:hf sldNum="0" hdr="0" ftr="0" dt="0"/>
</p:sld>
</file>

<file path=ppt/tags/tag7.xml><?xml version="1.0" encoding="utf-8"?>
<p:tagLst xmlns:p="http://schemas.openxmlformats.org/presentationml/2006/main">
  <p:tag name="commondata" val="eyJoZGlkIjoiZDkzYzZkNDRlZDllNjdlNTFlNDRjOWFlMDM3NGQyOTAifQ=="/>
</p:tagLst>
</file>

<file path=ppt/theme/theme1.xml><?xml version="1.0" encoding="utf-8"?>
<a:theme xmlns:a="http://schemas.openxmlformats.org/drawingml/2006/main" name="2_985平台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985平台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985平台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3022</Words>
  <Application>WPS 演示</Application>
  <PresentationFormat>全屏显示(4:3)</PresentationFormat>
  <Paragraphs>283</Paragraphs>
  <Slides>44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9" baseType="lpstr">
      <vt:lpstr>Arial</vt:lpstr>
      <vt:lpstr>宋体</vt:lpstr>
      <vt:lpstr>Wingdings</vt:lpstr>
      <vt:lpstr>Verdana</vt:lpstr>
      <vt:lpstr>隶书</vt:lpstr>
      <vt:lpstr>Cambria</vt:lpstr>
      <vt:lpstr>黑体</vt:lpstr>
      <vt:lpstr>Times New Roman</vt:lpstr>
      <vt:lpstr>新宋体</vt:lpstr>
      <vt:lpstr>Tahoma</vt:lpstr>
      <vt:lpstr>微软雅黑</vt:lpstr>
      <vt:lpstr>Arial Unicode MS</vt:lpstr>
      <vt:lpstr>Calibri</vt:lpstr>
      <vt:lpstr>华文行楷</vt:lpstr>
      <vt:lpstr>2_985平台</vt:lpstr>
      <vt:lpstr>软件设计与规范 </vt:lpstr>
      <vt:lpstr>自我介绍</vt:lpstr>
      <vt:lpstr>超星学习通</vt:lpstr>
      <vt:lpstr>超星学习通</vt:lpstr>
      <vt:lpstr>教材</vt:lpstr>
      <vt:lpstr>推荐参考书</vt:lpstr>
      <vt:lpstr>参考书</vt:lpstr>
      <vt:lpstr>课程定位</vt:lpstr>
      <vt:lpstr>PowerPoint 演示文稿</vt:lpstr>
      <vt:lpstr>PowerPoint 演示文稿</vt:lpstr>
      <vt:lpstr>解决两大难题</vt:lpstr>
      <vt:lpstr>教学困难--实践能力</vt:lpstr>
      <vt:lpstr>PowerPoint 演示文稿</vt:lpstr>
      <vt:lpstr>PowerPoint 演示文稿</vt:lpstr>
      <vt:lpstr>PowerPoint 演示文稿</vt:lpstr>
      <vt:lpstr>教学困难--解决问题的能力</vt:lpstr>
      <vt:lpstr>PowerPoint 演示文稿</vt:lpstr>
      <vt:lpstr>PowerPoint 演示文稿</vt:lpstr>
      <vt:lpstr>教学改革</vt:lpstr>
      <vt:lpstr>PowerPoint 演示文稿</vt:lpstr>
      <vt:lpstr>PowerPoint 演示文稿</vt:lpstr>
      <vt:lpstr>教学设计</vt:lpstr>
      <vt:lpstr>翻转课堂学习绩效</vt:lpstr>
      <vt:lpstr>考核安排</vt:lpstr>
      <vt:lpstr>PowerPoint 演示文稿</vt:lpstr>
      <vt:lpstr>PowerPoint 演示文稿</vt:lpstr>
      <vt:lpstr>优秀</vt:lpstr>
      <vt:lpstr>课程网站扩展项目</vt:lpstr>
      <vt:lpstr>课程设计</vt:lpstr>
      <vt:lpstr>课程网站案例分类</vt:lpstr>
      <vt:lpstr>案例的使用</vt:lpstr>
      <vt:lpstr>授课方式</vt:lpstr>
      <vt:lpstr>PowerPoint 演示文稿</vt:lpstr>
      <vt:lpstr>课程网站</vt:lpstr>
      <vt:lpstr>能力构成</vt:lpstr>
      <vt:lpstr>环境</vt:lpstr>
      <vt:lpstr>助教</vt:lpstr>
      <vt:lpstr>SWOT分析</vt:lpstr>
      <vt:lpstr>课后阅读</vt:lpstr>
      <vt:lpstr>课后练习</vt:lpstr>
      <vt:lpstr>作业</vt:lpstr>
      <vt:lpstr>Tips</vt:lpstr>
      <vt:lpstr>Tips（续）</vt:lpstr>
      <vt:lpstr>PowerPoint 演示文稿</vt:lpstr>
    </vt:vector>
  </TitlesOfParts>
  <Company>sei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1-1课程简介</dc:title>
  <dc:creator>李萌</dc:creator>
  <cp:lastModifiedBy>lemon 牛</cp:lastModifiedBy>
  <cp:revision>1036</cp:revision>
  <cp:lastPrinted>2003-09-14T10:10:00Z</cp:lastPrinted>
  <dcterms:created xsi:type="dcterms:W3CDTF">2003-08-28T12:03:00Z</dcterms:created>
  <dcterms:modified xsi:type="dcterms:W3CDTF">2024-02-25T15:12:44Z</dcterms:modified>
  <dc:descript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6B7E428AAD9D47FD86FE404DDCE365B0_12</vt:lpwstr>
  </property>
  <property fmtid="{D5CDD505-2E9C-101B-9397-08002B2CF9AE}" pid="3" name="KSOProductBuildVer">
    <vt:lpwstr>2052-12.1.0.16250</vt:lpwstr>
  </property>
</Properties>
</file>