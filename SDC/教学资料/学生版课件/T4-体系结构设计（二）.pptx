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7 次课｜体系结构设计（二）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本次目标与衔接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承接上一讲的分层与不可变约束，以及实验 E3 先写验收准则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表现与领域分开，规则能离开页面测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分清依赖方向、创建权，以及依赖注入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一次修改穿过哪一层，事务归谁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预测会错，系统目标仍要成立</a:t>
            </a:r>
          </a:p>
        </p:txBody>
      </p:sp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表现逻辑与领域逻辑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页面负责显示，并收集输入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计价和规则留在领域一侧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状态用事件或绑定同步过来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不打开页面，规则仍可单独测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MVC 与 MVVM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MVC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MVVM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视图负责显示与收集输入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不含领域逻辑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视图负责显示与收集输入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不含领域逻辑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223260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视图→控制器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223260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视图绑定视图模型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096511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控制器→模型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096511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视图模型→模型</a:t>
            </a:r>
          </a:p>
        </p:txBody>
      </p:sp>
      <p:sp>
        <p:nvSpPr>
          <p:cNvPr id="11" name="fig"/>
          <p:cNvSpPr/>
          <p:nvPr/>
        </p:nvSpPr>
        <p:spPr>
          <a:xfrm>
            <a:off x="365760" y="4969764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视图观察模型</a:t>
            </a:r>
          </a:p>
        </p:txBody>
      </p:sp>
      <p:sp>
        <p:nvSpPr>
          <p:cNvPr id="12" name="fig"/>
          <p:cNvSpPr/>
          <p:nvPr/>
        </p:nvSpPr>
        <p:spPr>
          <a:xfrm>
            <a:off x="4663440" y="4969764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视图不直接依赖模型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计算器：事件驱动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计算流程只调用接口，实例化留在事件里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点击按钮，触发事件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02437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298698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处理器创建算法对象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389077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165091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赋给接口类型的变量</a:t>
            </a:r>
          </a:p>
        </p:txBody>
      </p:sp>
      <p:sp>
        <p:nvSpPr>
          <p:cNvPr id="9" name="fig"/>
          <p:cNvSpPr/>
          <p:nvPr/>
        </p:nvSpPr>
        <p:spPr>
          <a:xfrm>
            <a:off x="4434840" y="475716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"/>
          <p:cNvSpPr/>
          <p:nvPr/>
        </p:nvSpPr>
        <p:spPr>
          <a:xfrm>
            <a:off x="411480" y="5031486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计算过程只调用接口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商品列表：状态与模板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上段给列表、总条数和加载状态赋值，下段只读名称和品牌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绑定式表现层的分离原则的实例：只证明赋值与模板读取分开，不证明领域逻辑已移出页面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98755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listLoading.​value ​= ​false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list.​value ​= ​response.​data.​list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total.​value ​= ​response.​data.​total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8404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出处：meng004/​mall-admin-web@​81fc17e5a19f452bd854b106a9d59fa1ed5c7eac:​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src/​views/​pms/​product/​index.vue:​41-43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4315968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​&lt;p&gt;{{ scope.​row.​name }}&lt;/p&gt;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​&lt;p&gt;品牌：{{ scope.​row.​brandName }}&lt;/p&gt;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504748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出处：meng004/​mall-admin-web@​81fc17e5a19f452bd854b106a9d59fa1ed5c7eac:​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src/​views/​pms/​product/​index.vue:​442-443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同一页面的两种实现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两边都不把规则写进页面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事件驱动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绑定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按钮触发处理器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脚本里给状态赋值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处理器调用接口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模板读同一批状态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状态靠事件送出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规则仍留在页面外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离开页面怎么测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测领域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测表现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直接调用计算或服务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事件有没有送到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不必把页面打开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绑定有没有读到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断言金额和状态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不在页面里重写规则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依赖注入：方向与创建权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依赖倒置规定方向：调用方依赖抽象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控制反转交出创建权和控制权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依赖注入是落实控制反转的常用手段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注入同时可以落实依赖倒置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配置与使用分开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使用方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组合根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只声明要哪个接口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靠近程序入口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方法里不自己 new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注册接口的实现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签名或字段露出依赖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把对象图组装好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门户下单的字段注入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会员、购物车、地址和优惠券四个字段成对出现，由容器填入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235915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@Autowired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UmsMemberService memberService;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@Autowired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OmsCartItemService cartItemService;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@Autowired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UmsMemberReceiveAddressService memberReceiveAddressService;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@Autowired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UmsMemberCouponService memberCouponService;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出处：mall-portal/​src/​main/​java/​com/​macro/​mall/​portal/​service/​impl/​OmsPortalOrderServiceImpl.java:​34-41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三种注入与组合根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构造函数注入：依赖写在参数上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Setter 注入：对象先建好再设入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字段注入：注解标在字段上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组合根只在入口完成注册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注入与服务定位器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依赖注入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服务定位器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依赖从外面送入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方法里向定位器要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参数或字段可见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签名上看不见依赖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测试直接传入替身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测试先配置定位器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横向比较：Spring 与 Autofac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两边都由容器创建对象，使用方不自己 new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Spring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Autofac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门户的下单服务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C# 的 WinForm 窗体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注解标在字段上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构造函数接收接口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启动后把字段填上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按注册创建并传入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替换依赖的两条路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特征测试要换掉协作对象，又不能改被测类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构造函数注入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字段注入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创建时传入替身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字段多半是私有的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不必把容器启动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要靠反射或容器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依赖在参数里可见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下单服务就是这种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字段注入与构造函数注入，哪一种让特征测试更好写？为什么？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对象和表对不齐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这里的对应是属性和字段，不是页面上的状态绑定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对象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关系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类用来描述结构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表用来描述结构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属性承载取值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一行是一条记录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还有关联和继承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一对多靠外键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对象关系映射：四种数据源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表数据入口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一张表对应一个入口对象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SQL 集中在该对象</a:t>
            </a:r>
          </a:p>
        </p:txBody>
      </p:sp>
      <p:sp>
        <p:nvSpPr>
          <p:cNvPr id="4" name="fig"/>
          <p:cNvSpPr/>
          <p:nvPr/>
        </p:nvSpPr>
        <p:spPr>
          <a:xfrm>
            <a:off x="4640580" y="1572768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行数据入口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一行一个对象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适合逐行修改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3758183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活动记录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领域对象自己保存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模型和表很接近</a:t>
            </a:r>
          </a:p>
        </p:txBody>
      </p:sp>
      <p:sp>
        <p:nvSpPr>
          <p:cNvPr id="6" name="fig"/>
          <p:cNvSpPr/>
          <p:nvPr/>
        </p:nvSpPr>
        <p:spPr>
          <a:xfrm>
            <a:off x="4640580" y="3758183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数据映射器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领域对象不知道表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模型和表差得远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工作单元与两项配套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事务边界是本例证据，不等于完整的工作单元实现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工作单元：一次业务的改动一起提交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标识映射：同一主键只留一份对象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延迟加载：用到关联时再去读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下单能指到的是服务上的事务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下单方法里的多次写入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这些写入都在 generateOrder 里面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先锁库存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02437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298698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再写订单和明细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389077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165091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然后更新优惠券</a:t>
            </a:r>
          </a:p>
        </p:txBody>
      </p:sp>
      <p:sp>
        <p:nvSpPr>
          <p:cNvPr id="9" name="fig"/>
          <p:cNvSpPr/>
          <p:nvPr/>
        </p:nvSpPr>
        <p:spPr>
          <a:xfrm>
            <a:off x="4434840" y="475716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"/>
          <p:cNvSpPr/>
          <p:nvPr/>
        </p:nvSpPr>
        <p:spPr>
          <a:xfrm>
            <a:off x="411480" y="5031486"/>
            <a:ext cx="8321040" cy="5920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并扣掉使用的积分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事务在接口，SQL 在手写文件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事务注解写在服务接口的 generateOrder 上，实现类第 94 行并没有这个注解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订单明细用门户手写的 insert 语句入库，不靠生成器代写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@Transactional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Map&lt;String,​ Object&gt; ​generateOrder(​OrderParam orderParam);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56616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出处：mall-portal/​src/​main/​java/​com/​macro/​mall/​portal/​service/​OmsPortalOrderService.java:​26-27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840480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​&lt;insert id="insertList"&gt;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insert into oms_order_item (​order_id,​ order_sn,​ product_id,​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457200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出处：mall-portal/​src/​main/​resources/​dao/​PortalOrderItemDao.xml:​4-5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条件用生成的 Example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360 行 createCriteria() 取得条件，第 367 行 selectByExample() 提交查询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未删除、当前会员，以及可选的订单状态，都写在条件上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43891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OmsOrderExample orderExample ​= ​new OmsOrderExample(​);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29184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出处：mall-portal/​src/​main/​java/​com/​macro/​mall/​portal/​service/​impl/​OmsPortalOrderServiceImpl.java:​359-359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566160"/>
            <a:ext cx="8138160" cy="1810511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criteria.​andDeleteStatusEqualTo(​0)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.​andMemberIdEqualTo(​member.​getId(​));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if(​status!=null){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criteria.​andStatusEqualTo(​status);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orderExample.​setOrderByClause(​"create_time desc");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539496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出处：mall-portal/​src/​main/​java/​com/​macro/​mall/​portal/​service/​impl/​OmsPortalOrderServiceImpl.java:​361-366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横向比较：MyBatis 与 Entity Framework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一边把 SQL 留下，一边把类直接映射成表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MyBatis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Entity Framework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SQL 写在映射文件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20954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C# 里做全映射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Example 负责拼条件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09346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上下文代表数据库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门户另有手写 Dao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4977384"/>
            <a:ext cx="4114800" cy="79247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集合代表一张表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一次修改穿过哪一层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改金额怎么算：仍在下单服务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改插入哪些列：改手写 SQL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改列表条件：改 Example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事务归服务接口，不归单次写入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七条原则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假设错误不可避免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190641"/>
            <a:ext cx="7918704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按后果分级，决定人机怎么分工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2808514"/>
            <a:ext cx="7516367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护栏用确定规则，不交给模型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3426387"/>
            <a:ext cx="7114031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执行者和检查者分开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4044260"/>
            <a:ext cx="6711696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分布外就拒绝，不硬给结果</a:t>
            </a:r>
          </a:p>
        </p:txBody>
      </p:sp>
      <p:sp>
        <p:nvSpPr>
          <p:cNvPr id="8" name="fig"/>
          <p:cNvSpPr/>
          <p:nvPr/>
        </p:nvSpPr>
        <p:spPr>
          <a:xfrm>
            <a:off x="1417320" y="4662133"/>
            <a:ext cx="6309359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失效时降级，而不是整站停</a:t>
            </a:r>
          </a:p>
        </p:txBody>
      </p:sp>
      <p:sp>
        <p:nvSpPr>
          <p:cNvPr id="9" name="fig"/>
          <p:cNvSpPr/>
          <p:nvPr/>
        </p:nvSpPr>
        <p:spPr>
          <a:xfrm>
            <a:off x="1618488" y="5280006"/>
            <a:ext cx="5907023" cy="47156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检测、纠正和恢复一起设计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前三条：系统和界面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错误不可避免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系统：预测不直接落成写入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界面：标成建议，并允许人改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3014472"/>
            <a:ext cx="7918704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按后果分人机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系统：高风险先经人工确认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界面：低风险给建议，并留撤销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4456176"/>
            <a:ext cx="7516367" cy="129539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护栏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系统：区间、权限、只读用代码限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界面：禁用词和已知输入先滤掉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后四条：系统和界面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执行者与检查者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事实复核，界面给人看依据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分布外检测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越界就拒绝，界面明确不答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降级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模型不可用走原功能，并标明降级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检测与恢复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能回到出错前，界面提供撤销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不可靠组件怎么接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调用方只提出问题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163470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437790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护栏先限制输入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02849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302812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模型只产出预测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3893515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167835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检查者核对事实</a:t>
            </a:r>
          </a:p>
        </p:txBody>
      </p:sp>
      <p:sp>
        <p:nvSpPr>
          <p:cNvPr id="10" name="fig"/>
          <p:cNvSpPr/>
          <p:nvPr/>
        </p:nvSpPr>
        <p:spPr>
          <a:xfrm>
            <a:off x="4434840" y="4758537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ig"/>
          <p:cNvSpPr/>
          <p:nvPr/>
        </p:nvSpPr>
        <p:spPr>
          <a:xfrm>
            <a:off x="411480" y="5032857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不行就降级返回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验收和传统测试不同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同一输入，输出可能不同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293620"/>
            <a:ext cx="7918704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没有完备预言，靠独立标注的评测集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014472"/>
            <a:ext cx="7516367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错误用阈值管，含幻觉容忍度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3735324"/>
            <a:ext cx="7114031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分布外和提示注入，要对抗用例与最小权限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4456176"/>
            <a:ext cx="6711696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模型或提示词一变就重测，公开题只计回归</a:t>
            </a:r>
          </a:p>
        </p:txBody>
      </p:sp>
      <p:sp>
        <p:nvSpPr>
          <p:cNvPr id="8" name="fig"/>
          <p:cNvSpPr/>
          <p:nvPr/>
        </p:nvSpPr>
        <p:spPr>
          <a:xfrm>
            <a:off x="1417320" y="5177028"/>
            <a:ext cx="6309359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结论是放行、降级或驳回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由此要交的四样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即验收报告的结论只取放行／降级／驳回，并记录评测证据与风险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评测集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独立标注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不由被测模型出题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432304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对抗用例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守住权限、只读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和事实边界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4187952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风险台账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记下已知出错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不靠平均分盖住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4187952"/>
            <a:ext cx="4091939" cy="1618487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验收报告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结论只取这三种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并记下证据与风险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把模型预测当作不可靠组件，设计目标是什么？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护栏为什么应当尽量用非AI的硬性手段实现？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表现与领域分开，状态用事件或绑定同步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依赖倒置定方向，依赖注入落实控制反转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改动看穿过哪一层，事务在服务接口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预测会错；报告结论只取放行、降级或驳回</a:t>
            </a:r>
          </a:p>
        </p:txBody>
      </p:sp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请同学们在实验开始前完成全部五题，题干和选项须与课前作业一致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引入设计模式一定降低复杂度。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特征测试固定的是行为还是实现？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实现细节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现有行为，包括其中不合理的行为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新功能的行为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代码风格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“接缝”指什么？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类与类之间的继承关系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编译期依赖的注入点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代码中留待后续实现的空方法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不改动被测代码就能替换其行为的位置</a:t>
            </a:r>
          </a:p>
        </p:txBody>
      </p:sp>
    </p:spTree>
  </p:cSld>
  <p:clrMapOvr>
    <a:masterClrMapping/>
  </p:clrMapOvr>
  <p:hf sldNum="0" hdr="0" ftr="0" dt="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预习题（4—5）与预读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同类方法自调用时，内层方法的注解会经由代理生效。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模式四要素中，“效果”一项回答什么问题？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这个模式由哪几个类组成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这个模式解决什么问题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采用这个模式后得到什么、失去什么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这个模式最早出现在哪本书里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实验 E4 前预读 Feathers《修改代码的艺术》第 4、13 章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请同学们在实验开始之前读完指定的那两章，然后再做上面这两道题</a:t>
            </a:r>
          </a:p>
        </p:txBody>
      </p:sp>
    </p:spTree>
  </p:cSld>
  <p:clrMapOvr>
    <a:masterClrMapping/>
  </p:clrMapOvr>
  <p:hf sldNum="0" hdr="0" ftr="0" dt="0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本讲重点阅读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《软件设计与体系结构》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Feathers《修改代码的艺术》第 4、13 章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[7]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Fowler《企业应用架构模式》第 1、3、4 章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[36]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Fowler《GUI Architectures》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[37]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Fowler《IoC 容器与依赖注入》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[38]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Microsoft《Model-View-ViewModel》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[39]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Spring 参考文档 Dependency Injection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[14]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Kästner《Machine Learning in Production》</a:t>
                      </a:r>
                    </a:p>
                  </a:txBody>
                  <a:tcPr anchor="ctr"/>
                </a:tc>
              </a:tr>
              <a:tr h="39069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[40]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CMU《Machine Learning in Production》第 7 章</a:t>
                      </a:r>
                    </a:p>
                  </a:txBody>
                  <a:tcPr anchor="ctr"/>
                </a:tc>
              </a:tr>
              <a:tr h="3907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[41]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Stanford CS 329S 公开讲义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