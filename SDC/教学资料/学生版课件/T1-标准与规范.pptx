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48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</p:sldIdLst>
  <p:sldSz cx="9144000" cy="6858000" type="screen4x3"/>
  <p:notesSz cx="6760845" cy="9931400"/>
  <p:custDataLst>
    <p:tags r:id="rId5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D"/>
    <a:srgbClr val="FF3300"/>
    <a:srgbClr val="CC0000"/>
    <a:srgbClr val="FFFFCC"/>
    <a:srgbClr val="FFCCFF"/>
    <a:srgbClr val="FFFFFF"/>
    <a:srgbClr val="3399FF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173" autoAdjust="0"/>
    <p:restoredTop sz="86423" autoAdjust="0"/>
  </p:normalViewPr>
  <p:slideViewPr>
    <p:cSldViewPr showGuides="1">
      <p:cViewPr varScale="1">
        <p:scale>
          <a:sx n="93" d="100"/>
          <a:sy n="93" d="100"/>
        </p:scale>
        <p:origin x="812" y="64"/>
      </p:cViewPr>
      <p:guideLst>
        <p:guide orient="horz" pos="2160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>
        <p:scale>
          <a:sx n="100" d="100"/>
          <a:sy n="100" d="100"/>
        </p:scale>
        <p:origin x="1662" y="-1344"/>
      </p:cViewPr>
      <p:guideLst>
        <p:guide orient="horz" pos="3129"/>
        <p:guide pos="2130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8" Type="http://schemas.openxmlformats.org/officeDocument/2006/relationships/handoutMaster" Target="handoutMasters/handout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ableStyles" Target="tableStyles.xml"/><Relationship Id="rId52" Type="http://schemas.openxmlformats.org/officeDocument/2006/relationships/tags" Target="tags/tag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2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63975" y="0"/>
            <a:ext cx="2897188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t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72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63975" y="9409113"/>
            <a:ext cx="2897188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1137" tIns="50568" rIns="101137" bIns="50568" numCol="1" anchor="b" anchorCtr="0" compatLnSpc="1"/>
          <a:lstStyle>
            <a:lvl1pPr algn="r" defTabSz="1011555" eaLnBrk="1" hangingPunct="1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9BFF2AA-1B51-48D4-AF79-5A13FE5BDCE2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27463" y="0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98525" y="744538"/>
            <a:ext cx="4967288" cy="37258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4688" y="4719638"/>
            <a:ext cx="5411787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t" anchorCtr="0" compatLnSpc="1"/>
          <a:lstStyle/>
          <a:p>
            <a:pPr lvl="0"/>
            <a:r>
              <a:rPr lang="en-US" altLang="zh-CN" noProof="0"/>
              <a:t>Click to edit Master text styles</a:t>
            </a:r>
            <a:endParaRPr lang="en-US" altLang="zh-CN" noProof="0"/>
          </a:p>
          <a:p>
            <a:pPr lvl="1"/>
            <a:r>
              <a:rPr lang="en-US" altLang="zh-CN" noProof="0"/>
              <a:t>Second level</a:t>
            </a:r>
            <a:endParaRPr lang="en-US" altLang="zh-CN" noProof="0"/>
          </a:p>
          <a:p>
            <a:pPr lvl="2"/>
            <a:r>
              <a:rPr lang="en-US" altLang="zh-CN" noProof="0"/>
              <a:t>Third level</a:t>
            </a:r>
            <a:endParaRPr lang="en-US" altLang="zh-CN" noProof="0"/>
          </a:p>
          <a:p>
            <a:pPr lvl="3"/>
            <a:r>
              <a:rPr lang="en-US" altLang="zh-CN" noProof="0"/>
              <a:t>Fourth level</a:t>
            </a:r>
            <a:endParaRPr lang="en-US" altLang="zh-CN" noProof="0"/>
          </a:p>
          <a:p>
            <a:pPr lvl="4"/>
            <a:r>
              <a:rPr lang="en-US" altLang="zh-CN" noProof="0"/>
              <a:t>Fifth level</a:t>
            </a:r>
            <a:endParaRPr lang="en-US" altLang="zh-CN" noProof="0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30525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defTabSz="954405" eaLnBrk="1" hangingPunct="1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27463" y="9431338"/>
            <a:ext cx="2932112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352" tIns="47677" rIns="95352" bIns="47677" numCol="1" anchor="b" anchorCtr="0" compatLnSpc="1"/>
          <a:lstStyle>
            <a:lvl1pPr algn="r" defTabSz="954405" eaLnBrk="1" hangingPunct="1">
              <a:defRPr sz="1200" smtClean="0"/>
            </a:lvl1pPr>
          </a:lstStyle>
          <a:p>
            <a:pPr>
              <a:defRPr/>
            </a:pPr>
            <a:fld id="{BF21029A-2C2D-4ABF-B6A0-347AF3B9548E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  <p:txBody>
          <a:bodyPr/>
          <a:p/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 descr="usc_r5_c1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usc_r5_c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300" y="5715000"/>
            <a:ext cx="4572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（白底）中文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28600"/>
            <a:ext cx="16764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816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524000"/>
            <a:ext cx="7772400" cy="1371600"/>
          </a:xfrm>
        </p:spPr>
        <p:txBody>
          <a:bodyPr/>
          <a:lstStyle>
            <a:lvl1pPr>
              <a:defRPr sz="4500"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11816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066800" y="3429000"/>
            <a:ext cx="70104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>
                <a:latin typeface="+mn-lt"/>
              </a:defRPr>
            </a:lvl1pPr>
          </a:lstStyle>
          <a:p>
            <a:pPr>
              <a:defRPr/>
            </a:pPr>
            <a:fld id="{13B25BE5-3F7A-4904-922D-A053C7DF175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image" Target="../media/image4.jpeg"/><Relationship Id="rId13" Type="http://schemas.openxmlformats.org/officeDocument/2006/relationships/image" Target="../media/image1.jpeg"/><Relationship Id="rId14" Type="http://schemas.openxmlformats.org/officeDocument/2006/relationships/image" Target="../media/image2.jpeg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96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295400"/>
            <a:ext cx="7958138" cy="109538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0" name="Text Box 6"/>
          <p:cNvSpPr txBox="1">
            <a:spLocks noChangeArrowheads="1"/>
          </p:cNvSpPr>
          <p:nvPr/>
        </p:nvSpPr>
        <p:spPr bwMode="auto">
          <a:xfrm>
            <a:off x="5548313" y="6308725"/>
            <a:ext cx="3671887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>
                <a:solidFill>
                  <a:srgbClr val="009900"/>
                </a:solidFill>
                <a:latin typeface="Verdana" panose="020B0604030504040204" pitchFamily="34" charset="0"/>
                <a:ea typeface="隶书" panose="02010509060101010101" pitchFamily="49" charset="-122"/>
              </a:rPr>
              <a:t>计算机科学与技术学院</a:t>
            </a:r>
            <a:endParaRPr lang="zh-CN" altLang="en-US">
              <a:solidFill>
                <a:srgbClr val="009900"/>
              </a:solidFill>
              <a:latin typeface="Verdana" panose="020B0604030504040204" pitchFamily="34" charset="0"/>
              <a:ea typeface="隶书" panose="02010509060101010101" pitchFamily="49" charset="-122"/>
            </a:endParaRPr>
          </a:p>
        </p:txBody>
      </p:sp>
      <p:pic>
        <p:nvPicPr>
          <p:cNvPr id="1031" name="Picture 8" descr="计算机学院logo-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6261100"/>
            <a:ext cx="509587" cy="50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2" name="Picture 9" descr="usc_r5_c1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38" y="6221413"/>
            <a:ext cx="2217737" cy="604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13" descr="usc_r5_c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1938" y="6219825"/>
            <a:ext cx="2227262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Cambria" panose="02040503050406030204" pitchFamily="18" charset="0"/>
          <a:ea typeface="黑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accent2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32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l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3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3200" b="0" lang="zh-CN" altLang="en-US">
                <a:latin typeface="微软雅黑"/>
                <a:ea typeface="微软雅黑"/>
                <a:cs typeface="微软雅黑"/>
              </a:rPr>
              <a:t>软件设计与规范</a:t>
            </a:r>
          </a:p>
        </p:txBody>
      </p:sp>
      <p:sp>
        <p:nvSpPr>
          <p:cNvPr id="3" name="body"/>
          <p:cNvSpPr>
            <a:spLocks noGrp="1"/>
          </p:cNvSpPr>
          <p:nvPr>
            <p:ph type="subTitle" idx="1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第 1 次课｜标准与规范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李萌</a:t>
            </a:r>
          </a:p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计算机科学与技术学院</a:t>
            </a:r>
          </a:p>
        </p:txBody>
      </p:sp>
    </p:spTree>
  </p:cSld>
  <p:clrMapOvr>
    <a:masterClrMapping/>
  </p:clrMapOvr>
  <p:hf sldNum="0" hdr="0" ftr="0" dt="0"/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本次目标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这次课要达到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了解安排：既有系统为棕地载体，每章配一次实验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理解流程规范与内容规范的区别，标准可以剪裁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掌握可维护性五个子特性，能比较、评价方案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了解标准体系内部的版本差与引用错位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理解整洁代码的核心判据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掌握 AI 协作工作流与输出的判定原则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课程定位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专业核心课，承上启下。先修 Java 程序设计、Web 前端、Web 后端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在既有系统上理解设计、诊断缺陷、约束下修改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用规范和测试证明改对了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本部分理论 7 次、实验 7 次，共 28 学时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课程总学时 56</a:t>
            </a:r>
          </a:p>
        </p:txBody>
      </p:sp>
    </p:spTree>
  </p:cSld>
  <p:clrMapOvr>
    <a:masterClrMapping/>
  </p:clrMapOvr>
  <p:hf sldNum="0" hdr="0" ftr="0" dt="0"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五章与五个环节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五章对应一次开发的五个环节，从标准与规范排到编码与部署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标准与规范；运行环境；体系结构设计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软件设计、重构与系统演化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编码、测试与部署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同时培养与 AI 协作，并验证其产出</a:t>
            </a:r>
          </a:p>
        </p:txBody>
      </p:sp>
    </p:spTree>
  </p:cSld>
  <p:clrMapOvr>
    <a:masterClrMapping/>
  </p:clrMapOvr>
  <p:hf sldNum="0" hdr="0" ftr="0" dt="0"/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棕地开发与每周流程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棕地：既有系统为起点。载体 mall（Spring Boot、MyBatis，7 个模块）。本周实验是 E1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4187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预习</a:t>
            </a:r>
          </a:p>
        </p:txBody>
      </p:sp>
      <p:sp>
        <p:nvSpPr>
          <p:cNvPr id="5" name="fig"/>
          <p:cNvSpPr/>
          <p:nvPr/>
        </p:nvSpPr>
        <p:spPr>
          <a:xfrm>
            <a:off x="4434840" y="2851099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ig"/>
          <p:cNvSpPr/>
          <p:nvPr/>
        </p:nvSpPr>
        <p:spPr>
          <a:xfrm>
            <a:off x="411480" y="3125419"/>
            <a:ext cx="8321040" cy="4187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课堂实操</a:t>
            </a:r>
          </a:p>
        </p:txBody>
      </p:sp>
      <p:sp>
        <p:nvSpPr>
          <p:cNvPr id="7" name="fig"/>
          <p:cNvSpPr/>
          <p:nvPr/>
        </p:nvSpPr>
        <p:spPr>
          <a:xfrm>
            <a:off x="4434840" y="354421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ig"/>
          <p:cNvSpPr/>
          <p:nvPr/>
        </p:nvSpPr>
        <p:spPr>
          <a:xfrm>
            <a:off x="411480" y="3818534"/>
            <a:ext cx="8321040" cy="4187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录屏讲解</a:t>
            </a:r>
          </a:p>
        </p:txBody>
      </p:sp>
      <p:sp>
        <p:nvSpPr>
          <p:cNvPr id="9" name="fig"/>
          <p:cNvSpPr/>
          <p:nvPr/>
        </p:nvSpPr>
        <p:spPr>
          <a:xfrm>
            <a:off x="4434840" y="4237329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fig"/>
          <p:cNvSpPr/>
          <p:nvPr/>
        </p:nvSpPr>
        <p:spPr>
          <a:xfrm>
            <a:off x="411480" y="4511649"/>
            <a:ext cx="8321040" cy="4187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线上互评</a:t>
            </a:r>
          </a:p>
        </p:txBody>
      </p:sp>
      <p:sp>
        <p:nvSpPr>
          <p:cNvPr id="11" name="fig"/>
          <p:cNvSpPr/>
          <p:nvPr/>
        </p:nvSpPr>
        <p:spPr>
          <a:xfrm>
            <a:off x="4434840" y="493044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ig"/>
          <p:cNvSpPr/>
          <p:nvPr/>
        </p:nvSpPr>
        <p:spPr>
          <a:xfrm>
            <a:off x="411480" y="5204764"/>
            <a:ext cx="8321040" cy="41879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演示投票</a:t>
            </a:r>
          </a:p>
        </p:txBody>
      </p:sp>
    </p:spTree>
  </p:cSld>
  <p:clrMapOvr>
    <a:masterClrMapping/>
  </p:clrMapOvr>
  <p:hf sldNum="0" hdr="0" ftr="0" dt="0"/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成绩构成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预习未做计零分；互评每人匿名评 3 份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签到 1 次 1 分，10 次以上满分；访问 300 次满分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一页说明按五问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365760" y="3401568"/>
          <a:ext cx="841248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5669280"/>
              </a:tblGrid>
              <a:tr h="6583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占比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怎么算</a:t>
                      </a:r>
                    </a:p>
                  </a:txBody>
                  <a:tcPr anchor="ctr"/>
                </a:tc>
              </a:tr>
              <a:tr h="6583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网络课堂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30%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预习 30、互评 20、签到 30、访问 20</a:t>
                      </a:r>
                    </a:p>
                  </a:txBody>
                  <a:tcPr anchor="ctr"/>
                </a:tc>
              </a:tr>
              <a:tr h="658368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项目实践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70%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讲清楚 30、有依据 30、验证过 40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允许并鼓励在项目实践中使用生成式AI工具，但须遵守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条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必须遵守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（1）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在提交物中标注使用了AI的部分及所用工具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（2）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能够向教师解释AI产出的每一处内容，答辩时随机抽查讲解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（3）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对提交物的正确性与质量负全部责任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（4）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作品讲解的录屏须由本人完成并演示测试运行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（5）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AI检测器的结论不作为认定违规的依据，核验依靠作品讲解、现场演示和期末独立展示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（6）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未标注使用AI、无法解释产出内容或以AI产出冒充本人完成的，按学术不诚信处理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协作记录与提交说明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5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写什么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协作记录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验收准则、使用范围、所用工具、修订记录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五问 1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要理解或改变什么？代码和业务依据是什么？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五问 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我完成了什么？为何这样选择、代价是什么？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五问 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哪些结论已验证，哪些未验证？</a:t>
                      </a:r>
                    </a:p>
                  </a:txBody>
                  <a:tcPr anchor="ctr"/>
                </a:tc>
              </a:tr>
              <a:tr h="6766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提交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一页说明按五问；录屏不超过 2 分钟，本人演示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标准的定义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标准（GB/T 20000.1-2014）：按规定程序，经协商一致制定，供共同使用和重复使用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为各种活动或其结果提供规则、指南或特性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供共同使用和重复使用</a:t>
            </a:r>
          </a:p>
          <a:p>
            <a:pPr algn="l" eaLnBrk="1" hangingPunct="1">
              <a:lnSpc>
                <a:spcPct val="100000"/>
              </a:lnSpc>
              <a:spcBef>
                <a:spcPts val="24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标准宜以科学、技术和经验的综合成果为基础</a:t>
            </a:r>
          </a:p>
        </p:txBody>
      </p:sp>
    </p:spTree>
  </p:cSld>
  <p:clrMapOvr>
    <a:masterClrMapping/>
  </p:clrMapOvr>
  <p:hf sldNum="0" hdr="0" ftr="0" dt="0"/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标准的五个层次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国际标准：供各国参考，如 ISO</a:t>
            </a:r>
          </a:p>
        </p:txBody>
      </p:sp>
      <p:sp>
        <p:nvSpPr>
          <p:cNvPr id="4" name="fig"/>
          <p:cNvSpPr/>
          <p:nvPr/>
        </p:nvSpPr>
        <p:spPr>
          <a:xfrm>
            <a:off x="612648" y="2437790"/>
            <a:ext cx="7918704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国家标准：适用于全国，如 GB</a:t>
            </a:r>
          </a:p>
        </p:txBody>
      </p:sp>
      <p:sp>
        <p:nvSpPr>
          <p:cNvPr id="5" name="fig"/>
          <p:cNvSpPr/>
          <p:nvPr/>
        </p:nvSpPr>
        <p:spPr>
          <a:xfrm>
            <a:off x="813816" y="3302812"/>
            <a:ext cx="7516367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行业标准：如 JR（金融）、YY（医药）、JT（交通）</a:t>
            </a:r>
          </a:p>
        </p:txBody>
      </p:sp>
      <p:sp>
        <p:nvSpPr>
          <p:cNvPr id="6" name="fig"/>
          <p:cNvSpPr/>
          <p:nvPr/>
        </p:nvSpPr>
        <p:spPr>
          <a:xfrm>
            <a:off x="1014984" y="4167835"/>
            <a:ext cx="7114031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企业规范：如 IBM《程序设计开发指南》</a:t>
            </a:r>
          </a:p>
        </p:txBody>
      </p:sp>
      <p:sp>
        <p:nvSpPr>
          <p:cNvPr id="7" name="fig"/>
          <p:cNvSpPr/>
          <p:nvPr/>
        </p:nvSpPr>
        <p:spPr>
          <a:xfrm>
            <a:off x="1216152" y="5032857"/>
            <a:ext cx="6711696" cy="71871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项目规范：如 CIMS 软件工程规范</a:t>
            </a:r>
          </a:p>
        </p:txBody>
      </p:sp>
    </p:spTree>
  </p:cSld>
  <p:clrMapOvr>
    <a:masterClrMapping/>
  </p:clrMapOvr>
  <p:hf sldNum="0" hdr="0" ftr="0" dt="0"/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国家标准的四类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类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规定什么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基础标准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术语、符号、表示、构造、分类及约定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开发标准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生存期过程、支持环境、维护等工作规范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文档标准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产品、需求、测试、管理等文档怎么编制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管理标准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配置管理、质量保证、可靠性与可维护性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分法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这四类是软件工程国家标准的分法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以现行版本为准，旧编号不能再当成现行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本课要用的主要标准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4754880"/>
              </a:tblGrid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标准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主题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GB/T 11457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软件工程术语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GB/T 8566-2022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软件生存周期过程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GB/T 8567-2006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计算机软件文档编制规范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GB/T 25000.10-2016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系统与软件质量模型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ISO/IEC 25010:2023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产品质量模型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ISO/IEC/IEEE 12207:2026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软件生存周期过程</a:t>
                      </a:r>
                    </a:p>
                  </a:txBody>
                  <a:tcPr anchor="ctr"/>
                </a:tc>
              </a:tr>
              <a:tr h="51206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SWEBOK Guide V4.0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软件工程知识体系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版本差：12207 与 GB/T 8566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ISO/IEC/IEEE 12207 的 2026 版是最新版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国内尚未同步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现行 GB/T 8566-2022 等同采用（IDT）12207:2017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采标的不是 2026 版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规范文本本身也要核验版本，更新后的国际标准国内不会自动跟上</a:t>
            </a:r>
          </a:p>
        </p:txBody>
      </p:sp>
    </p:spTree>
  </p:cSld>
  <p:clrMapOvr>
    <a:masterClrMapping/>
  </p:clrMapOvr>
  <p:hf sldNum="0" hdr="0" ftr="0" dt="0"/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版本差：25010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201625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八特性：GB/T 25000.10-2016 承接 25010:2011 八特性</a:t>
            </a:r>
          </a:p>
        </p:txBody>
      </p:sp>
      <p:sp>
        <p:nvSpPr>
          <p:cNvPr id="4" name="fig"/>
          <p:cNvSpPr/>
          <p:nvPr/>
        </p:nvSpPr>
        <p:spPr>
          <a:xfrm>
            <a:off x="164592" y="3735324"/>
            <a:ext cx="8814816" cy="2016252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九特性：25010:2023 九特性（新增 Safety，Usability→Interaction Capability，Portability→Flexibility）</a:t>
            </a:r>
          </a:p>
        </p:txBody>
      </p:sp>
    </p:spTree>
  </p:cSld>
  <p:clrMapOvr>
    <a:masterClrMapping/>
  </p:clrMapOvr>
  <p:hf sldNum="0" hdr="0" ftr="0" dt="0"/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版本差要核验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标准体系内部有版本差，也有引用错位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GB/T 8566-2022 的采标关系已核实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核实处：全国标准信息公共服务平台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国标被代替前不会自动作废，现行文本可能还指着上一版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课后核对原文，课堂只讲关系和取舍</a:t>
            </a:r>
          </a:p>
        </p:txBody>
      </p:sp>
    </p:spTree>
  </p:cSld>
  <p:clrMapOvr>
    <a:masterClrMapping/>
  </p:clrMapOvr>
  <p:hf sldNum="0" hdr="0" ftr="0" dt="0"/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流程规范管步骤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786384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实例：GB/T 8566，以及 CMMI 成熟度等级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432304"/>
            <a:ext cx="8321040" cy="5468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1 初始级：过程不可控</a:t>
            </a:r>
          </a:p>
        </p:txBody>
      </p:sp>
      <p:sp>
        <p:nvSpPr>
          <p:cNvPr id="5" name="fig"/>
          <p:cNvSpPr/>
          <p:nvPr/>
        </p:nvSpPr>
        <p:spPr>
          <a:xfrm>
            <a:off x="612648" y="3125419"/>
            <a:ext cx="7918704" cy="5468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2 已管理级：项目过程可控</a:t>
            </a:r>
          </a:p>
        </p:txBody>
      </p:sp>
      <p:sp>
        <p:nvSpPr>
          <p:cNvPr id="6" name="fig"/>
          <p:cNvSpPr/>
          <p:nvPr/>
        </p:nvSpPr>
        <p:spPr>
          <a:xfrm>
            <a:off x="813816" y="3818534"/>
            <a:ext cx="7516367" cy="5468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 已定义级：组织内部过程已制度化</a:t>
            </a:r>
          </a:p>
        </p:txBody>
      </p:sp>
      <p:sp>
        <p:nvSpPr>
          <p:cNvPr id="7" name="fig"/>
          <p:cNvSpPr/>
          <p:nvPr/>
        </p:nvSpPr>
        <p:spPr>
          <a:xfrm>
            <a:off x="1014984" y="4511649"/>
            <a:ext cx="7114031" cy="5468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 定量管理级：过程已测量和控制</a:t>
            </a:r>
          </a:p>
        </p:txBody>
      </p:sp>
      <p:sp>
        <p:nvSpPr>
          <p:cNvPr id="8" name="fig"/>
          <p:cNvSpPr/>
          <p:nvPr/>
        </p:nvSpPr>
        <p:spPr>
          <a:xfrm>
            <a:off x="1216152" y="5204764"/>
            <a:ext cx="6711696" cy="5468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5 优化级：关注持续的过程改进</a:t>
            </a:r>
          </a:p>
        </p:txBody>
      </p:sp>
    </p:spTree>
  </p:cSld>
  <p:clrMapOvr>
    <a:masterClrMapping/>
  </p:clrMapOvr>
  <p:hf sldNum="0" hdr="0" ftr="0" dt="0"/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内容规范，以及剪裁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0599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项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内容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定义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内容规范管产物，规定写成什么样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GB/T 8567-2006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开发文档、用户文档、管理文档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代替关系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GB8567-88 已被 GB/T 8567-2006 代替</a:t>
                      </a:r>
                    </a:p>
                  </a:txBody>
                  <a:tcPr anchor="ctr"/>
                </a:tc>
              </a:tr>
              <a:tr h="676655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手册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阿里巴巴《Java开发手册（黄山版）》</a:t>
                      </a:r>
                    </a:p>
                  </a:txBody>
                  <a:tcPr anchor="ctr"/>
                </a:tc>
              </a:tr>
              <a:tr h="67666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剪裁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标准可以按项目剪裁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你在前后端课程中遵守过哪些规范？属于流程规范还是内容规范？</a:t>
            </a:r>
          </a:p>
        </p:txBody>
      </p:sp>
    </p:spTree>
  </p:cSld>
  <p:clrMapOvr>
    <a:masterClrMapping/>
  </p:clrMapOvr>
  <p:hf sldNum="0" hdr="0" ftr="0" dt="0"/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产品质量与使用质量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模型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本讲怎么用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产品质量模型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看产品本身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使用质量模型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看使用中的效果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可维护性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用来比较、评价设计方案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五个子特性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模块化、可复用性、易分析性、易修改性、易测试性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用法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五个词是全课程评价设计的统一词汇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现场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判定放在后面的 mall 接口上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怎么在代码里判定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503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766560"/>
              </a:tblGrid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子特性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怎么在代码里判定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模块化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模块化：怎么在代码里判定——改动跨几个模块，依赖是否单向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可复用性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可复用性：怎么在代码里判定——mall-mbg 能否给 admin、portal 共用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易分析性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易分析性：怎么在代码里判定——名字与调用是否一致；/cancelOrder 只投递延迟消息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易修改性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易修改性：怎么在代码里判定——同一规则在几处：OmsPortalOrderServiceImpl 第157、662行</a:t>
                      </a:r>
                    </a:p>
                  </a:txBody>
                  <a:tcPr anchor="ctr"/>
                </a:tc>
              </a:tr>
              <a:tr h="716280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易测试性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8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易测试性：怎么在代码里判定——依赖能否替换；34-42 全是 @Autowired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现场判定：/cancelOrder 只投递延迟消息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481328"/>
            <a:ext cx="8321040" cy="1847088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/cancelOrder 只调用 sendDelayMessageCancelOrder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实际只投递延迟消息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名字与行为不一致，归到易分析性</a:t>
            </a:r>
          </a:p>
        </p:txBody>
      </p:sp>
      <p:sp>
        <p:nvSpPr>
          <p:cNvPr id="4" name="code"/>
          <p:cNvSpPr txBox="1"/>
          <p:nvPr/>
        </p:nvSpPr>
        <p:spPr>
          <a:xfrm>
            <a:off x="411480" y="3401568"/>
            <a:ext cx="8138160" cy="2249423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1"/>
          <a:lstStyle/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@Operation(​summary ​= ​"取消单个超时订单")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@RequestMapping(​value ​= ​"/cancelOrder",​ method ​= ​RequestMethod.​</a:t>
            </a:r>
            <a:br/>
            <a:r>
              <a:rPr sz="1600" b="0" lang="zh-CN" altLang="en-US">
                <a:latin typeface="Consolas"/>
                <a:ea typeface="Consolas"/>
                <a:cs typeface="Consolas"/>
              </a:rPr>
              <a:t>POST)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@ResponseBody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public CommonResult cancelOrder(​Long orderId) {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portalOrderService.​sendDelayMessageCancelOrder(​orderId);</a:t>
            </a:r>
          </a:p>
          <a:p>
            <a:pPr algn="l" eaLnBrk="1" hangingPunct="1" marL="1341120" indent="-134112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    return CommonResult.​success(​null);</a:t>
            </a:r>
          </a:p>
          <a:p>
            <a:pPr algn="l" eaLnBrk="1" hangingPunct="1" marL="894080" indent="-894080">
              <a:lnSpc>
                <a:spcPct val="95000"/>
              </a:lnSpc>
              <a:spcBef>
                <a:spcPts val="200"/>
              </a:spcBef>
              <a:spcAft>
                <a:spcPts val="200"/>
              </a:spcAft>
            </a:pPr>
            <a:r>
              <a:rPr sz="1600" b="0" lang="zh-CN" altLang="en-US">
                <a:latin typeface="Consolas"/>
                <a:ea typeface="Consolas"/>
                <a:cs typeface="Consolas"/>
              </a:rPr>
              <a:t>    }</a:t>
            </a:r>
          </a:p>
        </p:txBody>
      </p:sp>
      <p:sp>
        <p:nvSpPr>
          <p:cNvPr id="5" name="fn"/>
          <p:cNvSpPr txBox="1"/>
          <p:nvPr/>
        </p:nvSpPr>
        <p:spPr>
          <a:xfrm>
            <a:off x="411480" y="5669279"/>
            <a:ext cx="8321040" cy="256032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</a:pPr>
            <a:r>
              <a:rPr sz="1200" b="0" lang="zh-CN" altLang="en-US">
                <a:latin typeface="微软雅黑"/>
                <a:ea typeface="微软雅黑"/>
                <a:cs typeface="微软雅黑"/>
              </a:rPr>
              <a:t>出处：mall-portal/​src/​main/​java/​com/​macro/​mall/​portal/​controller/​OmsPortalOrderController.java:​64-70</a:t>
            </a:r>
          </a:p>
        </p:txBody>
      </p:sp>
    </p:spTree>
  </p:cSld>
  <p:clrMapOvr>
    <a:masterClrMapping/>
  </p:clrMapOvr>
  <p:hf sldNum="0" hdr="0" ftr="0" dt="0"/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fig"/>
          <p:cNvSpPr/>
          <p:nvPr/>
        </p:nvSpPr>
        <p:spPr>
          <a:xfrm>
            <a:off x="164592" y="1572768"/>
            <a:ext cx="8814816" cy="417880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18288" rIns="18288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一个名字与行为不一致的接口，会让后来的维护者付出什么代价？</a:t>
            </a:r>
          </a:p>
        </p:txBody>
      </p:sp>
    </p:spTree>
  </p:cSld>
  <p:clrMapOvr>
    <a:masterClrMapping/>
  </p:clrMapOvr>
  <p:hf sldNum="0" hdr="0" ftr="0" dt="0"/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整洁代码的判据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核心判据：降低后续每一次阅读和修改的成本，版式好看并不算数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包括命名、函数、注释、格式与错误处理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也包括边界封装、测试与类的设计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错误抽象的成本往往高于重复代码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形式要求都要服从这一条判据</a:t>
            </a:r>
          </a:p>
        </p:txBody>
      </p:sp>
    </p:spTree>
  </p:cSld>
  <p:clrMapOvr>
    <a:masterClrMapping/>
  </p:clrMapOvr>
  <p:hf sldNum="0" hdr="0" ftr="0" dt="0"/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提示词模式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11480" y="1572768"/>
            <a:ext cx="8321040" cy="1316736"/>
          </a:xfrm>
          <a:prstGeom prst="rect">
            <a:avLst/>
          </a:prstGeom>
          <a:noFill/>
        </p:spPr>
        <p:txBody>
          <a:bodyPr wrap="square" lIns="54864" rIns="54864" tIns="18288" bIns="18288" eaLnBrk="1" hangingPunct="1" latinLnBrk="0"/>
          <a:lstStyle/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提示词模式就是人与 AI 之间的规格说明</a:t>
            </a:r>
          </a:p>
          <a:p>
            <a:pPr algn="l" eaLnBrk="1" hangingPunct="1" marL="469900" indent="-469900">
              <a:lnSpc>
                <a:spcPct val="100000"/>
              </a:lnSpc>
              <a:spcBef>
                <a:spcPts val="400"/>
              </a:spcBef>
              <a:spcAft>
                <a:spcPts val="200"/>
              </a:spcAft>
              <a:buClr>
                <a:schemeClr val="accent2"/>
              </a:buClr>
              <a:buFont typeface="Wingdings" pitchFamily="2" charset="2"/>
              <a:buChar char="n"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来源：White 等 2023</a:t>
            </a:r>
          </a:p>
        </p:txBody>
      </p:sp>
      <p:sp>
        <p:nvSpPr>
          <p:cNvPr id="4" name="fig"/>
          <p:cNvSpPr/>
          <p:nvPr/>
        </p:nvSpPr>
        <p:spPr>
          <a:xfrm>
            <a:off x="411480" y="2962656"/>
            <a:ext cx="4091939" cy="13533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Persona</a:t>
            </a:r>
          </a:p>
        </p:txBody>
      </p:sp>
      <p:sp>
        <p:nvSpPr>
          <p:cNvPr id="5" name="fig"/>
          <p:cNvSpPr/>
          <p:nvPr/>
        </p:nvSpPr>
        <p:spPr>
          <a:xfrm>
            <a:off x="4640580" y="2962656"/>
            <a:ext cx="4091939" cy="13533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Few-shot</a:t>
            </a:r>
          </a:p>
        </p:txBody>
      </p:sp>
      <p:sp>
        <p:nvSpPr>
          <p:cNvPr id="6" name="fig"/>
          <p:cNvSpPr/>
          <p:nvPr/>
        </p:nvSpPr>
        <p:spPr>
          <a:xfrm>
            <a:off x="411480" y="4453128"/>
            <a:ext cx="4091939" cy="13533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Template</a:t>
            </a:r>
          </a:p>
        </p:txBody>
      </p:sp>
      <p:sp>
        <p:nvSpPr>
          <p:cNvPr id="7" name="fig"/>
          <p:cNvSpPr/>
          <p:nvPr/>
        </p:nvSpPr>
        <p:spPr>
          <a:xfrm>
            <a:off x="4640580" y="4453128"/>
            <a:ext cx="4091939" cy="1353311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Question Refinement</a:t>
            </a:r>
          </a:p>
        </p:txBody>
      </p:sp>
    </p:spTree>
  </p:cSld>
  <p:clrMapOvr>
    <a:masterClrMapping/>
  </p:clrMapOvr>
  <p:hf sldNum="0" hdr="0" ftr="0" dt="0"/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协作工作流四步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1 任务分解</a:t>
            </a:r>
          </a:p>
        </p:txBody>
      </p:sp>
      <p:sp>
        <p:nvSpPr>
          <p:cNvPr id="4" name="fig"/>
          <p:cNvSpPr/>
          <p:nvPr/>
        </p:nvSpPr>
        <p:spPr>
          <a:xfrm>
            <a:off x="4434840" y="2379726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ig"/>
          <p:cNvSpPr/>
          <p:nvPr/>
        </p:nvSpPr>
        <p:spPr>
          <a:xfrm>
            <a:off x="411480" y="2654046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2 上下文与边界界定</a:t>
            </a:r>
          </a:p>
        </p:txBody>
      </p:sp>
      <p:sp>
        <p:nvSpPr>
          <p:cNvPr id="6" name="fig"/>
          <p:cNvSpPr/>
          <p:nvPr/>
        </p:nvSpPr>
        <p:spPr>
          <a:xfrm>
            <a:off x="4434840" y="3461004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ig"/>
          <p:cNvSpPr/>
          <p:nvPr/>
        </p:nvSpPr>
        <p:spPr>
          <a:xfrm>
            <a:off x="411480" y="3735324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3 先写验收准则</a:t>
            </a:r>
          </a:p>
        </p:txBody>
      </p:sp>
      <p:sp>
        <p:nvSpPr>
          <p:cNvPr id="8" name="fig"/>
          <p:cNvSpPr/>
          <p:nvPr/>
        </p:nvSpPr>
        <p:spPr>
          <a:xfrm>
            <a:off x="4434840" y="4542282"/>
            <a:ext cx="274320" cy="164592"/>
          </a:xfrm>
          <a:prstGeom prst="downArrow">
            <a:avLst/>
          </a:prstGeom>
          <a:solidFill>
            <a:srgbClr val="C05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fig"/>
          <p:cNvSpPr/>
          <p:nvPr/>
        </p:nvSpPr>
        <p:spPr>
          <a:xfrm>
            <a:off x="411480" y="4816602"/>
            <a:ext cx="8321040" cy="806958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4 人工审查与修订记录</a:t>
            </a:r>
          </a:p>
        </p:txBody>
      </p:sp>
    </p:spTree>
  </p:cSld>
  <p:clrMapOvr>
    <a:masterClrMapping/>
  </p:clrMapOvr>
  <p:hf sldNum="0" hdr="0" ftr="0" dt="0"/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AI 输出的四条判定原则</a:t>
            </a:r>
          </a:p>
        </p:txBody>
      </p:sp>
      <p:sp>
        <p:nvSpPr>
          <p:cNvPr id="3" name="fig"/>
          <p:cNvSpPr/>
          <p:nvPr/>
        </p:nvSpPr>
        <p:spPr>
          <a:xfrm>
            <a:off x="4114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核对引用是否存在</a:t>
            </a:r>
          </a:p>
        </p:txBody>
      </p:sp>
      <p:sp>
        <p:nvSpPr>
          <p:cNvPr id="4" name="fig"/>
          <p:cNvSpPr/>
          <p:nvPr/>
        </p:nvSpPr>
        <p:spPr>
          <a:xfrm>
            <a:off x="4640580" y="1572768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核对运行时事实</a:t>
            </a:r>
          </a:p>
        </p:txBody>
      </p:sp>
      <p:sp>
        <p:nvSpPr>
          <p:cNvPr id="5" name="fig"/>
          <p:cNvSpPr/>
          <p:nvPr/>
        </p:nvSpPr>
        <p:spPr>
          <a:xfrm>
            <a:off x="4114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区分原理与实现</a:t>
            </a:r>
          </a:p>
        </p:txBody>
      </p:sp>
      <p:sp>
        <p:nvSpPr>
          <p:cNvPr id="6" name="fig"/>
          <p:cNvSpPr/>
          <p:nvPr/>
        </p:nvSpPr>
        <p:spPr>
          <a:xfrm>
            <a:off x="4640580" y="3758183"/>
            <a:ext cx="4091939" cy="2048255"/>
          </a:xfrm>
          <a:prstGeom prst="roundRect">
            <a:avLst/>
          </a:prstGeom>
          <a:solidFill>
            <a:srgbClr val="F6E8E6"/>
          </a:solidFill>
          <a:ln>
            <a:solidFill>
              <a:srgbClr val="A33B38"/>
            </a:solidFill>
          </a:ln>
        </p:spPr>
        <p:txBody>
          <a:bodyPr rtlCol="0" anchor="ctr" wrap="square" lIns="54864" rIns="54864" tIns="18288" bIns="18288" eaLnBrk="1" hangingPunct="1" latinLnBrk="0"/>
          <a:lstStyle/>
          <a:p>
            <a:pPr algn="ctr" eaLnBrk="1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sz="2200" b="0" lang="zh-CN" altLang="en-US">
                <a:latin typeface="微软雅黑"/>
                <a:ea typeface="微软雅黑"/>
                <a:cs typeface="微软雅黑"/>
              </a:rPr>
              <a:t>拿原则与规范作依据</a:t>
            </a:r>
          </a:p>
        </p:txBody>
      </p:sp>
    </p:spTree>
  </p:cSld>
  <p:clrMapOvr>
    <a:masterClrMapping/>
  </p:clrMapOvr>
  <p:hf sldNum="0" hdr="0" ftr="0" dt="0"/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附录《AI协作与产出验收规范》怎么用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先写验收准则，再和 AI 一起做，顺序不能倒过来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在提交物中标注 AI 的使用范围和所用工具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留下协作记录：验收准则、使用范围、所用工具，并写下修订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做完按四条判定原则核对产出</a:t>
            </a:r>
          </a:p>
          <a:p>
            <a:pPr algn="l" eaLnBrk="1" hangingPunct="1">
              <a:lnSpc>
                <a:spcPct val="100000"/>
              </a:lnSpc>
              <a:spcBef>
                <a:spcPts val="2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对产出的正确性和质量承担解释责任</a:t>
            </a:r>
          </a:p>
        </p:txBody>
      </p:sp>
    </p:spTree>
  </p:cSld>
  <p:clrMapOvr>
    <a:masterClrMapping/>
  </p:clrMapOvr>
  <p:hf sldNum="0" hdr="0" ftr="0" dt="0"/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讨论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384048" y="1444752"/>
            <a:ext cx="8366760" cy="4480560"/>
          </a:xfrm>
        </p:spPr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4000"/>
              </a:spcBef>
              <a:spcAft>
                <a:spcPts val="200"/>
              </a:spcAft>
            </a:pPr>
            <a:r>
              <a:rPr sz="2400" b="0" lang="zh-CN" altLang="en-US">
                <a:latin typeface="微软雅黑"/>
                <a:ea typeface="微软雅黑"/>
                <a:cs typeface="微软雅黑"/>
              </a:rPr>
              <a:t>用AI写出的代码出了问题，责任在谁？</a:t>
            </a:r>
          </a:p>
        </p:txBody>
      </p:sp>
    </p:spTree>
  </p:cSld>
  <p:clrMapOvr>
    <a:masterClrMapping/>
  </p:clrMapOvr>
  <p:hf sldNum="0" hdr="0" ftr="0" dt="0"/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记住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要点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两类规范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流程管步骤，内容管产物；标准可剪裁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12207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2026 版是最新版，国内尚未同步；GB/T 8566-2022 等同采用 12207:2017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25010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2023 是九特性；25000.10-2016 承接八特性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可维护性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五个子特性用来比较、评价；/cancelOrder 看易分析性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整洁代码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降低后续阅读和修改成本；错误抽象成本往往更高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下一讲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E1 开发环境与棕地仓库导读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预习题（1—3）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1. 在分层架构中，生成代码模块（如 mall-mbg）的代码应当如何看待？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与手写代码同等对待，可随时修改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只能由数据科学家修改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属于不可变约束，接口与用法需按规定使用，不直接改动生成产物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编译通过就可以改动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2. mall-mbg 模块由代码生成器产出，属于不可变约束的一部分。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3. 容器化编排相对在服务器上直接部署，主要解决了什么问题？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让应用与依赖一起打包，保证各环境运行一致，并支持弹性伸缩与故障恢复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提升算法执行效率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替代数据库的事务能力</a:t>
            </a:r>
          </a:p>
          <a:p>
            <a:pPr lvl="1" algn="l" eaLnBrk="1" hangingPunct="1">
              <a:lnSpc>
                <a:spcPct val="8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消除对中间件的依赖</a:t>
            </a:r>
          </a:p>
        </p:txBody>
      </p:sp>
    </p:spTree>
  </p:cSld>
  <p:clrMapOvr>
    <a:masterClrMapping/>
  </p:clrMapOvr>
  <p:hf sldNum="0" hdr="0" ftr="0" dt="0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预习题（4—5）</a:t>
            </a:r>
          </a:p>
        </p:txBody>
      </p:sp>
      <p:sp>
        <p:nvSpPr>
          <p:cNvPr id="3" name="quiz"/>
          <p:cNvSpPr>
            <a:spLocks noGrp="1"/>
          </p:cNvSpPr>
          <p:nvPr>
            <p:ph idx="1"/>
          </p:nvPr>
        </p:nvSpPr>
        <p:spPr>
          <a:xfrm>
            <a:off x="237744" y="1444752"/>
            <a:ext cx="8686800" cy="4480560"/>
          </a:xfrm>
        </p:spPr>
        <p:txBody>
          <a:bodyPr wrap="square" lIns="27432" rIns="27432" tIns="18288" bIns="18288" eaLnBrk="1" hangingPunct="1" latinLnBrk="0"/>
          <a:lstStyle/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4. 生成代码模块的边界应当在设计阶段作为不可变约束写明。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正确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错误</a:t>
            </a:r>
          </a:p>
          <a:p>
            <a:pPr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5. 既有系统的构建方式（如何编译、打包、启动）信息，通常记录在哪个文件里？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A. .gitignore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B. 构建配置文件，例如 Maven 的 pom.xml 或 Gradle 的 build.gradle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C. README 的目录结构说明</a:t>
            </a:r>
          </a:p>
          <a:p>
            <a:pPr lvl="1" algn="l" eaLnBrk="1" hangingPunct="1">
              <a:lnSpc>
                <a:spcPct val="95000"/>
              </a:lnSpc>
              <a:spcBef>
                <a:spcPts val="800"/>
              </a:spcBef>
              <a:spcAft>
                <a:spcPts val="200"/>
              </a:spcAft>
            </a:pPr>
            <a:r>
              <a:rPr sz="2000" b="0" lang="zh-CN" altLang="en-US">
                <a:latin typeface="微软雅黑"/>
                <a:ea typeface="微软雅黑"/>
                <a:cs typeface="微软雅黑"/>
              </a:rPr>
              <a:t>D. 数据库初始化脚本</a:t>
            </a:r>
          </a:p>
        </p:txBody>
      </p:sp>
    </p:spTree>
  </p:cSld>
  <p:clrMapOvr>
    <a:masterClrMapping/>
  </p:clrMapOvr>
  <p:hf sldNum="0" hdr="0" ftr="0" dt="0"/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54864" rIns="54864" tIns="18288" bIns="18288" eaLnBrk="1" hangingPunct="1" latinLnBrk="0"/>
          <a:lstStyle/>
          <a:p>
            <a:pPr algn="l" eaLnBrk="1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</a:pPr>
            <a:r>
              <a:rPr sz="2800" b="0" lang="zh-CN" altLang="en-US">
                <a:latin typeface="微软雅黑"/>
                <a:ea typeface="微软雅黑"/>
                <a:cs typeface="微软雅黑"/>
              </a:rPr>
              <a:t>课后阅读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65760" y="1481328"/>
          <a:ext cx="81381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126480"/>
              </a:tblGrid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文献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[15]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SWEBOK Guide V4.0 第4章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[16]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GB/T 25000.10-2016 第4章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[17][18]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GB/T 8566-2022；GB/T 8567-2006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[19][20]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ISO/IEC 25010:2023；ISO/IEC/IEEE 12207:2026</a:t>
                      </a:r>
                    </a:p>
                  </a:txBody>
                  <a:tcPr anchor="ctr"/>
                </a:tc>
              </a:tr>
              <a:tr h="613954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[29][42]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White 等 2023；Vanderbilt《Prompt Engineering for ChatGPT》</a:t>
                      </a:r>
                    </a:p>
                  </a:txBody>
                  <a:tcPr anchor="ctr"/>
                </a:tc>
              </a:tr>
              <a:tr h="613956"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[44][47]</a:t>
                      </a:r>
                    </a:p>
                  </a:txBody>
                  <a:tcPr anchor="ctr"/>
                </a:tc>
                <a:tc>
                  <a:txBody>
                    <a:bodyPr wrap="square" lIns="36576" rIns="36576" tIns="18288" bIns="18288" eaLnBrk="1" hangingPunct="1" latinLnBrk="0"/>
                    <a:lstStyle/>
                    <a:p>
                      <a:pPr algn="l" eaLnBrk="1" hangingPunct="1">
                        <a:lnSpc>
                          <a:spcPct val="90000"/>
                        </a:lnSpc>
                        <a:spcBef>
                          <a:spcPts val="600"/>
                        </a:spcBef>
                        <a:spcAft>
                          <a:spcPts val="200"/>
                        </a:spcAft>
                      </a:pPr>
                      <a:r>
                        <a:rPr sz="1600" b="0" lang="zh-CN" altLang="en-US">
                          <a:latin typeface="微软雅黑"/>
                          <a:ea typeface="微软雅黑"/>
                          <a:cs typeface="微软雅黑"/>
                        </a:rPr>
                        <a:t>Northeastern CS4530；课程组《AI协作与产出验收规范》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hf sldNum="0" hdr="0" ftr="0" dt="0"/>
</p:sld>
</file>

<file path=ppt/tags/tag7.xml><?xml version="1.0" encoding="utf-8"?>
<p:tagLst xmlns:p="http://schemas.openxmlformats.org/presentationml/2006/main">
  <p:tag name="commondata" val="eyJoZGlkIjoiZDkzYzZkNDRlZDllNjdlNTFlNDRjOWFlMDM3NGQyOTAifQ=="/>
</p:tagLst>
</file>

<file path=ppt/theme/theme1.xml><?xml version="1.0" encoding="utf-8"?>
<a:theme xmlns:a="http://schemas.openxmlformats.org/drawingml/2006/main" name="2_985平台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bg1">
                <a:gamma/>
                <a:shade val="46275"/>
                <a:invGamma/>
              </a:schemeClr>
            </a:gs>
            <a:gs pos="50000">
              <a:schemeClr val="bg1"/>
            </a:gs>
            <a:gs pos="100000">
              <a:schemeClr val="bg1">
                <a:gamma/>
                <a:shade val="46275"/>
                <a:invGamma/>
              </a:schemeClr>
            </a:gs>
          </a:gsLst>
          <a:lin ang="5400000" scaled="1"/>
        </a:gradFill>
        <a:ln w="38100" cap="flat" cmpd="sng" algn="ctr">
          <a:solidFill>
            <a:srgbClr val="3366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2_985平台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985平台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985平台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3022</Words>
  <Application>WPS 演示</Application>
  <PresentationFormat>全屏显示(4:3)</PresentationFormat>
  <Paragraphs>283</Paragraphs>
  <Slides>44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59" baseType="lpstr">
      <vt:lpstr>Arial</vt:lpstr>
      <vt:lpstr>宋体</vt:lpstr>
      <vt:lpstr>Wingdings</vt:lpstr>
      <vt:lpstr>Verdana</vt:lpstr>
      <vt:lpstr>隶书</vt:lpstr>
      <vt:lpstr>Cambria</vt:lpstr>
      <vt:lpstr>黑体</vt:lpstr>
      <vt:lpstr>Times New Roman</vt:lpstr>
      <vt:lpstr>新宋体</vt:lpstr>
      <vt:lpstr>Tahoma</vt:lpstr>
      <vt:lpstr>微软雅黑</vt:lpstr>
      <vt:lpstr>Arial Unicode MS</vt:lpstr>
      <vt:lpstr>Calibri</vt:lpstr>
      <vt:lpstr>华文行楷</vt:lpstr>
      <vt:lpstr>2_985平台</vt:lpstr>
      <vt:lpstr>软件设计与规范 </vt:lpstr>
      <vt:lpstr>自我介绍</vt:lpstr>
      <vt:lpstr>超星学习通</vt:lpstr>
      <vt:lpstr>超星学习通</vt:lpstr>
      <vt:lpstr>教材</vt:lpstr>
      <vt:lpstr>推荐参考书</vt:lpstr>
      <vt:lpstr>参考书</vt:lpstr>
      <vt:lpstr>课程定位</vt:lpstr>
      <vt:lpstr>PowerPoint 演示文稿</vt:lpstr>
      <vt:lpstr>PowerPoint 演示文稿</vt:lpstr>
      <vt:lpstr>解决两大难题</vt:lpstr>
      <vt:lpstr>教学困难--实践能力</vt:lpstr>
      <vt:lpstr>PowerPoint 演示文稿</vt:lpstr>
      <vt:lpstr>PowerPoint 演示文稿</vt:lpstr>
      <vt:lpstr>PowerPoint 演示文稿</vt:lpstr>
      <vt:lpstr>教学困难--解决问题的能力</vt:lpstr>
      <vt:lpstr>PowerPoint 演示文稿</vt:lpstr>
      <vt:lpstr>PowerPoint 演示文稿</vt:lpstr>
      <vt:lpstr>教学改革</vt:lpstr>
      <vt:lpstr>PowerPoint 演示文稿</vt:lpstr>
      <vt:lpstr>PowerPoint 演示文稿</vt:lpstr>
      <vt:lpstr>教学设计</vt:lpstr>
      <vt:lpstr>翻转课堂学习绩效</vt:lpstr>
      <vt:lpstr>考核安排</vt:lpstr>
      <vt:lpstr>PowerPoint 演示文稿</vt:lpstr>
      <vt:lpstr>PowerPoint 演示文稿</vt:lpstr>
      <vt:lpstr>优秀</vt:lpstr>
      <vt:lpstr>课程网站扩展项目</vt:lpstr>
      <vt:lpstr>课程设计</vt:lpstr>
      <vt:lpstr>课程网站案例分类</vt:lpstr>
      <vt:lpstr>案例的使用</vt:lpstr>
      <vt:lpstr>授课方式</vt:lpstr>
      <vt:lpstr>PowerPoint 演示文稿</vt:lpstr>
      <vt:lpstr>课程网站</vt:lpstr>
      <vt:lpstr>能力构成</vt:lpstr>
      <vt:lpstr>环境</vt:lpstr>
      <vt:lpstr>助教</vt:lpstr>
      <vt:lpstr>SWOT分析</vt:lpstr>
      <vt:lpstr>课后阅读</vt:lpstr>
      <vt:lpstr>课后练习</vt:lpstr>
      <vt:lpstr>作业</vt:lpstr>
      <vt:lpstr>Tips</vt:lpstr>
      <vt:lpstr>Tips（续）</vt:lpstr>
      <vt:lpstr>PowerPoint 演示文稿</vt:lpstr>
    </vt:vector>
  </TitlesOfParts>
  <Company>sei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1-1课程简介</dc:title>
  <dc:creator>李萌</dc:creator>
  <cp:lastModifiedBy>lemon 牛</cp:lastModifiedBy>
  <cp:revision>1036</cp:revision>
  <cp:lastPrinted>2003-09-14T10:10:00Z</cp:lastPrinted>
  <dcterms:created xsi:type="dcterms:W3CDTF">2003-08-28T12:03:00Z</dcterms:created>
  <dcterms:modified xsi:type="dcterms:W3CDTF">2024-02-25T15:12:44Z</dcterms:modified>
  <dc:descript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6B7E428AAD9D47FD86FE404DDCE365B0_12</vt:lpwstr>
  </property>
  <property fmtid="{D5CDD505-2E9C-101B-9397-08002B2CF9AE}" pid="3" name="KSOProductBuildVer">
    <vt:lpwstr>2052-12.1.0.16250</vt:lpwstr>
  </property>
</Properties>
</file>