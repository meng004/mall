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48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</p:sldIdLst>
  <p:sldSz cx="9144000" cy="6858000" type="screen4x3"/>
  <p:notesSz cx="6760845" cy="9931400"/>
  <p:custDataLst>
    <p:tags r:id="rId5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  <a:srgbClr val="FF3300"/>
    <a:srgbClr val="CC0000"/>
    <a:srgbClr val="FFFFCC"/>
    <a:srgbClr val="FFCCFF"/>
    <a:srgbClr val="FFFFFF"/>
    <a:srgbClr val="3399FF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73" autoAdjust="0"/>
    <p:restoredTop sz="86423" autoAdjust="0"/>
  </p:normalViewPr>
  <p:slideViewPr>
    <p:cSldViewPr showGuides="1">
      <p:cViewPr varScale="1">
        <p:scale>
          <a:sx n="93" d="100"/>
          <a:sy n="93" d="100"/>
        </p:scale>
        <p:origin x="812" y="64"/>
      </p:cViewPr>
      <p:guideLst>
        <p:guide orient="horz" pos="2160"/>
        <p:guide pos="28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>
        <p:scale>
          <a:sx n="100" d="100"/>
          <a:sy n="100" d="100"/>
        </p:scale>
        <p:origin x="1662" y="-1344"/>
      </p:cViewPr>
      <p:guideLst>
        <p:guide orient="horz" pos="3129"/>
        <p:guide pos="213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8" Type="http://schemas.openxmlformats.org/officeDocument/2006/relationships/handoutMaster" Target="handoutMasters/handout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ableStyles" Target="tableStyles.xml"/><Relationship Id="rId52" Type="http://schemas.openxmlformats.org/officeDocument/2006/relationships/tags" Target="tags/tag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3975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3975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9BFF2AA-1B51-48D4-AF79-5A13FE5BDCE2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27463" y="0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8525" y="744538"/>
            <a:ext cx="4967288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688" y="4719638"/>
            <a:ext cx="5411787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7463" y="9431338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fld id="{BF21029A-2C2D-4ABF-B6A0-347AF3B9548E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usc_r5_c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15000"/>
            <a:ext cx="457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3" descr="usc_r5_c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300" y="5715000"/>
            <a:ext cx="457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3" descr="（白底）中文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28600"/>
            <a:ext cx="16764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16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772400" cy="1371600"/>
          </a:xfrm>
        </p:spPr>
        <p:txBody>
          <a:bodyPr/>
          <a:lstStyle>
            <a:lvl1pPr>
              <a:defRPr sz="45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11816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0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fld id="{13B25BE5-3F7A-4904-922D-A053C7DF175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4.jpeg"/><Relationship Id="rId13" Type="http://schemas.openxmlformats.org/officeDocument/2006/relationships/image" Target="../media/image1.jpeg"/><Relationship Id="rId14" Type="http://schemas.openxmlformats.org/officeDocument/2006/relationships/image" Target="../media/image2.jpeg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96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295400"/>
            <a:ext cx="7958138" cy="109538"/>
          </a:xfrm>
          <a:custGeom>
            <a:avLst/>
            <a:gdLst>
              <a:gd name="T0" fmla="*/ 0 w 1000"/>
              <a:gd name="T1" fmla="*/ 0 h 1000"/>
              <a:gd name="T2" fmla="*/ 4655511 w 1000"/>
              <a:gd name="T3" fmla="*/ 0 h 1000"/>
              <a:gd name="T4" fmla="*/ 4655511 w 1000"/>
              <a:gd name="T5" fmla="*/ 109538 h 1000"/>
              <a:gd name="T6" fmla="*/ 0 w 1000"/>
              <a:gd name="T7" fmla="*/ 109538 h 1000"/>
              <a:gd name="T8" fmla="*/ 0 w 1000"/>
              <a:gd name="T9" fmla="*/ 0 h 1000"/>
              <a:gd name="T10" fmla="*/ 7958138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5548313" y="6308725"/>
            <a:ext cx="36718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>
                <a:solidFill>
                  <a:srgbClr val="009900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计算机科学与技术学院</a:t>
            </a:r>
            <a:endParaRPr lang="zh-CN" altLang="en-US">
              <a:solidFill>
                <a:srgbClr val="009900"/>
              </a:solidFill>
              <a:latin typeface="Verdana" panose="020B0604030504040204" pitchFamily="34" charset="0"/>
              <a:ea typeface="隶书" panose="02010509060101010101" pitchFamily="49" charset="-122"/>
            </a:endParaRPr>
          </a:p>
        </p:txBody>
      </p:sp>
      <p:pic>
        <p:nvPicPr>
          <p:cNvPr id="1031" name="Picture 8" descr="计算机学院logo-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413" y="6261100"/>
            <a:ext cx="509587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9" descr="usc_r5_c1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8" y="6221413"/>
            <a:ext cx="2217737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13" descr="usc_r5_c2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938" y="6219825"/>
            <a:ext cx="2227262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l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3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3200" b="0" lang="zh-CN" altLang="en-US">
                <a:latin typeface="微软雅黑"/>
                <a:ea typeface="微软雅黑"/>
                <a:cs typeface="微软雅黑"/>
              </a:rPr>
              <a:t>软件设计与规范</a:t>
            </a:r>
          </a:p>
        </p:txBody>
      </p:sp>
      <p:sp>
        <p:nvSpPr>
          <p:cNvPr id="3" name="body"/>
          <p:cNvSpPr>
            <a:spLocks noGrp="1"/>
          </p:cNvSpPr>
          <p:nvPr>
            <p:ph type="subTitle" idx="1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第 3 次课｜运行环境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李萌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计算机科学与技术学院</a:t>
            </a:r>
          </a:p>
        </p:txBody>
      </p:sp>
    </p:spTree>
  </p:cSld>
  <p:clrMapOvr>
    <a:masterClrMapping/>
  </p:clrMapOvr>
  <p:hf sldNum="0" hdr="0" ftr="0" dt="0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本次目标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5039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6766560"/>
              </a:tblGrid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条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这次课要达到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了解运行环境的主要形态，以及云服务三个层次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理解运行环境是物理视图的约束来源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理解实验环境里各组件的位置与边界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掌握选取原则、使用约定，以及不得修改的部分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能在给定环境中搭建、编译并运行既有系统</a:t>
                      </a:r>
                    </a:p>
                  </a:txBody>
                  <a:tcPr anchor="ctr"/>
                </a:tc>
              </a:tr>
              <a:tr h="61395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衔接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上接 E1 把 mall 跑起来；下接 E2 画它的物理视图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E1 常见环境问题（非本班统计）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50392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6766560"/>
              </a:tblGrid>
              <a:tr h="749807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现象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最短处理</a:t>
                      </a:r>
                    </a:p>
                  </a:txBody>
                  <a:tcPr anchor="ctr"/>
                </a:tc>
              </a:tr>
              <a:tr h="749807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编译版本错误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看 mvn -version 是否Java17，再看IDEA Runner；不要重装整个工程</a:t>
                      </a:r>
                    </a:p>
                  </a:txBody>
                  <a:tcPr anchor="ctr"/>
                </a:tc>
              </a:tr>
              <a:tr h="749807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下载失败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请助教处理网络/缓存，或换已准备好的课程机器；不是代码缺陷证据</a:t>
                      </a:r>
                    </a:p>
                  </a:txBody>
                  <a:tcPr anchor="ctr"/>
                </a:tc>
              </a:tr>
              <a:tr h="749807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数据库/模型连接失败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先做离线测试和分析，记录未完成部分，再补实际运行</a:t>
                      </a:r>
                    </a:p>
                  </a:txBody>
                  <a:tcPr anchor="ctr"/>
                </a:tc>
              </a:tr>
              <a:tr h="749811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找不到模块或类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确认在 mall 根目录，测试类在被测模块的 src/test/java；用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code-cmd"/>
          <p:cNvSpPr txBox="1"/>
          <p:nvPr/>
        </p:nvSpPr>
        <p:spPr>
          <a:xfrm>
            <a:off x="502920" y="5303520"/>
            <a:ext cx="8138160" cy="420624"/>
          </a:xfrm>
          <a:prstGeom prst="rect">
            <a:avLst/>
          </a:prstGeom>
          <a:solidFill>
            <a:srgbClr val="F0F0F0"/>
          </a:solidFill>
        </p:spPr>
        <p:txBody>
          <a:bodyPr wrap="square" lIns="18288" rIns="18288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-pl &lt;模块&gt; -am -DskipTests=false -Dtest=&lt;测试类&gt; test</a:t>
            </a:r>
          </a:p>
        </p:txBody>
      </p:sp>
    </p:spTree>
  </p:cSld>
  <p:clrMapOvr>
    <a:masterClrMapping/>
  </p:clrMapOvr>
  <p:hf sldNum="0" hdr="0" ftr="0" dt="0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开发环境与运行环境</a:t>
            </a:r>
          </a:p>
        </p:txBody>
      </p:sp>
      <p:sp>
        <p:nvSpPr>
          <p:cNvPr id="3" name="fig"/>
          <p:cNvSpPr/>
          <p:nvPr/>
        </p:nvSpPr>
        <p:spPr>
          <a:xfrm>
            <a:off x="365760" y="1572768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开发环境</a:t>
            </a:r>
          </a:p>
        </p:txBody>
      </p:sp>
      <p:sp>
        <p:nvSpPr>
          <p:cNvPr id="4" name="fig"/>
          <p:cNvSpPr/>
          <p:nvPr/>
        </p:nvSpPr>
        <p:spPr>
          <a:xfrm>
            <a:off x="4663440" y="1572768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运行环境</a:t>
            </a:r>
          </a:p>
        </p:txBody>
      </p:sp>
      <p:sp>
        <p:nvSpPr>
          <p:cNvPr id="5" name="fig"/>
          <p:cNvSpPr/>
          <p:nvPr/>
        </p:nvSpPr>
        <p:spPr>
          <a:xfrm>
            <a:off x="365760" y="2350008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改代码、编译、调试</a:t>
            </a:r>
          </a:p>
        </p:txBody>
      </p:sp>
      <p:sp>
        <p:nvSpPr>
          <p:cNvPr id="6" name="fig"/>
          <p:cNvSpPr/>
          <p:nvPr/>
        </p:nvSpPr>
        <p:spPr>
          <a:xfrm>
            <a:off x="4663440" y="2350008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跑已经构建的程序</a:t>
            </a:r>
          </a:p>
        </p:txBody>
      </p:sp>
      <p:sp>
        <p:nvSpPr>
          <p:cNvPr id="7" name="fig"/>
          <p:cNvSpPr/>
          <p:nvPr/>
        </p:nvSpPr>
        <p:spPr>
          <a:xfrm>
            <a:off x="365760" y="3520439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JDK 17 与 Maven</a:t>
            </a:r>
          </a:p>
        </p:txBody>
      </p:sp>
      <p:sp>
        <p:nvSpPr>
          <p:cNvPr id="8" name="fig"/>
          <p:cNvSpPr/>
          <p:nvPr/>
        </p:nvSpPr>
        <p:spPr>
          <a:xfrm>
            <a:off x="4663440" y="3520439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进程、中间件、网络</a:t>
            </a:r>
          </a:p>
        </p:txBody>
      </p:sp>
      <p:sp>
        <p:nvSpPr>
          <p:cNvPr id="9" name="fig"/>
          <p:cNvSpPr/>
          <p:nvPr/>
        </p:nvSpPr>
        <p:spPr>
          <a:xfrm>
            <a:off x="365760" y="4690872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事实看编译和测试</a:t>
            </a:r>
          </a:p>
        </p:txBody>
      </p:sp>
      <p:sp>
        <p:nvSpPr>
          <p:cNvPr id="10" name="fig"/>
          <p:cNvSpPr/>
          <p:nvPr/>
        </p:nvSpPr>
        <p:spPr>
          <a:xfrm>
            <a:off x="4663440" y="4690872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容器或另一台机器</a:t>
            </a:r>
          </a:p>
        </p:txBody>
      </p:sp>
    </p:spTree>
  </p:cSld>
  <p:clrMapOvr>
    <a:masterClrMapping/>
  </p:clrMapOvr>
  <p:hf sldNum="0" hdr="0" ftr="0" dt="0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虚拟化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把物理资源抽象成虚拟的逻辑资源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一台机器上同时跑多个逻辑计算机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各逻辑机可跑不同操作系统，互不影响</a:t>
            </a:r>
          </a:p>
        </p:txBody>
      </p:sp>
      <p:sp>
        <p:nvSpPr>
          <p:cNvPr id="6" name="fig"/>
          <p:cNvSpPr/>
          <p:nvPr/>
        </p:nvSpPr>
        <p:spPr>
          <a:xfrm>
            <a:off x="164592" y="4816602"/>
            <a:ext cx="8814816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例子：VMware、Hyper-V、VirtualBox</a:t>
            </a:r>
          </a:p>
        </p:txBody>
      </p:sp>
    </p:spTree>
  </p:cSld>
  <p:clrMapOvr>
    <a:masterClrMapping/>
  </p:clrMapOvr>
  <p:hf sldNum="0" hdr="0" ftr="0" dt="0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云服务三个层次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控制边界引自 NIST SP 800-145 的三种服务模式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2432304"/>
            <a:ext cx="8321040" cy="100888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IaaS：自己管操作系统和应用，云设施交给别人</a:t>
            </a:r>
          </a:p>
        </p:txBody>
      </p:sp>
      <p:sp>
        <p:nvSpPr>
          <p:cNvPr id="5" name="fig"/>
          <p:cNvSpPr/>
          <p:nvPr/>
        </p:nvSpPr>
        <p:spPr>
          <a:xfrm>
            <a:off x="612648" y="3587496"/>
            <a:ext cx="7918704" cy="100888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PaaS：自己管应用，操作系统和服务器交给别人</a:t>
            </a:r>
          </a:p>
        </p:txBody>
      </p:sp>
      <p:sp>
        <p:nvSpPr>
          <p:cNvPr id="6" name="fig"/>
          <p:cNvSpPr/>
          <p:nvPr/>
        </p:nvSpPr>
        <p:spPr>
          <a:xfrm>
            <a:off x="813816" y="4742688"/>
            <a:ext cx="7516367" cy="100888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SaaS：用别人的应用，最多改自己的配置</a:t>
            </a:r>
          </a:p>
        </p:txBody>
      </p:sp>
    </p:spTree>
  </p:cSld>
  <p:clrMapOvr>
    <a:masterClrMapping/>
  </p:clrMapOvr>
  <p:hf sldNum="0" hdr="0" ftr="0" dt="0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从单体到微服务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相关运行形态，不是必经的线性升级路线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2432304"/>
            <a:ext cx="8321040" cy="100888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单体：一个部署单元，模块在进程内调用</a:t>
            </a:r>
          </a:p>
        </p:txBody>
      </p:sp>
      <p:sp>
        <p:nvSpPr>
          <p:cNvPr id="5" name="fig"/>
          <p:cNvSpPr/>
          <p:nvPr/>
        </p:nvSpPr>
        <p:spPr>
          <a:xfrm>
            <a:off x="612648" y="3587496"/>
            <a:ext cx="7918704" cy="100888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SOA：按服务划分，服务之间约定接口</a:t>
            </a:r>
          </a:p>
        </p:txBody>
      </p:sp>
      <p:sp>
        <p:nvSpPr>
          <p:cNvPr id="6" name="fig"/>
          <p:cNvSpPr/>
          <p:nvPr/>
        </p:nvSpPr>
        <p:spPr>
          <a:xfrm>
            <a:off x="813816" y="4742688"/>
            <a:ext cx="7516367" cy="100888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微服务：服务可以各自部署</a:t>
            </a:r>
          </a:p>
        </p:txBody>
      </p:sp>
    </p:spTree>
  </p:cSld>
  <p:clrMapOvr>
    <a:masterClrMapping/>
  </p:clrMapOvr>
  <p:hf sldNum="0" hdr="0" ftr="0" dt="0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边车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1847087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相关运行形态，不是必经的线性升级路线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此处指服务网格中的 sidecar 代理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实线是数据流；虚线是配置下发，控制面不在数据路径上</a:t>
            </a:r>
          </a:p>
        </p:txBody>
      </p:sp>
      <p:sp>
        <p:nvSpPr>
          <p:cNvPr id="4" name="fig"/>
          <p:cNvSpPr/>
          <p:nvPr/>
        </p:nvSpPr>
        <p:spPr>
          <a:xfrm>
            <a:off x="3611880" y="3493007"/>
            <a:ext cx="1874519" cy="53035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网格控制面</a:t>
            </a:r>
          </a:p>
        </p:txBody>
      </p:sp>
      <p:sp>
        <p:nvSpPr>
          <p:cNvPr id="5" name="fig"/>
          <p:cNvSpPr/>
          <p:nvPr/>
        </p:nvSpPr>
        <p:spPr>
          <a:xfrm>
            <a:off x="320040" y="4544567"/>
            <a:ext cx="1874519" cy="65836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服务</a:t>
            </a:r>
          </a:p>
        </p:txBody>
      </p:sp>
      <p:sp>
        <p:nvSpPr>
          <p:cNvPr id="6" name="fig"/>
          <p:cNvSpPr/>
          <p:nvPr/>
        </p:nvSpPr>
        <p:spPr>
          <a:xfrm>
            <a:off x="3611880" y="4544567"/>
            <a:ext cx="1874519" cy="65836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边车</a:t>
            </a:r>
          </a:p>
        </p:txBody>
      </p:sp>
      <p:sp>
        <p:nvSpPr>
          <p:cNvPr id="7" name="fig"/>
          <p:cNvSpPr/>
          <p:nvPr/>
        </p:nvSpPr>
        <p:spPr>
          <a:xfrm>
            <a:off x="6903720" y="4544567"/>
            <a:ext cx="1874519" cy="65836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其他服务</a:t>
            </a:r>
          </a:p>
        </p:txBody>
      </p:sp>
      <p:sp>
        <p:nvSpPr>
          <p:cNvPr id="8" name="fig"/>
          <p:cNvSpPr/>
          <p:nvPr/>
        </p:nvSpPr>
        <p:spPr>
          <a:xfrm>
            <a:off x="2304288" y="4773167"/>
            <a:ext cx="1197864" cy="201168"/>
          </a:xfrm>
          <a:prstGeom prst="leftRight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ig"/>
          <p:cNvSpPr/>
          <p:nvPr/>
        </p:nvSpPr>
        <p:spPr>
          <a:xfrm>
            <a:off x="5596128" y="4773167"/>
            <a:ext cx="1197863" cy="201168"/>
          </a:xfrm>
          <a:prstGeom prst="leftRight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fig"/>
          <p:cNvCxnSpPr/>
          <p:nvPr/>
        </p:nvCxnSpPr>
        <p:spPr>
          <a:xfrm>
            <a:off x="4549140" y="4059935"/>
            <a:ext cx="0" cy="466344"/>
          </a:xfrm>
          <a:prstGeom prst="line">
            <a:avLst/>
          </a:prstGeom>
          <a:ln w="22225">
            <a:solidFill>
              <a:srgbClr val="C05A5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无服务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相关运行形态，不是必经的线性升级路线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2432304"/>
            <a:ext cx="8321040" cy="100888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平台按请求或事件调度执行实例</a:t>
            </a:r>
          </a:p>
        </p:txBody>
      </p:sp>
      <p:sp>
        <p:nvSpPr>
          <p:cNvPr id="5" name="fig"/>
          <p:cNvSpPr/>
          <p:nvPr/>
        </p:nvSpPr>
        <p:spPr>
          <a:xfrm>
            <a:off x="612648" y="3587496"/>
            <a:ext cx="7918704" cy="100888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实例随负载自动伸缩</a:t>
            </a:r>
          </a:p>
        </p:txBody>
      </p:sp>
      <p:sp>
        <p:nvSpPr>
          <p:cNvPr id="6" name="fig"/>
          <p:cNvSpPr/>
          <p:nvPr/>
        </p:nvSpPr>
        <p:spPr>
          <a:xfrm>
            <a:off x="813816" y="4742688"/>
            <a:ext cx="7516367" cy="100888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团队不长期管理服务器</a:t>
            </a:r>
          </a:p>
        </p:txBody>
      </p:sp>
    </p:spTree>
  </p:cSld>
  <p:clrMapOvr>
    <a:masterClrMapping/>
  </p:clrMapOvr>
  <p:hf sldNum="0" hdr="0" ftr="0" dt="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容器化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容器把应用和依赖打在一起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换一台机器，启动方式仍一致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编排一次拉起一组容器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和虚拟机不同：容器共享宿主内核</a:t>
            </a:r>
          </a:p>
        </p:txBody>
      </p:sp>
    </p:spTree>
  </p:cSld>
  <p:clrMapOvr>
    <a:masterClrMapping/>
  </p:clrMapOvr>
  <p:hf sldNum="0" hdr="0" ftr="0" dt="0"/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运行环境约束物理视图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1847087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环境变了，进程落在哪、怎么连，要重画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Le 等 2015 只说明：开源系统里体系结构会变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四张视图的展开留到体系结构那一讲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3493007"/>
            <a:ext cx="4091939" cy="108813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逻辑视图：职责怎么分</a:t>
            </a:r>
          </a:p>
        </p:txBody>
      </p:sp>
      <p:sp>
        <p:nvSpPr>
          <p:cNvPr id="5" name="fig"/>
          <p:cNvSpPr/>
          <p:nvPr/>
        </p:nvSpPr>
        <p:spPr>
          <a:xfrm>
            <a:off x="4640580" y="3493007"/>
            <a:ext cx="4091939" cy="108813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进程视图：运行时有哪些进程</a:t>
            </a:r>
          </a:p>
        </p:txBody>
      </p:sp>
      <p:sp>
        <p:nvSpPr>
          <p:cNvPr id="6" name="fig"/>
          <p:cNvSpPr/>
          <p:nvPr/>
        </p:nvSpPr>
        <p:spPr>
          <a:xfrm>
            <a:off x="411480" y="4718303"/>
            <a:ext cx="4091939" cy="108813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开发视图：代码怎么分成模块</a:t>
            </a:r>
          </a:p>
        </p:txBody>
      </p:sp>
      <p:sp>
        <p:nvSpPr>
          <p:cNvPr id="7" name="fig"/>
          <p:cNvSpPr/>
          <p:nvPr/>
        </p:nvSpPr>
        <p:spPr>
          <a:xfrm>
            <a:off x="4640580" y="4718303"/>
            <a:ext cx="4091939" cy="108813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物理视图：进程落在哪些节点</a:t>
            </a:r>
          </a:p>
        </p:txBody>
      </p:sp>
    </p:spTree>
  </p:cSld>
  <p:clrMapOvr>
    <a:masterClrMapping/>
  </p:clrMapOvr>
  <p:hf sldNum="0" hdr="0" ftr="0" dt="0"/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mall 系统架构整图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整图缩略，用来和下一页的 mall-swarm 对照</a:t>
            </a:r>
          </a:p>
        </p:txBody>
      </p:sp>
      <p:pic>
        <p:nvPicPr>
          <p:cNvPr id="4" name="pic#mall#full#baseline-dcaa93b3#document/resource/re_mall_system_arch.jpg" descr="re_mall_system_ar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800" y="2267712"/>
            <a:ext cx="5020398" cy="2852927"/>
          </a:xfrm>
          <a:prstGeom prst="rect">
            <a:avLst/>
          </a:prstGeom>
        </p:spPr>
      </p:pic>
      <p:sp>
        <p:nvSpPr>
          <p:cNvPr id="5" name="ann"/>
          <p:cNvSpPr/>
          <p:nvPr/>
        </p:nvSpPr>
        <p:spPr>
          <a:xfrm>
            <a:off x="365760" y="5157216"/>
            <a:ext cx="2731007" cy="40233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36576" rIns="36576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三个应用</a:t>
            </a:r>
          </a:p>
        </p:txBody>
      </p:sp>
      <p:sp>
        <p:nvSpPr>
          <p:cNvPr id="6" name="ann"/>
          <p:cNvSpPr/>
          <p:nvPr/>
        </p:nvSpPr>
        <p:spPr>
          <a:xfrm>
            <a:off x="3206495" y="5157216"/>
            <a:ext cx="2731007" cy="40233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36576" rIns="36576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消息与数据库</a:t>
            </a:r>
          </a:p>
        </p:txBody>
      </p:sp>
      <p:sp>
        <p:nvSpPr>
          <p:cNvPr id="7" name="ann"/>
          <p:cNvSpPr/>
          <p:nvPr/>
        </p:nvSpPr>
        <p:spPr>
          <a:xfrm>
            <a:off x="6047232" y="5157216"/>
            <a:ext cx="2731007" cy="40233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36576" rIns="36576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前端与其余存储</a:t>
            </a:r>
          </a:p>
        </p:txBody>
      </p:sp>
      <p:sp>
        <p:nvSpPr>
          <p:cNvPr id="8" name="fn"/>
          <p:cNvSpPr txBox="1"/>
          <p:nvPr/>
        </p:nvSpPr>
        <p:spPr>
          <a:xfrm>
            <a:off x="411480" y="5614416"/>
            <a:ext cx="8321040" cy="29260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整图。图片来源：macrozheng/​mall，Apache-2.0</a:t>
            </a:r>
          </a:p>
        </p:txBody>
      </p:sp>
    </p:spTree>
  </p:cSld>
  <p:clrMapOvr>
    <a:masterClrMapping/>
  </p:clrMapOvr>
  <p:hf sldNum="0" hdr="0" ftr="0" dt="0"/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mall-swarm 架构整图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整图缩略，用来定位；下面三块在下一页放大</a:t>
            </a:r>
          </a:p>
        </p:txBody>
      </p:sp>
      <p:pic>
        <p:nvPicPr>
          <p:cNvPr id="4" name="pic#swarm#full#04c442fe318356bae4445a109dde7af297ce1e84#document/resource/mall_micro_service_arch.jpg" descr="mall_micro_service_ar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478" y="2267712"/>
            <a:ext cx="3889042" cy="2852927"/>
          </a:xfrm>
          <a:prstGeom prst="rect">
            <a:avLst/>
          </a:prstGeom>
        </p:spPr>
      </p:pic>
      <p:sp>
        <p:nvSpPr>
          <p:cNvPr id="5" name="ann"/>
          <p:cNvSpPr/>
          <p:nvPr/>
        </p:nvSpPr>
        <p:spPr>
          <a:xfrm>
            <a:off x="365760" y="5157216"/>
            <a:ext cx="2731007" cy="40233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36576" rIns="36576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注册与配置</a:t>
            </a:r>
          </a:p>
        </p:txBody>
      </p:sp>
      <p:sp>
        <p:nvSpPr>
          <p:cNvPr id="6" name="ann"/>
          <p:cNvSpPr/>
          <p:nvPr/>
        </p:nvSpPr>
        <p:spPr>
          <a:xfrm>
            <a:off x="3206495" y="5157216"/>
            <a:ext cx="2731007" cy="40233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36576" rIns="36576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网关</a:t>
            </a:r>
          </a:p>
        </p:txBody>
      </p:sp>
      <p:sp>
        <p:nvSpPr>
          <p:cNvPr id="7" name="ann"/>
          <p:cNvSpPr/>
          <p:nvPr/>
        </p:nvSpPr>
        <p:spPr>
          <a:xfrm>
            <a:off x="6047232" y="5157216"/>
            <a:ext cx="2731007" cy="40233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36576" rIns="36576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数据存储</a:t>
            </a:r>
          </a:p>
        </p:txBody>
      </p:sp>
      <p:sp>
        <p:nvSpPr>
          <p:cNvPr id="8" name="fn"/>
          <p:cNvSpPr txBox="1"/>
          <p:nvPr/>
        </p:nvSpPr>
        <p:spPr>
          <a:xfrm>
            <a:off x="411480" y="5614416"/>
            <a:ext cx="8321040" cy="29260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整图。图片来源：macrozheng/​mall-swarm，mall_micro_service_arch.jpg，04c442fe，Apache-2.0</a:t>
            </a:r>
          </a:p>
        </p:txBody>
      </p:sp>
    </p:spTree>
  </p:cSld>
  <p:clrMapOvr>
    <a:masterClrMapping/>
  </p:clrMapOvr>
  <p:hf sldNum="0" hdr="0" ftr="0" dt="0"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mall-swarm 架构局部</a:t>
            </a:r>
          </a:p>
        </p:txBody>
      </p:sp>
      <p:pic>
        <p:nvPicPr>
          <p:cNvPr id="3" name="pic#swarm#crop#04c442fe318356bae4445a109dde7af297ce1e84#document/resource/mall_micro_service_arch.jpg#swarm-local.png" descr="swarm-lo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627632"/>
            <a:ext cx="8631936" cy="1418948"/>
          </a:xfrm>
          <a:prstGeom prst="rect">
            <a:avLst/>
          </a:prstGeom>
        </p:spPr>
      </p:pic>
      <p:sp>
        <p:nvSpPr>
          <p:cNvPr id="4" name="ann"/>
          <p:cNvSpPr/>
          <p:nvPr/>
        </p:nvSpPr>
        <p:spPr>
          <a:xfrm>
            <a:off x="365760" y="3913632"/>
            <a:ext cx="4468922" cy="40233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36576" rIns="36576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注册与配置</a:t>
            </a:r>
          </a:p>
        </p:txBody>
      </p:sp>
      <p:sp>
        <p:nvSpPr>
          <p:cNvPr id="5" name="ann"/>
          <p:cNvSpPr/>
          <p:nvPr/>
        </p:nvSpPr>
        <p:spPr>
          <a:xfrm>
            <a:off x="4944410" y="3913632"/>
            <a:ext cx="910335" cy="40233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36576" rIns="36576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网关</a:t>
            </a:r>
          </a:p>
        </p:txBody>
      </p:sp>
      <p:sp>
        <p:nvSpPr>
          <p:cNvPr id="6" name="ann"/>
          <p:cNvSpPr/>
          <p:nvPr/>
        </p:nvSpPr>
        <p:spPr>
          <a:xfrm>
            <a:off x="5964474" y="3913632"/>
            <a:ext cx="2813765" cy="40233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36576" rIns="36576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数据存储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365760" y="4352544"/>
            <a:ext cx="8412480" cy="1207007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左起注册与配置，中间是网关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右侧数据存储含 MySQL、Redis、MongoDB、Elasticsearch</a:t>
            </a:r>
          </a:p>
        </p:txBody>
      </p:sp>
      <p:sp>
        <p:nvSpPr>
          <p:cNvPr id="8" name="fn"/>
          <p:cNvSpPr txBox="1"/>
          <p:nvPr/>
        </p:nvSpPr>
        <p:spPr>
          <a:xfrm>
            <a:off x="411480" y="5614416"/>
            <a:ext cx="8321040" cy="29260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局部。图片来源：macrozheng/​mall-swarm，mall_micro_service_arch.jpg，04c442fe，Apache-2.0</a:t>
            </a:r>
          </a:p>
        </p:txBody>
      </p:sp>
    </p:spTree>
  </p:cSld>
  <p:clrMapOvr>
    <a:masterClrMapping/>
  </p:clrMapOvr>
  <p:hf sldNum="0" hdr="0" ftr="0" dt="0"/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简化部署对照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同一业务域的两种实现形态，不是同一版本迁移前后</a:t>
            </a:r>
          </a:p>
        </p:txBody>
      </p:sp>
      <p:sp>
        <p:nvSpPr>
          <p:cNvPr id="4" name="fig"/>
          <p:cNvSpPr/>
          <p:nvPr/>
        </p:nvSpPr>
        <p:spPr>
          <a:xfrm>
            <a:off x="365760" y="2432304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mall</a:t>
            </a:r>
          </a:p>
        </p:txBody>
      </p:sp>
      <p:sp>
        <p:nvSpPr>
          <p:cNvPr id="5" name="fig"/>
          <p:cNvSpPr/>
          <p:nvPr/>
        </p:nvSpPr>
        <p:spPr>
          <a:xfrm>
            <a:off x="4663440" y="2432304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mall-swarm</a:t>
            </a:r>
          </a:p>
        </p:txBody>
      </p:sp>
      <p:sp>
        <p:nvSpPr>
          <p:cNvPr id="6" name="fig"/>
          <p:cNvSpPr/>
          <p:nvPr/>
        </p:nvSpPr>
        <p:spPr>
          <a:xfrm>
            <a:off x="365760" y="3209544"/>
            <a:ext cx="4114800" cy="56692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无独立网关</a:t>
            </a:r>
          </a:p>
        </p:txBody>
      </p:sp>
      <p:sp>
        <p:nvSpPr>
          <p:cNvPr id="7" name="fig"/>
          <p:cNvSpPr/>
          <p:nvPr/>
        </p:nvSpPr>
        <p:spPr>
          <a:xfrm>
            <a:off x="4663440" y="3209544"/>
            <a:ext cx="4114800" cy="56692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网关 mall-gateway</a:t>
            </a:r>
          </a:p>
        </p:txBody>
      </p:sp>
      <p:sp>
        <p:nvSpPr>
          <p:cNvPr id="8" name="fig"/>
          <p:cNvSpPr/>
          <p:nvPr/>
        </p:nvSpPr>
        <p:spPr>
          <a:xfrm>
            <a:off x="365760" y="3867912"/>
            <a:ext cx="4114800" cy="56692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认证在 mall-security</a:t>
            </a:r>
          </a:p>
        </p:txBody>
      </p:sp>
      <p:sp>
        <p:nvSpPr>
          <p:cNvPr id="9" name="fig"/>
          <p:cNvSpPr/>
          <p:nvPr/>
        </p:nvSpPr>
        <p:spPr>
          <a:xfrm>
            <a:off x="4663440" y="3867912"/>
            <a:ext cx="4114800" cy="56692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认证 mall-auth</a:t>
            </a:r>
          </a:p>
        </p:txBody>
      </p:sp>
      <p:sp>
        <p:nvSpPr>
          <p:cNvPr id="10" name="fig"/>
          <p:cNvSpPr/>
          <p:nvPr/>
        </p:nvSpPr>
        <p:spPr>
          <a:xfrm>
            <a:off x="365760" y="4526280"/>
            <a:ext cx="4114800" cy="56692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无注册与配置中心</a:t>
            </a:r>
          </a:p>
        </p:txBody>
      </p:sp>
      <p:sp>
        <p:nvSpPr>
          <p:cNvPr id="11" name="fig"/>
          <p:cNvSpPr/>
          <p:nvPr/>
        </p:nvSpPr>
        <p:spPr>
          <a:xfrm>
            <a:off x="4663440" y="4526280"/>
            <a:ext cx="4114800" cy="56692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注册与配置中心用 Nacos</a:t>
            </a:r>
          </a:p>
        </p:txBody>
      </p:sp>
      <p:sp>
        <p:nvSpPr>
          <p:cNvPr id="12" name="fig"/>
          <p:cNvSpPr/>
          <p:nvPr/>
        </p:nvSpPr>
        <p:spPr>
          <a:xfrm>
            <a:off x="365760" y="5184648"/>
            <a:ext cx="4114800" cy="56692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三个应用，未再拆服务</a:t>
            </a:r>
          </a:p>
        </p:txBody>
      </p:sp>
      <p:sp>
        <p:nvSpPr>
          <p:cNvPr id="13" name="fig"/>
          <p:cNvSpPr/>
          <p:nvPr/>
        </p:nvSpPr>
        <p:spPr>
          <a:xfrm>
            <a:off x="4663440" y="5184648"/>
            <a:ext cx="4114800" cy="56692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服务拆分出 gateway、auth</a:t>
            </a:r>
          </a:p>
        </p:txBody>
      </p:sp>
    </p:spTree>
  </p:cSld>
  <p:clrMapOvr>
    <a:masterClrMapping/>
  </p:clrMapOvr>
  <p:hf sldNum="0" hdr="0" ftr="0" dt="0"/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417880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同一套代码从单体部署改到微服务部署，哪个视图变化最大？</a:t>
            </a:r>
          </a:p>
        </p:txBody>
      </p:sp>
    </p:spTree>
  </p:cSld>
  <p:clrMapOvr>
    <a:masterClrMapping/>
  </p:clrMapOvr>
  <p:hf sldNum="0" hdr="0" ftr="0" dt="0"/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组件放在哪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Nginx：反向代理 / 静态资源入口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2432304"/>
            <a:ext cx="4091939" cy="1033271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MySQL：主库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灌入 mall.sql</a:t>
            </a:r>
          </a:p>
        </p:txBody>
      </p:sp>
      <p:sp>
        <p:nvSpPr>
          <p:cNvPr id="5" name="fig"/>
          <p:cNvSpPr/>
          <p:nvPr/>
        </p:nvSpPr>
        <p:spPr>
          <a:xfrm>
            <a:off x="4640580" y="2432304"/>
            <a:ext cx="4091939" cy="1033271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Redis：portal、security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与 search 的缓存</a:t>
            </a:r>
          </a:p>
        </p:txBody>
      </p:sp>
      <p:sp>
        <p:nvSpPr>
          <p:cNvPr id="6" name="fig"/>
          <p:cNvSpPr/>
          <p:nvPr/>
        </p:nvSpPr>
        <p:spPr>
          <a:xfrm>
            <a:off x="411480" y="3602736"/>
            <a:ext cx="4091939" cy="1033271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RabbitMQ：portal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用它做延迟消息</a:t>
            </a:r>
          </a:p>
        </p:txBody>
      </p:sp>
      <p:sp>
        <p:nvSpPr>
          <p:cNvPr id="7" name="fig"/>
          <p:cNvSpPr/>
          <p:nvPr/>
        </p:nvSpPr>
        <p:spPr>
          <a:xfrm>
            <a:off x="4640580" y="3602736"/>
            <a:ext cx="4091939" cy="1033271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Elasticsearch：mall-search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负责检索</a:t>
            </a:r>
          </a:p>
        </p:txBody>
      </p:sp>
      <p:sp>
        <p:nvSpPr>
          <p:cNvPr id="8" name="fig"/>
          <p:cNvSpPr/>
          <p:nvPr/>
        </p:nvSpPr>
        <p:spPr>
          <a:xfrm>
            <a:off x="411480" y="4773168"/>
            <a:ext cx="4091939" cy="1033271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MongoDB：mall-portal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的文档库</a:t>
            </a:r>
          </a:p>
        </p:txBody>
      </p:sp>
      <p:sp>
        <p:nvSpPr>
          <p:cNvPr id="9" name="fig"/>
          <p:cNvSpPr/>
          <p:nvPr/>
        </p:nvSpPr>
        <p:spPr>
          <a:xfrm>
            <a:off x="4640580" y="4773168"/>
            <a:ext cx="4091939" cy="1033271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MinIO：mall-admin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的对象存储</a:t>
            </a:r>
          </a:p>
        </p:txBody>
      </p:sp>
    </p:spTree>
  </p:cSld>
  <p:clrMapOvr>
    <a:masterClrMapping/>
  </p:clrMapOvr>
  <p:hf sldNum="0" hdr="0" ftr="0" dt="0"/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超时取消：发送端只投递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CancelOrderSender 只投递，并给消息设过期时间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267712"/>
            <a:ext cx="8138160" cy="987551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amqpTemplate.​convertAndSend(​QueueEnum.​QUEUE_TTL_ORDER_CANCEL.​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getExchange(​),​ QueueEnum.​QUEUE_TTL_ORDER_CANCEL.​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getRouteKey(​),​ orderId,​ new MessagePostProcessor(​) {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3273552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出处：mall-portal/​src/​main/​java/​com/​macro/​mall/​portal/​component/​CancelOrderSender.java:​25-25</a:t>
            </a:r>
          </a:p>
        </p:txBody>
      </p:sp>
      <p:sp>
        <p:nvSpPr>
          <p:cNvPr id="6" name="code"/>
          <p:cNvSpPr txBox="1"/>
          <p:nvPr/>
        </p:nvSpPr>
        <p:spPr>
          <a:xfrm>
            <a:off x="411480" y="3547872"/>
            <a:ext cx="8138160" cy="859536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2235200" indent="-223520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    message.​getMessageProperties(​).​setExpiration(​String.​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valueOf(​delayTimes));</a:t>
            </a:r>
          </a:p>
        </p:txBody>
      </p:sp>
      <p:sp>
        <p:nvSpPr>
          <p:cNvPr id="7" name="fn"/>
          <p:cNvSpPr txBox="1"/>
          <p:nvPr/>
        </p:nvSpPr>
        <p:spPr>
          <a:xfrm>
            <a:off x="411480" y="4425696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出处：mall-portal/​src/​main/​java/​com/​macro/​mall/​portal/​component/​CancelOrderSender.java:​29-29</a:t>
            </a:r>
          </a:p>
        </p:txBody>
      </p:sp>
    </p:spTree>
  </p:cSld>
  <p:clrMapOvr>
    <a:masterClrMapping/>
  </p:clrMapOvr>
  <p:hf sldNum="0" hdr="0" ftr="0" dt="0"/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超时取消：接收端才取消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消息到期后，CancelOrderReceiver 才调用 cancelOrder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它监听的是 mall.order.cancel 队列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987551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447040" indent="-44704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@Component</a:t>
            </a:r>
          </a:p>
          <a:p>
            <a:pPr algn="l" eaLnBrk="1" hangingPunct="1" marL="447040" indent="-44704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@RabbitListener(​queues ​= ​"mall.​order.​cancel")</a:t>
            </a:r>
          </a:p>
          <a:p>
            <a:pPr algn="l" eaLnBrk="1" hangingPunct="1" marL="447040" indent="-44704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public class CancelOrderReceiver {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3840480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出处：mall-portal/​src/​main/​java/​com/​macro/​mall/​portal/​component/​CancelOrderReceiver.java:​15-17</a:t>
            </a:r>
          </a:p>
        </p:txBody>
      </p:sp>
      <p:sp>
        <p:nvSpPr>
          <p:cNvPr id="6" name="code"/>
          <p:cNvSpPr txBox="1"/>
          <p:nvPr/>
        </p:nvSpPr>
        <p:spPr>
          <a:xfrm>
            <a:off x="411480" y="4114800"/>
            <a:ext cx="8138160" cy="1536191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@RabbitHandler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public void handle(​Long orderId){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portalOrderService.​cancelOrder(​orderId);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LOGGER.​info(​"process orderId:{}",​orderId);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7" name="fn"/>
          <p:cNvSpPr txBox="1"/>
          <p:nvPr/>
        </p:nvSpPr>
        <p:spPr>
          <a:xfrm>
            <a:off x="411480" y="5669279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出处：mall-portal/​src/​main/​java/​com/​macro/​mall/​portal/​component/​CancelOrderReceiver.java:​21-25</a:t>
            </a:r>
          </a:p>
        </p:txBody>
      </p:sp>
    </p:spTree>
  </p:cSld>
  <p:clrMapOvr>
    <a:masterClrMapping/>
  </p:clrMapOvr>
  <p:hf sldNum="0" hdr="0" ftr="0" dt="0"/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上游完整环境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4091939" cy="73700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MySQL 3306</a:t>
            </a:r>
          </a:p>
        </p:txBody>
      </p:sp>
      <p:sp>
        <p:nvSpPr>
          <p:cNvPr id="4" name="fig"/>
          <p:cNvSpPr/>
          <p:nvPr/>
        </p:nvSpPr>
        <p:spPr>
          <a:xfrm>
            <a:off x="4640580" y="1572768"/>
            <a:ext cx="4091939" cy="73700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Redis 6379</a:t>
            </a:r>
          </a:p>
        </p:txBody>
      </p:sp>
      <p:sp>
        <p:nvSpPr>
          <p:cNvPr id="5" name="fig"/>
          <p:cNvSpPr/>
          <p:nvPr/>
        </p:nvSpPr>
        <p:spPr>
          <a:xfrm>
            <a:off x="411480" y="2446934"/>
            <a:ext cx="4091939" cy="73700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Nginx 80：反向代理</a:t>
            </a:r>
          </a:p>
        </p:txBody>
      </p:sp>
      <p:sp>
        <p:nvSpPr>
          <p:cNvPr id="6" name="fig"/>
          <p:cNvSpPr/>
          <p:nvPr/>
        </p:nvSpPr>
        <p:spPr>
          <a:xfrm>
            <a:off x="4640580" y="2446934"/>
            <a:ext cx="4091939" cy="73700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Nginx：静态资源入口</a:t>
            </a:r>
          </a:p>
        </p:txBody>
      </p:sp>
      <p:sp>
        <p:nvSpPr>
          <p:cNvPr id="7" name="fig"/>
          <p:cNvSpPr/>
          <p:nvPr/>
        </p:nvSpPr>
        <p:spPr>
          <a:xfrm>
            <a:off x="411480" y="3321100"/>
            <a:ext cx="4091939" cy="73700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RabbitMQ 5672</a:t>
            </a:r>
          </a:p>
        </p:txBody>
      </p:sp>
      <p:sp>
        <p:nvSpPr>
          <p:cNvPr id="8" name="fig"/>
          <p:cNvSpPr/>
          <p:nvPr/>
        </p:nvSpPr>
        <p:spPr>
          <a:xfrm>
            <a:off x="4640580" y="3321100"/>
            <a:ext cx="4091939" cy="73700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Elasticsearch 9200</a:t>
            </a:r>
          </a:p>
        </p:txBody>
      </p:sp>
      <p:sp>
        <p:nvSpPr>
          <p:cNvPr id="9" name="fig"/>
          <p:cNvSpPr/>
          <p:nvPr/>
        </p:nvSpPr>
        <p:spPr>
          <a:xfrm>
            <a:off x="411480" y="4195267"/>
            <a:ext cx="4091939" cy="73700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Logstash 4560：日志采集</a:t>
            </a:r>
          </a:p>
        </p:txBody>
      </p:sp>
      <p:sp>
        <p:nvSpPr>
          <p:cNvPr id="10" name="fig"/>
          <p:cNvSpPr/>
          <p:nvPr/>
        </p:nvSpPr>
        <p:spPr>
          <a:xfrm>
            <a:off x="4640580" y="4195267"/>
            <a:ext cx="4091939" cy="73700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Kibana 5601：日志查看</a:t>
            </a:r>
          </a:p>
        </p:txBody>
      </p:sp>
      <p:sp>
        <p:nvSpPr>
          <p:cNvPr id="11" name="fig"/>
          <p:cNvSpPr/>
          <p:nvPr/>
        </p:nvSpPr>
        <p:spPr>
          <a:xfrm>
            <a:off x="411480" y="5069433"/>
            <a:ext cx="4091939" cy="73700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Mongo 27017</a:t>
            </a:r>
          </a:p>
        </p:txBody>
      </p:sp>
      <p:sp>
        <p:nvSpPr>
          <p:cNvPr id="12" name="fig"/>
          <p:cNvSpPr/>
          <p:nvPr/>
        </p:nvSpPr>
        <p:spPr>
          <a:xfrm>
            <a:off x="4640580" y="5069433"/>
            <a:ext cx="4091939" cy="73700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MinIO 9090</a:t>
            </a:r>
          </a:p>
        </p:txBody>
      </p:sp>
    </p:spTree>
  </p:cSld>
  <p:clrMapOvr>
    <a:masterClrMapping/>
  </p:clrMapOvr>
  <p:hf sldNum="0" hdr="0" ftr="0" dt="0"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课堂精简环境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1316736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课堂 compose 只列出上面四项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灰色的不在课堂文件里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2962656"/>
            <a:ext cx="4091939" cy="45902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MySQL 宿主 13306</a:t>
            </a:r>
          </a:p>
        </p:txBody>
      </p:sp>
      <p:sp>
        <p:nvSpPr>
          <p:cNvPr id="5" name="fig"/>
          <p:cNvSpPr/>
          <p:nvPr/>
        </p:nvSpPr>
        <p:spPr>
          <a:xfrm>
            <a:off x="4640580" y="2962656"/>
            <a:ext cx="4091939" cy="45902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Redis 宿主 16379</a:t>
            </a:r>
          </a:p>
        </p:txBody>
      </p:sp>
      <p:sp>
        <p:nvSpPr>
          <p:cNvPr id="6" name="fig"/>
          <p:cNvSpPr/>
          <p:nvPr/>
        </p:nvSpPr>
        <p:spPr>
          <a:xfrm>
            <a:off x="411480" y="3558844"/>
            <a:ext cx="4091939" cy="45902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MongoDB 宿主 27018</a:t>
            </a:r>
          </a:p>
        </p:txBody>
      </p:sp>
      <p:sp>
        <p:nvSpPr>
          <p:cNvPr id="7" name="fig"/>
          <p:cNvSpPr/>
          <p:nvPr/>
        </p:nvSpPr>
        <p:spPr>
          <a:xfrm>
            <a:off x="4640580" y="3558844"/>
            <a:ext cx="4091939" cy="45902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RabbitMQ 宿主 5673</a:t>
            </a:r>
          </a:p>
        </p:txBody>
      </p:sp>
      <p:sp>
        <p:nvSpPr>
          <p:cNvPr id="8" name="fig"/>
          <p:cNvSpPr/>
          <p:nvPr/>
        </p:nvSpPr>
        <p:spPr>
          <a:xfrm>
            <a:off x="411480" y="4155033"/>
            <a:ext cx="4091939" cy="459028"/>
          </a:xfrm>
          <a:prstGeom prst="roundRect">
            <a:avLst/>
          </a:prstGeom>
          <a:solidFill>
            <a:srgbClr val="D0D0D0"/>
          </a:solidFill>
          <a:ln>
            <a:solidFill>
              <a:srgbClr val="88888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Elasticsearch 标灰</a:t>
            </a:r>
          </a:p>
        </p:txBody>
      </p:sp>
      <p:sp>
        <p:nvSpPr>
          <p:cNvPr id="9" name="fig"/>
          <p:cNvSpPr/>
          <p:nvPr/>
        </p:nvSpPr>
        <p:spPr>
          <a:xfrm>
            <a:off x="4640580" y="4155033"/>
            <a:ext cx="4091939" cy="459028"/>
          </a:xfrm>
          <a:prstGeom prst="roundRect">
            <a:avLst/>
          </a:prstGeom>
          <a:solidFill>
            <a:srgbClr val="D0D0D0"/>
          </a:solidFill>
          <a:ln>
            <a:solidFill>
              <a:srgbClr val="88888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MinIO 标灰</a:t>
            </a:r>
          </a:p>
        </p:txBody>
      </p:sp>
      <p:sp>
        <p:nvSpPr>
          <p:cNvPr id="10" name="fig"/>
          <p:cNvSpPr/>
          <p:nvPr/>
        </p:nvSpPr>
        <p:spPr>
          <a:xfrm>
            <a:off x="411480" y="4751222"/>
            <a:ext cx="4091939" cy="459028"/>
          </a:xfrm>
          <a:prstGeom prst="roundRect">
            <a:avLst/>
          </a:prstGeom>
          <a:solidFill>
            <a:srgbClr val="D0D0D0"/>
          </a:solidFill>
          <a:ln>
            <a:solidFill>
              <a:srgbClr val="88888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Nginx 标灰</a:t>
            </a:r>
          </a:p>
        </p:txBody>
      </p:sp>
      <p:sp>
        <p:nvSpPr>
          <p:cNvPr id="11" name="fig"/>
          <p:cNvSpPr/>
          <p:nvPr/>
        </p:nvSpPr>
        <p:spPr>
          <a:xfrm>
            <a:off x="4640580" y="4751222"/>
            <a:ext cx="4091939" cy="459028"/>
          </a:xfrm>
          <a:prstGeom prst="roundRect">
            <a:avLst/>
          </a:prstGeom>
          <a:solidFill>
            <a:srgbClr val="D0D0D0"/>
          </a:solidFill>
          <a:ln>
            <a:solidFill>
              <a:srgbClr val="88888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Logstash 标灰</a:t>
            </a:r>
          </a:p>
        </p:txBody>
      </p:sp>
      <p:sp>
        <p:nvSpPr>
          <p:cNvPr id="12" name="fig"/>
          <p:cNvSpPr/>
          <p:nvPr/>
        </p:nvSpPr>
        <p:spPr>
          <a:xfrm>
            <a:off x="2526030" y="5347411"/>
            <a:ext cx="4091939" cy="459028"/>
          </a:xfrm>
          <a:prstGeom prst="roundRect">
            <a:avLst/>
          </a:prstGeom>
          <a:solidFill>
            <a:srgbClr val="D0D0D0"/>
          </a:solidFill>
          <a:ln>
            <a:solidFill>
              <a:srgbClr val="88888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Kibana 标灰</a:t>
            </a:r>
          </a:p>
        </p:txBody>
      </p:sp>
    </p:spTree>
  </p:cSld>
  <p:clrMapOvr>
    <a:masterClrMapping/>
  </p:clrMapOvr>
  <p:hf sldNum="0" hdr="0" ftr="0" dt="0"/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配置与密钥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84708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mall-portal 默认 profile 是 dev，写在 application.yml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同一文件第 17 行把 jwt.secret 写进了仓库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原则是密钥不入库：不要把令牌抄进提交，也不要投影出来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3401568"/>
            <a:ext cx="813816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670560" indent="-6705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profiles: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active: ​dev #默认为开发环境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4133088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出处：mall-portal/​src/​main/​resources/​application.yml:​4-5</a:t>
            </a:r>
          </a:p>
        </p:txBody>
      </p:sp>
    </p:spTree>
  </p:cSld>
  <p:clrMapOvr>
    <a:masterClrMapping/>
  </p:clrMapOvr>
  <p:hf sldNum="0" hdr="0" ftr="0" dt="0"/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3" name="fig"/>
          <p:cNvSpPr/>
          <p:nvPr/>
        </p:nvSpPr>
        <p:spPr>
          <a:xfrm>
            <a:off x="164592" y="1572768"/>
            <a:ext cx="8814816" cy="417880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把中间件换成云服务后，团队要自己负责的事情少了哪些、多了哪些？</a:t>
            </a:r>
          </a:p>
        </p:txBody>
      </p:sp>
    </p:spTree>
  </p:cSld>
  <p:clrMapOvr>
    <a:masterClrMapping/>
  </p:clrMapOvr>
  <p:hf sldNum="0" hdr="0" ftr="0" dt="0"/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选取原则 H1–H4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七条都过才进入评分；严格门槛下没有仓库入评分</a:t>
            </a:r>
          </a:p>
        </p:txBody>
      </p:sp>
      <p:sp>
        <p:nvSpPr>
          <p:cNvPr id="4" name="fig"/>
          <p:cNvSpPr/>
          <p:nvPr/>
        </p:nvSpPr>
        <p:spPr>
          <a:xfrm>
            <a:off x="164592" y="2432304"/>
            <a:ext cx="8814816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H1 许可：MIT、Apache-2.0、BSD-3-Clause、EPL-2.0</a:t>
            </a:r>
          </a:p>
        </p:txBody>
      </p:sp>
      <p:sp>
        <p:nvSpPr>
          <p:cNvPr id="5" name="fig"/>
          <p:cNvSpPr/>
          <p:nvPr/>
        </p:nvSpPr>
        <p:spPr>
          <a:xfrm>
            <a:off x="612648" y="3298698"/>
            <a:ext cx="7918704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H2 构建：根目录一条命令要成功</a:t>
            </a:r>
          </a:p>
        </p:txBody>
      </p:sp>
      <p:sp>
        <p:nvSpPr>
          <p:cNvPr id="6" name="fig"/>
          <p:cNvSpPr/>
          <p:nvPr/>
        </p:nvSpPr>
        <p:spPr>
          <a:xfrm>
            <a:off x="813816" y="4165091"/>
            <a:ext cx="7516367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H3 离线：Compose，或 H2/Testcontainers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核心业务不硬依赖外网付费服务</a:t>
            </a:r>
          </a:p>
        </p:txBody>
      </p:sp>
      <p:sp>
        <p:nvSpPr>
          <p:cNvPr id="7" name="fig"/>
          <p:cNvSpPr/>
          <p:nvPr/>
        </p:nvSpPr>
        <p:spPr>
          <a:xfrm>
            <a:off x="1014984" y="5031486"/>
            <a:ext cx="7114031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H4 栈：Java，Boot 2.7 或 3.x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MyBatis 或 JPA，加 MySQL，前端 Vue 或 React</a:t>
            </a:r>
          </a:p>
        </p:txBody>
      </p:sp>
    </p:spTree>
  </p:cSld>
  <p:clrMapOvr>
    <a:masterClrMapping/>
  </p:clrMapOvr>
  <p:hf sldNum="0" hdr="0" ftr="0" dt="0"/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选取原则 H5–H7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129539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H5 中文：中文 README、中文注释、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中文业务域至少一项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3014472"/>
            <a:ext cx="7918704" cy="129539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H6 业务：能用普通话讲清</a:t>
            </a:r>
          </a:p>
        </p:txBody>
      </p:sp>
      <p:sp>
        <p:nvSpPr>
          <p:cNvPr id="5" name="fig"/>
          <p:cNvSpPr/>
          <p:nvPr/>
        </p:nvSpPr>
        <p:spPr>
          <a:xfrm>
            <a:off x="164592" y="4456176"/>
            <a:ext cx="8814816" cy="129539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H7 维护：近 12 个月有提交，且 Issue 有维护者响应</a:t>
            </a:r>
          </a:p>
        </p:txBody>
      </p:sp>
    </p:spTree>
  </p:cSld>
  <p:clrMapOvr>
    <a:masterClrMapping/>
  </p:clrMapOvr>
  <p:hf sldNum="0" hdr="0" ftr="0" dt="0"/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为什么 64 分仍选 mall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mall 教学分 64，建议线是 70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低在约 1.6 万行，规模只得 11/20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测试类 5 个，测试现状 2/10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ruoyi-vue-pro 对照分 65，只作对照</a:t>
            </a:r>
          </a:p>
        </p:txBody>
      </p:sp>
    </p:spTree>
  </p:cSld>
  <p:clrMapOvr>
    <a:masterClrMapping/>
  </p:clrMapOvr>
  <p:hf sldNum="0" hdr="0" ftr="0" dt="0"/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教学分对照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1381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2240280"/>
                <a:gridCol w="2468880"/>
                <a:gridCol w="2377440"/>
              </a:tblGrid>
              <a:tr h="47752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维度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权重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mall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ruoyi-vue-pro</a:t>
                      </a:r>
                    </a:p>
                  </a:txBody>
                  <a:tcPr anchor="ctr"/>
                </a:tc>
              </a:tr>
              <a:tr h="47752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分层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</a:p>
                  </a:txBody>
                  <a:tcPr anchor="ctr"/>
                </a:tc>
              </a:tr>
              <a:tr h="47752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业务代码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18</a:t>
                      </a:r>
                    </a:p>
                  </a:txBody>
                  <a:tcPr anchor="ctr"/>
                </a:tc>
              </a:tr>
              <a:tr h="47752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模块边界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13</a:t>
                      </a:r>
                    </a:p>
                  </a:txBody>
                  <a:tcPr anchor="ctr"/>
                </a:tc>
              </a:tr>
              <a:tr h="47752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不可变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13</a:t>
                      </a:r>
                    </a:p>
                  </a:txBody>
                  <a:tcPr anchor="ctr"/>
                </a:tc>
              </a:tr>
              <a:tr h="47752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测试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/>
                </a:tc>
              </a:tr>
              <a:tr h="47752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任务空间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anchor="ctr"/>
                </a:tc>
              </a:tr>
              <a:tr h="47752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工具链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/>
                </a:tc>
              </a:tr>
              <a:tr h="47752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合计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100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64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65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七个模块与依赖方向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1847087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admin、portal 连向 security 和 mbg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search、demo 只连向 mbg，不连 security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security、mbg 连向 common</a:t>
            </a:r>
          </a:p>
        </p:txBody>
      </p:sp>
      <p:sp>
        <p:nvSpPr>
          <p:cNvPr id="4" name="fig"/>
          <p:cNvSpPr/>
          <p:nvPr/>
        </p:nvSpPr>
        <p:spPr>
          <a:xfrm>
            <a:off x="182880" y="3493007"/>
            <a:ext cx="2057400" cy="58521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mall-admin</a:t>
            </a:r>
          </a:p>
        </p:txBody>
      </p:sp>
      <p:sp>
        <p:nvSpPr>
          <p:cNvPr id="5" name="fig"/>
          <p:cNvSpPr/>
          <p:nvPr/>
        </p:nvSpPr>
        <p:spPr>
          <a:xfrm>
            <a:off x="2331720" y="3493007"/>
            <a:ext cx="2057400" cy="58521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mall-portal</a:t>
            </a:r>
          </a:p>
        </p:txBody>
      </p:sp>
      <p:sp>
        <p:nvSpPr>
          <p:cNvPr id="6" name="fig"/>
          <p:cNvSpPr/>
          <p:nvPr/>
        </p:nvSpPr>
        <p:spPr>
          <a:xfrm>
            <a:off x="4617720" y="3493007"/>
            <a:ext cx="2057400" cy="58521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mall-search</a:t>
            </a:r>
          </a:p>
        </p:txBody>
      </p:sp>
      <p:sp>
        <p:nvSpPr>
          <p:cNvPr id="7" name="fig"/>
          <p:cNvSpPr/>
          <p:nvPr/>
        </p:nvSpPr>
        <p:spPr>
          <a:xfrm>
            <a:off x="6812280" y="3493007"/>
            <a:ext cx="2057400" cy="58521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mall-demo</a:t>
            </a:r>
          </a:p>
        </p:txBody>
      </p:sp>
      <p:sp>
        <p:nvSpPr>
          <p:cNvPr id="8" name="fig"/>
          <p:cNvSpPr/>
          <p:nvPr/>
        </p:nvSpPr>
        <p:spPr>
          <a:xfrm>
            <a:off x="4892040" y="4334255"/>
            <a:ext cx="2057400" cy="58521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mall-mbg</a:t>
            </a:r>
          </a:p>
        </p:txBody>
      </p:sp>
      <p:sp>
        <p:nvSpPr>
          <p:cNvPr id="9" name="fig"/>
          <p:cNvSpPr/>
          <p:nvPr/>
        </p:nvSpPr>
        <p:spPr>
          <a:xfrm>
            <a:off x="411480" y="4334255"/>
            <a:ext cx="2057400" cy="58521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mall-security</a:t>
            </a:r>
          </a:p>
        </p:txBody>
      </p:sp>
      <p:sp>
        <p:nvSpPr>
          <p:cNvPr id="10" name="fig"/>
          <p:cNvSpPr/>
          <p:nvPr/>
        </p:nvSpPr>
        <p:spPr>
          <a:xfrm>
            <a:off x="3246120" y="5175503"/>
            <a:ext cx="2057400" cy="58521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mall-common</a:t>
            </a:r>
          </a:p>
        </p:txBody>
      </p:sp>
      <p:cxnSp>
        <p:nvCxnSpPr>
          <p:cNvPr id="11" name="fig"/>
          <p:cNvCxnSpPr/>
          <p:nvPr/>
        </p:nvCxnSpPr>
        <p:spPr>
          <a:xfrm>
            <a:off x="1211580" y="4078223"/>
            <a:ext cx="228600" cy="256032"/>
          </a:xfrm>
          <a:prstGeom prst="line">
            <a:avLst/>
          </a:prstGeom>
          <a:ln w="22225">
            <a:solidFill>
              <a:srgbClr val="C05A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fig"/>
          <p:cNvCxnSpPr/>
          <p:nvPr/>
        </p:nvCxnSpPr>
        <p:spPr>
          <a:xfrm flipH="1">
            <a:off x="1440180" y="4078223"/>
            <a:ext cx="1920240" cy="256032"/>
          </a:xfrm>
          <a:prstGeom prst="line">
            <a:avLst/>
          </a:prstGeom>
          <a:ln w="22225">
            <a:solidFill>
              <a:srgbClr val="C05A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fig"/>
          <p:cNvCxnSpPr/>
          <p:nvPr/>
        </p:nvCxnSpPr>
        <p:spPr>
          <a:xfrm>
            <a:off x="1211580" y="4078223"/>
            <a:ext cx="4709160" cy="256032"/>
          </a:xfrm>
          <a:prstGeom prst="line">
            <a:avLst/>
          </a:prstGeom>
          <a:ln w="22225">
            <a:solidFill>
              <a:srgbClr val="C05A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fig"/>
          <p:cNvCxnSpPr/>
          <p:nvPr/>
        </p:nvCxnSpPr>
        <p:spPr>
          <a:xfrm>
            <a:off x="3360420" y="4078223"/>
            <a:ext cx="2560320" cy="256032"/>
          </a:xfrm>
          <a:prstGeom prst="line">
            <a:avLst/>
          </a:prstGeom>
          <a:ln w="22225">
            <a:solidFill>
              <a:srgbClr val="C05A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fig"/>
          <p:cNvCxnSpPr/>
          <p:nvPr/>
        </p:nvCxnSpPr>
        <p:spPr>
          <a:xfrm>
            <a:off x="5646420" y="4078223"/>
            <a:ext cx="274320" cy="256032"/>
          </a:xfrm>
          <a:prstGeom prst="line">
            <a:avLst/>
          </a:prstGeom>
          <a:ln w="22225">
            <a:solidFill>
              <a:srgbClr val="C05A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ig"/>
          <p:cNvCxnSpPr/>
          <p:nvPr/>
        </p:nvCxnSpPr>
        <p:spPr>
          <a:xfrm flipH="1">
            <a:off x="5920740" y="4078223"/>
            <a:ext cx="1920239" cy="256032"/>
          </a:xfrm>
          <a:prstGeom prst="line">
            <a:avLst/>
          </a:prstGeom>
          <a:ln w="22225">
            <a:solidFill>
              <a:srgbClr val="C05A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ig"/>
          <p:cNvCxnSpPr/>
          <p:nvPr/>
        </p:nvCxnSpPr>
        <p:spPr>
          <a:xfrm>
            <a:off x="1440180" y="4919471"/>
            <a:ext cx="2834640" cy="256032"/>
          </a:xfrm>
          <a:prstGeom prst="line">
            <a:avLst/>
          </a:prstGeom>
          <a:ln w="22225">
            <a:solidFill>
              <a:srgbClr val="C05A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ig"/>
          <p:cNvCxnSpPr/>
          <p:nvPr/>
        </p:nvCxnSpPr>
        <p:spPr>
          <a:xfrm flipH="1">
            <a:off x="4274820" y="4919471"/>
            <a:ext cx="1645920" cy="256032"/>
          </a:xfrm>
          <a:prstGeom prst="line">
            <a:avLst/>
          </a:prstGeom>
          <a:ln w="22225">
            <a:solidFill>
              <a:srgbClr val="C05A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构建方式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84708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根 pom.xml 第 36 行写死了 docker.host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构建加 -Ddocker.skip=true，不改这一行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先起 MySQL、Redis、MongoDB、RabbitMQ，再启动 mall</a:t>
            </a:r>
          </a:p>
        </p:txBody>
      </p:sp>
      <p:sp>
        <p:nvSpPr>
          <p:cNvPr id="4" name="code-cmd"/>
          <p:cNvSpPr txBox="1"/>
          <p:nvPr/>
        </p:nvSpPr>
        <p:spPr>
          <a:xfrm>
            <a:off x="502920" y="3712464"/>
            <a:ext cx="8138160" cy="420624"/>
          </a:xfrm>
          <a:prstGeom prst="rect">
            <a:avLst/>
          </a:prstGeom>
          <a:solidFill>
            <a:srgbClr val="F0F0F0"/>
          </a:solidFill>
        </p:spPr>
        <p:txBody>
          <a:bodyPr wrap="square" lIns="18288" rIns="18288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mvn -B -DskipTests -Ddocker.skip=true -pl mall-portal -am package</a:t>
            </a:r>
          </a:p>
        </p:txBody>
      </p:sp>
      <p:sp>
        <p:nvSpPr>
          <p:cNvPr id="5" name="code"/>
          <p:cNvSpPr txBox="1"/>
          <p:nvPr/>
        </p:nvSpPr>
        <p:spPr>
          <a:xfrm>
            <a:off x="411480" y="4169664"/>
            <a:ext cx="8138160" cy="43891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​&lt;docker.​host&gt;http://192.​168.​3.​101:2375&lt;/docker.​host&gt;</a:t>
            </a:r>
          </a:p>
        </p:txBody>
      </p:sp>
      <p:sp>
        <p:nvSpPr>
          <p:cNvPr id="6" name="fn"/>
          <p:cNvSpPr txBox="1"/>
          <p:nvPr/>
        </p:nvSpPr>
        <p:spPr>
          <a:xfrm>
            <a:off x="411480" y="4626864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出处：pom.xml:​36-36</a:t>
            </a:r>
          </a:p>
        </p:txBody>
      </p:sp>
    </p:spTree>
  </p:cSld>
  <p:clrMapOvr>
    <a:masterClrMapping/>
  </p:clrMapOvr>
  <p:hf sldNum="0" hdr="0" ftr="0" dt="0"/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使用约定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统一基线是标签 baseline-dcaa93b3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上游提交是 dcaa93b3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示例分支不合并进基线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学生在个人分支上做</a:t>
            </a:r>
          </a:p>
        </p:txBody>
      </p:sp>
    </p:spTree>
  </p:cSld>
  <p:clrMapOvr>
    <a:masterClrMapping/>
  </p:clrMapOvr>
  <p:hf sldNum="0" hdr="0" ftr="0" dt="0"/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不得修改的部分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129539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mall-mbg 的生成代码，不手改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3014472"/>
            <a:ext cx="7918704" cy="129539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admin 与 portal 共用的表结构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4456176"/>
            <a:ext cx="7516367" cy="129539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对外接口，前端按它调用</a:t>
            </a:r>
          </a:p>
        </p:txBody>
      </p:sp>
    </p:spTree>
  </p:cSld>
  <p:clrMapOvr>
    <a:masterClrMapping/>
  </p:clrMapOvr>
  <p:hf sldNum="0" hdr="0" ftr="0" dt="0"/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排障建议先核对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1847087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先核对运行时事实：第 36 行写死了地址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改这一行会让基线分叉，所以不采纳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不得修改的仍是生成代码、共用表、对外接口</a:t>
            </a:r>
          </a:p>
        </p:txBody>
      </p:sp>
      <p:sp>
        <p:nvSpPr>
          <p:cNvPr id="4" name="fig"/>
          <p:cNvSpPr/>
          <p:nvPr/>
        </p:nvSpPr>
        <p:spPr>
          <a:xfrm>
            <a:off x="365760" y="3493007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改 docker.host</a:t>
            </a:r>
          </a:p>
        </p:txBody>
      </p:sp>
      <p:sp>
        <p:nvSpPr>
          <p:cNvPr id="5" name="fig"/>
          <p:cNvSpPr/>
          <p:nvPr/>
        </p:nvSpPr>
        <p:spPr>
          <a:xfrm>
            <a:off x="4663440" y="3493007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加 -Ddocker.skip=true</a:t>
            </a:r>
          </a:p>
        </p:txBody>
      </p:sp>
      <p:sp>
        <p:nvSpPr>
          <p:cNvPr id="6" name="fig"/>
          <p:cNvSpPr/>
          <p:nvPr/>
        </p:nvSpPr>
        <p:spPr>
          <a:xfrm>
            <a:off x="365760" y="4270247"/>
            <a:ext cx="4114800" cy="71323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改写第 36 行</a:t>
            </a:r>
          </a:p>
        </p:txBody>
      </p:sp>
      <p:sp>
        <p:nvSpPr>
          <p:cNvPr id="7" name="fig"/>
          <p:cNvSpPr/>
          <p:nvPr/>
        </p:nvSpPr>
        <p:spPr>
          <a:xfrm>
            <a:off x="4663440" y="4270247"/>
            <a:ext cx="4114800" cy="71323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不改第 36 行</a:t>
            </a:r>
          </a:p>
        </p:txBody>
      </p:sp>
      <p:sp>
        <p:nvSpPr>
          <p:cNvPr id="8" name="fig"/>
          <p:cNvSpPr/>
          <p:nvPr/>
        </p:nvSpPr>
        <p:spPr>
          <a:xfrm>
            <a:off x="365760" y="5074919"/>
            <a:ext cx="4114800" cy="71323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本机地址进提交</a:t>
            </a:r>
          </a:p>
        </p:txBody>
      </p:sp>
      <p:sp>
        <p:nvSpPr>
          <p:cNvPr id="9" name="fig"/>
          <p:cNvSpPr/>
          <p:nvPr/>
        </p:nvSpPr>
        <p:spPr>
          <a:xfrm>
            <a:off x="4663440" y="5074919"/>
            <a:ext cx="4114800" cy="71323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插件不参与打包</a:t>
            </a:r>
          </a:p>
        </p:txBody>
      </p:sp>
    </p:spTree>
  </p:cSld>
  <p:clrMapOvr>
    <a:masterClrMapping/>
  </p:clrMapOvr>
  <p:hf sldNum="0" hdr="0" ftr="0" dt="0"/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5039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6766560"/>
              </a:tblGrid>
              <a:tr h="71628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记住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要点</a:t>
                      </a:r>
                    </a:p>
                  </a:txBody>
                  <a:tcPr anchor="ctr"/>
                </a:tc>
              </a:tr>
              <a:tr h="71628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三个层次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IaaS、PaaS、SaaS，交出去的是这一层以下</a:t>
                      </a:r>
                    </a:p>
                  </a:txBody>
                  <a:tcPr anchor="ctr"/>
                </a:tc>
              </a:tr>
              <a:tr h="71628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两种形态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mall 与 mall-swarm，不是同一版本迁移前后</a:t>
                      </a:r>
                    </a:p>
                  </a:txBody>
                  <a:tcPr anchor="ctr"/>
                </a:tc>
              </a:tr>
              <a:tr h="71628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课堂环境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四个中间件；Elasticsearch、MinIO、Nginx、Logstash、Kibana 标灰</a:t>
                      </a:r>
                    </a:p>
                  </a:txBody>
                  <a:tcPr anchor="ctr"/>
                </a:tc>
              </a:tr>
              <a:tr h="71628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载体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基线 baseline-dcaa93b3；教学分 64 仍选 mall</a:t>
                      </a:r>
                    </a:p>
                  </a:txBody>
                  <a:tcPr anchor="ctr"/>
                </a:tc>
              </a:tr>
              <a:tr h="71628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不改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mall-mbg、共用表、对外接口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预习题（1—3）</a:t>
            </a:r>
          </a:p>
        </p:txBody>
      </p:sp>
      <p:sp>
        <p:nvSpPr>
          <p:cNvPr id="3" name="quiz"/>
          <p:cNvSpPr>
            <a:spLocks noGrp="1"/>
          </p:cNvSpPr>
          <p:nvPr>
            <p:ph idx="1"/>
          </p:nvPr>
        </p:nvSpPr>
        <p:spPr>
          <a:xfrm>
            <a:off x="237744" y="1444752"/>
            <a:ext cx="8686800" cy="4480560"/>
          </a:xfrm>
        </p:spPr>
        <p:txBody>
          <a:bodyPr wrap="square" lIns="27432" rIns="27432" tIns="18288" bIns="18288" eaLnBrk="1" hangingPunct="1" latinLnBrk="0"/>
          <a:lstStyle/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实验 E2 开始前完成这五题，题干和选项与课前作业一致，做完再听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下一讲再讲体系结构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1. 用来表达“代码如何组织成模块”的是哪一个视图？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逻辑视图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进程视图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C. 开发视图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D. 物理视图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2. 事务注解只要写在实现类的方法上，事务就一定生效。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正确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错误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3. “业务判断写在控制器中”属于分层被违背的哪种形态？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逻辑泄漏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跨层调用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C. 循环依赖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D. 依赖生成代码</a:t>
            </a:r>
          </a:p>
        </p:txBody>
      </p:sp>
    </p:spTree>
  </p:cSld>
  <p:clrMapOvr>
    <a:masterClrMapping/>
  </p:clrMapOvr>
  <p:hf sldNum="0" hdr="0" ftr="0" dt="0"/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预习题（4—5）</a:t>
            </a:r>
          </a:p>
        </p:txBody>
      </p:sp>
      <p:sp>
        <p:nvSpPr>
          <p:cNvPr id="3" name="quiz"/>
          <p:cNvSpPr>
            <a:spLocks noGrp="1"/>
          </p:cNvSpPr>
          <p:nvPr>
            <p:ph idx="1"/>
          </p:nvPr>
        </p:nvSpPr>
        <p:spPr>
          <a:xfrm>
            <a:off x="237744" y="1444752"/>
            <a:ext cx="8686800" cy="4480560"/>
          </a:xfrm>
        </p:spPr>
        <p:txBody>
          <a:bodyPr wrap="square" lIns="27432" rIns="27432" tIns="18288" bIns="18288" eaLnBrk="1" hangingPunct="1" latinLnBrk="0"/>
          <a:lstStyle/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4. 把依赖方向写成可自动执行的检查规则，主要解决什么问题？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提升编译速度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自动补全缺失的测试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C. 减少生成代码的体积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D. 在后续修改中自动发现架构约束被违背，而不依赖人工复查</a:t>
            </a:r>
          </a:p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5. 架构决策记录应当说明上下文、决定与后果，以及被否决的方案。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正确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错误</a:t>
            </a:r>
          </a:p>
        </p:txBody>
      </p:sp>
    </p:spTree>
  </p:cSld>
  <p:clrMapOvr>
    <a:masterClrMapping/>
  </p:clrMapOvr>
  <p:hf sldNum="0" hdr="0" ftr="0" dt="0"/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课后阅读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5039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6766560"/>
              </a:tblGrid>
              <a:tr h="71628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编号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文献</a:t>
                      </a:r>
                    </a:p>
                  </a:txBody>
                  <a:tcPr anchor="ctr"/>
                </a:tc>
              </a:tr>
              <a:tr h="71628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[21]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NIST SP 800-145</a:t>
                      </a:r>
                    </a:p>
                  </a:txBody>
                  <a:tcPr anchor="ctr"/>
                </a:tc>
              </a:tr>
              <a:tr h="71628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[27]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Le 等 2015</a:t>
                      </a:r>
                    </a:p>
                  </a:txBody>
                  <a:tcPr anchor="ctr"/>
                </a:tc>
              </a:tr>
              <a:tr h="71628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[43]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UC Berkeley《Large Language Model Agents》</a:t>
                      </a:r>
                    </a:p>
                  </a:txBody>
                  <a:tcPr anchor="ctr"/>
                </a:tc>
              </a:tr>
              <a:tr h="71628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[45]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课程实例项目 mall</a:t>
                      </a:r>
                    </a:p>
                  </a:txBody>
                  <a:tcPr anchor="ctr"/>
                </a:tc>
              </a:tr>
              <a:tr h="71628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[46]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mall 的微服务版本 mall-swarm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tags/tag7.xml><?xml version="1.0" encoding="utf-8"?>
<p:tagLst xmlns:p="http://schemas.openxmlformats.org/presentationml/2006/main">
  <p:tag name="commondata" val="eyJoZGlkIjoiZDkzYzZkNDRlZDllNjdlNTFlNDRjOWFlMDM3NGQyOTAifQ=="/>
</p:tagLst>
</file>

<file path=ppt/theme/theme1.xml><?xml version="1.0" encoding="utf-8"?>
<a:theme xmlns:a="http://schemas.openxmlformats.org/drawingml/2006/main" name="2_985平台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985平台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985平台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3022</Words>
  <Application>WPS 演示</Application>
  <PresentationFormat>全屏显示(4:3)</PresentationFormat>
  <Paragraphs>283</Paragraphs>
  <Slides>44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9" baseType="lpstr">
      <vt:lpstr>Arial</vt:lpstr>
      <vt:lpstr>宋体</vt:lpstr>
      <vt:lpstr>Wingdings</vt:lpstr>
      <vt:lpstr>Verdana</vt:lpstr>
      <vt:lpstr>隶书</vt:lpstr>
      <vt:lpstr>Cambria</vt:lpstr>
      <vt:lpstr>黑体</vt:lpstr>
      <vt:lpstr>Times New Roman</vt:lpstr>
      <vt:lpstr>新宋体</vt:lpstr>
      <vt:lpstr>Tahoma</vt:lpstr>
      <vt:lpstr>微软雅黑</vt:lpstr>
      <vt:lpstr>Arial Unicode MS</vt:lpstr>
      <vt:lpstr>Calibri</vt:lpstr>
      <vt:lpstr>华文行楷</vt:lpstr>
      <vt:lpstr>2_985平台</vt:lpstr>
      <vt:lpstr>软件设计与规范 </vt:lpstr>
      <vt:lpstr>自我介绍</vt:lpstr>
      <vt:lpstr>超星学习通</vt:lpstr>
      <vt:lpstr>超星学习通</vt:lpstr>
      <vt:lpstr>教材</vt:lpstr>
      <vt:lpstr>推荐参考书</vt:lpstr>
      <vt:lpstr>参考书</vt:lpstr>
      <vt:lpstr>课程定位</vt:lpstr>
      <vt:lpstr>PowerPoint 演示文稿</vt:lpstr>
      <vt:lpstr>PowerPoint 演示文稿</vt:lpstr>
      <vt:lpstr>解决两大难题</vt:lpstr>
      <vt:lpstr>教学困难--实践能力</vt:lpstr>
      <vt:lpstr>PowerPoint 演示文稿</vt:lpstr>
      <vt:lpstr>PowerPoint 演示文稿</vt:lpstr>
      <vt:lpstr>PowerPoint 演示文稿</vt:lpstr>
      <vt:lpstr>教学困难--解决问题的能力</vt:lpstr>
      <vt:lpstr>PowerPoint 演示文稿</vt:lpstr>
      <vt:lpstr>PowerPoint 演示文稿</vt:lpstr>
      <vt:lpstr>教学改革</vt:lpstr>
      <vt:lpstr>PowerPoint 演示文稿</vt:lpstr>
      <vt:lpstr>PowerPoint 演示文稿</vt:lpstr>
      <vt:lpstr>教学设计</vt:lpstr>
      <vt:lpstr>翻转课堂学习绩效</vt:lpstr>
      <vt:lpstr>考核安排</vt:lpstr>
      <vt:lpstr>PowerPoint 演示文稿</vt:lpstr>
      <vt:lpstr>PowerPoint 演示文稿</vt:lpstr>
      <vt:lpstr>优秀</vt:lpstr>
      <vt:lpstr>课程网站扩展项目</vt:lpstr>
      <vt:lpstr>课程设计</vt:lpstr>
      <vt:lpstr>课程网站案例分类</vt:lpstr>
      <vt:lpstr>案例的使用</vt:lpstr>
      <vt:lpstr>授课方式</vt:lpstr>
      <vt:lpstr>PowerPoint 演示文稿</vt:lpstr>
      <vt:lpstr>课程网站</vt:lpstr>
      <vt:lpstr>能力构成</vt:lpstr>
      <vt:lpstr>环境</vt:lpstr>
      <vt:lpstr>助教</vt:lpstr>
      <vt:lpstr>SWOT分析</vt:lpstr>
      <vt:lpstr>课后阅读</vt:lpstr>
      <vt:lpstr>课后练习</vt:lpstr>
      <vt:lpstr>作业</vt:lpstr>
      <vt:lpstr>Tips</vt:lpstr>
      <vt:lpstr>Tips（续）</vt:lpstr>
      <vt:lpstr>PowerPoint 演示文稿</vt:lpstr>
    </vt:vector>
  </TitlesOfParts>
  <Company>sei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1-1课程简介</dc:title>
  <dc:creator>李萌</dc:creator>
  <cp:lastModifiedBy>lemon 牛</cp:lastModifiedBy>
  <cp:revision>1036</cp:revision>
  <cp:lastPrinted>2003-09-14T10:10:00Z</cp:lastPrinted>
  <dcterms:created xsi:type="dcterms:W3CDTF">2003-08-28T12:03:00Z</dcterms:created>
  <dcterms:modified xsi:type="dcterms:W3CDTF">2024-02-25T15:12:44Z</dcterms:modified>
  <dc:descript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6B7E428AAD9D47FD86FE404DDCE365B0_12</vt:lpwstr>
  </property>
  <property fmtid="{D5CDD505-2E9C-101B-9397-08002B2CF9AE}" pid="3" name="KSOProductBuildVer">
    <vt:lpwstr>2052-12.1.0.16250</vt:lpwstr>
  </property>
</Properties>
</file>