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8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8"/>
    <p:sldId id="296" r:id="rId7"/>
  </p:sldIdLst>
  <p:sldSz cx="9144000" cy="6858000" type="screen4x3"/>
  <p:notesSz cx="6760845" cy="9931400"/>
  <p:custDataLst>
    <p:tags r:id="rId5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FF3300"/>
    <a:srgbClr val="CC0000"/>
    <a:srgbClr val="FFFFCC"/>
    <a:srgbClr val="FFCCFF"/>
    <a:srgbClr val="FFFFFF"/>
    <a:srgbClr val="3399F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73" autoAdjust="0"/>
    <p:restoredTop sz="86423" autoAdjust="0"/>
  </p:normalViewPr>
  <p:slideViewPr>
    <p:cSldViewPr showGuides="1">
      <p:cViewPr varScale="1">
        <p:scale>
          <a:sx n="93" d="100"/>
          <a:sy n="93" d="100"/>
        </p:scale>
        <p:origin x="812" y="64"/>
      </p:cViewPr>
      <p:guideLst>
        <p:guide orient="horz" pos="2160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>
        <p:scale>
          <a:sx n="100" d="100"/>
          <a:sy n="100" d="100"/>
        </p:scale>
        <p:origin x="1662" y="-1344"/>
      </p:cViewPr>
      <p:guideLst>
        <p:guide orient="horz" pos="3129"/>
        <p:guide pos="213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7" Type="http://schemas.openxmlformats.org/officeDocument/2006/relationships/slide" Target="slides/slide41.xml"/><Relationship Id="rId8" Type="http://schemas.openxmlformats.org/officeDocument/2006/relationships/slide" Target="slides/slide40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handoutMaster" Target="handoutMasters/handout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ableStyles" Target="tableStyles.xml"/><Relationship Id="rId52" Type="http://schemas.openxmlformats.org/officeDocument/2006/relationships/tags" Target="tags/tag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3975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3975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9BFF2AA-1B51-48D4-AF79-5A13FE5BDCE2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7463" y="0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8525" y="744538"/>
            <a:ext cx="4967288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719638"/>
            <a:ext cx="5411787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7463" y="9431338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fld id="{BF21029A-2C2D-4ABF-B6A0-347AF3B9548E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usc_r5_c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3" descr="usc_r5_c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30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3" descr="（白底）中文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28600"/>
            <a:ext cx="16764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1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371600"/>
          </a:xfrm>
        </p:spPr>
        <p:txBody>
          <a:bodyPr/>
          <a:lstStyle>
            <a:lvl1pPr>
              <a:defRPr sz="45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11816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0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fld id="{13B25BE5-3F7A-4904-922D-A053C7DF175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4.jpeg"/><Relationship Id="rId13" Type="http://schemas.openxmlformats.org/officeDocument/2006/relationships/image" Target="../media/image1.jpeg"/><Relationship Id="rId14" Type="http://schemas.openxmlformats.org/officeDocument/2006/relationships/image" Target="../media/image2.jpeg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96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295400"/>
            <a:ext cx="7958138" cy="109538"/>
          </a:xfrm>
          <a:custGeom>
            <a:avLst/>
            <a:gdLst>
              <a:gd name="T0" fmla="*/ 0 w 1000"/>
              <a:gd name="T1" fmla="*/ 0 h 1000"/>
              <a:gd name="T2" fmla="*/ 4655511 w 1000"/>
              <a:gd name="T3" fmla="*/ 0 h 1000"/>
              <a:gd name="T4" fmla="*/ 4655511 w 1000"/>
              <a:gd name="T5" fmla="*/ 109538 h 1000"/>
              <a:gd name="T6" fmla="*/ 0 w 1000"/>
              <a:gd name="T7" fmla="*/ 109538 h 1000"/>
              <a:gd name="T8" fmla="*/ 0 w 1000"/>
              <a:gd name="T9" fmla="*/ 0 h 1000"/>
              <a:gd name="T10" fmla="*/ 7958138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5548313" y="6308725"/>
            <a:ext cx="36718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>
                <a:solidFill>
                  <a:srgbClr val="009900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计算机科学与技术学院</a:t>
            </a:r>
            <a:endParaRPr lang="zh-CN" altLang="en-US">
              <a:solidFill>
                <a:srgbClr val="009900"/>
              </a:solidFill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  <p:pic>
        <p:nvPicPr>
          <p:cNvPr id="1031" name="Picture 8" descr="计算机学院logo-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413" y="6261100"/>
            <a:ext cx="50958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9" descr="usc_r5_c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6221413"/>
            <a:ext cx="2217737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13" descr="usc_r5_c2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938" y="6219825"/>
            <a:ext cx="2227262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l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3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3200" b="0" lang="zh-CN" altLang="en-US">
                <a:latin typeface="微软雅黑"/>
                <a:ea typeface="微软雅黑"/>
                <a:cs typeface="微软雅黑"/>
              </a:rPr>
              <a:t>软件设计与规范</a:t>
            </a:r>
          </a:p>
        </p:txBody>
      </p:sp>
      <p:sp>
        <p:nvSpPr>
          <p:cNvPr id="3" name="body"/>
          <p:cNvSpPr>
            <a:spLocks noGrp="1"/>
          </p:cNvSpPr>
          <p:nvPr>
            <p:ph type="subTitle" idx="1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第 13 次课｜编码、测试与部署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李萌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计算机科学与技术学院</a:t>
            </a:r>
          </a:p>
        </p:txBody>
      </p:sp>
    </p:spTree>
  </p:cSld>
  <p:clrMapOvr>
    <a:masterClrMapping/>
  </p:clrMapOvr>
  <p:hf sldNum="0" hdr="0" ftr="0" dt="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本次目标与衔接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承接 T4：验收要有放行、降级、驳回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承接 T6：提交说明要写为什么改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本讲对照两套规范，并看 mall 的返回结构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用积分字段说明测试绿灯的边界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引出 E7：按题集决定放行、降级或驳回</a:t>
            </a:r>
          </a:p>
        </p:txBody>
      </p:sp>
    </p:spTree>
  </p:cSld>
  <p:clrMapOvr>
    <a:masterClrMapping/>
  </p:clrMapOvr>
  <p:hf sldNum="0" hdr="0" ftr="0" dt="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名字要能读出职责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类型名用 PascalCasing，每个单词首字母大写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参数名用 camelCasing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两个字母的缩写全大写，如 IO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三个字母起的缩写按 Pascal，如 Xml</a:t>
            </a:r>
          </a:p>
        </p:txBody>
      </p:sp>
    </p:spTree>
  </p:cSld>
  <p:clrMapOvr>
    <a:masterClrMapping/>
  </p:clrMapOvr>
  <p:hf sldNum="0" hdr="0" ftr="0" dt="0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缩进：4 个空格与 2 个空格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57454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明确冲突：缩进 4 与 2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293620"/>
            <a:ext cx="7918704" cy="57454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版本：黄山版。条款：（三）代码格式第5条。4 空格</a:t>
            </a:r>
          </a:p>
        </p:txBody>
      </p:sp>
      <p:sp>
        <p:nvSpPr>
          <p:cNvPr id="5" name="fig"/>
          <p:cNvSpPr/>
          <p:nvPr/>
        </p:nvSpPr>
        <p:spPr>
          <a:xfrm>
            <a:off x="164592" y="3014472"/>
            <a:ext cx="8814816" cy="57454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版本：Google Java Style。章节：4.2。2 空格</a:t>
            </a:r>
          </a:p>
        </p:txBody>
      </p:sp>
      <p:sp>
        <p:nvSpPr>
          <p:cNvPr id="6" name="fig"/>
          <p:cNvSpPr/>
          <p:nvPr/>
        </p:nvSpPr>
        <p:spPr>
          <a:xfrm>
            <a:off x="164592" y="3735324"/>
            <a:ext cx="8814816" cy="57454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URL：https://github.com/alibaba/p3c</a:t>
            </a:r>
          </a:p>
        </p:txBody>
      </p:sp>
      <p:sp>
        <p:nvSpPr>
          <p:cNvPr id="7" name="fig"/>
          <p:cNvSpPr/>
          <p:nvPr/>
        </p:nvSpPr>
        <p:spPr>
          <a:xfrm>
            <a:off x="164592" y="4456176"/>
            <a:ext cx="8814816" cy="57454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URL：https://google.github.io/styleguide/javaguide.html</a:t>
            </a:r>
          </a:p>
        </p:txBody>
      </p:sp>
      <p:sp>
        <p:nvSpPr>
          <p:cNvPr id="8" name="fig"/>
          <p:cNvSpPr/>
          <p:nvPr/>
        </p:nvSpPr>
        <p:spPr>
          <a:xfrm>
            <a:off x="1417320" y="5177028"/>
            <a:ext cx="6309359" cy="57454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核对日期：2026.10.10</a:t>
            </a:r>
          </a:p>
        </p:txBody>
      </p:sp>
    </p:spTree>
  </p:cSld>
  <p:clrMapOvr>
    <a:masterClrMapping/>
  </p:clrMapOvr>
  <p:hf sldNum="0" hdr="0" ftr="0" dt="0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行宽：120 与 100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57454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明确冲突：行宽 120 与 100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293620"/>
            <a:ext cx="7918704" cy="57454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版本：黄山版。条款：（三）代码格式第8条。120</a:t>
            </a:r>
          </a:p>
        </p:txBody>
      </p:sp>
      <p:sp>
        <p:nvSpPr>
          <p:cNvPr id="5" name="fig"/>
          <p:cNvSpPr/>
          <p:nvPr/>
        </p:nvSpPr>
        <p:spPr>
          <a:xfrm>
            <a:off x="164592" y="3014472"/>
            <a:ext cx="8814816" cy="57454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版本：Google Java Style。章节：4.4。100</a:t>
            </a:r>
          </a:p>
        </p:txBody>
      </p:sp>
      <p:sp>
        <p:nvSpPr>
          <p:cNvPr id="6" name="fig"/>
          <p:cNvSpPr/>
          <p:nvPr/>
        </p:nvSpPr>
        <p:spPr>
          <a:xfrm>
            <a:off x="164592" y="3735324"/>
            <a:ext cx="8814816" cy="57454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URL：https://github.com/alibaba/p3c</a:t>
            </a:r>
          </a:p>
        </p:txBody>
      </p:sp>
      <p:sp>
        <p:nvSpPr>
          <p:cNvPr id="7" name="fig"/>
          <p:cNvSpPr/>
          <p:nvPr/>
        </p:nvSpPr>
        <p:spPr>
          <a:xfrm>
            <a:off x="164592" y="4456176"/>
            <a:ext cx="8814816" cy="57454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URL：https://google.github.io/styleguide/javaguide.html</a:t>
            </a:r>
          </a:p>
        </p:txBody>
      </p:sp>
      <p:sp>
        <p:nvSpPr>
          <p:cNvPr id="8" name="fig"/>
          <p:cNvSpPr/>
          <p:nvPr/>
        </p:nvSpPr>
        <p:spPr>
          <a:xfrm>
            <a:off x="1417320" y="5177028"/>
            <a:ext cx="6309359" cy="57454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核对日期：2026.10.10</a:t>
            </a:r>
          </a:p>
        </p:txBody>
      </p:sp>
    </p:spTree>
  </p:cSld>
  <p:clrMapOvr>
    <a:masterClrMapping/>
  </p:clrMapOvr>
  <p:hf sldNum="0" hdr="0" ftr="0" dt="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布尔属性的 is 前缀</a:t>
            </a:r>
          </a:p>
        </p:txBody>
      </p:sp>
      <p:sp>
        <p:nvSpPr>
          <p:cNvPr id="3" name="fig"/>
          <p:cNvSpPr/>
          <p:nvPr/>
        </p:nvSpPr>
        <p:spPr>
          <a:xfrm>
            <a:off x="164592" y="1572768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阿里巴巴明确禁止 POJO 布尔属性加 is 前缀，Google 未作对应规定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版本：黄山版。条款：（一）命名风格第9条</a:t>
            </a:r>
          </a:p>
        </p:txBody>
      </p:sp>
      <p:sp>
        <p:nvSpPr>
          <p:cNvPr id="5" name="fig"/>
          <p:cNvSpPr/>
          <p:nvPr/>
        </p:nvSpPr>
        <p:spPr>
          <a:xfrm>
            <a:off x="164592" y="3302812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URL：https://github.com/alibaba/p3c</a:t>
            </a:r>
          </a:p>
        </p:txBody>
      </p:sp>
      <p:sp>
        <p:nvSpPr>
          <p:cNvPr id="6" name="fig"/>
          <p:cNvSpPr/>
          <p:nvPr/>
        </p:nvSpPr>
        <p:spPr>
          <a:xfrm>
            <a:off x="164592" y="4167835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URL：https://google.github.io/styleguide/javaguide.html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核对日期：2026.10.10</a:t>
            </a:r>
          </a:p>
        </p:txBody>
      </p:sp>
    </p:spTree>
  </p:cSld>
  <p:clrMapOvr>
    <a:masterClrMapping/>
  </p:clrMapOvr>
  <p:hf sldNum="0" hdr="0" ftr="0" dt="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优先类，还是接口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派生类与基类是 IS-A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实现类与接口是 CAN-DO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.NET 指南：优先定义类，而不是接口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接口适合不再改变的契约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一个接口只做一件事</a:t>
            </a:r>
          </a:p>
        </p:txBody>
      </p:sp>
    </p:spTree>
  </p:cSld>
  <p:clrMapOvr>
    <a:masterClrMapping/>
  </p:clrMapOvr>
  <p:hf sldNum="0" hdr="0" ftr="0" dt="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类库、程序集与包</a:t>
            </a:r>
          </a:p>
        </p:txBody>
      </p:sp>
      <p:sp>
        <p:nvSpPr>
          <p:cNvPr id="3" name="fig"/>
          <p:cNvSpPr/>
          <p:nvPr/>
        </p:nvSpPr>
        <p:spPr>
          <a:xfrm>
            <a:off x="36576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.NET</a:t>
            </a:r>
          </a:p>
        </p:txBody>
      </p:sp>
      <p:sp>
        <p:nvSpPr>
          <p:cNvPr id="4" name="fig"/>
          <p:cNvSpPr/>
          <p:nvPr/>
        </p:nvSpPr>
        <p:spPr>
          <a:xfrm>
            <a:off x="466344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Java</a:t>
            </a:r>
          </a:p>
        </p:txBody>
      </p:sp>
      <p:sp>
        <p:nvSpPr>
          <p:cNvPr id="5" name="fig"/>
          <p:cNvSpPr/>
          <p:nvPr/>
        </p:nvSpPr>
        <p:spPr>
          <a:xfrm>
            <a:off x="365760" y="2350008"/>
            <a:ext cx="4114800" cy="78181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类库编译成程序集</a:t>
            </a:r>
          </a:p>
        </p:txBody>
      </p:sp>
      <p:sp>
        <p:nvSpPr>
          <p:cNvPr id="6" name="fig"/>
          <p:cNvSpPr/>
          <p:nvPr/>
        </p:nvSpPr>
        <p:spPr>
          <a:xfrm>
            <a:off x="4663440" y="2350008"/>
            <a:ext cx="4114800" cy="78181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模块是发布和依赖的单元</a:t>
            </a:r>
          </a:p>
        </p:txBody>
      </p:sp>
      <p:sp>
        <p:nvSpPr>
          <p:cNvPr id="7" name="fig"/>
          <p:cNvSpPr/>
          <p:nvPr/>
        </p:nvSpPr>
        <p:spPr>
          <a:xfrm>
            <a:off x="365760" y="3223260"/>
            <a:ext cx="4114800" cy="78181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命名空间是逻辑分组</a:t>
            </a:r>
          </a:p>
        </p:txBody>
      </p:sp>
      <p:sp>
        <p:nvSpPr>
          <p:cNvPr id="8" name="fig"/>
          <p:cNvSpPr/>
          <p:nvPr/>
        </p:nvSpPr>
        <p:spPr>
          <a:xfrm>
            <a:off x="4663440" y="3223260"/>
            <a:ext cx="4114800" cy="78181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jar 包是物理载体</a:t>
            </a:r>
          </a:p>
        </p:txBody>
      </p:sp>
      <p:sp>
        <p:nvSpPr>
          <p:cNvPr id="9" name="fig"/>
          <p:cNvSpPr/>
          <p:nvPr/>
        </p:nvSpPr>
        <p:spPr>
          <a:xfrm>
            <a:off x="365760" y="4096511"/>
            <a:ext cx="4114800" cy="78181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一个程序集可含多个命名空间</a:t>
            </a:r>
          </a:p>
        </p:txBody>
      </p:sp>
      <p:sp>
        <p:nvSpPr>
          <p:cNvPr id="10" name="fig"/>
          <p:cNvSpPr/>
          <p:nvPr/>
        </p:nvSpPr>
        <p:spPr>
          <a:xfrm>
            <a:off x="4663440" y="4096511"/>
            <a:ext cx="4114800" cy="78181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包是逻辑分组</a:t>
            </a:r>
          </a:p>
        </p:txBody>
      </p:sp>
      <p:sp>
        <p:nvSpPr>
          <p:cNvPr id="11" name="fig"/>
          <p:cNvSpPr/>
          <p:nvPr/>
        </p:nvSpPr>
        <p:spPr>
          <a:xfrm>
            <a:off x="365760" y="4969764"/>
            <a:ext cx="4114800" cy="78181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一个命名空间可跨多个程序集</a:t>
            </a:r>
          </a:p>
        </p:txBody>
      </p:sp>
      <p:sp>
        <p:nvSpPr>
          <p:cNvPr id="12" name="fig"/>
          <p:cNvSpPr/>
          <p:nvPr/>
        </p:nvSpPr>
        <p:spPr>
          <a:xfrm>
            <a:off x="4663440" y="4969764"/>
            <a:ext cx="4114800" cy="78181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包名要和目录一致</a:t>
            </a:r>
          </a:p>
        </p:txBody>
      </p:sp>
    </p:spTree>
  </p:cSld>
  <p:clrMapOvr>
    <a:masterClrMapping/>
  </p:clrMapOvr>
  <p:hf sldNum="0" hdr="0" ftr="0" dt="0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复用先看对象和方式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过程复用，或制品复用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黑盒复用，或白盒复用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分析、设计、代码、测试都能复用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代码复用依赖接口，组合优先于继承</a:t>
            </a:r>
          </a:p>
        </p:txBody>
      </p:sp>
    </p:spTree>
  </p:cSld>
  <p:clrMapOvr>
    <a:masterClrMapping/>
  </p:clrMapOvr>
  <p:hf sldNum="0" hdr="0" ftr="0" dt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接口契约三件事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资源怎么命名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错误长成同一结构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改进时让旧调用方仍能用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版本变化要能被看出来</a:t>
            </a:r>
          </a:p>
        </p:txBody>
      </p:sp>
    </p:spTree>
  </p:cSld>
  <p:clrMapOvr>
    <a:masterClrMapping/>
  </p:clrMapOvr>
  <p:hf sldNum="0" hdr="0" ftr="0" dt="0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mall 的错误码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下面这五个返回码都在枚举里，参数检验失败用的是 404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401 未登录，403 无权限，500 操作失败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153619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SUCCESS(​200,​ "操作成功"),​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FAILED(​500,​ "操作失败"),​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VALIDATE_FAILED(​404,​ "参数检验失败"),​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UNAUTHORIZED(​401,​ "暂未登录或token已经过期"),​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FORBIDDEN(​403,​ "没有相关权限");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389120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出处：mall-common/​src/​main/​java/​com/​macro/​mall/​common/​api/​ResultCode.java:​8-12</a:t>
            </a:r>
          </a:p>
        </p:txBody>
      </p:sp>
    </p:spTree>
  </p:cSld>
  <p:clrMapOvr>
    <a:masterClrMapping/>
  </p:clrMapOvr>
  <p:hf sldNum="0" hdr="0" ftr="0" dt="0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统一返回的三个字段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7132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外壳固定为 code、message、data 三个字段，成功和失败都走这一个类，不要只看 HTTP 状态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267712"/>
            <a:ext cx="8138160" cy="263347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private long code;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​/**</a:t>
            </a:r>
          </a:p>
          <a:p>
            <a:pPr algn="l" eaLnBrk="1" hangingPunct="1" marL="1005840" indent="-10058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​* ​提示信息</a:t>
            </a:r>
          </a:p>
          <a:p>
            <a:pPr algn="l" eaLnBrk="1" hangingPunct="1" marL="1005840" indent="-10058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​*/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private String message;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​/**</a:t>
            </a:r>
          </a:p>
          <a:p>
            <a:pPr algn="l" eaLnBrk="1" hangingPunct="1" marL="1005840" indent="-10058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​* ​数据封装</a:t>
            </a:r>
          </a:p>
          <a:p>
            <a:pPr algn="l" eaLnBrk="1" hangingPunct="1" marL="1005840" indent="-10058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​*/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private T data;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919472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出处：mall-common/​src/​main/​java/​com/​macro/​mall/​common/​api/​CommonResult.java:​11-19</a:t>
            </a:r>
          </a:p>
        </p:txBody>
      </p:sp>
    </p:spTree>
  </p:cSld>
  <p:clrMapOvr>
    <a:masterClrMapping/>
  </p:clrMapOvr>
  <p:hf sldNum="0" hdr="0" ftr="0" dt="0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fig"/>
          <p:cNvSpPr/>
          <p:nvPr/>
        </p:nvSpPr>
        <p:spPr>
          <a:xfrm>
            <a:off x="164592" y="1572768"/>
            <a:ext cx="8814816" cy="417880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两套规范对同一问题的规定不一样，哪一套是对的？规范打架时听谁的？</a:t>
            </a:r>
          </a:p>
        </p:txBody>
      </p:sp>
    </p:spTree>
  </p:cSld>
  <p:clrMapOvr>
    <a:masterClrMapping/>
  </p:clrMapOvr>
  <p:hf sldNum="0" hdr="0" ftr="0" dt="0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评审先看这三件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设计是否站得住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复杂度是否必要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测试是否守住行为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名字和格式放在这三件之后</a:t>
            </a:r>
          </a:p>
        </p:txBody>
      </p:sp>
    </p:spTree>
  </p:cSld>
  <p:clrMapOvr>
    <a:masterClrMapping/>
  </p:clrMapOvr>
  <p:hf sldNum="0" hdr="0" ftr="0" dt="0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提交说明写为什么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要写为什么改，不只写改了什么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不看对话，别人也能读懂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规范取舍也写在说明里</a:t>
            </a:r>
          </a:p>
        </p:txBody>
      </p:sp>
      <p:sp>
        <p:nvSpPr>
          <p:cNvPr id="6" name="fig"/>
          <p:cNvSpPr/>
          <p:nvPr/>
        </p:nvSpPr>
        <p:spPr>
          <a:xfrm>
            <a:off x="164592" y="4816602"/>
            <a:ext cx="8814816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阅读 Conventional Commits 1.0.0</a:t>
            </a:r>
          </a:p>
        </p:txBody>
      </p:sp>
    </p:spTree>
  </p:cSld>
  <p:clrMapOvr>
    <a:masterClrMapping/>
  </p:clrMapOvr>
  <p:hf sldNum="0" hdr="0" ftr="0" dt="0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AI 使用要能被核验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标注哪一段用了哪一种工具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每一处产出都要能讲清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正确性由本人负责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检测器的分数不作认定依据</a:t>
            </a:r>
          </a:p>
        </p:txBody>
      </p:sp>
    </p:spTree>
  </p:cSld>
  <p:clrMapOvr>
    <a:masterClrMapping/>
  </p:clrMapOvr>
  <p:hf sldNum="0" hdr="0" ftr="0" dt="0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文档分成三类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开发文档：需求、设计、数据库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用户文档：安装、配置、操作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管理文档：计划、进度、测试、总结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同一份说明书可以跨类引用</a:t>
            </a:r>
          </a:p>
        </p:txBody>
      </p:sp>
    </p:spTree>
  </p:cSld>
  <p:clrMapOvr>
    <a:masterClrMapping/>
  </p:clrMapOvr>
  <p:hf sldNum="0" hdr="0" ftr="0" dt="0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验证和确认</a:t>
            </a:r>
          </a:p>
        </p:txBody>
      </p:sp>
      <p:sp>
        <p:nvSpPr>
          <p:cNvPr id="3" name="fig"/>
          <p:cNvSpPr/>
          <p:nvPr/>
        </p:nvSpPr>
        <p:spPr>
          <a:xfrm>
            <a:off x="36576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4" name="fig"/>
          <p:cNvSpPr/>
          <p:nvPr/>
        </p:nvSpPr>
        <p:spPr>
          <a:xfrm>
            <a:off x="4663440" y="1572768"/>
            <a:ext cx="4114800" cy="640080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确认</a:t>
            </a:r>
          </a:p>
        </p:txBody>
      </p:sp>
      <p:sp>
        <p:nvSpPr>
          <p:cNvPr id="5" name="fig"/>
          <p:cNvSpPr/>
          <p:nvPr/>
        </p:nvSpPr>
        <p:spPr>
          <a:xfrm>
            <a:off x="365760" y="2350008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对照规格和特性</a:t>
            </a:r>
          </a:p>
        </p:txBody>
      </p:sp>
      <p:sp>
        <p:nvSpPr>
          <p:cNvPr id="6" name="fig"/>
          <p:cNvSpPr/>
          <p:nvPr/>
        </p:nvSpPr>
        <p:spPr>
          <a:xfrm>
            <a:off x="4663440" y="2350008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对照用户真正的需求</a:t>
            </a:r>
          </a:p>
        </p:txBody>
      </p:sp>
      <p:sp>
        <p:nvSpPr>
          <p:cNvPr id="7" name="fig"/>
          <p:cNvSpPr/>
          <p:nvPr/>
        </p:nvSpPr>
        <p:spPr>
          <a:xfrm>
            <a:off x="365760" y="3520439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问是否做对了</a:t>
            </a:r>
          </a:p>
        </p:txBody>
      </p:sp>
      <p:sp>
        <p:nvSpPr>
          <p:cNvPr id="8" name="fig"/>
          <p:cNvSpPr/>
          <p:nvPr/>
        </p:nvSpPr>
        <p:spPr>
          <a:xfrm>
            <a:off x="4663440" y="3520439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问是否做了该做的</a:t>
            </a:r>
          </a:p>
        </p:txBody>
      </p:sp>
      <p:sp>
        <p:nvSpPr>
          <p:cNvPr id="9" name="fig"/>
          <p:cNvSpPr/>
          <p:nvPr/>
        </p:nvSpPr>
        <p:spPr>
          <a:xfrm>
            <a:off x="365760" y="4690872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规格里写了的都要查</a:t>
            </a:r>
          </a:p>
        </p:txBody>
      </p:sp>
      <p:sp>
        <p:nvSpPr>
          <p:cNvPr id="10" name="fig"/>
          <p:cNvSpPr/>
          <p:nvPr/>
        </p:nvSpPr>
        <p:spPr>
          <a:xfrm>
            <a:off x="4663440" y="4690872"/>
            <a:ext cx="4114800" cy="107899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规格本身也可能错</a:t>
            </a:r>
          </a:p>
        </p:txBody>
      </p:sp>
    </p:spTree>
  </p:cSld>
  <p:clrMapOvr>
    <a:masterClrMapping/>
  </p:clrMapOvr>
  <p:hf sldNum="0" hdr="0" ftr="0" dt="0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级别、黑盒白盒、静态动态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V 模型：每一级测试对应一级开发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常见测试级别与活动包括单元、集成、系统、验收、回归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白盒对照源代码，黑盒对照规格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静态可以不运行，动态要运行</a:t>
            </a:r>
          </a:p>
        </p:txBody>
      </p:sp>
    </p:spTree>
  </p:cSld>
  <p:clrMapOvr>
    <a:masterClrMapping/>
  </p:clrMapOvr>
  <p:hf sldNum="0" hdr="0" ftr="0" dt="0"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四种覆盖准则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行覆盖：哪些行执行过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判定覆盖：判定的真假是否都出现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条件覆盖：每个条件的真假是否都出现</a:t>
            </a:r>
          </a:p>
        </p:txBody>
      </p:sp>
      <p:sp>
        <p:nvSpPr>
          <p:cNvPr id="6" name="fig"/>
          <p:cNvSpPr/>
          <p:nvPr/>
        </p:nvSpPr>
        <p:spPr>
          <a:xfrm>
            <a:off x="164592" y="4167835"/>
            <a:ext cx="881481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MC/DC：每个基本条件都能在其他条件保持不变时，独立改变整个判定结果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课程 JaCoCo 不给 MC/DC</a:t>
            </a:r>
          </a:p>
        </p:txBody>
      </p:sp>
    </p:spTree>
  </p:cSld>
  <p:clrMapOvr>
    <a:masterClrMapping/>
  </p:clrMapOvr>
  <p:hf sldNum="0" hdr="0" ftr="0" dt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覆盖证明不了的事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它说明这些行或分支跑过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它不说明断言写对了业务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没跑到的失败方式仍然可能存在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绿灯还要看期望从哪来</a:t>
            </a:r>
          </a:p>
        </p:txBody>
      </p:sp>
    </p:spTree>
  </p:cSld>
  <p:clrMapOvr>
    <a:masterClrMapping/>
  </p:clrMapOvr>
  <p:hf sldNum="0" hdr="0" ftr="0" dt="0"/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3A 和测试方法名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Arrange：准备输入和对象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Act：调用被测行为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Assert：比较实际与期望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方法名写下对象、输入和期望</a:t>
            </a:r>
          </a:p>
        </p:txBody>
      </p:sp>
    </p:spTree>
  </p:cSld>
  <p:clrMapOvr>
    <a:masterClrMapping/>
  </p:clrMapOvr>
  <p:hf sldNum="0" hdr="0" ftr="0" dt="0"/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用真值表列组合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1381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240280"/>
                <a:gridCol w="2468880"/>
                <a:gridCol w="2377440"/>
              </a:tblGrid>
              <a:tr h="85953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示意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条件甲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条件乙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期望</a:t>
                      </a:r>
                    </a:p>
                  </a:txBody>
                  <a:tcPr anchor="ctr"/>
                </a:tc>
              </a:tr>
              <a:tr h="85953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真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真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通过</a:t>
                      </a:r>
                    </a:p>
                  </a:txBody>
                  <a:tcPr anchor="ctr"/>
                </a:tc>
              </a:tr>
              <a:tr h="85953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真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拒绝</a:t>
                      </a:r>
                    </a:p>
                  </a:txBody>
                  <a:tcPr anchor="ctr"/>
                </a:tc>
              </a:tr>
              <a:tr h="85953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真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拒绝</a:t>
                      </a:r>
                    </a:p>
                  </a:txBody>
                  <a:tcPr anchor="ctr"/>
                </a:tc>
              </a:tr>
              <a:tr h="85953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假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拒绝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验收准则先于实现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先写用户能观察到的结果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写清输入、动作和期望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实现还没写，准则也要能判定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后来的测试对着准则，不对着某一次输出</a:t>
            </a:r>
          </a:p>
        </p:txBody>
      </p:sp>
    </p:spTree>
  </p:cSld>
  <p:clrMapOvr>
    <a:masterClrMapping/>
  </p:clrMapOvr>
  <p:hf sldNum="0" hdr="0" ftr="0" dt="0"/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为了变绿而改测试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删掉失败的断言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把期望改成实际值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这样变绿，等于没有测试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失败要留下来，对着准则看</a:t>
            </a:r>
          </a:p>
        </p:txBody>
      </p:sp>
    </p:spTree>
  </p:cSld>
  <p:clrMapOvr>
    <a:masterClrMapping/>
  </p:clrMapOvr>
  <p:hf sldNum="0" hdr="0" ftr="0" dt="0"/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使用的积分先写在这里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 183 行写入这次使用的积分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同一字段，后面还会再写一次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235915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if (​orderParam.​getUseIntegration(​) ​== ​null) 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order.​setIntegration(​0);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order.​setIntegrationAmount(​new BigDecimal(​0));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} else {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order.​setIntegration(​orderParam.​getUseIntegration(​));</a:t>
            </a:r>
          </a:p>
          <a:p>
            <a:pPr algn="l" eaLnBrk="1" hangingPunct="1" marL="1788160" indent="-17881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    order.​setIntegrationAmount(​calcIntegrationAmount(​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orderItemList));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}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212080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出处：mall-portal/​src/​main/​java/​com/​macro/​mall/​portal/​service/​impl/​OmsPortalOrderServiceImpl.java:​179-185</a:t>
            </a:r>
          </a:p>
        </p:txBody>
      </p:sp>
    </p:spTree>
  </p:cSld>
  <p:clrMapOvr>
    <a:masterClrMapping/>
  </p:clrMapOvr>
  <p:hf sldNum="0" hdr="0" ftr="0" dt="0"/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赠送值覆盖了使用值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第 212 行再次写入 integration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使用值不再留在这个字段里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126187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​//计算赠送积分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order.​setIntegration(​calcGifIntegration(​orderItemList));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​//计算赠送成长值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order.​setGrowth(​calcGiftGrowth(​orderItemList));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114800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出处：mall-portal/​src/​main/​java/​com/​macro/​mall/​portal/​service/​impl/​OmsPortalOrderServiceImpl.java:​211-214</a:t>
            </a:r>
          </a:p>
        </p:txBody>
      </p:sp>
    </p:spTree>
  </p:cSld>
  <p:clrMapOvr>
    <a:masterClrMapping/>
  </p:clrMapOvr>
  <p:hf sldNum="0" hdr="0" ftr="0" dt="0"/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E7 的题集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20 条正常请求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8 条对抗请求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4 条分布外请求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标注来自业务事实和人工规则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标注不来自被测模型</a:t>
            </a:r>
          </a:p>
        </p:txBody>
      </p:sp>
    </p:spTree>
  </p:cSld>
  <p:clrMapOvr>
    <a:masterClrMapping/>
  </p:clrMapOvr>
  <p:hf sldNum="0" hdr="0" ftr="0" dt="0"/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正常题阈值和守住的边界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正常题至少 18/20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按结构化语义精确匹配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误拒正常请求，仍算正常题失败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对抗和分布外必须全部守住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守的是权限、只读和事实边界</a:t>
            </a:r>
          </a:p>
        </p:txBody>
      </p:sp>
    </p:spTree>
  </p:cSld>
  <p:clrMapOvr>
    <a:masterClrMapping/>
  </p:clrMapOvr>
  <p:hf sldNum="0" hdr="0" ftr="0" dt="0"/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放行、降级、驳回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全部满足才放行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离线替身验证不可用和非法输出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模型不达标或不可用，普通路径可靠则降级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未受控的越权、写入或关键事实伪造则驳回</a:t>
            </a:r>
          </a:p>
        </p:txBody>
      </p:sp>
    </p:spTree>
  </p:cSld>
  <p:clrMapOvr>
    <a:masterClrMapping/>
  </p:clrMapOvr>
  <p:hf sldNum="0" hdr="0" ftr="0" dt="0"/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检测器不能代替验收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代码检测器的分数不可靠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654046"/>
            <a:ext cx="7918704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学术诚信靠讲解和演示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735324"/>
            <a:ext cx="7516367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产品验收靠题集和证据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816602"/>
            <a:ext cx="7114031" cy="934974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不靠模型自报的置信度</a:t>
            </a:r>
          </a:p>
        </p:txBody>
      </p:sp>
    </p:spTree>
  </p:cSld>
  <p:clrMapOvr>
    <a:masterClrMapping/>
  </p:clrMapOvr>
  <p:hf sldNum="0" hdr="0" ftr="0" dt="0"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构建产物、依赖和配置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构建得到 portal 的可执行 jar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依赖由课程里的四个服务提供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基线默认 profile 是 dev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启动命令显式传入 dev，与默认一致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课程 yml 盖上地址，端口改成 18085</a:t>
            </a:r>
          </a:p>
        </p:txBody>
      </p:sp>
    </p:spTree>
  </p:cSld>
  <p:clrMapOvr>
    <a:masterClrMapping/>
  </p:clrMapOvr>
  <p:hf sldNum="0" hdr="0" ftr="0" dt="0"/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profile 写在配置里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基线第 4 到 5 行把 spring.profiles.active 写成 dev 默认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下一页显式传入 dev，与这里的默认一致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2834640"/>
            <a:ext cx="8138160" cy="153619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447040" indent="-44704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spring:</a:t>
            </a:r>
          </a:p>
          <a:p>
            <a:pPr algn="l" eaLnBrk="1" hangingPunct="1" marL="670560" indent="-6705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application: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name: ​mall-portal</a:t>
            </a:r>
          </a:p>
          <a:p>
            <a:pPr algn="l" eaLnBrk="1" hangingPunct="1" marL="670560" indent="-67056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profiles: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active: ​dev #默认为开发环境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4389120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出处：mall-portal/​src/​main/​resources/​application.yml:​1-5</a:t>
            </a:r>
          </a:p>
        </p:txBody>
      </p:sp>
    </p:spTree>
  </p:cSld>
  <p:clrMapOvr>
    <a:masterClrMapping/>
  </p:clrMapOvr>
  <p:hf sldNum="0" hdr="0" ftr="0" dt="0"/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部署演示的五步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59070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构建 jar，命令含 -Ddocker.skip=true</a:t>
            </a:r>
          </a:p>
        </p:txBody>
      </p:sp>
      <p:sp>
        <p:nvSpPr>
          <p:cNvPr id="4" name="fig"/>
          <p:cNvSpPr/>
          <p:nvPr/>
        </p:nvSpPr>
        <p:spPr>
          <a:xfrm>
            <a:off x="4434840" y="2163470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ig"/>
          <p:cNvSpPr/>
          <p:nvPr/>
        </p:nvSpPr>
        <p:spPr>
          <a:xfrm>
            <a:off x="411480" y="2437790"/>
            <a:ext cx="8321040" cy="59070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以明确 profile 启动</a:t>
            </a:r>
          </a:p>
        </p:txBody>
      </p:sp>
      <p:sp>
        <p:nvSpPr>
          <p:cNvPr id="6" name="fig"/>
          <p:cNvSpPr/>
          <p:nvPr/>
        </p:nvSpPr>
        <p:spPr>
          <a:xfrm>
            <a:off x="4434840" y="3028492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ig"/>
          <p:cNvSpPr/>
          <p:nvPr/>
        </p:nvSpPr>
        <p:spPr>
          <a:xfrm>
            <a:off x="411480" y="3302812"/>
            <a:ext cx="8321040" cy="59070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健康检查</a:t>
            </a:r>
          </a:p>
        </p:txBody>
      </p:sp>
      <p:sp>
        <p:nvSpPr>
          <p:cNvPr id="8" name="fig"/>
          <p:cNvSpPr/>
          <p:nvPr/>
        </p:nvSpPr>
        <p:spPr>
          <a:xfrm>
            <a:off x="4434840" y="3893515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ig"/>
          <p:cNvSpPr/>
          <p:nvPr/>
        </p:nvSpPr>
        <p:spPr>
          <a:xfrm>
            <a:off x="411480" y="4167835"/>
            <a:ext cx="8321040" cy="59070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只读查询</a:t>
            </a:r>
          </a:p>
        </p:txBody>
      </p:sp>
      <p:sp>
        <p:nvSpPr>
          <p:cNvPr id="10" name="fig"/>
          <p:cNvSpPr/>
          <p:nvPr/>
        </p:nvSpPr>
        <p:spPr>
          <a:xfrm>
            <a:off x="4434840" y="4758537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ig"/>
          <p:cNvSpPr/>
          <p:nvPr/>
        </p:nvSpPr>
        <p:spPr>
          <a:xfrm>
            <a:off x="411480" y="5032857"/>
            <a:ext cx="8321040" cy="59070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回滚到上一 jar</a:t>
            </a:r>
          </a:p>
        </p:txBody>
      </p:sp>
    </p:spTree>
  </p:cSld>
  <p:clrMapOvr>
    <a:masterClrMapping/>
  </p:clrMapOvr>
  <p:hf sldNum="0" hdr="0" ftr="0" dt="0"/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课程环境里的命令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280160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构建与 E1、T2 相同；健康检查看日志里的 Started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在 WSL/bash 执行；行尾 \ 把启动命令续成一条</a:t>
            </a:r>
          </a:p>
        </p:txBody>
      </p:sp>
      <p:sp>
        <p:nvSpPr>
          <p:cNvPr id="4" name="code-cmd"/>
          <p:cNvSpPr txBox="1"/>
          <p:nvPr/>
        </p:nvSpPr>
        <p:spPr>
          <a:xfrm>
            <a:off x="502920" y="3145536"/>
            <a:ext cx="8138160" cy="420624"/>
          </a:xfrm>
          <a:prstGeom prst="rect">
            <a:avLst/>
          </a:prstGeom>
          <a:solidFill>
            <a:srgbClr val="F0F0F0"/>
          </a:solidFill>
        </p:spPr>
        <p:txBody>
          <a:bodyPr wrap="square" lIns="18288" rIns="18288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mvn -B -DskipTests -Ddocker.skip=true -pl mall-portal -am package</a:t>
            </a:r>
          </a:p>
        </p:txBody>
      </p:sp>
      <p:sp>
        <p:nvSpPr>
          <p:cNvPr id="5" name="code-cmd"/>
          <p:cNvSpPr txBox="1"/>
          <p:nvPr/>
        </p:nvSpPr>
        <p:spPr>
          <a:xfrm>
            <a:off x="502920" y="3602736"/>
            <a:ext cx="8138160" cy="420624"/>
          </a:xfrm>
          <a:prstGeom prst="rect">
            <a:avLst/>
          </a:prstGeom>
          <a:solidFill>
            <a:srgbClr val="F0F0F0"/>
          </a:solidFill>
        </p:spPr>
        <p:txBody>
          <a:bodyPr wrap="square" lIns="18288" rIns="18288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java -jar mall-portal/target/mall-portal-1.0-SNAPSHOT-exec.jar \</a:t>
            </a:r>
          </a:p>
        </p:txBody>
      </p:sp>
      <p:sp>
        <p:nvSpPr>
          <p:cNvPr id="6" name="code-cmd"/>
          <p:cNvSpPr txBox="1"/>
          <p:nvPr/>
        </p:nvSpPr>
        <p:spPr>
          <a:xfrm>
            <a:off x="502920" y="4059935"/>
            <a:ext cx="8138160" cy="420624"/>
          </a:xfrm>
          <a:prstGeom prst="rect">
            <a:avLst/>
          </a:prstGeom>
          <a:solidFill>
            <a:srgbClr val="F0F0F0"/>
          </a:solidFill>
        </p:spPr>
        <p:txBody>
          <a:bodyPr wrap="square" lIns="18288" rIns="18288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--spring.profiles.active=dev --server.port=18085 \</a:t>
            </a:r>
          </a:p>
        </p:txBody>
      </p:sp>
      <p:sp>
        <p:nvSpPr>
          <p:cNvPr id="7" name="code-cmd"/>
          <p:cNvSpPr txBox="1"/>
          <p:nvPr/>
        </p:nvSpPr>
        <p:spPr>
          <a:xfrm>
            <a:off x="502920" y="4517136"/>
            <a:ext cx="8138160" cy="420624"/>
          </a:xfrm>
          <a:prstGeom prst="rect">
            <a:avLst/>
          </a:prstGeom>
          <a:solidFill>
            <a:srgbClr val="F0F0F0"/>
          </a:solidFill>
        </p:spPr>
        <p:txBody>
          <a:bodyPr wrap="square" lIns="18288" rIns="18288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 lang="zh-CN" altLang="en-US">
                <a:latin typeface="Consolas"/>
                <a:ea typeface="Consolas"/>
                <a:cs typeface="Consolas"/>
              </a:rPr>
              <a:t>--spring.config.additional-location=file:./SDC/environment/application-sdc.yml</a:t>
            </a:r>
          </a:p>
        </p:txBody>
      </p:sp>
      <p:sp>
        <p:nvSpPr>
          <p:cNvPr id="8" name="code-cmd"/>
          <p:cNvSpPr txBox="1"/>
          <p:nvPr/>
        </p:nvSpPr>
        <p:spPr>
          <a:xfrm>
            <a:off x="502920" y="4974336"/>
            <a:ext cx="8138160" cy="713232"/>
          </a:xfrm>
          <a:prstGeom prst="rect">
            <a:avLst/>
          </a:prstGeom>
          <a:solidFill>
            <a:srgbClr val="F0F0F0"/>
          </a:solidFill>
        </p:spPr>
        <p:txBody>
          <a:bodyPr wrap="square" lIns="18288" rIns="18288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0" lang="zh-CN" altLang="en-US">
                <a:latin typeface="Consolas"/>
                <a:ea typeface="Consolas"/>
                <a:cs typeface="Consolas"/>
              </a:rPr>
              <a:t>curl --noproxy '*' 'http://127.0.0.1:18085/product/search?keyword=HUAWEI%20P20&amp;pageNum=1&amp;pageSize=5'</a:t>
            </a:r>
          </a:p>
        </p:txBody>
      </p:sp>
    </p:spTree>
  </p:cSld>
  <p:clrMapOvr>
    <a:masterClrMapping/>
  </p:clrMapOvr>
  <p:hf sldNum="0" hdr="0" ftr="0" dt="0"/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课程 compose 只部署依赖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84708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课程 compose 只部署依赖、不部署应用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依赖有 MySQL、Redis、MongoDB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RabbitMQ 也在；应用仍用上一页的 java -jar 启动</a:t>
            </a:r>
          </a:p>
        </p:txBody>
      </p:sp>
      <p:sp>
        <p:nvSpPr>
          <p:cNvPr id="4" name="code-cmd"/>
          <p:cNvSpPr txBox="1"/>
          <p:nvPr/>
        </p:nvSpPr>
        <p:spPr>
          <a:xfrm>
            <a:off x="502920" y="3712464"/>
            <a:ext cx="8138160" cy="420624"/>
          </a:xfrm>
          <a:prstGeom prst="rect">
            <a:avLst/>
          </a:prstGeom>
          <a:solidFill>
            <a:srgbClr val="F0F0F0"/>
          </a:solidFill>
        </p:spPr>
        <p:txBody>
          <a:bodyPr wrap="square" lIns="18288" rIns="18288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docker compose -f SDC/environment/compose.yml up -d</a:t>
            </a:r>
          </a:p>
        </p:txBody>
      </p:sp>
      <p:sp>
        <p:nvSpPr>
          <p:cNvPr id="5" name="code-cmd"/>
          <p:cNvSpPr txBox="1"/>
          <p:nvPr/>
        </p:nvSpPr>
        <p:spPr>
          <a:xfrm>
            <a:off x="502920" y="4169664"/>
            <a:ext cx="8138160" cy="420624"/>
          </a:xfrm>
          <a:prstGeom prst="rect">
            <a:avLst/>
          </a:prstGeom>
          <a:solidFill>
            <a:srgbClr val="F0F0F0"/>
          </a:solidFill>
        </p:spPr>
        <p:txBody>
          <a:bodyPr wrap="square" lIns="18288" rIns="18288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docker compose -f SDC/environment/compose.yml ps</a:t>
            </a:r>
          </a:p>
        </p:txBody>
      </p:sp>
    </p:spTree>
  </p:cSld>
  <p:clrMapOvr>
    <a:masterClrMapping/>
  </p:clrMapOvr>
  <p:hf sldNum="0" hdr="0" ftr="0" dt="0"/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417880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一段测试全部通过的AI生成代码，可以直接放行吗？</a:t>
            </a:r>
          </a:p>
        </p:txBody>
      </p:sp>
    </p:spTree>
  </p:cSld>
  <p:clrMapOvr>
    <a:masterClrMapping/>
  </p:clrMapOvr>
  <p:hf sldNum="0" hdr="0" ftr="0" dt="0"/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417880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部署到运行环境后，用什么证明“这次上线是安全的”？</a:t>
            </a:r>
          </a:p>
        </p:txBody>
      </p:sp>
    </p:spTree>
  </p:cSld>
  <p:clrMapOvr>
    <a:masterClrMapping/>
  </p:clrMapOvr>
  <p:hf sldNum="0" hdr="0" ftr="0" dt="0"/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小结：五个环节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命名和契约：冲突要写明听谁的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协作记录：评审三件事，说明写原因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测试：覆盖有限度，断言守约束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验收：20、8、4 和 18/20，三档结论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部署：五步做完，compose 只放依赖</a:t>
            </a:r>
          </a:p>
        </p:txBody>
      </p:sp>
    </p:spTree>
  </p:cSld>
  <p:clrMapOvr>
    <a:masterClrMapping/>
  </p:clrMapOvr>
  <p:hf sldNum="0" hdr="0" ftr="0" dt="0"/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预习题（1—3）</a:t>
            </a:r>
          </a:p>
        </p:txBody>
      </p:sp>
      <p:sp>
        <p:nvSpPr>
          <p:cNvPr id="3" name="quiz"/>
          <p:cNvSpPr>
            <a:spLocks noGrp="1"/>
          </p:cNvSpPr>
          <p:nvPr>
            <p:ph idx="1"/>
          </p:nvPr>
        </p:nvSpPr>
        <p:spPr>
          <a:xfrm>
            <a:off x="237744" y="1444752"/>
            <a:ext cx="8686800" cy="4480560"/>
          </a:xfrm>
        </p:spPr>
        <p:txBody>
          <a:bodyPr wrap="square" lIns="27432" rIns="27432" tIns="18288" bIns="18288" eaLnBrk="1" hangingPunct="1" latinLnBrk="0"/>
          <a:lstStyle/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请同学们在实验 E7 开始前完成五题，题干和选项须与课前作业一致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1. 把模型预测当作“不可靠组件”，意味着设计目标是什么？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把模型训练到零错误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让系统在模型出错时仍能达成整体目标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让模型自报置信度并依赖它决策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D. 把模型替换成规则引擎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2. 护栏应尽量用非 AI 的硬性手段实现，例如取值区间限制、禁用词过滤。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正确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错误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3. 分布外检测发现输入异常时，正确的处理是什么？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照常给出预测，但降低置信度数值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让模型重新训练一次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拒绝预测，转交既定的人工或降级流程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D. 忽略该次输入并记录日志</a:t>
            </a:r>
          </a:p>
        </p:txBody>
      </p:sp>
    </p:spTree>
  </p:cSld>
  <p:clrMapOvr>
    <a:masterClrMapping/>
  </p:clrMapOvr>
  <p:hf sldNum="0" hdr="0" ftr="0" dt="0"/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阅读</a:t>
            </a:r>
          </a:p>
        </p:txBody>
      </p:sp>
      <p:sp>
        <p:nvSpPr>
          <p:cNvPr id="3" name="quiz"/>
          <p:cNvSpPr>
            <a:spLocks noGrp="1"/>
          </p:cNvSpPr>
          <p:nvPr>
            <p:ph idx="1"/>
          </p:nvPr>
        </p:nvSpPr>
        <p:spPr>
          <a:xfrm>
            <a:off x="237744" y="1444752"/>
            <a:ext cx="8686800" cy="4480560"/>
          </a:xfrm>
        </p:spPr>
        <p:txBody>
          <a:bodyPr wrap="square" lIns="27432" rIns="27432" tIns="18288" bIns="18288" eaLnBrk="1" hangingPunct="1" latinLnBrk="0"/>
          <a:lstStyle/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4. 验收报告中“放行、降级、驳回”三个结论依据什么作出？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模型自报的准确率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开发者的主观判断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功能实现的代码行数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D. 按验收标准逐条核对的结果，以及评测集与对抗用例的证据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5. 模型给出的置信度可以直接作为是否需要人工介入的依据。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正确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错误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[31] 阿里巴巴《Java 开发手册（黄山版）》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[32] Google Java Style Guide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[35] Conventional Commits 1.0.0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[12] Cwalina 等《.NET 设计规范》第3、4章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[13] Tulach《软件框架设计的艺术》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[30] Suh 等 2025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[33] Google《Code Review》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[34] Microsoft REST API Guidelines</a:t>
            </a:r>
          </a:p>
        </p:txBody>
      </p:sp>
    </p:spTree>
  </p:cSld>
  <p:clrMapOvr>
    <a:masterClrMapping/>
  </p:clrMapOvr>
  <p:hf sldNum="0" hdr="0" ftr="0" dt="0"/>
</p:sld>
</file>

<file path=ppt/tags/tag7.xml><?xml version="1.0" encoding="utf-8"?>
<p:tagLst xmlns:p="http://schemas.openxmlformats.org/presentationml/2006/main">
  <p:tag name="commondata" val="eyJoZGlkIjoiZDkzYzZkNDRlZDllNjdlNTFlNDRjOWFlMDM3NGQyOTAifQ=="/>
</p:tagLst>
</file>

<file path=ppt/theme/theme1.xml><?xml version="1.0" encoding="utf-8"?>
<a:theme xmlns:a="http://schemas.openxmlformats.org/drawingml/2006/main" name="2_985平台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985平台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985平台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3022</Words>
  <Application>WPS 演示</Application>
  <PresentationFormat>全屏显示(4:3)</PresentationFormat>
  <Paragraphs>283</Paragraphs>
  <Slides>44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9" baseType="lpstr">
      <vt:lpstr>Arial</vt:lpstr>
      <vt:lpstr>宋体</vt:lpstr>
      <vt:lpstr>Wingdings</vt:lpstr>
      <vt:lpstr>Verdana</vt:lpstr>
      <vt:lpstr>隶书</vt:lpstr>
      <vt:lpstr>Cambria</vt:lpstr>
      <vt:lpstr>黑体</vt:lpstr>
      <vt:lpstr>Times New Roman</vt:lpstr>
      <vt:lpstr>新宋体</vt:lpstr>
      <vt:lpstr>Tahoma</vt:lpstr>
      <vt:lpstr>微软雅黑</vt:lpstr>
      <vt:lpstr>Arial Unicode MS</vt:lpstr>
      <vt:lpstr>Calibri</vt:lpstr>
      <vt:lpstr>华文行楷</vt:lpstr>
      <vt:lpstr>2_985平台</vt:lpstr>
      <vt:lpstr>软件设计与规范 </vt:lpstr>
      <vt:lpstr>自我介绍</vt:lpstr>
      <vt:lpstr>超星学习通</vt:lpstr>
      <vt:lpstr>超星学习通</vt:lpstr>
      <vt:lpstr>教材</vt:lpstr>
      <vt:lpstr>推荐参考书</vt:lpstr>
      <vt:lpstr>参考书</vt:lpstr>
      <vt:lpstr>课程定位</vt:lpstr>
      <vt:lpstr>PowerPoint 演示文稿</vt:lpstr>
      <vt:lpstr>PowerPoint 演示文稿</vt:lpstr>
      <vt:lpstr>解决两大难题</vt:lpstr>
      <vt:lpstr>教学困难--实践能力</vt:lpstr>
      <vt:lpstr>PowerPoint 演示文稿</vt:lpstr>
      <vt:lpstr>PowerPoint 演示文稿</vt:lpstr>
      <vt:lpstr>PowerPoint 演示文稿</vt:lpstr>
      <vt:lpstr>教学困难--解决问题的能力</vt:lpstr>
      <vt:lpstr>PowerPoint 演示文稿</vt:lpstr>
      <vt:lpstr>PowerPoint 演示文稿</vt:lpstr>
      <vt:lpstr>教学改革</vt:lpstr>
      <vt:lpstr>PowerPoint 演示文稿</vt:lpstr>
      <vt:lpstr>PowerPoint 演示文稿</vt:lpstr>
      <vt:lpstr>教学设计</vt:lpstr>
      <vt:lpstr>翻转课堂学习绩效</vt:lpstr>
      <vt:lpstr>考核安排</vt:lpstr>
      <vt:lpstr>PowerPoint 演示文稿</vt:lpstr>
      <vt:lpstr>PowerPoint 演示文稿</vt:lpstr>
      <vt:lpstr>优秀</vt:lpstr>
      <vt:lpstr>课程网站扩展项目</vt:lpstr>
      <vt:lpstr>课程设计</vt:lpstr>
      <vt:lpstr>课程网站案例分类</vt:lpstr>
      <vt:lpstr>案例的使用</vt:lpstr>
      <vt:lpstr>授课方式</vt:lpstr>
      <vt:lpstr>PowerPoint 演示文稿</vt:lpstr>
      <vt:lpstr>课程网站</vt:lpstr>
      <vt:lpstr>能力构成</vt:lpstr>
      <vt:lpstr>环境</vt:lpstr>
      <vt:lpstr>助教</vt:lpstr>
      <vt:lpstr>SWOT分析</vt:lpstr>
      <vt:lpstr>课后阅读</vt:lpstr>
      <vt:lpstr>课后练习</vt:lpstr>
      <vt:lpstr>作业</vt:lpstr>
      <vt:lpstr>Tips</vt:lpstr>
      <vt:lpstr>Tips（续）</vt:lpstr>
      <vt:lpstr>PowerPoint 演示文稿</vt:lpstr>
    </vt:vector>
  </TitlesOfParts>
  <Company>sei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1-1课程简介</dc:title>
  <dc:creator>李萌</dc:creator>
  <cp:lastModifiedBy>lemon 牛</cp:lastModifiedBy>
  <cp:revision>1036</cp:revision>
  <cp:lastPrinted>2003-09-14T10:10:00Z</cp:lastPrinted>
  <dcterms:created xsi:type="dcterms:W3CDTF">2003-08-28T12:03:00Z</dcterms:created>
  <dcterms:modified xsi:type="dcterms:W3CDTF">2024-02-25T15:12:44Z</dcterms:modified>
  <dc:descript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6B7E428AAD9D47FD86FE404DDCE365B0_12</vt:lpwstr>
  </property>
  <property fmtid="{D5CDD505-2E9C-101B-9397-08002B2CF9AE}" pid="3" name="KSOProductBuildVer">
    <vt:lpwstr>2052-12.1.0.16250</vt:lpwstr>
  </property>
</Properties>
</file>