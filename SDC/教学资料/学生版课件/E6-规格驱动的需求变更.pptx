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8"/>
  </p:handoutMasterIdLst>
  <p:sldIdLst>
    <p:sldId id="256" r:id="rId9"/>
    <p:sldId id="257" r:id="rId10"/>
    <p:sldId id="258" r:id="rId11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x="9144000" cy="6858000" type="screen4x3"/>
  <p:notesSz cx="6760845" cy="9931400"/>
  <p:custDataLst>
    <p:tags r:id="rId5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FF3300"/>
    <a:srgbClr val="CC0000"/>
    <a:srgbClr val="FFFFCC"/>
    <a:srgbClr val="FFCCFF"/>
    <a:srgbClr val="FFFFFF"/>
    <a:srgbClr val="3399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73" autoAdjust="0"/>
    <p:restoredTop sz="86423" autoAdjust="0"/>
  </p:normalViewPr>
  <p:slideViewPr>
    <p:cSldViewPr showGuides="1">
      <p:cViewPr varScale="1">
        <p:scale>
          <a:sx n="93" d="100"/>
          <a:sy n="93" d="100"/>
        </p:scale>
        <p:origin x="812" y="64"/>
      </p:cViewPr>
      <p:guideLst>
        <p:guide orient="horz" pos="2160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>
        <p:scale>
          <a:sx n="100" d="100"/>
          <a:sy n="100" d="100"/>
        </p:scale>
        <p:origin x="1662" y="-1344"/>
      </p:cViewPr>
      <p:guideLst>
        <p:guide orient="horz" pos="3129"/>
        <p:guide pos="213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48" Type="http://schemas.openxmlformats.org/officeDocument/2006/relationships/handoutMaster" Target="handoutMasters/handout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ableStyles" Target="tableStyles.xml"/><Relationship Id="rId52" Type="http://schemas.openxmlformats.org/officeDocument/2006/relationships/tags" Target="tags/tag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3975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3975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BFF2AA-1B51-48D4-AF79-5A13FE5BDCE2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7463" y="0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44538"/>
            <a:ext cx="4967288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719638"/>
            <a:ext cx="5411787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7463" y="9431338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fld id="{BF21029A-2C2D-4ABF-B6A0-347AF3B9548E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usc_r5_c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3" descr="usc_r5_c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3" descr="（白底）中文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28600"/>
            <a:ext cx="1676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1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371600"/>
          </a:xfrm>
        </p:spPr>
        <p:txBody>
          <a:bodyPr/>
          <a:lstStyle>
            <a:lvl1pPr>
              <a:defRPr sz="45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1816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0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fld id="{13B25BE5-3F7A-4904-922D-A053C7DF175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4.jpeg"/><Relationship Id="rId13" Type="http://schemas.openxmlformats.org/officeDocument/2006/relationships/image" Target="../media/image1.jpeg"/><Relationship Id="rId14" Type="http://schemas.openxmlformats.org/officeDocument/2006/relationships/image" Target="../media/image2.jpeg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96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295400"/>
            <a:ext cx="7958138" cy="109538"/>
          </a:xfrm>
          <a:custGeom>
            <a:avLst/>
            <a:gdLst>
              <a:gd name="T0" fmla="*/ 0 w 1000"/>
              <a:gd name="T1" fmla="*/ 0 h 1000"/>
              <a:gd name="T2" fmla="*/ 4655511 w 1000"/>
              <a:gd name="T3" fmla="*/ 0 h 1000"/>
              <a:gd name="T4" fmla="*/ 4655511 w 1000"/>
              <a:gd name="T5" fmla="*/ 109538 h 1000"/>
              <a:gd name="T6" fmla="*/ 0 w 1000"/>
              <a:gd name="T7" fmla="*/ 109538 h 1000"/>
              <a:gd name="T8" fmla="*/ 0 w 1000"/>
              <a:gd name="T9" fmla="*/ 0 h 1000"/>
              <a:gd name="T10" fmla="*/ 7958138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5548313" y="6308725"/>
            <a:ext cx="36718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>
                <a:solidFill>
                  <a:srgbClr val="009900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计算机科学与技术学院</a:t>
            </a:r>
            <a:endParaRPr lang="zh-CN" altLang="en-US">
              <a:solidFill>
                <a:srgbClr val="009900"/>
              </a:solidFill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  <p:pic>
        <p:nvPicPr>
          <p:cNvPr id="1031" name="Picture 8" descr="计算机学院logo-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413" y="6261100"/>
            <a:ext cx="50958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9" descr="usc_r5_c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6221413"/>
            <a:ext cx="2217737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13" descr="usc_r5_c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938" y="6219825"/>
            <a:ext cx="2227262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l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3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3200" b="0" lang="zh-CN" altLang="en-US">
                <a:latin typeface="微软雅黑"/>
                <a:ea typeface="微软雅黑"/>
                <a:cs typeface="微软雅黑"/>
              </a:rPr>
              <a:t>软件设计与规范</a:t>
            </a:r>
          </a:p>
        </p:txBody>
      </p:sp>
      <p:sp>
        <p:nvSpPr>
          <p:cNvPr id="3" name="body"/>
          <p:cNvSpPr>
            <a:spLocks noGrp="1"/>
          </p:cNvSpPr>
          <p:nvPr>
            <p:ph type="subTitle" idx="1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第 12 次课｜规格驱动的需求变更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李萌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计算机科学与技术学院</a:t>
            </a:r>
          </a:p>
        </p:txBody>
      </p:sp>
    </p:spTree>
  </p:cSld>
  <p:clrMapOvr>
    <a:masterClrMapping/>
  </p:clrMapOvr>
  <p:hf sldNum="0" hdr="0" ftr="0" dt="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演示规则与投票口径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3—5 人按评价标准实名演示，全班按同一细则投票。实验 E5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365760" y="2267712"/>
          <a:ext cx="81381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需求、范围与不改边界10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入口→接口→服务→存储／调用方的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改动与不改动清单20（附 文件:行号与理由）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落点选择与被排除方案15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兼容性、数据与失败风险及其触发顺序15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沿源码、调用关系与受控测试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或运行核实关键影响判断20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把需求与风险逐条映射为测试输入、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期望结果与测试层次20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签到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下列哪一项属于非功能需求？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3014472"/>
            <a:ext cx="8321040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（A）用户可以按名称查询商品； （B）订单状态包含已支付； （C）商品可以下架； （D）查询响应时间不超过 500 毫秒。</a:t>
            </a:r>
          </a:p>
        </p:txBody>
      </p:sp>
      <p:sp>
        <p:nvSpPr>
          <p:cNvPr id="5" name="fig"/>
          <p:cNvSpPr/>
          <p:nvPr/>
        </p:nvSpPr>
        <p:spPr>
          <a:xfrm>
            <a:off x="411480" y="4456176"/>
            <a:ext cx="8321040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请看完演示再投票</a:t>
            </a:r>
          </a:p>
        </p:txBody>
      </p:sp>
    </p:spTree>
  </p:cSld>
  <p:clrMapOvr>
    <a:masterClrMapping/>
  </p:clrMapOvr>
  <p:hf sldNum="0" hdr="0" ftr="0" dt="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本次目标与不要求</a:t>
            </a:r>
          </a:p>
        </p:txBody>
      </p:sp>
      <p:sp>
        <p:nvSpPr>
          <p:cNvPr id="3" name="fig"/>
          <p:cNvSpPr/>
          <p:nvPr/>
        </p:nvSpPr>
        <p:spPr>
          <a:xfrm>
            <a:off x="164592" y="1572768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教师示例是 E6-00，Issue #14，购物车按会员等级计价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学生沿用本人在 E5 已经选过的那一项需求来实现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把模糊需求写成可核对的规格，再实现，并保持原来的调用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不要求编造有缺陷的初版。必须实际实现新需求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声称的数据库删除、分页等效果，须有集成证据</a:t>
            </a:r>
          </a:p>
        </p:txBody>
      </p:sp>
    </p:spTree>
  </p:cSld>
  <p:clrMapOvr>
    <a:masterClrMapping/>
  </p:clrMapOvr>
  <p:hf sldNum="0" hdr="0" ftr="0" dt="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教师示例 E6-00：会员价先红后绿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Issue #14 的教师示例／参考实现。类型 2 期望会员价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对照改前 fail、改后 pass，结论符合。24 项里失败 6 项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1956815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fx.​member(​MEMBER_ID,​ LEVEL_ID);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fx.​prices(​price(​PRODUCT_ID,​ LEVEL_ID,​ "70.​00"));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fx.​product(​PRODUCT_ID,​ 2);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List&lt;CartPromotionItem&gt; ​result ​= ​fx.​calc(​line(​PRODUCT_ID,​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 SKU_A,​ MEMBER_ID,​ 1));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assertItems(​result,​ "100.​00|30.​00|会员价|7");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809744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出处：meng004/​mall@​abe34e5b88c37a4a01f327ec0ee0c4f42ae0baf0:​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mall-portal/​src/​test/​java/​com/​macro/​mall/​sdc/​e6/​SDCE600MemberPriceTest.java:​52-56</a:t>
            </a:r>
          </a:p>
        </p:txBody>
      </p:sp>
    </p:spTree>
  </p:cSld>
  <p:clrMapOvr>
    <a:masterClrMapping/>
  </p:clrMapOvr>
  <p:hf sldNum="0" hdr="0" ftr="0" dt="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第 66 行登记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84708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 66 行把会员价策略登记在兜底策略之前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公开方法仍是 calcCartPromotion，接口第 17 行没改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 57 行起按 supports 挑选，不为类型 2 再写分支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3401568"/>
            <a:ext cx="8138160" cy="1408175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private List&lt;PromotionApplier&gt; ​appliers(​) {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return Arrays.​asList(​new SingleApplier(​),​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 new MemberPriceApplier(​),​ new LadderApplier(​),​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 new FullApplier(​),​ new NoneApplier(​));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828032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出处：meng004/​mall@​abe34e5b88c37a4a01f327ec0ee0c4f42ae0baf0:​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mall-portal/​src/​main/​java/​com/​macro/​mall/​portal/​service/​impl/​OmsPromotionServiceImpl.java:​65-66</a:t>
            </a:r>
          </a:p>
        </p:txBody>
      </p:sp>
    </p:spTree>
  </p:cSld>
  <p:clrMapOvr>
    <a:masterClrMapping/>
  </p:clrMapOvr>
  <p:hf sldNum="0" hdr="0" ftr="0" dt="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改后怎么调用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购物车列表进入计算</a:t>
            </a:r>
          </a:p>
        </p:txBody>
      </p:sp>
      <p:sp>
        <p:nvSpPr>
          <p:cNvPr id="4" name="fig"/>
          <p:cNvSpPr/>
          <p:nvPr/>
        </p:nvSpPr>
        <p:spPr>
          <a:xfrm>
            <a:off x="4434840" y="2379726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ig"/>
          <p:cNvSpPr/>
          <p:nvPr/>
        </p:nvSpPr>
        <p:spPr>
          <a:xfrm>
            <a:off x="411480" y="2654046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类型 2 交给会员价策略</a:t>
            </a:r>
          </a:p>
        </p:txBody>
      </p:sp>
      <p:sp>
        <p:nvSpPr>
          <p:cNvPr id="6" name="fig"/>
          <p:cNvSpPr/>
          <p:nvPr/>
        </p:nvSpPr>
        <p:spPr>
          <a:xfrm>
            <a:off x="4434840" y="3461004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ig"/>
          <p:cNvSpPr/>
          <p:nvPr/>
        </p:nvSpPr>
        <p:spPr>
          <a:xfrm>
            <a:off x="411480" y="3735324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按 id 升序取最小一条</a:t>
            </a:r>
          </a:p>
        </p:txBody>
      </p:sp>
      <p:sp>
        <p:nvSpPr>
          <p:cNvPr id="8" name="fig"/>
          <p:cNvSpPr/>
          <p:nvPr/>
        </p:nvSpPr>
        <p:spPr>
          <a:xfrm>
            <a:off x="4434840" y="4542282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ig"/>
          <p:cNvSpPr/>
          <p:nvPr/>
        </p:nvSpPr>
        <p:spPr>
          <a:xfrm>
            <a:off x="411480" y="4816602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单价和优惠额交给下单</a:t>
            </a:r>
          </a:p>
        </p:txBody>
      </p:sp>
    </p:spTree>
  </p:cSld>
  <p:clrMapOvr>
    <a:masterClrMapping/>
  </p:clrMapOvr>
  <p:hf sldNum="0" hdr="0" ftr="0" dt="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候选靶点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Issue #26，只改订单服务实现</a:t>
            </a:r>
          </a:p>
        </p:txBody>
      </p:sp>
      <p:sp>
        <p:nvSpPr>
          <p:cNvPr id="4" name="fig"/>
          <p:cNvSpPr/>
          <p:nvPr/>
        </p:nvSpPr>
        <p:spPr>
          <a:xfrm>
            <a:off x="4434840" y="2379726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ig"/>
          <p:cNvSpPr/>
          <p:nvPr/>
        </p:nvSpPr>
        <p:spPr>
          <a:xfrm>
            <a:off x="411480" y="2654046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锁定库存之后调用 warnSku</a:t>
            </a:r>
          </a:p>
        </p:txBody>
      </p:sp>
      <p:sp>
        <p:nvSpPr>
          <p:cNvPr id="6" name="fig"/>
          <p:cNvSpPr/>
          <p:nvPr/>
        </p:nvSpPr>
        <p:spPr>
          <a:xfrm>
            <a:off x="4434840" y="3461004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ig"/>
          <p:cNvSpPr/>
          <p:nvPr/>
        </p:nvSpPr>
        <p:spPr>
          <a:xfrm>
            <a:off x="411480" y="3735324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扣减库存之后再调用一次</a:t>
            </a:r>
          </a:p>
        </p:txBody>
      </p:sp>
      <p:sp>
        <p:nvSpPr>
          <p:cNvPr id="8" name="fig"/>
          <p:cNvSpPr/>
          <p:nvPr/>
        </p:nvSpPr>
        <p:spPr>
          <a:xfrm>
            <a:off x="4434840" y="4542282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ig"/>
          <p:cNvSpPr/>
          <p:nvPr/>
        </p:nvSpPr>
        <p:spPr>
          <a:xfrm>
            <a:off x="411480" y="4816602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 274 行仍返回原来的行数</a:t>
            </a:r>
          </a:p>
        </p:txBody>
      </p:sp>
    </p:spTree>
  </p:cSld>
  <p:clrMapOvr>
    <a:masterClrMapping/>
  </p:clrMapOvr>
  <p:hf sldNum="0" hdr="0" ftr="0" dt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步骤① 规格包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用户故事：作为已登录会员，我希望购物车里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设置了会员价的商品按我的等级显示优惠</a:t>
            </a:r>
          </a:p>
        </p:txBody>
      </p:sp>
      <p:sp>
        <p:nvSpPr>
          <p:cNvPr id="4" name="fig"/>
          <p:cNvSpPr/>
          <p:nvPr/>
        </p:nvSpPr>
        <p:spPr>
          <a:xfrm>
            <a:off x="164592" y="2437790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规则：只对类型 2 生效；会员价不低于 SKU 原价时不优惠</a:t>
            </a:r>
          </a:p>
        </p:txBody>
      </p:sp>
      <p:sp>
        <p:nvSpPr>
          <p:cNvPr id="5" name="fig"/>
          <p:cNvSpPr/>
          <p:nvPr/>
        </p:nvSpPr>
        <p:spPr>
          <a:xfrm>
            <a:off x="164592" y="3302812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边界：会员不存在、等级为空、查无会员价，整组无优惠，不抛异常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非功能：公开方法仍只有 calcCartPromotion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每个商品分组至多查一次会员、一次会员价</a:t>
            </a:r>
          </a:p>
        </p:txBody>
      </p:sp>
      <p:sp>
        <p:nvSpPr>
          <p:cNvPr id="7" name="fig"/>
          <p:cNvSpPr/>
          <p:nvPr/>
        </p:nvSpPr>
        <p:spPr>
          <a:xfrm>
            <a:off x="164592" y="5032857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已澄清的歧义：多条会员价取 id 最小一条，是对照代码后写定的</a:t>
            </a:r>
          </a:p>
        </p:txBody>
      </p:sp>
    </p:spTree>
  </p:cSld>
  <p:clrMapOvr>
    <a:masterClrMapping/>
  </p:clrMapOvr>
  <p:hf sldNum="0" hdr="0" ftr="0" dt="0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步骤② 先写失败测试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同一组规格测试，未实现时不满足，实现后通过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红灯是期望会员价，实际仍是 95.00 和无优惠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那次运行 16 项里 6 项失败、10 项通过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失败原因不是编译错误，也不是环境错误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特征测试 8 项在重构前后都保持通过</a:t>
            </a:r>
          </a:p>
        </p:txBody>
      </p:sp>
    </p:spTree>
  </p:cSld>
  <p:clrMapOvr>
    <a:masterClrMapping/>
  </p:clrMapOvr>
  <p:hf sldNum="0" hdr="0" ftr="0" dt="0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步骤③ 旧调用方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用AI辅助实现并提交可评审的变更，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保持旧调用方无需修改</a:t>
            </a:r>
          </a:p>
        </p:txBody>
      </p:sp>
      <p:sp>
        <p:nvSpPr>
          <p:cNvPr id="4" name="fig"/>
          <p:cNvSpPr/>
          <p:nvPr/>
        </p:nvSpPr>
        <p:spPr>
          <a:xfrm>
            <a:off x="164592" y="2437790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接口签名仍是 calcCartPromotion，参数和返回值都没改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购物车列表、优惠券列表、确认单、下单都不用改调用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行为变化只发生在类型 2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以前是无优惠，现在可能改单价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类型 1、3、4 和未知类型保持原结果</a:t>
            </a:r>
          </a:p>
        </p:txBody>
      </p:sp>
    </p:spTree>
  </p:cSld>
  <p:clrMapOvr>
    <a:masterClrMapping/>
  </p:clrMapOvr>
  <p:hf sldNum="0" hdr="0" ftr="0" dt="0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步骤④ 编码规范对照操作卡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明确冲突只列缩进 4/2、行宽 120/100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https://google.github.io/styleguide/javaguide.html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缩进 4 与 2。黄山版：（三）代码格式第5条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Google 4.2。https://github.com/alibaba/p3c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行宽 120 与 100。黄山版：（三）代码格式第8条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Google Java Style 第 4.4 节是 100</a:t>
            </a:r>
          </a:p>
        </p:txBody>
      </p:sp>
      <p:sp>
        <p:nvSpPr>
          <p:cNvPr id="6" name="fig"/>
          <p:cNvSpPr/>
          <p:nvPr/>
        </p:nvSpPr>
        <p:spPr>
          <a:xfrm>
            <a:off x="164592" y="4167835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阿里巴巴明确禁止 POJO 布尔属性加 is 前缀，Google 未作对应规定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两套原文依据。黄山版：（一）命名风格第9条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核对日期：2026.10.10。T7 将系统展开</a:t>
            </a:r>
          </a:p>
        </p:txBody>
      </p:sp>
    </p:spTree>
  </p:cSld>
  <p:clrMapOvr>
    <a:masterClrMapping/>
  </p:clrMapOvr>
  <p:hf sldNum="0" hdr="0" ftr="0" dt="0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步骤⑤ 写架构决策记录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上下文：基线里类型 2 走无优惠，结果文案是无优惠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决定：新策略在第 66 行登记，排在兜底策略之前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否决在循环里逐条查会员：会超过每组各查一次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否决把会员价折进查询 SQL：替身和语句都要改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后果：调度循环不改；确认单和下单金额会变</a:t>
            </a:r>
          </a:p>
        </p:txBody>
      </p:sp>
    </p:spTree>
  </p:cSld>
  <p:clrMapOvr>
    <a:masterClrMapping/>
  </p:clrMapOvr>
  <p:hf sldNum="0" hdr="0" ftr="0" dt="0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步骤⑥ 部分验证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直接跑过的是 Mock：不连数据库，也不走 HTTP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规格测试和特征测试都在替身里，跳过是 0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确认单应付、下单写入、优惠券列表只按源码推断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只用 Mock 的部分标为部分验证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每组各查一次有交互断言；库里的真实排序没验证</a:t>
            </a:r>
          </a:p>
        </p:txBody>
      </p:sp>
    </p:spTree>
  </p:cSld>
  <p:clrMapOvr>
    <a:masterClrMapping/>
  </p:clrMapOvr>
  <p:hf sldNum="0" hdr="0" ftr="0" dt="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沿用本人选题：另选须说明理由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另选须说明理由。原则上实现本人在 E5 所选的需求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扩展题 E6-07 演示的是库存预警这一条需求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库存预警不是全体学生都要做的统一题目</a:t>
            </a:r>
          </a:p>
        </p:txBody>
      </p:sp>
      <p:sp>
        <p:nvSpPr>
          <p:cNvPr id="6" name="fig"/>
          <p:cNvSpPr/>
          <p:nvPr/>
        </p:nvSpPr>
        <p:spPr>
          <a:xfrm>
            <a:off x="164592" y="4167835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不得用同一实现重复领取 E2/E4 或 E3/E6 成绩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换题要在说明里写清为什么不沿用上次的选择</a:t>
            </a:r>
          </a:p>
        </p:txBody>
      </p:sp>
    </p:spTree>
  </p:cSld>
  <p:clrMapOvr>
    <a:masterClrMapping/>
  </p:clrMapOvr>
  <p:hf sldNum="0" hdr="0" ftr="0" dt="0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常见失分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把编译失败或连不上数据库写成规格没有实现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规格只有故事，没有规则、边界和已经问清的歧义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规范只写听谁的，不写同一处代码差在哪、原文是哪一条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只用替身，却不写哪些判断还没有在集成环境里做过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改了原来的方法签名，或没有回归相邻类型</a:t>
            </a:r>
          </a:p>
        </p:txBody>
      </p:sp>
    </p:spTree>
  </p:cSld>
  <p:clrMapOvr>
    <a:masterClrMapping/>
  </p:clrMapOvr>
  <p:hf sldNum="0" hdr="0" ftr="0" dt="0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需求中哪些内容是靠追问才明确的？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先分开：故事原句里就有的，和对照代码之后才写定的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会员价挂在商品和等级上，不挂在 SKU 上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同一分组两个会员号不一致时，整组不优惠且不查库</a:t>
            </a:r>
          </a:p>
        </p:txBody>
      </p:sp>
    </p:spTree>
  </p:cSld>
  <p:clrMapOvr>
    <a:masterClrMapping/>
  </p:clrMapOvr>
  <p:hf sldNum="0" hdr="0" ftr="0" dt="0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抽一人讲兼容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抽 1 人，用自己的变更讲调用方为什么不用改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教师示例的签名仍是一个列表进、一个列表出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类型 2 的单价和优惠额会变，这是需求要的变化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类型 1、3、4 的结果保持，证据是原来的特征测试</a:t>
            </a:r>
          </a:p>
        </p:txBody>
      </p:sp>
    </p:spTree>
  </p:cSld>
  <p:clrMapOvr>
    <a:masterClrMapping/>
  </p:clrMapOvr>
  <p:hf sldNum="0" hdr="0" ftr="0" dt="0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评分细则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1381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用户故事、规则、边界、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非功能需求与已澄清的歧义15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实际改动、调用与数据流及兼容范围15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职责落点与类型、数据、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接口契约的取舍15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两套编码规范对同一处代码的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区别与采用理由15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新规格未实现时不满足、实现后通过15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旧调用及边界与副作用回归15</a:t>
                      </a:r>
                    </a:p>
                  </a:txBody>
                  <a:tcPr anchor="ctr"/>
                </a:tc>
              </a:tr>
              <a:tr h="61395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非功能要求的证据层次与未验证的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限制10（仅用Mock时标为部分验证）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提交要求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384048" y="1444752"/>
            <a:ext cx="8366760" cy="4480560"/>
          </a:xfrm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一页说明（按五问组织）＋不超过2分钟本人录屏，课后48小时内上传，再于48小时内完成3份互评。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录屏由本人讲解，并展示本实验的规格、失败测试和回归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说明里写本人的选择、本人的执行和本人的证据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教师示例是参考实现，不能代替你自己的变更</a:t>
            </a:r>
          </a:p>
        </p:txBody>
      </p:sp>
    </p:spTree>
  </p:cSld>
  <p:clrMapOvr>
    <a:masterClrMapping/>
  </p:clrMapOvr>
  <p:hf sldNum="0" hdr="0" ftr="0" dt="0"/>
</p:sld>
</file>

<file path=ppt/tags/tag7.xml><?xml version="1.0" encoding="utf-8"?>
<p:tagLst xmlns:p="http://schemas.openxmlformats.org/presentationml/2006/main">
  <p:tag name="commondata" val="eyJoZGlkIjoiZDkzYzZkNDRlZDllNjdlNTFlNDRjOWFlMDM3NGQyOTAifQ=="/>
</p:tagLst>
</file>

<file path=ppt/theme/theme1.xml><?xml version="1.0" encoding="utf-8"?>
<a:theme xmlns:a="http://schemas.openxmlformats.org/drawingml/2006/main" name="2_985平台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985平台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985平台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3022</Words>
  <Application>WPS 演示</Application>
  <PresentationFormat>全屏显示(4:3)</PresentationFormat>
  <Paragraphs>283</Paragraphs>
  <Slides>44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9" baseType="lpstr">
      <vt:lpstr>Arial</vt:lpstr>
      <vt:lpstr>宋体</vt:lpstr>
      <vt:lpstr>Wingdings</vt:lpstr>
      <vt:lpstr>Verdana</vt:lpstr>
      <vt:lpstr>隶书</vt:lpstr>
      <vt:lpstr>Cambria</vt:lpstr>
      <vt:lpstr>黑体</vt:lpstr>
      <vt:lpstr>Times New Roman</vt:lpstr>
      <vt:lpstr>新宋体</vt:lpstr>
      <vt:lpstr>Tahoma</vt:lpstr>
      <vt:lpstr>微软雅黑</vt:lpstr>
      <vt:lpstr>Arial Unicode MS</vt:lpstr>
      <vt:lpstr>Calibri</vt:lpstr>
      <vt:lpstr>华文行楷</vt:lpstr>
      <vt:lpstr>2_985平台</vt:lpstr>
      <vt:lpstr>软件设计与规范 </vt:lpstr>
      <vt:lpstr>自我介绍</vt:lpstr>
      <vt:lpstr>超星学习通</vt:lpstr>
      <vt:lpstr>超星学习通</vt:lpstr>
      <vt:lpstr>教材</vt:lpstr>
      <vt:lpstr>推荐参考书</vt:lpstr>
      <vt:lpstr>参考书</vt:lpstr>
      <vt:lpstr>课程定位</vt:lpstr>
      <vt:lpstr>PowerPoint 演示文稿</vt:lpstr>
      <vt:lpstr>PowerPoint 演示文稿</vt:lpstr>
      <vt:lpstr>解决两大难题</vt:lpstr>
      <vt:lpstr>教学困难--实践能力</vt:lpstr>
      <vt:lpstr>PowerPoint 演示文稿</vt:lpstr>
      <vt:lpstr>PowerPoint 演示文稿</vt:lpstr>
      <vt:lpstr>PowerPoint 演示文稿</vt:lpstr>
      <vt:lpstr>教学困难--解决问题的能力</vt:lpstr>
      <vt:lpstr>PowerPoint 演示文稿</vt:lpstr>
      <vt:lpstr>PowerPoint 演示文稿</vt:lpstr>
      <vt:lpstr>教学改革</vt:lpstr>
      <vt:lpstr>PowerPoint 演示文稿</vt:lpstr>
      <vt:lpstr>PowerPoint 演示文稿</vt:lpstr>
      <vt:lpstr>教学设计</vt:lpstr>
      <vt:lpstr>翻转课堂学习绩效</vt:lpstr>
      <vt:lpstr>考核安排</vt:lpstr>
      <vt:lpstr>PowerPoint 演示文稿</vt:lpstr>
      <vt:lpstr>PowerPoint 演示文稿</vt:lpstr>
      <vt:lpstr>优秀</vt:lpstr>
      <vt:lpstr>课程网站扩展项目</vt:lpstr>
      <vt:lpstr>课程设计</vt:lpstr>
      <vt:lpstr>课程网站案例分类</vt:lpstr>
      <vt:lpstr>案例的使用</vt:lpstr>
      <vt:lpstr>授课方式</vt:lpstr>
      <vt:lpstr>PowerPoint 演示文稿</vt:lpstr>
      <vt:lpstr>课程网站</vt:lpstr>
      <vt:lpstr>能力构成</vt:lpstr>
      <vt:lpstr>环境</vt:lpstr>
      <vt:lpstr>助教</vt:lpstr>
      <vt:lpstr>SWOT分析</vt:lpstr>
      <vt:lpstr>课后阅读</vt:lpstr>
      <vt:lpstr>课后练习</vt:lpstr>
      <vt:lpstr>作业</vt:lpstr>
      <vt:lpstr>Tips</vt:lpstr>
      <vt:lpstr>Tips（续）</vt:lpstr>
      <vt:lpstr>PowerPoint 演示文稿</vt:lpstr>
    </vt:vector>
  </TitlesOfParts>
  <Company>sei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1-1课程简介</dc:title>
  <dc:creator>李萌</dc:creator>
  <cp:lastModifiedBy>lemon 牛</cp:lastModifiedBy>
  <cp:revision>1036</cp:revision>
  <cp:lastPrinted>2003-09-14T10:10:00Z</cp:lastPrinted>
  <dcterms:created xsi:type="dcterms:W3CDTF">2003-08-28T12:03:00Z</dcterms:created>
  <dcterms:modified xsi:type="dcterms:W3CDTF">2024-02-25T15:12:44Z</dcterms:modified>
  <dc:descript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6B7E428AAD9D47FD86FE404DDCE365B0_12</vt:lpwstr>
  </property>
  <property fmtid="{D5CDD505-2E9C-101B-9397-08002B2CF9AE}" pid="3" name="KSOProductBuildVer">
    <vt:lpwstr>2052-12.1.0.16250</vt:lpwstr>
  </property>
</Properties>
</file>