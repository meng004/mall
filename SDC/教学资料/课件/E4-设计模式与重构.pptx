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7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4"/>
  </p:notesMasterIdLst>
  <p:handoutMasterIdLst>
    <p:handoutMasterId r:id="rId48"/>
  </p:handoutMasterIdLst>
  <p:sldIdLst>
    <p:sldId id="256" r:id="rId9"/>
    <p:sldId id="288" r:id="rId56"/>
    <p:sldId id="257" r:id="rId10"/>
    <p:sldId id="258" r:id="rId11"/>
    <p:sldId id="259" r:id="rId12"/>
    <p:sldId id="260" r:id="rId13"/>
    <p:sldId id="276" r:id="rId29"/>
    <p:sldId id="277" r:id="rId30"/>
    <p:sldId id="278" r:id="rId31"/>
    <p:sldId id="279" r:id="rId32"/>
    <p:sldId id="280" r:id="rId33"/>
    <p:sldId id="261" r:id="rId14"/>
    <p:sldId id="281" r:id="rId34"/>
    <p:sldId id="282" r:id="rId35"/>
    <p:sldId id="287" r:id="rId55"/>
    <p:sldId id="262" r:id="rId15"/>
    <p:sldId id="263" r:id="rId16"/>
    <p:sldId id="283" r:id="rId3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86" r:id="rId54"/>
    <p:sldId id="285" r:id="rId53"/>
    <p:sldId id="284" r:id="rId37"/>
    <p:sldId id="274" r:id="rId27"/>
    <p:sldId id="275" r:id="rId28"/>
    <p:sldId id="289" r:id="rId57"/>
  </p:sldIdLst>
  <p:sldSz cx="9144000" cy="6858000" type="screen4x3"/>
  <p:notesSz cx="6760845" cy="9931400"/>
  <p:custDataLst>
    <p:tags r:id="rId52"/>
  </p:custDataLst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D4D4D"/>
    <a:srgbClr val="FF3300"/>
    <a:srgbClr val="CC0000"/>
    <a:srgbClr val="FFFFCC"/>
    <a:srgbClr val="FFCCFF"/>
    <a:srgbClr val="FFFFFF"/>
    <a:srgbClr val="3399FF"/>
    <a:srgbClr val="33CC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2D5ABB26-0587-4C30-8999-92F81FD0307C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173" autoAdjust="0"/>
    <p:restoredTop sz="86423" autoAdjust="0"/>
  </p:normalViewPr>
  <p:slideViewPr>
    <p:cSldViewPr showGuides="1">
      <p:cViewPr varScale="1">
        <p:scale>
          <a:sx n="93" d="100"/>
          <a:sy n="93" d="100"/>
        </p:scale>
        <p:origin x="812" y="64"/>
      </p:cViewPr>
      <p:guideLst>
        <p:guide orient="horz" pos="2160"/>
        <p:guide pos="288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33" d="100"/>
        <a:sy n="33" d="100"/>
      </p:scale>
      <p:origin x="0" y="0"/>
    </p:cViewPr>
  </p:sorterViewPr>
  <p:notesViewPr>
    <p:cSldViewPr>
      <p:cViewPr>
        <p:scale>
          <a:sx n="100" d="100"/>
          <a:sy n="100" d="100"/>
        </p:scale>
        <p:origin x="1662" y="-1344"/>
      </p:cViewPr>
      <p:guideLst>
        <p:guide orient="horz" pos="3129"/>
        <p:guide pos="2130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12.xml"/><Relationship Id="rId15" Type="http://schemas.openxmlformats.org/officeDocument/2006/relationships/slide" Target="slides/slide16.xml"/><Relationship Id="rId16" Type="http://schemas.openxmlformats.org/officeDocument/2006/relationships/slide" Target="slides/slide17.xml"/><Relationship Id="rId17" Type="http://schemas.openxmlformats.org/officeDocument/2006/relationships/slide" Target="slides/slide19.xml"/><Relationship Id="rId18" Type="http://schemas.openxmlformats.org/officeDocument/2006/relationships/slide" Target="slides/slide20.xml"/><Relationship Id="rId19" Type="http://schemas.openxmlformats.org/officeDocument/2006/relationships/slide" Target="slides/slide21.xml"/><Relationship Id="rId20" Type="http://schemas.openxmlformats.org/officeDocument/2006/relationships/slide" Target="slides/slide22.xml"/><Relationship Id="rId21" Type="http://schemas.openxmlformats.org/officeDocument/2006/relationships/slide" Target="slides/slide23.xml"/><Relationship Id="rId22" Type="http://schemas.openxmlformats.org/officeDocument/2006/relationships/slide" Target="slides/slide24.xml"/><Relationship Id="rId23" Type="http://schemas.openxmlformats.org/officeDocument/2006/relationships/slide" Target="slides/slide25.xml"/><Relationship Id="rId24" Type="http://schemas.openxmlformats.org/officeDocument/2006/relationships/slide" Target="slides/slide26.xml"/><Relationship Id="rId25" Type="http://schemas.openxmlformats.org/officeDocument/2006/relationships/slide" Target="slides/slide27.xml"/><Relationship Id="rId26" Type="http://schemas.openxmlformats.org/officeDocument/2006/relationships/slide" Target="slides/slide28.xml"/><Relationship Id="rId27" Type="http://schemas.openxmlformats.org/officeDocument/2006/relationships/slide" Target="slides/slide32.xml"/><Relationship Id="rId28" Type="http://schemas.openxmlformats.org/officeDocument/2006/relationships/slide" Target="slides/slide33.xml"/><Relationship Id="rId29" Type="http://schemas.openxmlformats.org/officeDocument/2006/relationships/slide" Target="slides/slide7.xml"/><Relationship Id="rId30" Type="http://schemas.openxmlformats.org/officeDocument/2006/relationships/slide" Target="slides/slide8.xml"/><Relationship Id="rId31" Type="http://schemas.openxmlformats.org/officeDocument/2006/relationships/slide" Target="slides/slide9.xml"/><Relationship Id="rId32" Type="http://schemas.openxmlformats.org/officeDocument/2006/relationships/slide" Target="slides/slide10.xml"/><Relationship Id="rId33" Type="http://schemas.openxmlformats.org/officeDocument/2006/relationships/slide" Target="slides/slide11.xml"/><Relationship Id="rId34" Type="http://schemas.openxmlformats.org/officeDocument/2006/relationships/slide" Target="slides/slide13.xml"/><Relationship Id="rId35" Type="http://schemas.openxmlformats.org/officeDocument/2006/relationships/slide" Target="slides/slide14.xml"/><Relationship Id="rId36" Type="http://schemas.openxmlformats.org/officeDocument/2006/relationships/slide" Target="slides/slide18.xml"/><Relationship Id="rId37" Type="http://schemas.openxmlformats.org/officeDocument/2006/relationships/slide" Target="slides/slide31.xml"/><Relationship Id="rId48" Type="http://schemas.openxmlformats.org/officeDocument/2006/relationships/handoutMaster" Target="handoutMasters/handout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ableStyles" Target="tableStyles.xml"/><Relationship Id="rId52" Type="http://schemas.openxmlformats.org/officeDocument/2006/relationships/tags" Target="tags/tag7.xml"/><Relationship Id="rId53" Type="http://schemas.openxmlformats.org/officeDocument/2006/relationships/slide" Target="slides/slide30.xml"/><Relationship Id="rId54" Type="http://schemas.openxmlformats.org/officeDocument/2006/relationships/slide" Target="slides/slide29.xml"/><Relationship Id="rId55" Type="http://schemas.openxmlformats.org/officeDocument/2006/relationships/slide" Target="slides/slide15.xml"/><Relationship Id="rId56" Type="http://schemas.openxmlformats.org/officeDocument/2006/relationships/slide" Target="slides/slide2.xml"/><Relationship Id="rId57" Type="http://schemas.openxmlformats.org/officeDocument/2006/relationships/slide" Target="slides/slide34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03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97188" cy="5222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137" tIns="50568" rIns="101137" bIns="50568" numCol="1" anchor="t" anchorCtr="0" compatLnSpc="1"/>
          <a:lstStyle>
            <a:lvl1pPr defTabSz="1011555" eaLnBrk="1" hangingPunct="1">
              <a:defRPr sz="1300" smtClean="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17203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63975" y="0"/>
            <a:ext cx="2897188" cy="5222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137" tIns="50568" rIns="101137" bIns="50568" numCol="1" anchor="t" anchorCtr="0" compatLnSpc="1"/>
          <a:lstStyle>
            <a:lvl1pPr algn="r" defTabSz="1011555" eaLnBrk="1" hangingPunct="1">
              <a:defRPr sz="1300" smtClean="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7203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409113"/>
            <a:ext cx="2897188" cy="5222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137" tIns="50568" rIns="101137" bIns="50568" numCol="1" anchor="b" anchorCtr="0" compatLnSpc="1"/>
          <a:lstStyle>
            <a:lvl1pPr defTabSz="1011555" eaLnBrk="1" hangingPunct="1">
              <a:defRPr sz="1300" smtClean="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7203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63975" y="9409113"/>
            <a:ext cx="2897188" cy="5222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137" tIns="50568" rIns="101137" bIns="50568" numCol="1" anchor="b" anchorCtr="0" compatLnSpc="1"/>
          <a:lstStyle>
            <a:lvl1pPr algn="r" defTabSz="1011555" eaLnBrk="1" hangingPunct="1">
              <a:defRPr sz="1300" smtClean="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fld id="{F9BFF2AA-1B51-48D4-AF79-5A13FE5BDCE2}" type="slidenum">
              <a:rPr lang="zh-CN" altLang="en-US"/>
            </a:fld>
            <a:endParaRPr lang="en-US" alt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30525" cy="498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t" anchorCtr="0" compatLnSpc="1"/>
          <a:lstStyle>
            <a:lvl1pPr defTabSz="954405" eaLnBrk="1" hangingPunct="1">
              <a:defRPr sz="1200" smtClean="0"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27463" y="0"/>
            <a:ext cx="2932112" cy="498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t" anchorCtr="0" compatLnSpc="1"/>
          <a:lstStyle>
            <a:lvl1pPr algn="r" defTabSz="954405" eaLnBrk="1" hangingPunct="1">
              <a:defRPr sz="1200" smtClean="0"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307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98525" y="744538"/>
            <a:ext cx="4967288" cy="3725862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922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74688" y="4719638"/>
            <a:ext cx="5411787" cy="44672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t" anchorCtr="0" compatLnSpc="1"/>
          <a:lstStyle/>
          <a:p>
            <a:pPr lvl="0"/>
            <a:r>
              <a:rPr lang="en-US" altLang="zh-CN" noProof="0"/>
              <a:t>Click to edit Master text styles</a:t>
            </a:r>
            <a:endParaRPr lang="en-US" altLang="zh-CN" noProof="0"/>
          </a:p>
          <a:p>
            <a:pPr lvl="1"/>
            <a:r>
              <a:rPr lang="en-US" altLang="zh-CN" noProof="0"/>
              <a:t>Second level</a:t>
            </a:r>
            <a:endParaRPr lang="en-US" altLang="zh-CN" noProof="0"/>
          </a:p>
          <a:p>
            <a:pPr lvl="2"/>
            <a:r>
              <a:rPr lang="en-US" altLang="zh-CN" noProof="0"/>
              <a:t>Third level</a:t>
            </a:r>
            <a:endParaRPr lang="en-US" altLang="zh-CN" noProof="0"/>
          </a:p>
          <a:p>
            <a:pPr lvl="3"/>
            <a:r>
              <a:rPr lang="en-US" altLang="zh-CN" noProof="0"/>
              <a:t>Fourth level</a:t>
            </a:r>
            <a:endParaRPr lang="en-US" altLang="zh-CN" noProof="0"/>
          </a:p>
          <a:p>
            <a:pPr lvl="4"/>
            <a:r>
              <a:rPr lang="en-US" altLang="zh-CN" noProof="0"/>
              <a:t>Fifth level</a:t>
            </a:r>
            <a:endParaRPr lang="en-US" altLang="zh-CN" noProof="0"/>
          </a:p>
        </p:txBody>
      </p:sp>
      <p:sp>
        <p:nvSpPr>
          <p:cNvPr id="922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431338"/>
            <a:ext cx="2930525" cy="498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b" anchorCtr="0" compatLnSpc="1"/>
          <a:lstStyle>
            <a:lvl1pPr defTabSz="954405" eaLnBrk="1" hangingPunct="1">
              <a:defRPr sz="1200" smtClean="0"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922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27463" y="9431338"/>
            <a:ext cx="2932112" cy="498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b" anchorCtr="0" compatLnSpc="1"/>
          <a:lstStyle>
            <a:lvl1pPr algn="r" defTabSz="954405" eaLnBrk="1" hangingPunct="1">
              <a:defRPr sz="1200" smtClean="0"/>
            </a:lvl1pPr>
          </a:lstStyle>
          <a:p>
            <a:pPr>
              <a:defRPr/>
            </a:pPr>
            <a:fld id="{BF21029A-2C2D-4ABF-B6A0-347AF3B9548E}" type="slidenum">
              <a:rPr lang="zh-CN" altLang="en-US"/>
            </a:fld>
            <a:endParaRPr lang="en-US" alt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节：封面</a:t>
            </a:r>
          </a:p>
          <a:p>
            <a:r>
              <a:t>本节 15 分钟</a:t>
            </a:r>
          </a:p>
          <a:p>
            <a:r>
              <a:t>定义：这次实验先把可观察行为固定住，再做一处局部重构，并和更简单的方案比较修改位置。</a:t>
            </a:r>
          </a:p>
          <a:p>
            <a:r>
              <a:t>代价：开场用这次的细则去投上一份作品，两项作业的证据会对错位。</a:t>
            </a:r>
          </a:p>
          <a:p>
            <a:r>
              <a:t>判定：先确认被演示的是实验 E3，用 E3 的细则投票，然后再答签到。</a:t>
            </a:r>
          </a:p>
          <a:p>
            <a:r>
              <a:t>权衡：三个班周次不同，口头交代时间。课上只强调这是第 8 次课。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节：现场演示与投票</a:t>
            </a:r>
          </a:p>
          <a:p>
            <a:r>
              <a:t>时长见本节首页（本节 15 分钟）</a:t>
            </a:r>
          </a:p>
          <a:p>
            <a:r>
              <a:t>定义：这一页用的是实验 E3 的细则。被演示的是上一份作品，不是这次要交的重构。</a:t>
            </a:r>
          </a:p>
          <a:p>
            <a:r>
              <a:t>代价：用这次实验的三栏去投 E3 的作品，规格测试和覆盖率会对不上。</a:t>
            </a:r>
          </a:p>
          <a:p>
            <a:r>
              <a:t>判定：票要能对上输入与期望、不得修改的部分、采纳或驳回，以及改前失败、改后通过。</a:t>
            </a:r>
          </a:p>
          <a:p>
            <a:r>
              <a:t>权衡：E3 的边界是环境报错不算红灯。这次实验的细则和边界在后面单独讲。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节：现场演示与投票</a:t>
            </a:r>
          </a:p>
          <a:p>
            <a:r>
              <a:t>时长见本节首页（本节 15 分钟）</a:t>
            </a:r>
          </a:p>
          <a:p>
            <a:r>
              <a:t>题目页</a:t>
            </a:r>
          </a:p>
          <a:p>
            <a:r>
              <a:t>答案：C</a:t>
            </a:r>
          </a:p>
          <a:p>
            <a:r>
              <a:t>定义：重构的效果要看新增一种情况时修改范围是否缩小，即重构前后各改几处。</a:t>
            </a:r>
          </a:p>
          <a:p>
            <a:r>
              <a:t>代价：只看速度、覆盖率或命名，看不出结构有没有变好。</a:t>
            </a:r>
          </a:p>
          <a:p>
            <a:r>
              <a:t>判定：同一个新增场景，在重构前后分别数要改的处数。</a:t>
            </a:r>
          </a:p>
          <a:p>
            <a:r>
              <a:t>权衡：先完成实名演示再答这一题。选错这一题，这次到场就不计入。答案只留在备注。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节：任务说明</a:t>
            </a:r>
          </a:p>
          <a:p>
            <a:r>
              <a:t>本节 5 分钟</a:t>
            </a:r>
          </a:p>
          <a:p>
            <a:r>
              <a:t>定义：这五题是 T4 课前的预习。这里只给正确答案、判定依据，以及容易混到的另一个概念。</a:t>
            </a:r>
          </a:p>
          <a:p>
            <a:r>
              <a:t>代价：判不出开闭被违背，就说不清重构为策略后新增一种范围少改了哪里。</a:t>
            </a:r>
          </a:p>
          <a:p>
            <a:r>
              <a:t>判定：第 3 题对应本次教师示例 E4-00：新增一种券范围要改三个文件；第 1 题看能否在测试里替换依赖。</a:t>
            </a:r>
          </a:p>
          <a:p>
            <a:r>
              <a:t>权衡：第 2 题不选命名或格式；第 4 题分清原则与机制。Feathers 第 4、13 章是预读。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节：任务说明</a:t>
            </a:r>
          </a:p>
          <a:p>
            <a:r>
              <a:t>时长见本节首页（本节 5 分钟）</a:t>
            </a:r>
          </a:p>
          <a:p>
            <a:r>
              <a:t>定义：目标是识别一处坏味道，在特征测试保护下完成局部重构，并写清效果与代价。</a:t>
            </a:r>
          </a:p>
          <a:p>
            <a:r>
              <a:t>代价：为了凑一个策略类去拆不必拆的分支，比较就失去了对象。</a:t>
            </a:r>
          </a:p>
          <a:p>
            <a:r>
              <a:t>判定：作品要能对上变化场景、调用链、四个要素，以及和更简单方案的修改位置。</a:t>
            </a:r>
          </a:p>
          <a:p>
            <a:r>
              <a:t>权衡：不要求改前功能失败，也不要求代码行数减少；教师示例的策略版反而多了 45 行。门槛截断这一类缺陷另列，不混进这次纯重构。</a:t>
            </a:r>
          </a:p>
          <a:p>
            <a:r>
              <a:t>依据：课程考核方案 E4 一节“不要求：改前功能失败、强行增加策略类、代码行数必须减少”。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本节 60 分钟</a:t>
            </a:r>
          </a:p>
          <a:p>
            <a:r>
              <a:t>定义：改前 listCart 用 useType 的分支链区分三种范围。真正不同的只是按哪种范围求和，判定和分列写了三遍。</a:t>
            </a:r>
          </a:p>
          <a:p>
            <a:r>
              <a:t>代价：再加一种范围，要在这条链上再复制一段。只改其中一段，另外两段容易漏。</a:t>
            </a:r>
          </a:p>
          <a:p>
            <a:r>
              <a:t>判定：看第 127、137、150 行是不是同一形状：先求和，再看有效期和门槛，然后放进两个列表。</a:t>
            </a:r>
          </a:p>
          <a:p>
            <a:r>
              <a:t>权衡：未知范围两边都不放，只是链的末尾没有否则。入口是 GET /member/coupon/list/cart/{type}。基线这一文件 244 行。</a:t>
            </a:r>
          </a:p>
          <a:p>
            <a:r>
              <a:t>基线 dcaa93b3150352e5044708d7211b5bed0af4509f。分类分支在第 137 行，商品分支在第 150 行。门槛截断在第 132、145、158 行，属于 E3-01，这次不修。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时长见本节首页（本节 60 分钟）</a:t>
            </a:r>
          </a:p>
          <a:p>
            <a:r>
              <a:t>定义：改后 listCart 只剩取券、查策略、按 usable 分列，共 25 行。控制器和下单服务仍按原样调用它，调用方没改。</a:t>
            </a:r>
          </a:p>
          <a:p>
            <a:r>
              <a:t>代价：多一次查找。listCart 自己不再知道有哪几种范围，要到 policyFor 和策略类里去看。</a:t>
            </a:r>
          </a:p>
          <a:p>
            <a:r>
              <a:t>判定：能说出这三步，以及灰色那一格：策略为空就跳过，这张券两边都不放；策略非空才按 usable 分列。改前同名方法是 56 行。</a:t>
            </a:r>
          </a:p>
          <a:p>
            <a:r>
              <a:t>权衡：分列还留在 listCart，没有搬进策略。每个策略只回答这张券在这一范围下能不能用。</a:t>
            </a:r>
          </a:p>
          <a:p>
            <a:r>
              <a:t>本页按整图重画为流程图。整图 SDC/E4/outputs/E4-00/diagrams/e4-00.head.html，图稿源提交 fc5ef5c2b57cb5b8ed3e7dfc68c65e2100d93087，整图本地 e4-00-e4-00.head.png；已登记的局部图 e4-00-listcart.png 投影约 10 磅，本页不用。改前整图 e4-00.base.html，本地 e4-00-e4-00.base.png。</a:t>
            </a:r>
          </a:p>
          <a:p>
            <a:r>
              <a:t>分支当前头 175decae6c209b4cdc1db36fadb44b437f092843。最终代码 fc5ef5c2b57cb5b8ed3e7dfc68c65e2100d93087，与当前头的 Java 是同一份；改后 listCart 在第 120–144 行，找不到策略就 continue 在第 130–132 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时长见本节首页（本节 60 分钟）</a:t>
            </a:r>
          </a:p>
          <a:p>
            <a:r>
              <a:t>定义：policyFor 遍历登记列表，返回第一个 supports 为真的策略；三种范围各一个私有策略类。都不是就返回空，listCart 跳过这张券。</a:t>
            </a:r>
          </a:p>
          <a:p>
            <a:r>
              <a:t>代价：多一个接口、三个内部类和一次查找，文件从 244 行到 289 行，净增 45 行。判定仍在三个策略里各写一份，截断照旧保留。</a:t>
            </a:r>
          </a:p>
          <a:p>
            <a:r>
              <a:t>判定：看第 148 行按 supports 判断，第 152 行返回空。未知范围是返回空，不是返回一个默认策略。</a:t>
            </a:r>
          </a:p>
          <a:p>
            <a:r>
              <a:t>权衡：现在三者互斥，顺序不影响结果；以后若重叠，先登记者生效。同一个策略，2024 第 7-2 讲的例子是商品打折，这里是优惠券范围。</a:t>
            </a:r>
          </a:p>
          <a:p>
            <a:r>
              <a:t>整图 SDC/E4/outputs/E4-00/diagrams/e4-00.head.html，图稿源提交 fc5ef5c2b57cb5b8ed3e7dfc68c65e2100d93087，整图本地 e4-00-e4-00.head.png。图上 policyFor 右侧是三个私有策略类；“其他 useType”一块在整图下方，虚线“都不支持”指向它，标注 policyFor 返回 null → continue。</a:t>
            </a:r>
          </a:p>
          <a:p>
            <a:r>
              <a:t>对照记录在分支当前头 175decae6c209b4cdc1db36fadb44b437f092843 的 evidence/compare.txt：改前、改后各 5 项，失败 0，跳过 0，EXPECT_BASE=pass，结论符合。示例材料通过评审，不代替你的作业分。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时长见本节首页（本节 60 分钟）</a:t>
            </a:r>
          </a:p>
          <a:p>
            <a:r>
              <a:t>定义：个人作业从这七项里选一题；E4-08、E4-09 为 10-20 新增（灰色）。E4-00 是教师示例，用来看步骤，不作为个人选题。</a:t>
            </a:r>
          </a:p>
          <a:p>
            <a:r>
              <a:t>代价：直接交教师示例的优惠券范围，就没有本人的选择和证据。</a:t>
            </a:r>
          </a:p>
          <a:p>
            <a:r>
              <a:t>判定：选题要能指出坏味道的一类、调用链，以及和提取方法比修改位置。</a:t>
            </a:r>
          </a:p>
          <a:p>
            <a:r>
              <a:t>权衡：没有 E4-05。后台题的测试写在 mall-admin，不能只跑 portal 的测试类。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时长见本节首页（本节 60 分钟）</a:t>
            </a:r>
          </a:p>
          <a:p>
            <a:r>
              <a:t>定义：第一步定位一处条件分支密集的业务代码，识别坏味道并给出证据：文件、行号、调用者。</a:t>
            </a:r>
          </a:p>
          <a:p>
            <a:r>
              <a:t>代价：只写“分支太多”，不给行号和调用者，讲清楚这一档对不上。</a:t>
            </a:r>
          </a:p>
          <a:p>
            <a:r>
              <a:t>判定：问重复的是判定和分列，还是三种范围的求和。证据要能指到行。</a:t>
            </a:r>
          </a:p>
          <a:p>
            <a:r>
              <a:t>权衡：教师示例的坏味道是重复代码、按类型码分支，以及 listCart 同时取券、求和、判定、分列。你的选题换一类，也要给到行。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时长见本节首页（本节 60 分钟）</a:t>
            </a:r>
          </a:p>
          <a:p>
            <a:r>
              <a:t>定义：第二步让 AI 起草特征测试，人核对它固定的是可观察行为而不是实现。断言不改，改前和改后用同一组。</a:t>
            </a:r>
          </a:p>
          <a:p>
            <a:r>
              <a:t>代价：断言写到类名或行号上，一重构测试就红，固定的就不是行为。</a:t>
            </a:r>
          </a:p>
          <a:p>
            <a:r>
              <a:t>判定：失败时是编号或顺序变了，还是只是类名变了。99.90 这行只打印，不写成断言。</a:t>
            </a:r>
          </a:p>
          <a:p>
            <a:r>
              <a:t>权衡：Issue #20 记录整份测试五项，过期、空购物车和门槛两侧在另外几项。打印是 THRESHOLD_BASELINE，99.90 仍为可用。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时长见本节首页（本节 60 分钟）</a:t>
            </a:r>
          </a:p>
          <a:p>
            <a:r>
              <a:t>定义：第三步让 AI 完成局部重构（教师示例为策略模式），并和只提取方法比较。提取方法是保留分支链，每种范围一个私有方法。</a:t>
            </a:r>
          </a:p>
          <a:p>
            <a:r>
              <a:t>代价：只写策略、不写更简单的方案改几处，有依据这一档对不上。</a:t>
            </a:r>
          </a:p>
          <a:p>
            <a:r>
              <a:t>判定：问少掉的是处数，还是“要不要复制那一段分列”。三种方案的测试都是 5 项通过。</a:t>
            </a:r>
          </a:p>
          <a:p>
            <a:r>
              <a:t>权衡：就现状而言，提取方法更省也够用。采用策略是为了在同一处演示四个要素。范围种类确实会增加，或某种判定要单独替换时，再值得用策略。</a:t>
            </a:r>
          </a:p>
          <a:p>
            <a:r>
              <a:t>提取方法没有进入分支，曾在临时目录用 SDCE400Test 跑过，也是 5 项通过。库表里的 use_type 目前只定义 0、1、2。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时长见本节首页（本节 60 分钟）</a:t>
            </a:r>
          </a:p>
          <a:p>
            <a:r>
              <a:t>定义：第四步按放行前三查评价 AI 的重构：是否触及不得修改的部分、是否夹带无关修改、测试是否支持。三查都过，改动才留下。</a:t>
            </a:r>
          </a:p>
          <a:p>
            <a:r>
              <a:t>代价：因为测试是绿的就整份留下，截断被顺手改掉时，这组测试仍然可以是绿的。</a:t>
            </a:r>
          </a:p>
          <a:p>
            <a:r>
              <a:t>判定：问卡住这次留下的是约束、是多出来的行，还是测试失败。</a:t>
            </a:r>
          </a:p>
          <a:p>
            <a:r>
              <a:t>权衡：Issue #20 写明：没有混入修复只能靠读差异；第四种范围没有真正加进产品；购物车接口和库里的券没有跑到。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时长见本节首页（本节 60 分钟）</a:t>
            </a:r>
          </a:p>
          <a:p>
            <a:r>
              <a:t>定义：第五步用模式的四个要素写出这次改造的效果。效果要同时写得到什么、失去什么。</a:t>
            </a:r>
          </a:p>
          <a:p>
            <a:r>
              <a:t>代价：只写策略这个名字，不写多出来的类和仍要改的三处，难点就没答。</a:t>
            </a:r>
          </a:p>
          <a:p>
            <a:r>
              <a:t>判定：问 listCart 还改不改，判定有没有合成一份，重叠时谁生效。</a:t>
            </a:r>
          </a:p>
          <a:p>
            <a:r>
              <a:t>权衡：未知范围从“没有否则”写成显式跳过。公开接口没变。策略仍是私有内部类，外部不能单独替换。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时长见本节首页（本节 60 分钟）</a:t>
            </a:r>
          </a:p>
          <a:p>
            <a:r>
              <a:t>定义：下单方法过长，适合讨论该不该拆。它牵涉事务和多表写入，不作为这次的练习对象。</a:t>
            </a:r>
          </a:p>
          <a:p>
            <a:r>
              <a:t>代价：拆出去的写入若换了入口、改了传播方式或改成异步，订单、库存和券可能不再同一笔提交。</a:t>
            </a:r>
          </a:p>
          <a:p>
            <a:r>
              <a:t>判定：问拆出去的那一段，是否仍在同一次同步调用里、外层事务是否还在。同类里的私有方法，注解不会再经代理。</a:t>
            </a:r>
          </a:p>
          <a:p>
            <a:r>
              <a:t>权衡：锁库存在第 165 行，插入订单在第 224 行，明细在第 229 行，改券在第 232 行，扣积分在第 240 行，删购物车在第 243 行，发消息在第 245 行。</a:t>
            </a:r>
          </a:p>
          <a:p>
            <a:r>
              <a:t>参考要点：</a:t>
            </a:r>
          </a:p>
          <a:p>
            <a:r>
              <a:t>- 拆成同一事务内的同步调用，外层事务仍在，订单、库存、券和积分仍同一笔提交；拆的收益是可读，代价是多几次跳转。</a:t>
            </a:r>
          </a:p>
          <a:p>
            <a:r>
              <a:t>- 改了入口、把传播方式改成新事务，或改成异步执行，写入就可能落到事务外，失败时只回滚一部分。</a:t>
            </a:r>
          </a:p>
          <a:p>
            <a:r>
              <a:t>- 本次实验不拆它：牵涉多表写入和事务，改动风险高，只作对照讨论。</a:t>
            </a:r>
          </a:p>
          <a:p>
            <a:r>
              <a:t>依据：教案第 8 次课实验步骤（6）“讨论过长方法该不该拆”；实验方案 E4 理由一段“牵涉事务与多表写入，改动风险高”；基线 OmsPortalOrderService 第 26 行 @Transactional。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时长见本节首页（本节 60 分钟）</a:t>
            </a:r>
          </a:p>
          <a:p>
            <a:r>
              <a:t>定义：这些是本次细则里对不上的证据，以及教师示例对照时已经标出的未验证范围。</a:t>
            </a:r>
          </a:p>
          <a:p>
            <a:r>
              <a:t>代价：缺了行号、同一组测试的执行记录或差异核对，对应的那一档就没有证据。</a:t>
            </a:r>
          </a:p>
          <a:p>
            <a:r>
              <a:t>判定：验证过要看到同一组特征测试改前、改后都通过，再读差异核实没有夹带无关修改，并用源码说明改几处。</a:t>
            </a:r>
          </a:p>
          <a:p>
            <a:r>
              <a:t>权衡：测试全绿只说明行为还在。设计是否更好，要另给修改位置和代价。允许写“这里还没验证”。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节：小结</a:t>
            </a:r>
          </a:p>
          <a:p>
            <a:r>
              <a:t>本节 10 分钟</a:t>
            </a:r>
          </a:p>
          <a:p>
            <a:r>
              <a:t>定义：小结抽 1 人演示：新增一种分支时，重构前要改哪里，重构后要改哪里。</a:t>
            </a:r>
          </a:p>
          <a:p>
            <a:r>
              <a:t>代价：只报一个更小的数字，不说复制了什么，比较就不完整。</a:t>
            </a:r>
          </a:p>
          <a:p>
            <a:r>
              <a:t>判定：回答要给出三套方案的处数，并说明 listCart 本身还改不改。</a:t>
            </a:r>
          </a:p>
          <a:p>
            <a:r>
              <a:t>权衡：课上先听学生怎么数。数字和依据留在备注，等演示之后再对。</a:t>
            </a:r>
          </a:p>
          <a:p>
            <a:r>
              <a:t>参考要点：只看 listCart 的可用判定，改前 1 处，但要复制判定和分列；策略是新类再加登记 1 行，共 2 处，listCart 不用改。</a:t>
            </a:r>
          </a:p>
          <a:p>
            <a:r>
              <a:t>依据：教案第 8 次课讨论题与小结抽人演示。Issue #20 的比较表。提取方法也是 2 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节：小结</a:t>
            </a:r>
          </a:p>
          <a:p>
            <a:r>
              <a:t>时长见本节首页（本节 10 分钟）</a:t>
            </a:r>
          </a:p>
          <a:p>
            <a:r>
              <a:t>定义：行为保持是前后都通过。它不自动证明设计更好，也不证明没有混入别的修改。</a:t>
            </a:r>
          </a:p>
          <a:p>
            <a:r>
              <a:t>代价：把全绿理解成可以放行业务，或理解成策略一定更优，都会超过这组测试实际说明的范围。</a:t>
            </a:r>
          </a:p>
          <a:p>
            <a:r>
              <a:t>判定：示例材料的对照结论符合；没有夹带无关修改要读差异核实。课程作业是否得分，仍看本次细则里的证据。</a:t>
            </a:r>
          </a:p>
          <a:p>
            <a:r>
              <a:t>权衡：缺陷修复另列。把门槛改成精确比较，是另一次修改，这组测试发现不了。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节：小结</a:t>
            </a:r>
          </a:p>
          <a:p>
            <a:r>
              <a:t>时长见本节首页（本节 10 分钟）</a:t>
            </a:r>
          </a:p>
          <a:p>
            <a:r>
              <a:t>定义：讲清楚看场景和调用链。有依据看四个要素和与更简单方案的比较。验证过看同一组测试和修改范围。</a:t>
            </a:r>
          </a:p>
          <a:p>
            <a:r>
              <a:t>代价：缺哪一项，就少哪一项的证据。没跑过的测试不能写成已经通过。</a:t>
            </a:r>
          </a:p>
          <a:p>
            <a:r>
              <a:t>判定：改前、改后要用相同的特征测试并留执行记录；读差异核实没有夹带无关修改，修改范围用源码核实。</a:t>
            </a:r>
          </a:p>
          <a:p>
            <a:r>
              <a:t>权衡：示例材料对照符合，只说明那一份参考实现的记录齐。你的作业分看你自己的证据。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zh-CN" dirty="0"/>
              <a:t>节：小结</a:t>
            </a:r>
          </a:p>
          <a:p>
            <a:r>
              <a:rPr lang="zh-CN" dirty="0"/>
              <a:t>时长见本节首页（本节 10 分钟）</a:t>
            </a:r>
          </a:p>
          <a:p>
            <a:r>
              <a:rPr lang="zh-CN" dirty="0"/>
              <a:t>定义：提交是一页说明加不超过 2 分钟的本人录屏，一页说明按讲清楚、有依据、验证过组织。</a:t>
            </a:r>
          </a:p>
          <a:p>
            <a:r>
              <a:rPr lang="zh-CN" dirty="0"/>
              <a:t>代价：缺其中一项，对应那一项就没有证据。</a:t>
            </a:r>
          </a:p>
          <a:p>
            <a:r>
              <a:rPr lang="zh-CN" dirty="0"/>
              <a:t>判定：录屏里要能看到坏味道的行号、同一组测试改前改后的执行记录，以及新增一种情况改了几处。</a:t>
            </a:r>
          </a:p>
          <a:p>
            <a:r>
              <a:rPr lang="zh-CN" dirty="0"/>
              <a:t>权衡：参考实现可以看，不能代替本人的选择和证据。缺陷修复若做了，另列，不混进这次纯重构。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节：任务说明</a:t>
            </a:r>
          </a:p>
          <a:p>
            <a:r>
              <a:t>时长见本节首页（本节 5 分钟）</a:t>
            </a:r>
          </a:p>
          <a:p>
            <a:r>
              <a:t>课前自学，课上只点要点。</a:t>
            </a:r>
          </a:p>
          <a:p>
            <a:r>
              <a:t>定义：坏味道是值得重构的结构信号；模式用名称、问题、解决方案、效果四个要素描述。</a:t>
            </a:r>
          </a:p>
          <a:p>
            <a:r>
              <a:t>代价：只记模式名、不看问题与效果，就会为凑模式去拆不必拆的分支。</a:t>
            </a:r>
          </a:p>
          <a:p>
            <a:r>
              <a:t>判定：能把 listCart 的三段分支对应到四个要素；效果要写两面：56 行变 25 行，门槛判断仍在 3 处（K4、K10、K11）。</a:t>
            </a:r>
          </a:p>
          <a:p>
            <a:r>
              <a:t>权衡：四要素不要求记名，要求能对应到本例。</a:t>
            </a:r>
          </a:p>
          <a:p>
            <a:r>
              <a:t>依据：事实卡 E4 K4–K6、K8–K11。</a:t>
            </a:r>
          </a:p>
          <a:p>
            <a:r>
              <a:t>系统讲解在 T5（坏味道与模式的四个要素）。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节：任务说明</a:t>
            </a:r>
          </a:p>
          <a:p>
            <a:r>
              <a:t>时长见本节首页（本节 5 分钟）</a:t>
            </a:r>
          </a:p>
          <a:p>
            <a:r>
              <a:t>课前自学，课上只点要点。</a:t>
            </a:r>
          </a:p>
          <a:p>
            <a:r>
              <a:t>定义：特征测试把现有行为固定下来，作为改造的安全网；接缝是不在该处改代码就能改变行为的位置（Feathers 第 4 章）。</a:t>
            </a:r>
          </a:p>
          <a:p>
            <a:r>
              <a:t>代价：把已知缺陷也冻结进测试，之后修缺陷就会误报；SDCE400Test 对截断边界只记录、不冻结（K15）。</a:t>
            </a:r>
          </a:p>
          <a:p>
            <a:r>
              <a:t>判定：能说出 SDCE400Test 的 5 个测试各锁什么，改前、改后都通过 5 项（K14、K15）。</a:t>
            </a:r>
          </a:p>
          <a:p>
            <a:r>
              <a:t>权衡：先锁行为再重构；锁得越多越安全，但可改动的余地越小。</a:t>
            </a:r>
          </a:p>
          <a:p>
            <a:r>
              <a:t>依据：事实卡 E4 K9、K10、K14、K15；Feathers《修改代码的艺术》第 4 章；接缝落在 scopePolicies 为教学判断。</a:t>
            </a:r>
          </a:p>
          <a:p>
            <a:r>
              <a:t>系统讲解在 T6（特征测试与接缝）。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zh-CN" dirty="0"/>
              <a:t>节：实验</a:t>
            </a:r>
          </a:p>
          <a:p>
            <a:r>
              <a:rPr lang="zh-CN" dirty="0"/>
              <a:t>本节 60 分钟</a:t>
            </a:r>
          </a:p>
          <a:p>
            <a:r>
              <a:rPr lang="zh-CN" dirty="0"/>
              <a:t>依据：SDC/学生操作手册.md（@0a5eae2a）第 26 行“课程不开个人分支：只读取教师仓库”、第 34–38 行“E2 到 E7 每次在该实验的脚手架上开始……git switch --detach origin/exp/E&lt;n&gt;”、第 53–67 行 compare.env 与 compare.sh、第 75 行“E4 pass：特征测试改前改后都通过，断言不改”、第 163 行“个人从 origin/exp/E4 开始”；事实卡 E4 K13、K14。</a:t>
            </a:r>
          </a:p>
          <a:p>
            <a:r>
              <a:rPr lang="zh-CN" dirty="0"/>
              <a:t>定义：先只读检出脚手架 exp/E4，不开个人分支；compare.env 写三项，EXPECT_BASE 写 pass，表示行为保持；本地提交、保持工作区干净后运行 compare.sh。</a:t>
            </a:r>
          </a:p>
          <a:p>
            <a:r>
              <a:rPr lang="zh-CN" dirty="0"/>
              <a:t>代价：把 exp/e4-00 整份检出当成作业，就没有本人的选择和证据；改前就失败的测试，不能证明行为保持。</a:t>
            </a:r>
          </a:p>
          <a:p>
            <a:r>
              <a:rPr lang="zh-CN" dirty="0"/>
              <a:t>判定：Errors=0、Skipped=0、结论：符合，对照才成立；教师示例 E4-00 改前、改后都 pass，各 5 项（K13、K14）。</a:t>
            </a:r>
          </a:p>
          <a:p>
            <a:r>
              <a:rPr lang="zh-CN" dirty="0"/>
              <a:t>权衡：E4 是纯重构，用 pass；缺陷修复另列，不混进这次对照。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时长见本节首页（本节 60 分钟）</a:t>
            </a:r>
          </a:p>
          <a:p>
            <a:r>
              <a:t>定义：listCart 按 useType 判断购物车里的券是否可用：0 全场通用，1 指定分类，2 指定商品；type=1 返回可用列表，否则返回不可用列表（K1）。</a:t>
            </a:r>
          </a:p>
          <a:p>
            <a:r>
              <a:t>代价：只重组职责，不修复金额截断、过期或未知类型的现有行为，不改公开接口（K2）；门槛截断属于 E3-01，只作为已知行为记录（K3）。</a:t>
            </a:r>
          </a:p>
          <a:p>
            <a:r>
              <a:t>判定：useType 是枚举概念，新增一种范围是合理的产品需求；useType 不是 0、1、2 时，券两个列表都不进（K7），重构后也要保持。</a:t>
            </a:r>
          </a:p>
          <a:p>
            <a:r>
              <a:t>权衡：约束越严，改动越小，也越容易核对；代价是已知缺陷在本次保留。</a:t>
            </a:r>
          </a:p>
          <a:p>
            <a:r>
              <a:t>依据：事实卡 E4 K1–K3、K6、K7。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时长见本节首页（本节 60 分钟）</a:t>
            </a:r>
          </a:p>
          <a:p>
            <a:r>
              <a:t>定义：改前 listCart 共 56 行，用 if / else if 三段分支处理 useType 0、1、2，逻辑集中（K4）。</a:t>
            </a:r>
          </a:p>
          <a:p>
            <a:r>
              <a:t>代价：新增一种范围要在循环里再加一个分支；三段结构相同，重复出现 3 次；门槛判断也写了 3 份（K5、K6）。</a:t>
            </a:r>
          </a:p>
          <a:p>
            <a:r>
              <a:t>判定：每条不足都指到行号：分支在第 127、137、150 行，门槛判断在第 132、145、158 行（K4、K6）。</a:t>
            </a:r>
          </a:p>
          <a:p>
            <a:r>
              <a:t>权衡：逻辑集中读起来顺，但范围一多，方法就越来越长。</a:t>
            </a:r>
          </a:p>
          <a:p>
            <a:r>
              <a:t>依据：事实卡 E4 K4–K6。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时长见本节首页（本节 60 分钟）</a:t>
            </a:r>
          </a:p>
          <a:p>
            <a:r>
              <a:t>定义：易修改性看改一处需求要动几个地方；判定问题是：新增一种范围需要改哪里？</a:t>
            </a:r>
          </a:p>
          <a:p>
            <a:r>
              <a:t>代价：现有设计要在 listCart 里加一个 else if 分支，方法变长；门槛规则出现 3 次，改门槛要动 3 处（K4、K6）。</a:t>
            </a:r>
          </a:p>
          <a:p>
            <a:r>
              <a:t>判定：数要改的位置：新增范围改 1 处但方法变长，改门槛改 3 处。</a:t>
            </a:r>
          </a:p>
          <a:p>
            <a:r>
              <a:t>权衡：本次只评这一个子特性，不覆盖其他子特性；认知负担随范围数线性增长。</a:t>
            </a:r>
          </a:p>
          <a:p>
            <a:r>
              <a:t>依据：事实卡 E4 K4–K7。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时长见本节首页（本节 60 分钟）</a:t>
            </a:r>
          </a:p>
          <a:p>
            <a:r>
              <a:t>定义：新增私有接口 CouponScopePolicy，含 supports 与 usable 两个方法；三个实现类 UniversalScopePolicy、CategoryScopePolicy、ProductScopePolicy 登记在 scopePolicies；listCart 经 policyFor 选出策略，找不到就返回 null 并 continue（K8–K10）。</a:t>
            </a:r>
          </a:p>
          <a:p>
            <a:r>
              <a:t>代价：门槛判断仍在 3 个策略类里重复（K11），重构没有消除这个重复；多一个接口、3 个内部类。</a:t>
            </a:r>
          </a:p>
          <a:p>
            <a:r>
              <a:t>判定：改动集中在新增的类，不必改 listCart 的循环；严格说新增一种范围要动两处：新类、登记一行。</a:t>
            </a:r>
          </a:p>
          <a:p>
            <a:r>
              <a:t>权衡：使用类型是开放集合时，策略模式让循环对新类型闭合；范围种类固定不变时，收益有限。</a:t>
            </a:r>
          </a:p>
          <a:p>
            <a:r>
              <a:t>依据：事实卡 E4 K8–K12；产品代码只改一个文件。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时长见本节首页（本节 60 分钟）</a:t>
            </a:r>
          </a:p>
          <a:p>
            <a:r>
              <a:t>定义：对比类内 if/else 与策略模式：新增一种范围的改动点、门槛重复处数、listCart 行数（K4、K6、K9–K11）。</a:t>
            </a:r>
          </a:p>
          <a:p>
            <a:r>
              <a:t>代价：门槛规则从 intValue 截断改为精确 BigDecimal 比较时，两种方案都要改 3 处，策略模式在这点上没有优势，必须如实写。</a:t>
            </a:r>
          </a:p>
          <a:p>
            <a:r>
              <a:t>判定：演进场景是设计讨论，非代码事实：①useType=3 指定品牌上线，if/else 要改方法本体，策略模式只加一个类；②门槛改精确比较，两种方案都改 3 处；③按运营配置动态启停某种范围，策略模式更容易支持，加一个 active 标志，不改循环；按地区或会员等级动态加载时，scopePolicies 可改为从数据库或配置中心读取。</a:t>
            </a:r>
          </a:p>
          <a:p>
            <a:r>
              <a:t>权衡：类型增加，策略模式的收益越来越大；类型固定，多出来的类没有回报。</a:t>
            </a:r>
          </a:p>
          <a:p>
            <a:r>
              <a:t>依据：事实卡 E4 K4、K6、K9–K11；演进场景为设计讨论。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节：小结</a:t>
            </a:r>
          </a:p>
          <a:p>
            <a:r>
              <a:t>时长见本节首页（本节 10 分钟）</a:t>
            </a:r>
          </a:p>
          <a:p>
            <a:r>
              <a:t>定义：一页说明按讲清楚、有依据、验证过三项写，此页取自教师示例 E4-00 的真实材料。</a:t>
            </a:r>
          </a:p>
          <a:p>
            <a:r>
              <a:t>代价：三项缺一，那一项就没有证据；未做的小演示不能写成已经做过。</a:t>
            </a:r>
          </a:p>
          <a:p>
            <a:r>
              <a:t>判定：每项都能对到文件、行号或对照结论（K4、K14）。</a:t>
            </a:r>
          </a:p>
          <a:p>
            <a:r>
              <a:t>权衡：样例是参考写法，不是标准答案，作业要写本人选题的证据。</a:t>
            </a:r>
          </a:p>
          <a:p>
            <a:r>
              <a:t>依据：事实卡 E4 K4、K10、K11、K14。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zh-CN" dirty="0"/>
              <a:t>节：小结</a:t>
            </a:r>
          </a:p>
          <a:p>
            <a:r>
              <a:rPr lang="zh-CN" dirty="0"/>
              <a:t>时长见本节首页（本节 10 分钟）</a:t>
            </a:r>
          </a:p>
          <a:p>
            <a:r>
              <a:rPr lang="zh-CN" dirty="0"/>
              <a:t>依据：工具/polish/AI回答采集/核对-E4.md（2026.10.19）；exp/E4 的 UmsMemberCouponServiceImpl.java 第 127–169 行、OmsPortalOrderServiceImpl.java 第 639 行、SmsCouponServiceImpl.java 第 45、52、89、97 行；175decae 第 165、181、201 行；四项核对来自 T1 第 43 页。</a:t>
            </a:r>
          </a:p>
          <a:p>
            <a:r>
              <a:rPr lang="zh-CN" dirty="0"/>
              <a:t>定义：按四项核对——引用是否存在、运行时事实、原理与实现、依据——逐条标对、错或无法核实。</a:t>
            </a:r>
          </a:p>
          <a:p>
            <a:r>
              <a:rPr lang="zh-CN" dirty="0"/>
              <a:t>代价：只采纳和课件一致的部分，会漏掉回答补出的修改面：新增一种范围，listCart 之外还有 4 处判断。</a:t>
            </a:r>
          </a:p>
          <a:p>
            <a:r>
              <a:rPr lang="zh-CN" dirty="0"/>
              <a:t>判定：每条说法能对到行号；“不该断言顺序”要分清真实库与替身两种情形，再下结论。</a:t>
            </a:r>
          </a:p>
          <a:p>
            <a:r>
              <a:rPr lang="zh-CN" dirty="0"/>
              <a:t>权衡：回答对 E4-00 没有检出的分支只能推理，它在末尾如实写了“未检出 e4-00”，这一条可以照样采信为限制说明。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zh-CN" dirty="0"/>
              <a:t>节：小结</a:t>
            </a:r>
          </a:p>
          <a:p>
            <a:r>
              <a:rPr lang="zh-CN" dirty="0"/>
              <a:t>时长见本节首页（本节 10 分钟）</a:t>
            </a:r>
          </a:p>
          <a:p>
            <a:r>
              <a:rPr lang="zh-CN" dirty="0"/>
              <a:t>依据：工具/polish/AI回答采集/prompt-E4.md 与 answer-E4-20261019-0707.md（模型 deepseek-flash，只读工具 Read、Grep、Glob）；提示词模式来自 T1 第 44–45 页（White 等 2023）。</a:t>
            </a:r>
          </a:p>
          <a:p>
            <a:r>
              <a:rPr lang="zh-CN" dirty="0"/>
              <a:t>定义：Persona 定角色，Template 要求给出类名、方法名和行号，Question Refinement 把“重构对不对”细化成“未知范围的结果是否与改前一致”。</a:t>
            </a:r>
          </a:p>
          <a:p>
            <a:r>
              <a:rPr lang="zh-CN" dirty="0"/>
              <a:t>代价：只问“帮我把分支重构成策略”，回答会直接给代码，不会去核对未知范围和截断这些行为保持的缺口。</a:t>
            </a:r>
          </a:p>
          <a:p>
            <a:r>
              <a:rPr lang="zh-CN" dirty="0"/>
              <a:t>判定：能逐句标出属于哪种模式，并说出这一句让回答变得可核对在哪里。</a:t>
            </a:r>
          </a:p>
          <a:p>
            <a:r>
              <a:rPr lang="zh-CN" dirty="0"/>
              <a:t>权衡：本次没有用 Few-shot。问题点名了截断，回答就会围着截断展开；没点名的风险要靠核对时自己补。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zh-CN" altLang="en-US"/>
              <a:t>节：实验</a:t>
            </a:r>
          </a:p>
          <a:p>
            <a:r>
              <a:rPr lang="zh-CN" altLang="en-US"/>
              <a:t>时长见本节首页（本节 60 分钟）</a:t>
            </a:r>
          </a:p>
          <a:p>
            <a:r>
              <a:rPr lang="zh-CN" altLang="en-US"/>
              <a:t>定义：服务类 UmsMemberCouponServiceImpl 持有 scopePolicies 列表，依赖接口 CouponScopePolicy；三个策略类 UniversalScopePolicy、CategoryScopePolicy、ProductScopePolicy 实现该接口（supports、usable 两个方法）。</a:t>
            </a:r>
          </a:p>
          <a:p>
            <a:r>
              <a:rPr lang="zh-CN" altLang="en-US"/>
              <a:t>代价：本图只看类型关系，不显示方法体；门槛判断仍在三个策略类里重复这一点图上体现不出，已在上一页表格写明。</a:t>
            </a:r>
          </a:p>
          <a:p>
            <a:r>
              <a:rPr lang="zh-CN" altLang="en-US"/>
              <a:t>判定：新增一种范围 = 加一个类并在 scopePolicies 登记一行，循环体不动。</a:t>
            </a:r>
          </a:p>
          <a:p>
            <a:r>
              <a:rPr lang="zh-CN" altLang="en-US"/>
              <a:t>权衡：图为 2024 第 7-2 讲类图记法改画的优惠券版本，不是直接继承 2024 原图。</a:t>
            </a:r>
          </a:p>
          <a:p>
            <a:r>
              <a:rPr lang="zh-CN" altLang="en-US"/>
              <a:t>依据：事实卡 E4 K8–K10；类与方法取自 meng004/mall@175decae6c209b4cdc1db36fadb44b437f092843:UmsMemberCouponServiceImpl.java:42-45、155-223。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zh-CN" altLang="en-US"/>
              <a:t>节：目录</a:t>
            </a:r>
          </a:p>
          <a:p>
            <a:r>
              <a:rPr lang="zh-CN" altLang="en-US"/>
              <a:t>依据：各页备注“节：”行，按出现顺序编号；目录页由统一视觉脚本生成，不另写内容。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zh-CN" altLang="en-US"/>
              <a:t>节：结束页</a:t>
            </a:r>
          </a:p>
          <a:p>
            <a:r>
              <a:rPr lang="zh-CN" altLang="en-US"/>
              <a:t>依据：下次课名称取自下一份课件封面的“第 n 次课｜课题”行。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sdc-logo.png"/><Relationship Id="rId3" Type="http://schemas.openxmlformats.org/officeDocument/2006/relationships/image" Target="../media/sdc-campus-l.jpeg"/><Relationship Id="rId4" Type="http://schemas.openxmlformats.org/officeDocument/2006/relationships/image" Target="../media/sdc-campus-r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sdc-logo.png"/><Relationship Id="rId3" Type="http://schemas.openxmlformats.org/officeDocument/2006/relationships/image" Target="../media/sdc-campus-l.jpeg"/><Relationship Id="rId4" Type="http://schemas.openxmlformats.org/officeDocument/2006/relationships/image" Target="../media/sdc-campus-r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sdc-logo.png"/><Relationship Id="rId3" Type="http://schemas.openxmlformats.org/officeDocument/2006/relationships/image" Target="../media/sdc-campus-l.jpeg"/><Relationship Id="rId4" Type="http://schemas.openxmlformats.org/officeDocument/2006/relationships/image" Target="../media/sdc-campus-r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sdc-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411480"/>
            <a:ext cx="868680" cy="86868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685800" y="1600200"/>
            <a:ext cx="7772400" cy="640080"/>
          </a:xfrm>
        </p:spPr>
        <p:txBody>
          <a:bodyPr anchor="b"/>
          <a:lstStyle>
            <a:lvl1pPr algn="l" marL="0" indent="0">
              <a:buNone/>
              <a:defRPr sz="2000" b="1">
                <a:solidFill>
                  <a:srgbClr val="A33B38"/>
                </a:solidFill>
                <a:latin typeface="微软雅黑"/>
                <a:ea typeface="微软雅黑"/>
              </a:defRPr>
            </a:lvl1pPr>
          </a:lstStyle>
          <a:p>
            <a:r>
              <a:rPr lang="zh-CN" altLang="en-US"/>
              <a:t>单击此处编辑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685800" y="2377440"/>
            <a:ext cx="7772400" cy="2926080"/>
          </a:xfrm>
        </p:spPr>
        <p:txBody>
          <a:bodyPr/>
          <a:lstStyle>
            <a:lvl1pPr algn="l" marL="0" indent="0">
              <a:buNone/>
              <a:defRPr sz="2000" b="0">
                <a:solidFill>
                  <a:srgbClr val="595959"/>
                </a:solidFill>
                <a:latin typeface="微软雅黑"/>
                <a:ea typeface="微软雅黑"/>
              </a:defRPr>
            </a:lvl1pPr>
          </a:lstStyle>
          <a:p>
            <a:r>
              <a:rPr lang="zh-CN" altLang="en-US"/>
              <a:t>单击此处编辑</a:t>
            </a:r>
          </a:p>
        </p:txBody>
      </p:sp>
      <p:sp>
        <p:nvSpPr>
          <p:cNvPr id="11" name="sdc-photo-band"/>
          <p:cNvSpPr/>
          <p:nvPr userDrawn="1"/>
        </p:nvSpPr>
        <p:spPr>
          <a:xfrm>
            <a:off x="0" y="5550408"/>
            <a:ext cx="9144000" cy="64008"/>
          </a:xfrm>
          <a:prstGeom prst="rect">
            <a:avLst/>
          </a:prstGeom>
          <a:solidFill>
            <a:srgbClr val="A33B38"/>
          </a:solidFill>
          <a:ln>
            <a:noFill/>
          </a:ln>
        </p:spPr>
        <p:txBody>
          <a:bodyPr wrap="square" lIns="91440" rIns="91440" tIns="45720" bIns="45720" anchor="t"/>
          <a:lstStyle/>
          <a:p>
            <a:endParaRPr lang="zh-CN"/>
          </a:p>
        </p:txBody>
      </p:sp>
      <p:pic>
        <p:nvPicPr>
          <p:cNvPr id="12" name="sdc-campus-l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5614416"/>
            <a:ext cx="4572000" cy="1243584"/>
          </a:xfrm>
          <a:prstGeom prst="rect">
            <a:avLst/>
          </a:prstGeom>
        </p:spPr>
      </p:pic>
      <p:pic>
        <p:nvPicPr>
          <p:cNvPr id="13" name="sdc-campus-r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4572000" y="5614416"/>
            <a:ext cx="4572000" cy="124358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内容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dc-toc-band"/>
          <p:cNvSpPr/>
          <p:nvPr userDrawn="1"/>
        </p:nvSpPr>
        <p:spPr>
          <a:xfrm>
            <a:off x="0" y="0"/>
            <a:ext cx="2377440" cy="6858000"/>
          </a:xfrm>
          <a:prstGeom prst="rect">
            <a:avLst/>
          </a:prstGeom>
          <a:solidFill>
            <a:srgbClr val="A33B38"/>
          </a:solidFill>
          <a:ln>
            <a:noFill/>
          </a:ln>
        </p:spPr>
        <p:txBody>
          <a:bodyPr wrap="square" lIns="91440" rIns="91440" tIns="45720" bIns="45720" anchor="t"/>
          <a:lstStyle/>
          <a:p>
            <a:endParaRPr lang="zh-CN"/>
          </a:p>
        </p:txBody>
      </p:sp>
      <p:pic>
        <p:nvPicPr>
          <p:cNvPr id="11" name="sdc-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7240" y="5623560"/>
            <a:ext cx="822960" cy="82296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74320" y="640080"/>
            <a:ext cx="1828800" cy="914400"/>
          </a:xfrm>
        </p:spPr>
        <p:txBody>
          <a:bodyPr anchor="t"/>
          <a:lstStyle>
            <a:lvl1pPr algn="l" marL="0" indent="0">
              <a:buNone/>
              <a:defRPr sz="3600" b="1">
                <a:solidFill>
                  <a:srgbClr val="FFFFFF"/>
                </a:solidFill>
                <a:latin typeface="微软雅黑"/>
                <a:ea typeface="微软雅黑"/>
              </a:defRPr>
            </a:lvl1pPr>
          </a:lstStyle>
          <a:p>
            <a:r>
              <a:rPr lang="zh-CN" altLang="en-US"/>
              <a:t>单击此处编辑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2834640" y="731520"/>
            <a:ext cx="5852160" cy="5120640"/>
          </a:xfrm>
        </p:spPr>
        <p:txBody>
          <a:bodyPr/>
          <a:lstStyle>
            <a:lvl1pPr algn="l" marL="0" indent="0">
              <a:buNone/>
              <a:defRPr sz="2200" b="0">
                <a:solidFill>
                  <a:srgbClr val="262626"/>
                </a:solidFill>
                <a:latin typeface="微软雅黑"/>
                <a:ea typeface="微软雅黑"/>
              </a:defRPr>
            </a:lvl1pPr>
          </a:lstStyle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内容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内容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sdc-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411480"/>
            <a:ext cx="868680" cy="86868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14400" y="2011680"/>
            <a:ext cx="7315200" cy="1005840"/>
          </a:xfrm>
        </p:spPr>
        <p:txBody>
          <a:bodyPr anchor="b"/>
          <a:lstStyle>
            <a:lvl1pPr algn="ctr" marL="0" indent="0">
              <a:buNone/>
              <a:defRPr sz="3600" b="1">
                <a:solidFill>
                  <a:srgbClr val="262626"/>
                </a:solidFill>
                <a:latin typeface="微软雅黑"/>
                <a:ea typeface="微软雅黑"/>
              </a:defRPr>
            </a:lvl1pPr>
          </a:lstStyle>
          <a:p>
            <a:r>
              <a:rPr lang="zh-CN" altLang="en-US"/>
              <a:t>单击此处编辑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14400" y="3154680"/>
            <a:ext cx="7315200" cy="1280160"/>
          </a:xfrm>
        </p:spPr>
        <p:txBody>
          <a:bodyPr/>
          <a:lstStyle>
            <a:lvl1pPr algn="ctr" marL="0" indent="0">
              <a:buNone/>
              <a:defRPr sz="2000" b="0">
                <a:solidFill>
                  <a:srgbClr val="595959"/>
                </a:solidFill>
                <a:latin typeface="微软雅黑"/>
                <a:ea typeface="微软雅黑"/>
              </a:defRPr>
            </a:lvl1pPr>
          </a:lstStyle>
          <a:p>
            <a:r>
              <a:rPr lang="zh-CN" altLang="en-US"/>
              <a:t>单击此处编辑</a:t>
            </a:r>
          </a:p>
        </p:txBody>
      </p:sp>
      <p:sp>
        <p:nvSpPr>
          <p:cNvPr id="11" name="sdc-photo-band"/>
          <p:cNvSpPr/>
          <p:nvPr userDrawn="1"/>
        </p:nvSpPr>
        <p:spPr>
          <a:xfrm>
            <a:off x="0" y="5550408"/>
            <a:ext cx="9144000" cy="64008"/>
          </a:xfrm>
          <a:prstGeom prst="rect">
            <a:avLst/>
          </a:prstGeom>
          <a:solidFill>
            <a:srgbClr val="A33B38"/>
          </a:solidFill>
          <a:ln>
            <a:noFill/>
          </a:ln>
        </p:spPr>
        <p:txBody>
          <a:bodyPr wrap="square" lIns="91440" rIns="91440" tIns="45720" bIns="45720" anchor="t"/>
          <a:lstStyle/>
          <a:p>
            <a:endParaRPr lang="zh-CN"/>
          </a:p>
        </p:txBody>
      </p:sp>
      <p:pic>
        <p:nvPicPr>
          <p:cNvPr id="12" name="sdc-campus-l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5614416"/>
            <a:ext cx="4572000" cy="1243584"/>
          </a:xfrm>
          <a:prstGeom prst="rect">
            <a:avLst/>
          </a:prstGeom>
        </p:spPr>
      </p:pic>
      <p:pic>
        <p:nvPicPr>
          <p:cNvPr id="13" name="sdc-campus-r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4572000" y="5614416"/>
            <a:ext cx="4572000" cy="124358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内容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内容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内容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内容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image" Target="../media/sdc-logo.png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/>
          <p:cNvSpPr>
            <a:spLocks noGrp="1"/>
          </p:cNvSpPr>
          <p:nvPr>
            <p:ph type="title"/>
          </p:nvPr>
        </p:nvSpPr>
        <p:spPr>
          <a:xfrm>
            <a:off x="576072" y="301752"/>
            <a:ext cx="8001000" cy="960120"/>
          </a:xfrm>
        </p:spPr>
        <p:txBody>
          <a:bodyPr anchor="b"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Text Placeholder"/>
          <p:cNvSpPr>
            <a:spLocks noGrp="1"/>
          </p:cNvSpPr>
          <p:nvPr>
            <p:ph type="body" idx="1"/>
          </p:nvPr>
        </p:nvSpPr>
        <p:spPr>
          <a:xfrm>
            <a:off x="576072" y="1600200"/>
            <a:ext cx="8001000" cy="4389120"/>
          </a:xfrm>
        </p:spPr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4" name="sdc-title-bar"/>
          <p:cNvSpPr/>
          <p:nvPr userDrawn="1"/>
        </p:nvSpPr>
        <p:spPr>
          <a:xfrm>
            <a:off x="612648" y="1298448"/>
            <a:ext cx="1463040" cy="64008"/>
          </a:xfrm>
          <a:prstGeom prst="rect">
            <a:avLst/>
          </a:prstGeom>
          <a:solidFill>
            <a:srgbClr val="A33B38"/>
          </a:solidFill>
          <a:ln>
            <a:noFill/>
          </a:ln>
        </p:spPr>
        <p:txBody>
          <a:bodyPr wrap="square" lIns="91440" rIns="91440" tIns="45720" bIns="45720" anchor="t"/>
          <a:lstStyle/>
          <a:p>
            <a:endParaRPr lang="zh-CN"/>
          </a:p>
        </p:txBody>
      </p:sp>
      <p:cxnSp>
        <p:nvCxnSpPr>
          <p:cNvPr id="5" name="sdc-title-line"/>
          <p:cNvCxnSpPr/>
          <p:nvPr userDrawn="1"/>
        </p:nvCxnSpPr>
        <p:spPr>
          <a:xfrm>
            <a:off x="2075688" y="1330452"/>
            <a:ext cx="6492240" cy="0"/>
          </a:xfrm>
          <a:prstGeom prst="line">
            <a:avLst/>
          </a:prstGeom>
          <a:ln w="12700">
            <a:solidFill>
              <a:srgbClr val="E3C4C2"/>
            </a:solidFill>
          </a:ln>
        </p:spPr>
      </p:cxnSp>
      <p:cxnSp>
        <p:nvCxnSpPr>
          <p:cNvPr id="6" name="sdc-footer-line"/>
          <p:cNvCxnSpPr/>
          <p:nvPr userDrawn="1"/>
        </p:nvCxnSpPr>
        <p:spPr>
          <a:xfrm>
            <a:off x="457200" y="6355080"/>
            <a:ext cx="8229600" cy="0"/>
          </a:xfrm>
          <a:prstGeom prst="line">
            <a:avLst/>
          </a:prstGeom>
          <a:ln w="9525">
            <a:solidFill>
              <a:srgbClr val="D9D9D9"/>
            </a:solidFill>
          </a:ln>
        </p:spPr>
      </p:cxnSp>
      <p:pic>
        <p:nvPicPr>
          <p:cNvPr id="7" name="sdc-footer-logo"/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457200" y="6419088"/>
            <a:ext cx="329184" cy="329184"/>
          </a:xfrm>
          <a:prstGeom prst="rect">
            <a:avLst/>
          </a:prstGeom>
        </p:spPr>
      </p:pic>
      <p:sp>
        <p:nvSpPr>
          <p:cNvPr id="8" name="sdc-footer-college"/>
          <p:cNvSpPr/>
          <p:nvPr userDrawn="1"/>
        </p:nvSpPr>
        <p:spPr>
          <a:xfrm>
            <a:off x="841248" y="6400800"/>
            <a:ext cx="36576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zh-CN" altLang="en-US" sz="1100" b="0">
                <a:solidFill>
                  <a:srgbClr val="595959"/>
                </a:solidFill>
                <a:latin typeface="微软雅黑"/>
                <a:ea typeface="微软雅黑"/>
              </a:rPr>
              <a:t>计算机科学与技术学院</a:t>
            </a:r>
          </a:p>
        </p:txBody>
      </p:sp>
      <p:sp>
        <p:nvSpPr>
          <p:cNvPr id="9" name="sdc-page-number"/>
          <p:cNvSpPr/>
          <p:nvPr userDrawn="1"/>
        </p:nvSpPr>
        <p:spPr>
          <a:xfrm>
            <a:off x="6858000" y="640080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fld id="{B6F15528-21DE-4FAA-801E-634DDDAF4B2B}" type="slidenum">
              <a:rPr lang="zh-CN" altLang="en-US" sz="1200">
                <a:solidFill>
                  <a:srgbClr val="595959"/>
                </a:solidFill>
                <a:latin typeface="微软雅黑"/>
                <a:ea typeface="微软雅黑"/>
              </a:rPr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eaLnBrk="1" hangingPunct="1">
        <a:lnSpc>
          <a:spcPct val="90000"/>
        </a:lnSpc>
        <a:defRPr sz="2800" b="1" kern="1200">
          <a:solidFill>
            <a:srgbClr val="A33B38"/>
          </a:solidFill>
          <a:latin typeface="微软雅黑"/>
          <a:ea typeface="微软雅黑"/>
          <a:cs typeface="微软雅黑"/>
        </a:defRPr>
      </a:lvl1pPr>
    </p:titleStyle>
    <p:bodyStyle>
      <a:lvl1pPr marL="292608" indent="-292608" algn="l" eaLnBrk="1" hangingPunct="1">
        <a:lnSpc>
          <a:spcPct val="110000"/>
        </a:lnSpc>
        <a:spcBef>
          <a:spcPts val="600"/>
        </a:spcBef>
        <a:buClr>
          <a:srgbClr val="A33B38"/>
        </a:buClr>
        <a:buSzPct val="80000"/>
        <a:buFont typeface="Wingdings"/>
        <a:buChar char="n"/>
        <a:defRPr sz="2200" b="0" kern="1200">
          <a:solidFill>
            <a:srgbClr val="262626"/>
          </a:solidFill>
          <a:latin typeface="微软雅黑"/>
          <a:ea typeface="微软雅黑"/>
          <a:cs typeface="微软雅黑"/>
        </a:defRPr>
      </a:lvl1pPr>
      <a:lvl2pPr marL="640080" indent="-256032" algn="l" eaLnBrk="1" hangingPunct="1">
        <a:lnSpc>
          <a:spcPct val="110000"/>
        </a:lnSpc>
        <a:spcBef>
          <a:spcPts val="600"/>
        </a:spcBef>
        <a:buClr>
          <a:srgbClr val="7F7F7F"/>
        </a:buClr>
        <a:buSzPct val="80000"/>
        <a:buFont typeface="Wingdings"/>
        <a:buChar char="§"/>
        <a:defRPr sz="2000" b="0" kern="1200">
          <a:solidFill>
            <a:srgbClr val="262626"/>
          </a:solidFill>
          <a:latin typeface="微软雅黑"/>
          <a:ea typeface="微软雅黑"/>
          <a:cs typeface="微软雅黑"/>
        </a:defRPr>
      </a:lvl2pPr>
      <a:lvl3pPr marL="960120" indent="-228600" algn="l" eaLnBrk="1" hangingPunct="1">
        <a:lnSpc>
          <a:spcPct val="110000"/>
        </a:lnSpc>
        <a:spcBef>
          <a:spcPts val="600"/>
        </a:spcBef>
        <a:buClr>
          <a:srgbClr val="7F7F7F"/>
        </a:buClr>
        <a:buSzPct val="80000"/>
        <a:buFont typeface="Wingdings"/>
        <a:buChar char="§"/>
        <a:defRPr sz="1800" b="0" kern="1200">
          <a:solidFill>
            <a:srgbClr val="262626"/>
          </a:solidFill>
          <a:latin typeface="微软雅黑"/>
          <a:ea typeface="微软雅黑"/>
          <a:cs typeface="微软雅黑"/>
        </a:defRPr>
      </a:lvl3pPr>
    </p:bodyStyle>
    <p:otherStyle>
      <a:lvl1pPr algn="l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0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软件设计与规范</a:t>
            </a:r>
          </a:p>
        </p:txBody>
      </p:sp>
      <p:sp>
        <p:nvSpPr>
          <p:cNvPr id="3" name="body"/>
          <p:cNvSpPr>
            <a:spLocks noGrp="1"/>
          </p:cNvSpPr>
          <p:nvPr>
            <p:ph type="subTitle" idx="1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第 8 次课｜设计模式与重构</a:t>
            </a:r>
          </a:p>
          <a:p>
            <a:pPr algn="l" eaLnBrk="1" hangingPunct="1">
              <a:lnSpc>
                <a:spcPct val="100000"/>
              </a:lnSpc>
              <a:spcBef>
                <a:spcPts val="2400"/>
              </a:spcBef>
              <a:spcAft>
                <a:spcPts val="200"/>
              </a:spcAft>
            </a:pPr>
            <a:r>
              <a:rPr sz="2000" b="0" lang="zh-CN" altLang="en-US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李萌</a:t>
            </a:r>
          </a:p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000" b="0" lang="zh-CN" altLang="en-US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计算机科学与技术学院</a:t>
            </a:r>
          </a:p>
        </p:txBody>
      </p:sp>
    </p:spTree>
  </p:cSld>
  <p:clrMapOvr>
    <a:masterClrMapping/>
  </p:clrMapOvr>
  <p:hf sldNum="0" hdr="0" ftr="0" dt="0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目录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spcBef>
                <a:spcPts val="1400"/>
              </a:spcBef>
              <a:buNone/>
            </a:pPr>
            <a:r>
              <a:rPr lang="en-US" altLang="zh-CN" sz="2800" b="1">
                <a:solidFill>
                  <a:srgbClr val="A33B38"/>
                </a:solidFill>
                <a:latin typeface="微软雅黑"/>
                <a:ea typeface="微软雅黑"/>
              </a:rPr>
              <a:t>01</a:t>
            </a:r>
            <a:r>
              <a:rPr lang="zh-CN" altLang="en-US" sz="2200">
                <a:solidFill>
                  <a:srgbClr val="262626"/>
                </a:solidFill>
                <a:latin typeface="微软雅黑"/>
                <a:ea typeface="微软雅黑"/>
              </a:rPr>
              <a:t>    现场演示与投票</a:t>
            </a:r>
          </a:p>
          <a:p>
            <a:pPr marL="0" indent="0">
              <a:lnSpc>
                <a:spcPct val="100000"/>
              </a:lnSpc>
              <a:spcBef>
                <a:spcPts val="1400"/>
              </a:spcBef>
              <a:buNone/>
            </a:pPr>
            <a:r>
              <a:rPr lang="en-US" altLang="zh-CN" sz="2800" b="1">
                <a:solidFill>
                  <a:srgbClr val="A33B38"/>
                </a:solidFill>
                <a:latin typeface="微软雅黑"/>
                <a:ea typeface="微软雅黑"/>
              </a:rPr>
              <a:t>02</a:t>
            </a:r>
            <a:r>
              <a:rPr lang="zh-CN" altLang="en-US" sz="2200">
                <a:solidFill>
                  <a:srgbClr val="262626"/>
                </a:solidFill>
                <a:latin typeface="微软雅黑"/>
                <a:ea typeface="微软雅黑"/>
              </a:rPr>
              <a:t>    任务说明</a:t>
            </a:r>
          </a:p>
          <a:p>
            <a:pPr marL="0" indent="0">
              <a:lnSpc>
                <a:spcPct val="100000"/>
              </a:lnSpc>
              <a:spcBef>
                <a:spcPts val="1400"/>
              </a:spcBef>
              <a:buNone/>
            </a:pPr>
            <a:r>
              <a:rPr lang="en-US" altLang="zh-CN" sz="2800" b="1">
                <a:solidFill>
                  <a:srgbClr val="A33B38"/>
                </a:solidFill>
                <a:latin typeface="微软雅黑"/>
                <a:ea typeface="微软雅黑"/>
              </a:rPr>
              <a:t>03</a:t>
            </a:r>
            <a:r>
              <a:rPr lang="zh-CN" altLang="en-US" sz="2200">
                <a:solidFill>
                  <a:srgbClr val="262626"/>
                </a:solidFill>
                <a:latin typeface="微软雅黑"/>
                <a:ea typeface="微软雅黑"/>
              </a:rPr>
              <a:t>    实验</a:t>
            </a:r>
          </a:p>
          <a:p>
            <a:pPr marL="0" indent="0">
              <a:lnSpc>
                <a:spcPct val="100000"/>
              </a:lnSpc>
              <a:spcBef>
                <a:spcPts val="1400"/>
              </a:spcBef>
              <a:buNone/>
            </a:pPr>
            <a:r>
              <a:rPr lang="en-US" altLang="zh-CN" sz="2800" b="1">
                <a:solidFill>
                  <a:srgbClr val="A33B38"/>
                </a:solidFill>
                <a:latin typeface="微软雅黑"/>
                <a:ea typeface="微软雅黑"/>
              </a:rPr>
              <a:t>04</a:t>
            </a:r>
            <a:r>
              <a:rPr lang="zh-CN" altLang="en-US" sz="2200">
                <a:solidFill>
                  <a:srgbClr val="262626"/>
                </a:solidFill>
                <a:latin typeface="微软雅黑"/>
                <a:ea typeface="微软雅黑"/>
              </a:rPr>
              <a:t>    小结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演示规则与投票口径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713232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3—5 人按评价标准实名演示，全班按同一细则投票。实验 E3</a:t>
            </a:r>
          </a:p>
        </p:txBody>
      </p:sp>
      <p:graphicFrame>
        <p:nvGraphicFramePr>
          <p:cNvPr id="4" name="table"/>
          <p:cNvGraphicFramePr>
            <a:graphicFrameLocks noGrp="1"/>
          </p:cNvGraphicFramePr>
          <p:nvPr/>
        </p:nvGraphicFramePr>
        <p:xfrm>
          <a:off x="365760" y="2267712"/>
          <a:ext cx="8138160" cy="362102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011680"/>
                <a:gridCol w="6126480"/>
              </a:tblGrid>
              <a:tr h="517289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讲清楚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输入、期望、缺陷复现与实际修改位置15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</a:tr>
              <a:tr h="517289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讲清楚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调用与持久化数据流和不得修改的部分15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517289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有依据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规格对应的业务不变量或编码原则15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289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有依据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AI建议的采纳／驳回、人工核对与最小修复取舍15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517289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验证过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用执行记录核实同组规格测试改前因业务断言失败、改后通过20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289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验证过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边界及相邻行为回归10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51729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验证过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目标方法行、分支覆盖率均不低于80%并解释未覆盖内容10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现场演示与投票</a:t>
            </a:r>
          </a:p>
        </p:txBody>
      </p:sp>
    </p:spTree>
  </p:cSld>
  <p:clrMapOvr>
    <a:masterClrMapping/>
  </p:clrMapOvr>
  <p:hf sldNum="0" hdr="0" ftr="0" dt="0"/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签到</a:t>
            </a:r>
          </a:p>
        </p:txBody>
      </p:sp>
      <p:sp>
        <p:nvSpPr>
          <p:cNvPr id="3" name="quiz"/>
          <p:cNvSpPr>
            <a:spLocks noGrp="1"/>
          </p:cNvSpPr>
          <p:nvPr>
            <p:ph idx="1"/>
          </p:nvPr>
        </p:nvSpPr>
        <p:spPr>
          <a:xfrm>
            <a:off x="237744" y="1444752"/>
            <a:ext cx="8382000" cy="4480560"/>
          </a:xfrm>
        </p:spPr>
        <p:txBody>
          <a:bodyPr wrap="square" lIns="27432" rIns="27432" tIns="18288" bIns="18288" eaLnBrk="1" hangingPunct="1" latinLnBrk="0"/>
          <a:lstStyle/>
          <a:p>
            <a:pPr algn="l" eaLnBrk="1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在现有测试保护下完成重构后，还要演示“新增一种情况时，重构前后各改几处”。这主要用来说明：</a:t>
            </a:r>
          </a:p>
          <a:p>
            <a:pPr algn="l" eaLnBrk="1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（A）运行速度是否变快；</a:t>
            </a:r>
          </a:p>
          <a:p>
            <a:pPr algn="l" eaLnBrk="1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（B）覆盖率是否提高；</a:t>
            </a:r>
          </a:p>
          <a:p>
            <a:pPr algn="l" eaLnBrk="1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（C）重构是否缩小了新增变化的修改范围；</a:t>
            </a:r>
          </a:p>
          <a:p>
            <a:pPr algn="l" eaLnBrk="1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（D）代码是否符合命名规范。</a:t>
            </a:r>
          </a:p>
          <a:p>
            <a:pPr algn="l" eaLnBrk="1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请看完演示再投票</a:t>
            </a:r>
          </a:p>
        </p:txBody>
      </p:sp>
      <p:sp>
        <p:nvSpPr>
          <p:cNvPr id="4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现场演示与投票</a:t>
            </a:r>
          </a:p>
        </p:txBody>
      </p:sp>
    </p:spTree>
  </p:cSld>
  <p:clrMapOvr>
    <a:masterClrMapping/>
  </p:clrMapOvr>
  <p:hf sldNum="0" hdr="0" ftr="0" dt="0"/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预习题回顾与易混点</a:t>
            </a:r>
          </a:p>
        </p:txBody>
      </p:sp>
      <p:sp>
        <p:nvSpPr>
          <p:cNvPr id="101" name="fig-d"/>
          <p:cNvSpPr/>
          <p:nvPr/>
        </p:nvSpPr>
        <p:spPr>
          <a:xfrm>
            <a:off x="411480" y="1572768"/>
            <a:ext cx="109728" cy="694944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594360" y="1572768"/>
            <a:ext cx="8138160" cy="713232"/>
          </a:xfrm>
          <a:prstGeom prst="rect">
            <a:avLst/>
          </a:prstGeom>
          <a:solidFill>
            <a:srgbClr val="F6E8E6"/>
          </a:solidFill>
          <a:ln>
            <a:noFill/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1 选 A。构造函数注入，测试中直接传入替代实现。易混：字段注入</a:t>
            </a:r>
          </a:p>
        </p:txBody>
      </p:sp>
      <p:sp>
        <p:nvSpPr>
          <p:cNvPr id="103" name="fig-d"/>
          <p:cNvSpPr/>
          <p:nvPr/>
        </p:nvSpPr>
        <p:spPr>
          <a:xfrm>
            <a:off x="411480" y="2395728"/>
            <a:ext cx="109728" cy="694944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594360" y="2395728"/>
            <a:ext cx="8138160" cy="71323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2 选 D。事务归属是体系结构决策。易混：命名决策</a:t>
            </a:r>
          </a:p>
        </p:txBody>
      </p:sp>
      <p:sp>
        <p:nvSpPr>
          <p:cNvPr id="105" name="fig-d"/>
          <p:cNvSpPr/>
          <p:nvPr/>
        </p:nvSpPr>
        <p:spPr>
          <a:xfrm>
            <a:off x="411480" y="3218688"/>
            <a:ext cx="109728" cy="694944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594360" y="3218688"/>
            <a:ext cx="8138160" cy="713232"/>
          </a:xfrm>
          <a:prstGeom prst="rect">
            <a:avLst/>
          </a:prstGeom>
          <a:solidFill>
            <a:srgbClr val="F6E8E6"/>
          </a:solidFill>
          <a:ln>
            <a:noFill/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3 选 A。改三个文件，违背开闭。易混：接口隔离</a:t>
            </a:r>
          </a:p>
        </p:txBody>
      </p:sp>
      <p:sp>
        <p:nvSpPr>
          <p:cNvPr id="107" name="fig-d"/>
          <p:cNvSpPr/>
          <p:nvPr/>
        </p:nvSpPr>
        <p:spPr>
          <a:xfrm>
            <a:off x="411480" y="4041648"/>
            <a:ext cx="109728" cy="694944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594360" y="4041648"/>
            <a:ext cx="8138160" cy="71323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4 选 B。倒置是原则，注入是实现机制。易混：同一概念</a:t>
            </a:r>
          </a:p>
        </p:txBody>
      </p:sp>
      <p:sp>
        <p:nvSpPr>
          <p:cNvPr id="109" name="fig-d"/>
          <p:cNvSpPr/>
          <p:nvPr/>
        </p:nvSpPr>
        <p:spPr>
          <a:xfrm>
            <a:off x="411480" y="4864608"/>
            <a:ext cx="109728" cy="82296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0" name="fig"/>
          <p:cNvSpPr/>
          <p:nvPr/>
        </p:nvSpPr>
        <p:spPr>
          <a:xfrm>
            <a:off x="594360" y="4864608"/>
            <a:ext cx="8138160" cy="841248"/>
          </a:xfrm>
          <a:prstGeom prst="rect">
            <a:avLst/>
          </a:prstGeom>
          <a:solidFill>
            <a:srgbClr val="F6E8E6"/>
          </a:solidFill>
          <a:ln>
            <a:noFill/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5 选 C。子类不能替换父类，违背里氏替换。易混：单一职责</a:t>
            </a:r>
          </a:p>
        </p:txBody>
      </p:sp>
      <p:sp>
        <p:nvSpPr>
          <p:cNvPr id="111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任务说明</a:t>
            </a:r>
          </a:p>
        </p:txBody>
      </p:sp>
    </p:spTree>
  </p:cSld>
  <p:clrMapOvr>
    <a:masterClrMapping/>
  </p:clrMapOvr>
  <p:hf sldNum="0" hdr="0" ftr="0" dt="0"/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本次目标与不要求</a:t>
            </a:r>
          </a:p>
        </p:txBody>
      </p:sp>
      <p:sp>
        <p:nvSpPr>
          <p:cNvPr id="101" name="fig-d"/>
          <p:cNvSpPr/>
          <p:nvPr/>
        </p:nvSpPr>
        <p:spPr>
          <a:xfrm>
            <a:off x="411480" y="1572768"/>
            <a:ext cx="1188720" cy="749808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选题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1691640" y="1572768"/>
            <a:ext cx="7040880" cy="749808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45720" rIns="45720" tIns="22860" bIns="2286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从七项候选里选一题。教师示例是 E4-00，Issue #20</a:t>
            </a:r>
          </a:p>
        </p:txBody>
      </p:sp>
      <p:sp>
        <p:nvSpPr>
          <p:cNvPr id="103" name="fig-d"/>
          <p:cNvSpPr/>
          <p:nvPr/>
        </p:nvSpPr>
        <p:spPr>
          <a:xfrm>
            <a:off x="411480" y="2414016"/>
            <a:ext cx="1188720" cy="749808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做法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1691640" y="2414016"/>
            <a:ext cx="7040880" cy="749808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45720" rIns="45720" tIns="22860" bIns="2286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让 AI 局部重构，用特征测试核实，再与更简单方案比较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411480" y="3255264"/>
            <a:ext cx="1188720" cy="749808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写效果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1691640" y="3255264"/>
            <a:ext cx="7040880" cy="749808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45720" rIns="45720" tIns="22860" bIns="2286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用四个要素写效果：得到什么、失去什么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411480" y="4096512"/>
            <a:ext cx="1188720" cy="749808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不要求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1691640" y="4096512"/>
            <a:ext cx="7040880" cy="749808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45720" rIns="45720" tIns="22860" bIns="2286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不要求强行增加策略类</a:t>
            </a:r>
            <a:endParaRPr lang="zh-CN" sz="20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不要求代码行数必须减少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9" name="fig-d"/>
          <p:cNvSpPr/>
          <p:nvPr/>
        </p:nvSpPr>
        <p:spPr>
          <a:xfrm>
            <a:off x="411480" y="4937760"/>
            <a:ext cx="1188720" cy="749808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不要求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0" name="fig"/>
          <p:cNvSpPr/>
          <p:nvPr/>
        </p:nvSpPr>
        <p:spPr>
          <a:xfrm>
            <a:off x="1691640" y="4937760"/>
            <a:ext cx="7040880" cy="749808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45720" rIns="45720" tIns="22860" bIns="2286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不要求改前功能失败</a:t>
            </a:r>
            <a:endParaRPr lang="zh-CN" sz="20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缺陷修复另列，不混入本次纯重构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1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任务说明</a:t>
            </a:r>
          </a:p>
        </p:txBody>
      </p:sp>
    </p:spTree>
  </p:cSld>
  <p:clrMapOvr>
    <a:masterClrMapping/>
  </p:clrMapOvr>
  <p:hf sldNum="0" hdr="0" ftr="0" dt="0"/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本次要用的知识是坏味道与模式的四个要素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12500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坏味道：形状相同的分支重复出现</a:t>
            </a:r>
          </a:p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模式四要素：名称、问题、解决方案、效果</a:t>
            </a:r>
          </a:p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示范取 listCart 里的三段分支</a:t>
            </a:r>
          </a:p>
        </p:txBody>
      </p:sp>
      <p:graphicFrame>
        <p:nvGraphicFramePr>
          <p:cNvPr id="4" name="table"/>
          <p:cNvGraphicFramePr>
            <a:graphicFrameLocks noGrp="1"/>
          </p:cNvGraphicFramePr>
          <p:nvPr/>
        </p:nvGraphicFramePr>
        <p:xfrm>
          <a:off x="411480" y="2831328"/>
          <a:ext cx="8128000" cy="2463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70000"/>
                <a:gridCol w="5080000"/>
                <a:gridCol w="1778000"/>
              </a:tblGrid>
              <a:tr h="43180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要素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在 listCart 里的对应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依据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</a:tr>
              <a:tr h="50800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名称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策略模式：每种范围一个策略类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K9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50800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问题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三段同形分支，新增范围要再加一段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K4、K5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解决方案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一个接口加 3 个策略类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K8、K9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50800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效果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listCart 56→25 行；门槛仍 3 处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K4、K10、K11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fn"/>
          <p:cNvSpPr txBox="1"/>
          <p:nvPr/>
        </p:nvSpPr>
        <p:spPr>
          <a:xfrm>
            <a:off x="411480" y="5700000"/>
            <a:ext cx="8321040" cy="4572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0" lang="zh-CN" altLang="en-US">
                <a:latin typeface="微软雅黑"/>
                <a:ea typeface="微软雅黑"/>
                <a:cs typeface="微软雅黑"/>
              </a:rPr>
              <a:t>依据：事实卡 E4 K4–K6、K8–K11</a:t>
            </a:r>
          </a:p>
        </p:txBody>
      </p:sp>
      <p:sp>
        <p:nvSpPr>
          <p:cNvPr id="6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任务说明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本次要用的知识是特征测试与接缝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12500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特征测试先锁定现有行为，再重构</a:t>
            </a:r>
          </a:p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接缝：不改此处代码就能改变行为</a:t>
            </a:r>
          </a:p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示范取 SDCE400Test 的 5 个测试</a:t>
            </a:r>
          </a:p>
        </p:txBody>
      </p:sp>
      <p:graphicFrame>
        <p:nvGraphicFramePr>
          <p:cNvPr id="4" name="table"/>
          <p:cNvGraphicFramePr>
            <a:graphicFrameLocks noGrp="1"/>
          </p:cNvGraphicFramePr>
          <p:nvPr/>
        </p:nvGraphicFramePr>
        <p:xfrm>
          <a:off x="411480" y="2831328"/>
          <a:ext cx="8128000" cy="2463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97000"/>
                <a:gridCol w="5334000"/>
                <a:gridCol w="1397000"/>
              </a:tblGrid>
              <a:tr h="43180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概念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在 SDCE400Test 与 listCart 里的对应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依据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</a:tr>
              <a:tr h="50800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特征测试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 个测试，改前、改后都要通过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K14、K15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50800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锁定的行为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券的集合与顺序；过期券仍不可用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K15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已知行为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截断边界只记录，不冻结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K15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50800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接缝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scopePolicies 登记处：循环不改就能换策略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K9、K10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fn"/>
          <p:cNvSpPr txBox="1"/>
          <p:nvPr/>
        </p:nvSpPr>
        <p:spPr>
          <a:xfrm>
            <a:off x="411480" y="5700000"/>
            <a:ext cx="8321040" cy="4572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0" lang="zh-CN" altLang="en-US">
                <a:latin typeface="微软雅黑"/>
                <a:ea typeface="微软雅黑"/>
                <a:cs typeface="微软雅黑"/>
              </a:rPr>
              <a:t>依据：事实卡 E4 K9、K10、K14、K15；接缝为教学判断</a:t>
            </a:r>
          </a:p>
        </p:txBody>
      </p:sp>
      <p:sp>
        <p:nvSpPr>
          <p:cNvPr id="6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任务说明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动手前的准备是只读检出 exp/E4，不开分支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12500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在本地工作区改代码，本地提交后对照</a:t>
            </a:r>
          </a:p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compare.env 写 EXPECT_BASE=pass</a:t>
            </a:r>
          </a:p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跑 compare.sh，结论须为符合</a:t>
            </a:r>
          </a:p>
        </p:txBody>
      </p:sp>
      <p:sp>
        <p:nvSpPr>
          <p:cNvPr id="4" name="code-cmd"/>
          <p:cNvSpPr txBox="1"/>
          <p:nvPr/>
        </p:nvSpPr>
        <p:spPr>
          <a:xfrm>
            <a:off x="411480" y="2831328"/>
            <a:ext cx="8138160" cy="1000000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</p:spPr>
        <p:txBody>
          <a:bodyPr wrap="square" lIns="54864" rIns="54864" tIns="18288" bIns="18288" eaLnBrk="1" hangingPunct="1" latinLnBrk="1"/>
          <a:lstStyle/>
          <a:p>
            <a:pPr algn="l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git fetch origin</a:t>
            </a:r>
          </a:p>
          <a:p>
            <a:pPr algn="l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git switch --detach origin/exp/E4</a:t>
            </a:r>
          </a:p>
          <a:p>
            <a:pPr algn="l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# 对照参数：SDC/E4/outputs/E4-&lt;学号&gt;/compare.env</a:t>
            </a:r>
          </a:p>
          <a:p>
            <a:pPr algn="l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SDC/compare.sh E4-&lt;学号&gt;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11480" y="3900000"/>
          <a:ext cx="8128000" cy="1346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651000"/>
                <a:gridCol w="6477000"/>
              </a:tblGrid>
              <a:tr h="43180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项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内容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</a:tr>
              <a:tr h="45720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compare.env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MODULE=mall-portal；TESTS=你的测试类；EXPECT_BASE=pass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45720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达标判据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Errors=0、Skipped=0、结论：符合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fn"/>
          <p:cNvSpPr txBox="1"/>
          <p:nvPr/>
        </p:nvSpPr>
        <p:spPr>
          <a:xfrm>
            <a:off x="411480" y="5700000"/>
            <a:ext cx="8321040" cy="4572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0" lang="zh-CN" altLang="en-US">
                <a:latin typeface="微软雅黑"/>
                <a:ea typeface="微软雅黑"/>
                <a:cs typeface="微软雅黑"/>
              </a:rPr>
              <a:t>来源：学生操作手册（@0a5eae2a）第 26、34–38、53–67、75、163 行；事实卡 E4 K13、K14</a:t>
            </a:r>
          </a:p>
        </p:txBody>
      </p:sp>
      <p:sp>
        <p:nvSpPr>
          <p:cNvPr id="7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实验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① 业务需求与约束里三种范围可能再增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12500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0 全场、1 指定分类、2 指定商品</a:t>
            </a:r>
          </a:p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新增范围是合理的产品需求</a:t>
            </a:r>
          </a:p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只重组职责，不修复金额截断</a:t>
            </a:r>
          </a:p>
        </p:txBody>
      </p:sp>
      <p:graphicFrame>
        <p:nvGraphicFramePr>
          <p:cNvPr id="4" name="table"/>
          <p:cNvGraphicFramePr>
            <a:graphicFrameLocks noGrp="1"/>
          </p:cNvGraphicFramePr>
          <p:nvPr/>
        </p:nvGraphicFramePr>
        <p:xfrm>
          <a:off x="411480" y="2831328"/>
          <a:ext cx="8128000" cy="2717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70000"/>
                <a:gridCol w="5588000"/>
                <a:gridCol w="1270000"/>
              </a:tblGrid>
              <a:tr h="43180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项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内容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依据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</a:tr>
              <a:tr h="45720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范围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useType：0 全场通用，1 指定分类，2 指定商品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K1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45720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结果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type=1 返回可用列表，否则返回不可用列表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K1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不改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公开接口；过期与未知类型的现有行为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K2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45720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已知行为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门槛截断属 E3-01，只记录，不顺便修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K3、K6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未知类型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两个列表都不放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K7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</a:tbl>
          </a:graphicData>
        </a:graphic>
      </p:graphicFrame>
      <p:sp>
        <p:nvSpPr>
          <p:cNvPr id="5" name="fn"/>
          <p:cNvSpPr txBox="1"/>
          <p:nvPr/>
        </p:nvSpPr>
        <p:spPr>
          <a:xfrm>
            <a:off x="411480" y="5700000"/>
            <a:ext cx="8321040" cy="4572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0" lang="zh-CN" altLang="en-US">
                <a:latin typeface="微软雅黑"/>
                <a:ea typeface="微软雅黑"/>
                <a:cs typeface="微软雅黑"/>
              </a:rPr>
              <a:t>依据：事实卡 E4 K1–K3、K6、K7</a:t>
            </a:r>
          </a:p>
        </p:txBody>
      </p:sp>
      <p:sp>
        <p:nvSpPr>
          <p:cNvPr id="6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实验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② 优势是逻辑集中，不足是新增范围要动循环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12500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优势：逻辑集中，一个方法读得完</a:t>
            </a:r>
          </a:p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不足：新增范围要动循环本体</a:t>
            </a:r>
          </a:p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不足：同形的三段分支重复 3 次</a:t>
            </a:r>
          </a:p>
        </p:txBody>
      </p:sp>
      <p:graphicFrame>
        <p:nvGraphicFramePr>
          <p:cNvPr id="4" name="table"/>
          <p:cNvGraphicFramePr>
            <a:graphicFrameLocks noGrp="1"/>
          </p:cNvGraphicFramePr>
          <p:nvPr/>
        </p:nvGraphicFramePr>
        <p:xfrm>
          <a:off x="411480" y="2831328"/>
          <a:ext cx="8128000" cy="2717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16000"/>
                <a:gridCol w="5715000"/>
                <a:gridCol w="1397000"/>
              </a:tblGrid>
              <a:tr h="43180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类别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内容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依据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</a:tr>
              <a:tr h="45720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优势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listCart 56 行，一个方法能线性读完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K4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45720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优势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范围与判断紧邻，调试时只看一处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K5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不足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新增一种范围，要在循环里再加一个 else if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K4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45720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不足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三段同形：求总价、判门槛、归类，重复 3 次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K5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不足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门槛判断也写了 3 份，改规则要改 3 处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K6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</a:tbl>
          </a:graphicData>
        </a:graphic>
      </p:graphicFrame>
      <p:sp>
        <p:nvSpPr>
          <p:cNvPr id="5" name="fn"/>
          <p:cNvSpPr txBox="1"/>
          <p:nvPr/>
        </p:nvSpPr>
        <p:spPr>
          <a:xfrm>
            <a:off x="411480" y="5700000"/>
            <a:ext cx="8321040" cy="4572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0" lang="zh-CN" altLang="en-US">
                <a:latin typeface="微软雅黑"/>
                <a:ea typeface="微软雅黑"/>
                <a:cs typeface="微软雅黑"/>
              </a:rPr>
              <a:t>依据：事实卡 E4 K4–K6</a:t>
            </a:r>
          </a:p>
        </p:txBody>
      </p:sp>
      <p:sp>
        <p:nvSpPr>
          <p:cNvPr id="6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实验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教师示例 E4-00 改前按范围分支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128016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Issue #20。三段同一形状</a:t>
            </a:r>
          </a:p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调用：UmsMemberCouponController 第 72 行；OmsPortalOrderServiceImpl 第 80、711 行</a:t>
            </a:r>
          </a:p>
        </p:txBody>
      </p:sp>
      <p:sp>
        <p:nvSpPr>
          <p:cNvPr id="4" name="code"/>
          <p:cNvSpPr txBox="1"/>
          <p:nvPr/>
        </p:nvSpPr>
        <p:spPr>
          <a:xfrm>
            <a:off x="411480" y="2834640"/>
            <a:ext cx="8138160" cy="2631136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</p:spPr>
        <p:txBody>
          <a:bodyPr wrap="square" lIns="54864" rIns="54864" tIns="18288" bIns="18288" eaLnBrk="1" hangingPunct="1" latinLnBrk="1"/>
          <a:lstStyle/>
          <a:p>
            <a:pPr algn="l" eaLnBrk="1" hangingPunct="1" marL="1788160" indent="-178816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    if(​useType.​equals(​0)){</a:t>
            </a:r>
          </a:p>
          <a:p>
            <a:pPr algn="l" eaLnBrk="1" hangingPunct="1" marL="2235200" indent="-223520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        ​//0-&gt;全场通用</a:t>
            </a:r>
          </a:p>
          <a:p>
            <a:pPr algn="l" eaLnBrk="1" hangingPunct="1" marL="2235200" indent="-223520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        ​//判断是否满足优惠起点</a:t>
            </a:r>
          </a:p>
          <a:p>
            <a:pPr algn="l" eaLnBrk="1" hangingPunct="1" marL="2235200" indent="-223520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        ​//计算购物车商品的总价</a:t>
            </a:r>
          </a:p>
          <a:p>
            <a:pPr algn="l" eaLnBrk="1" hangingPunct="1" marL="2235200" indent="-223520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        BigDecimal totalAmount ​= ​calcTotalAmount(​cartItemList);</a:t>
            </a:r>
          </a:p>
          <a:p>
            <a:pPr algn="l" eaLnBrk="1" hangingPunct="1" marL="2235200" indent="-223520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        if(​now.​before(​endTime)&amp;&amp;</a:t>
            </a:r>
            <a:br/>
            <a:r>
              <a:rPr sz="1600" b="0" lang="zh-CN" altLang="en-US">
                <a:latin typeface="Consolas"/>
                <a:ea typeface="微软雅黑"/>
                <a:cs typeface="Consolas"/>
              </a:rPr>
              <a:t>totalAmount.​subtract(​minPoint).​intValue(​)&gt;=0){</a:t>
            </a:r>
          </a:p>
        </p:txBody>
      </p:sp>
      <p:sp>
        <p:nvSpPr>
          <p:cNvPr id="5" name="fn"/>
          <p:cNvSpPr txBox="1"/>
          <p:nvPr/>
        </p:nvSpPr>
        <p:spPr>
          <a:xfrm>
            <a:off x="411480" y="5484064"/>
            <a:ext cx="8321040" cy="4572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出处：meng004/​mall@​dcaa93b3150352e5044708d7211b5bed0af4509f:​</a:t>
            </a:r>
          </a:p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mall-portal/​src/​main/​java/​com/​macro/​mall/​portal/​service/​impl/​UmsMemberCouponServiceImpl.java:​127-132</a:t>
            </a:r>
          </a:p>
        </p:txBody>
      </p:sp>
      <p:sp>
        <p:nvSpPr>
          <p:cNvPr id="6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实验</a:t>
            </a:r>
          </a:p>
        </p:txBody>
      </p:sp>
    </p:spTree>
  </p:cSld>
  <p:clrMapOvr>
    <a:masterClrMapping/>
  </p:clrMapOvr>
  <p:hf sldNum="0" hdr="0" ftr="0" dt="0"/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本次重点是易修改性，新增一种范围改几处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12500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本次只评易修改性这一个子特性</a:t>
            </a:r>
          </a:p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判定问题：新增一种范围要改哪里</a:t>
            </a:r>
          </a:p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现有设计：加 else if，门槛要改 3 处</a:t>
            </a:r>
          </a:p>
        </p:txBody>
      </p:sp>
      <p:graphicFrame>
        <p:nvGraphicFramePr>
          <p:cNvPr id="4" name="table"/>
          <p:cNvGraphicFramePr>
            <a:graphicFrameLocks noGrp="1"/>
          </p:cNvGraphicFramePr>
          <p:nvPr/>
        </p:nvGraphicFramePr>
        <p:xfrm>
          <a:off x="411480" y="2831328"/>
          <a:ext cx="8128000" cy="1828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43000"/>
                <a:gridCol w="2921000"/>
                <a:gridCol w="2921000"/>
                <a:gridCol w="1143000"/>
              </a:tblGrid>
              <a:tr h="43180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子特性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新增一种范围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改门槛规则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依据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</a:tr>
              <a:tr h="139700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易修改性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在 listCart 里加一个 else if </a:t>
                      </a:r>
                      <a:b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</a:b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分支，方法变长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门槛判断出现 3 处，要改 3 处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K4、K6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</a:tbl>
          </a:graphicData>
        </a:graphic>
      </p:graphicFrame>
      <p:sp>
        <p:nvSpPr>
          <p:cNvPr id="5" name="fn"/>
          <p:cNvSpPr txBox="1"/>
          <p:nvPr/>
        </p:nvSpPr>
        <p:spPr>
          <a:xfrm>
            <a:off x="411480" y="5700000"/>
            <a:ext cx="8321040" cy="4572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0" lang="zh-CN" altLang="en-US">
                <a:latin typeface="微软雅黑"/>
                <a:ea typeface="微软雅黑"/>
                <a:cs typeface="微软雅黑"/>
              </a:rPr>
              <a:t>依据：事实卡 E4 K4、K6；其他子特性本页不评</a:t>
            </a:r>
          </a:p>
        </p:txBody>
      </p:sp>
      <p:sp>
        <p:nvSpPr>
          <p:cNvPr id="6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实验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④ 改进方案用策略模式，新增范围只加一个类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12500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策略模式：每种范围一个策略类</a:t>
            </a:r>
          </a:p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新增范围：加一个类，再登记一行</a:t>
            </a:r>
          </a:p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重构没有消除门槛判断的重复</a:t>
            </a:r>
          </a:p>
        </p:txBody>
      </p:sp>
      <p:graphicFrame>
        <p:nvGraphicFramePr>
          <p:cNvPr id="4" name="table"/>
          <p:cNvGraphicFramePr>
            <a:graphicFrameLocks noGrp="1"/>
          </p:cNvGraphicFramePr>
          <p:nvPr/>
        </p:nvGraphicFramePr>
        <p:xfrm>
          <a:off x="411480" y="2831328"/>
          <a:ext cx="8128000" cy="2717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97000"/>
                <a:gridCol w="5334000"/>
                <a:gridCol w="1397000"/>
              </a:tblGrid>
              <a:tr h="43180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项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内容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依据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</a:tr>
              <a:tr h="45720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做法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一个接口加 3 个策略类，登记在 scopePolicies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K8、K9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45720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应用原则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开闭原则、单一职责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教学判断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优势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改动集中在新增的类，不必改 listCart 的循环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K9、K10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45720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不足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门槛判断仍在 3 个策略类里重复（K11）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K11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不足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多一个接口和 3 个内部类；范围固定则收益有限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K8、K9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</a:tbl>
          </a:graphicData>
        </a:graphic>
      </p:graphicFrame>
      <p:sp>
        <p:nvSpPr>
          <p:cNvPr id="5" name="fn"/>
          <p:cNvSpPr txBox="1"/>
          <p:nvPr/>
        </p:nvSpPr>
        <p:spPr>
          <a:xfrm>
            <a:off x="411480" y="5700000"/>
            <a:ext cx="8321040" cy="4572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0" lang="zh-CN" altLang="en-US">
                <a:latin typeface="微软雅黑"/>
                <a:ea typeface="微软雅黑"/>
                <a:cs typeface="微软雅黑"/>
              </a:rPr>
              <a:t>依据：事实卡 E4 K8–K11；应用原则与收益判断为教学判断</a:t>
            </a:r>
          </a:p>
        </p:txBody>
      </p:sp>
      <p:sp>
        <p:nvSpPr>
          <p:cNvPr id="6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实验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b="1">
                <a:solidFill>
                  <a:srgbClr val="A33B38"/>
                </a:solidFill>
                <a:latin typeface="微软雅黑"/>
                <a:ea typeface="微软雅黑"/>
              </a:rPr>
              <a:t>④ 改进方案的类结构</a:t>
            </a:r>
          </a:p>
        </p:txBody>
      </p:sp>
      <p:sp>
        <p:nvSpPr>
          <p:cNvPr id="101" name="fig-d"/>
          <p:cNvSpPr/>
          <p:nvPr/>
        </p:nvSpPr>
        <p:spPr>
          <a:xfrm>
            <a:off x="2880360" y="1554480"/>
            <a:ext cx="274320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UmsMemberCoupon</a:t>
            </a:r>
            <a:br>
              <a:rPr lang="zh-CN" sz="1600">
                <a:latin typeface="微软雅黑"/>
                <a:ea typeface="微软雅黑"/>
              </a:rPr>
            </a:b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ServiceImpl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2880360" y="2157984"/>
            <a:ext cx="274320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scopePolicies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4251960" y="2542032"/>
            <a:ext cx="9144" cy="182880"/>
          </a:xfrm>
          <a:custGeom>
            <a:avLst/>
            <a:gdLst/>
            <a:ahLst/>
            <a:cxnLst/>
            <a:rect l="0" t="0" r="r" b="b"/>
            <a:pathLst>
              <a:path w="9144" h="182880" fill="none">
                <a:moveTo>
                  <a:pt x="0" y="0"/>
                </a:moveTo>
                <a:lnTo>
                  <a:pt x="0" y="182880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4343400" y="2487168"/>
            <a:ext cx="201168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595959"/>
                </a:solidFill>
                <a:latin typeface="微软雅黑"/>
                <a:ea typeface="微软雅黑"/>
              </a:rPr>
              <a:t>scopePolicies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3017520" y="2743200"/>
            <a:ext cx="2468880" cy="585216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54864" rIns="54864" tIns="27432" bIns="27432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«接口» </a:t>
            </a:r>
            <a:br>
              <a:rPr lang="zh-CN" sz="1600">
                <a:latin typeface="微软雅黑"/>
                <a:ea typeface="微软雅黑"/>
              </a:rPr>
            </a:b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CouponScopePolicy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6" name="fig-d"/>
          <p:cNvSpPr/>
          <p:nvPr/>
        </p:nvSpPr>
        <p:spPr>
          <a:xfrm>
            <a:off x="3017520" y="3328416"/>
            <a:ext cx="246888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supports(useType)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3017520" y="3694176"/>
            <a:ext cx="246888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usable(…)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8" name="fig-d"/>
          <p:cNvSpPr/>
          <p:nvPr/>
        </p:nvSpPr>
        <p:spPr>
          <a:xfrm>
            <a:off x="4151376" y="4059936"/>
            <a:ext cx="201168" cy="164592"/>
          </a:xfrm>
          <a:prstGeom prst="triangle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9" name="fig-d"/>
          <p:cNvSpPr/>
          <p:nvPr/>
        </p:nvSpPr>
        <p:spPr>
          <a:xfrm>
            <a:off x="4251960" y="4224528"/>
            <a:ext cx="9144" cy="265176"/>
          </a:xfrm>
          <a:custGeom>
            <a:avLst/>
            <a:gdLst/>
            <a:ahLst/>
            <a:cxnLst/>
            <a:rect l="0" t="0" r="r" b="b"/>
            <a:pathLst>
              <a:path w="9144" h="265176" fill="none">
                <a:moveTo>
                  <a:pt x="0" y="0"/>
                </a:moveTo>
                <a:lnTo>
                  <a:pt x="0" y="265176"/>
                </a:lnTo>
              </a:path>
            </a:pathLst>
          </a:custGeom>
          <a:noFill/>
          <a:ln w="12700">
            <a:solidFill>
              <a:srgbClr val="A6A6A6"/>
            </a:solidFill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0" name="fig-d"/>
          <p:cNvSpPr/>
          <p:nvPr/>
        </p:nvSpPr>
        <p:spPr>
          <a:xfrm>
            <a:off x="1600200" y="4489704"/>
            <a:ext cx="5394960" cy="9144"/>
          </a:xfrm>
          <a:custGeom>
            <a:avLst/>
            <a:gdLst/>
            <a:ahLst/>
            <a:cxnLst/>
            <a:rect l="0" t="0" r="r" b="b"/>
            <a:pathLst>
              <a:path w="5394960" h="9144" fill="none">
                <a:moveTo>
                  <a:pt x="0" y="0"/>
                </a:moveTo>
                <a:lnTo>
                  <a:pt x="5394960" y="0"/>
                </a:lnTo>
              </a:path>
            </a:pathLst>
          </a:custGeom>
          <a:noFill/>
          <a:ln w="12700">
            <a:solidFill>
              <a:srgbClr val="A6A6A6"/>
            </a:solidFill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1" name="fig-d"/>
          <p:cNvSpPr/>
          <p:nvPr/>
        </p:nvSpPr>
        <p:spPr>
          <a:xfrm>
            <a:off x="1600200" y="4489704"/>
            <a:ext cx="9144" cy="265176"/>
          </a:xfrm>
          <a:custGeom>
            <a:avLst/>
            <a:gdLst/>
            <a:ahLst/>
            <a:cxnLst/>
            <a:rect l="0" t="0" r="r" b="b"/>
            <a:pathLst>
              <a:path w="9144" h="265176" fill="none">
                <a:moveTo>
                  <a:pt x="0" y="0"/>
                </a:moveTo>
                <a:lnTo>
                  <a:pt x="0" y="265176"/>
                </a:lnTo>
              </a:path>
            </a:pathLst>
          </a:custGeom>
          <a:noFill/>
          <a:ln w="12700">
            <a:solidFill>
              <a:srgbClr val="A6A6A6"/>
            </a:solidFill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2" name="fig-d"/>
          <p:cNvSpPr/>
          <p:nvPr/>
        </p:nvSpPr>
        <p:spPr>
          <a:xfrm>
            <a:off x="4297680" y="4489704"/>
            <a:ext cx="9144" cy="265176"/>
          </a:xfrm>
          <a:custGeom>
            <a:avLst/>
            <a:gdLst/>
            <a:ahLst/>
            <a:cxnLst/>
            <a:rect l="0" t="0" r="r" b="b"/>
            <a:pathLst>
              <a:path w="9144" h="265176" fill="none">
                <a:moveTo>
                  <a:pt x="0" y="0"/>
                </a:moveTo>
                <a:lnTo>
                  <a:pt x="0" y="265176"/>
                </a:lnTo>
              </a:path>
            </a:pathLst>
          </a:custGeom>
          <a:noFill/>
          <a:ln w="12700">
            <a:solidFill>
              <a:srgbClr val="A6A6A6"/>
            </a:solidFill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3" name="fig-d"/>
          <p:cNvSpPr/>
          <p:nvPr/>
        </p:nvSpPr>
        <p:spPr>
          <a:xfrm>
            <a:off x="6995160" y="4489704"/>
            <a:ext cx="9144" cy="265176"/>
          </a:xfrm>
          <a:custGeom>
            <a:avLst/>
            <a:gdLst/>
            <a:ahLst/>
            <a:cxnLst/>
            <a:rect l="0" t="0" r="r" b="b"/>
            <a:pathLst>
              <a:path w="9144" h="265176" fill="none">
                <a:moveTo>
                  <a:pt x="0" y="0"/>
                </a:moveTo>
                <a:lnTo>
                  <a:pt x="0" y="265176"/>
                </a:lnTo>
              </a:path>
            </a:pathLst>
          </a:custGeom>
          <a:noFill/>
          <a:ln w="12700">
            <a:solidFill>
              <a:srgbClr val="A6A6A6"/>
            </a:solidFill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4" name="fig-d"/>
          <p:cNvSpPr/>
          <p:nvPr/>
        </p:nvSpPr>
        <p:spPr>
          <a:xfrm>
            <a:off x="4434840" y="4078224"/>
            <a:ext cx="82296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A33B38"/>
                </a:solidFill>
                <a:latin typeface="微软雅黑"/>
                <a:ea typeface="微软雅黑"/>
              </a:rPr>
              <a:t>实现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5" name="fig-d"/>
          <p:cNvSpPr/>
          <p:nvPr/>
        </p:nvSpPr>
        <p:spPr>
          <a:xfrm>
            <a:off x="320040" y="4754880"/>
            <a:ext cx="25603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UniversalScopePolicy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6" name="fig-d"/>
          <p:cNvSpPr/>
          <p:nvPr/>
        </p:nvSpPr>
        <p:spPr>
          <a:xfrm>
            <a:off x="3017520" y="4754880"/>
            <a:ext cx="25603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CategoryScopePolicy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7" name="fig-d"/>
          <p:cNvSpPr/>
          <p:nvPr/>
        </p:nvSpPr>
        <p:spPr>
          <a:xfrm>
            <a:off x="5715000" y="4754880"/>
            <a:ext cx="25603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ProductScopePolicy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8" name="fn-source"/>
          <p:cNvSpPr/>
          <p:nvPr/>
        </p:nvSpPr>
        <p:spPr>
          <a:xfrm>
            <a:off x="411480" y="5760720"/>
            <a:ext cx="8321040" cy="201168"/>
          </a:xfrm>
          <a:prstGeom prst="rect">
            <a:avLst/>
          </a:prstGeom>
          <a:noFill/>
          <a:ln>
            <a:noFill/>
          </a:ln>
        </p:spPr>
        <p:txBody>
          <a:bodyPr wrap="square" lIns="36576" rIns="36576" tIns="18288" bIns="18288" anchor="b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图：记法按 2024 版第 7-2 讲第 5–6 页；类与方法取自 meng004/mall@175decae6c209b4cdc1db36fadb44b437f092843:UmsMemberCouponServiceImpl.java:42-45、155-223</a:t>
            </a:r>
            <a:endParaRPr lang="zh-CN" sz="1200">
              <a:latin typeface="微软雅黑"/>
              <a:ea typeface="微软雅黑"/>
            </a:endParaRPr>
          </a:p>
        </p:txBody>
      </p:sp>
      <p:sp>
        <p:nvSpPr>
          <p:cNvPr id="119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实验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教师示例 E4-00 先取券、查策略再分列</a:t>
            </a:r>
          </a:p>
        </p:txBody>
      </p:sp>
      <p:sp>
        <p:nvSpPr>
          <p:cNvPr id="3" name="fig"/>
          <p:cNvSpPr/>
          <p:nvPr/>
        </p:nvSpPr>
        <p:spPr>
          <a:xfrm>
            <a:off x="411480" y="1572768"/>
            <a:ext cx="8321040" cy="80695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取券：getDetailList 取出当前会员的券</a:t>
            </a:r>
          </a:p>
        </p:txBody>
      </p:sp>
      <p:sp>
        <p:nvSpPr>
          <p:cNvPr id="4" name="fig"/>
          <p:cNvSpPr/>
          <p:nvPr/>
        </p:nvSpPr>
        <p:spPr>
          <a:xfrm>
            <a:off x="4434840" y="2379726"/>
            <a:ext cx="274320" cy="164592"/>
          </a:xfrm>
          <a:prstGeom prst="downArrow">
            <a:avLst/>
          </a:prstGeom>
          <a:solidFill>
            <a:srgbClr val="A33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ig"/>
          <p:cNvSpPr/>
          <p:nvPr/>
        </p:nvSpPr>
        <p:spPr>
          <a:xfrm>
            <a:off x="411480" y="2654046"/>
            <a:ext cx="8321040" cy="80695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policyFor 查策略：按 useType 找第一个 supports</a:t>
            </a:r>
          </a:p>
        </p:txBody>
      </p:sp>
      <p:sp>
        <p:nvSpPr>
          <p:cNvPr id="6" name="fig"/>
          <p:cNvSpPr/>
          <p:nvPr/>
        </p:nvSpPr>
        <p:spPr>
          <a:xfrm>
            <a:off x="4434840" y="3461004"/>
            <a:ext cx="274320" cy="164592"/>
          </a:xfrm>
          <a:prstGeom prst="downArrow">
            <a:avLst/>
          </a:prstGeom>
          <a:solidFill>
            <a:srgbClr val="A33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ig"/>
          <p:cNvSpPr/>
          <p:nvPr/>
        </p:nvSpPr>
        <p:spPr>
          <a:xfrm>
            <a:off x="411480" y="3735324"/>
            <a:ext cx="8321040" cy="806958"/>
          </a:xfrm>
          <a:prstGeom prst="roundRect">
            <a:avLst/>
          </a:prstGeom>
          <a:solidFill>
            <a:srgbClr val="D0D0D0"/>
          </a:solidFill>
          <a:ln>
            <a:solidFill>
              <a:srgbClr val="88888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检查策略：为空就跳过这张券，非空才继续</a:t>
            </a:r>
          </a:p>
        </p:txBody>
      </p:sp>
      <p:sp>
        <p:nvSpPr>
          <p:cNvPr id="8" name="fig"/>
          <p:cNvSpPr/>
          <p:nvPr/>
        </p:nvSpPr>
        <p:spPr>
          <a:xfrm>
            <a:off x="4434840" y="4542282"/>
            <a:ext cx="274320" cy="164592"/>
          </a:xfrm>
          <a:prstGeom prst="downArrow">
            <a:avLst/>
          </a:prstGeom>
          <a:solidFill>
            <a:srgbClr val="A33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ig"/>
          <p:cNvSpPr/>
          <p:nvPr/>
        </p:nvSpPr>
        <p:spPr>
          <a:xfrm>
            <a:off x="411480" y="4816602"/>
            <a:ext cx="8321040" cy="80695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策略非空：按 usable 分列为可用 / 不可用</a:t>
            </a:r>
          </a:p>
        </p:txBody>
      </p:sp>
      <p:sp>
        <p:nvSpPr>
          <p:cNvPr id="10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实验</a:t>
            </a:r>
          </a:p>
        </p:txBody>
      </p:sp>
    </p:spTree>
  </p:cSld>
  <p:clrMapOvr>
    <a:masterClrMapping/>
  </p:clrMapOvr>
  <p:hf sldNum="0" hdr="0" ftr="0" dt="0"/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教师示例 E4-00 由 policyFor 选出策略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128016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按 useType 找第一个 supports 的策略；找不到就跳过</a:t>
            </a:r>
          </a:p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5 项改前改后都通过，结论符合</a:t>
            </a:r>
          </a:p>
        </p:txBody>
      </p:sp>
      <p:sp>
        <p:nvSpPr>
          <p:cNvPr id="4" name="code"/>
          <p:cNvSpPr txBox="1"/>
          <p:nvPr/>
        </p:nvSpPr>
        <p:spPr>
          <a:xfrm>
            <a:off x="411480" y="2834640"/>
            <a:ext cx="8138160" cy="2359152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</p:spPr>
        <p:txBody>
          <a:bodyPr wrap="square" lIns="54864" rIns="54864" tIns="18288" bIns="18288" eaLnBrk="1" hangingPunct="1" latinLnBrk="1"/>
          <a:lstStyle/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private CouponScopePolicy policyFor(​Integer useType) {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for (​CouponScopePolicy policy ​: ​scopePolicies) {</a:t>
            </a:r>
          </a:p>
          <a:p>
            <a:pPr algn="l" eaLnBrk="1" hangingPunct="1" marL="1788160" indent="-178816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    if (​policy.​supports(​useType)) {</a:t>
            </a:r>
          </a:p>
          <a:p>
            <a:pPr algn="l" eaLnBrk="1" hangingPunct="1" marL="2235200" indent="-223520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        return policy;</a:t>
            </a:r>
          </a:p>
          <a:p>
            <a:pPr algn="l" eaLnBrk="1" hangingPunct="1" marL="1788160" indent="-178816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    }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}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return null;</a:t>
            </a:r>
          </a:p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}</a:t>
            </a:r>
          </a:p>
        </p:txBody>
      </p:sp>
      <p:sp>
        <p:nvSpPr>
          <p:cNvPr id="5" name="fn"/>
          <p:cNvSpPr txBox="1"/>
          <p:nvPr/>
        </p:nvSpPr>
        <p:spPr>
          <a:xfrm>
            <a:off x="411480" y="5212080"/>
            <a:ext cx="8321040" cy="4572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出处：meng004/​mall@​175decae6c209b4cdc1db36fadb44b437f092843:​</a:t>
            </a:r>
          </a:p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mall-portal/​src/​main/​java/​com/​macro/​mall/​portal/​service/​impl/​UmsMemberCouponServiceImpl.java:​146-153</a:t>
            </a:r>
          </a:p>
        </p:txBody>
      </p:sp>
      <p:sp>
        <p:nvSpPr>
          <p:cNvPr id="6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实验</a:t>
            </a:r>
          </a:p>
        </p:txBody>
      </p:sp>
    </p:spTree>
  </p:cSld>
  <p:clrMapOvr>
    <a:masterClrMapping/>
  </p:clrMapOvr>
  <p:hf sldNum="0" hdr="0" ftr="0" dt="0"/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⑤ 取舍对比看出类型多了策略才划算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12500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演进①：useType=3 指定品牌，加一个类</a:t>
            </a:r>
          </a:p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演进②：门槛改 BigDecimal，两种都改 3 处</a:t>
            </a:r>
          </a:p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演进③：按运营配置启停，加 active 标志</a:t>
            </a:r>
          </a:p>
        </p:txBody>
      </p:sp>
      <p:graphicFrame>
        <p:nvGraphicFramePr>
          <p:cNvPr id="4" name="table"/>
          <p:cNvGraphicFramePr>
            <a:graphicFrameLocks noGrp="1"/>
          </p:cNvGraphicFramePr>
          <p:nvPr/>
        </p:nvGraphicFramePr>
        <p:xfrm>
          <a:off x="411480" y="2831328"/>
          <a:ext cx="8128000" cy="2336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905000"/>
                <a:gridCol w="3111500"/>
                <a:gridCol w="3111500"/>
              </a:tblGrid>
              <a:tr h="43180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比较项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类内 if/else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策略模式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</a:tr>
              <a:tr h="63500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新增一种范围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在 listCart 加 else if，</a:t>
                      </a:r>
                      <a:b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</a:b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改方法本体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加一个类，再登记一行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63500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门槛重复处数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 处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 处，没有减少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500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listCart 行数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56 行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25 行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</a:tbl>
          </a:graphicData>
        </a:graphic>
      </p:graphicFrame>
      <p:sp>
        <p:nvSpPr>
          <p:cNvPr id="5" name="fn"/>
          <p:cNvSpPr txBox="1"/>
          <p:nvPr/>
        </p:nvSpPr>
        <p:spPr>
          <a:xfrm>
            <a:off x="411480" y="5700000"/>
            <a:ext cx="8321040" cy="4572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0" lang="zh-CN" altLang="en-US">
                <a:latin typeface="微软雅黑"/>
                <a:ea typeface="微软雅黑"/>
                <a:cs typeface="微软雅黑"/>
              </a:rPr>
              <a:t>依据：事实卡 E4 K4、K6、K9–K11；演进①–③为设计讨论，非代码事实</a:t>
            </a:r>
          </a:p>
        </p:txBody>
      </p:sp>
      <p:sp>
        <p:nvSpPr>
          <p:cNvPr id="6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实验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候选选题</a:t>
            </a:r>
          </a:p>
        </p:txBody>
      </p:sp>
      <p:sp>
        <p:nvSpPr>
          <p:cNvPr id="106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实验</a:t>
            </a:r>
          </a:p>
        </p:txBody>
      </p:sp>
      <p:sp>
        <p:nvSpPr>
          <p:cNvPr id="101" name="fig-d"/>
          <p:cNvSpPr/>
          <p:nvPr/>
        </p:nvSpPr>
        <p:spPr>
          <a:xfrm>
            <a:off x="411480" y="1536192"/>
            <a:ext cx="1828800" cy="512064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E4-01　#15</a:t>
            </a:r>
            <a:endParaRPr lang="zh-CN" sz="2000"/>
          </a:p>
        </p:txBody>
      </p:sp>
      <p:sp>
        <p:nvSpPr>
          <p:cNvPr id="102" name="fig"/>
          <p:cNvSpPr/>
          <p:nvPr/>
        </p:nvSpPr>
        <p:spPr>
          <a:xfrm>
            <a:off x="2331720" y="1536192"/>
            <a:ext cx="6400800" cy="512064"/>
          </a:xfrm>
          <a:prstGeom prst="rect">
            <a:avLst/>
          </a:prstGeom>
          <a:solidFill>
            <a:srgbClr val="F6E8E6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优惠券关联写入重复</a:t>
            </a:r>
            <a:endParaRPr lang="zh-CN" sz="2000"/>
          </a:p>
        </p:txBody>
      </p:sp>
      <p:sp>
        <p:nvSpPr>
          <p:cNvPr id="103" name="fig-d"/>
          <p:cNvSpPr/>
          <p:nvPr/>
        </p:nvSpPr>
        <p:spPr>
          <a:xfrm>
            <a:off x="411480" y="2121408"/>
            <a:ext cx="1828800" cy="512064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E4-02　#16</a:t>
            </a:r>
            <a:endParaRPr lang="zh-CN" sz="2000"/>
          </a:p>
        </p:txBody>
      </p:sp>
      <p:sp>
        <p:nvSpPr>
          <p:cNvPr id="104" name="fig"/>
          <p:cNvSpPr/>
          <p:nvPr/>
        </p:nvSpPr>
        <p:spPr>
          <a:xfrm>
            <a:off x="2331720" y="2121408"/>
            <a:ext cx="6400800" cy="512064"/>
          </a:xfrm>
          <a:prstGeom prst="rect">
            <a:avLst/>
          </a:prstGeom>
          <a:solidFill>
            <a:srgbClr val="F6E8E6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后台商品的多种状态批量更新</a:t>
            </a:r>
            <a:endParaRPr lang="zh-CN" sz="2000"/>
          </a:p>
        </p:txBody>
      </p:sp>
      <p:sp>
        <p:nvSpPr>
          <p:cNvPr id="105" name="fig-d"/>
          <p:cNvSpPr/>
          <p:nvPr/>
        </p:nvSpPr>
        <p:spPr>
          <a:xfrm>
            <a:off x="411480" y="2706624"/>
            <a:ext cx="1828800" cy="512064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E4-03　#17</a:t>
            </a:r>
            <a:endParaRPr lang="zh-CN" sz="2000"/>
          </a:p>
        </p:txBody>
      </p:sp>
      <p:sp>
        <p:nvSpPr>
          <p:cNvPr id="115" name="fig"/>
          <p:cNvSpPr/>
          <p:nvPr/>
        </p:nvSpPr>
        <p:spPr>
          <a:xfrm>
            <a:off x="2331720" y="2706624"/>
            <a:ext cx="6400800" cy="512064"/>
          </a:xfrm>
          <a:prstGeom prst="rect">
            <a:avLst/>
          </a:prstGeom>
          <a:solidFill>
            <a:srgbClr val="F6E8E6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商品关联写入的反射辅助方法</a:t>
            </a:r>
            <a:endParaRPr lang="zh-CN" sz="2000"/>
          </a:p>
        </p:txBody>
      </p:sp>
      <p:sp>
        <p:nvSpPr>
          <p:cNvPr id="107" name="fig-d"/>
          <p:cNvSpPr/>
          <p:nvPr/>
        </p:nvSpPr>
        <p:spPr>
          <a:xfrm>
            <a:off x="411480" y="3291840"/>
            <a:ext cx="1828800" cy="512064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E4-04　#18</a:t>
            </a:r>
            <a:endParaRPr lang="zh-CN" sz="2000"/>
          </a:p>
        </p:txBody>
      </p:sp>
      <p:sp>
        <p:nvSpPr>
          <p:cNvPr id="108" name="fig"/>
          <p:cNvSpPr/>
          <p:nvPr/>
        </p:nvSpPr>
        <p:spPr>
          <a:xfrm>
            <a:off x="2331720" y="3291840"/>
            <a:ext cx="6400800" cy="512064"/>
          </a:xfrm>
          <a:prstGeom prst="rect">
            <a:avLst/>
          </a:prstGeom>
          <a:solidFill>
            <a:srgbClr val="F6E8E6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SKU 集合差异计算</a:t>
            </a:r>
            <a:endParaRPr lang="zh-CN" sz="2000"/>
          </a:p>
        </p:txBody>
      </p:sp>
      <p:sp>
        <p:nvSpPr>
          <p:cNvPr id="109" name="fig-d"/>
          <p:cNvSpPr/>
          <p:nvPr/>
        </p:nvSpPr>
        <p:spPr>
          <a:xfrm>
            <a:off x="411480" y="3877056"/>
            <a:ext cx="1828800" cy="512064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E4-06　#19</a:t>
            </a:r>
            <a:endParaRPr lang="zh-CN" sz="2000"/>
          </a:p>
        </p:txBody>
      </p:sp>
      <p:sp>
        <p:nvSpPr>
          <p:cNvPr id="110" name="fig"/>
          <p:cNvSpPr/>
          <p:nvPr/>
        </p:nvSpPr>
        <p:spPr>
          <a:xfrm>
            <a:off x="2331720" y="3877056"/>
            <a:ext cx="6400800" cy="512064"/>
          </a:xfrm>
          <a:prstGeom prst="rect">
            <a:avLst/>
          </a:prstGeom>
          <a:solidFill>
            <a:srgbClr val="F6E8E6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首页秒杀选择与结果组装</a:t>
            </a:r>
            <a:endParaRPr lang="zh-CN" sz="2000"/>
          </a:p>
        </p:txBody>
      </p:sp>
      <p:sp>
        <p:nvSpPr>
          <p:cNvPr id="111" name="fig-d"/>
          <p:cNvSpPr/>
          <p:nvPr/>
        </p:nvSpPr>
        <p:spPr>
          <a:xfrm>
            <a:off x="411480" y="4462272"/>
            <a:ext cx="1828800" cy="512064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E4-08　#48</a:t>
            </a:r>
            <a:endParaRPr lang="zh-CN" sz="2000"/>
          </a:p>
        </p:txBody>
      </p:sp>
      <p:sp>
        <p:nvSpPr>
          <p:cNvPr id="112" name="fig"/>
          <p:cNvSpPr/>
          <p:nvPr/>
        </p:nvSpPr>
        <p:spPr>
          <a:xfrm>
            <a:off x="2331720" y="4462272"/>
            <a:ext cx="6400800" cy="51206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管理员服务与缓存服务的循环依赖</a:t>
            </a:r>
            <a:endParaRPr lang="zh-CN" sz="2000"/>
          </a:p>
        </p:txBody>
      </p:sp>
      <p:sp>
        <p:nvSpPr>
          <p:cNvPr id="113" name="fig-d"/>
          <p:cNvSpPr/>
          <p:nvPr/>
        </p:nvSpPr>
        <p:spPr>
          <a:xfrm>
            <a:off x="411480" y="5047488"/>
            <a:ext cx="1828800" cy="512064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E4-09　#49</a:t>
            </a:r>
            <a:endParaRPr lang="zh-CN" sz="2000"/>
          </a:p>
        </p:txBody>
      </p:sp>
      <p:sp>
        <p:nvSpPr>
          <p:cNvPr id="114" name="fig"/>
          <p:cNvSpPr/>
          <p:nvPr/>
        </p:nvSpPr>
        <p:spPr>
          <a:xfrm>
            <a:off x="2331720" y="5047488"/>
            <a:ext cx="6400800" cy="51206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首页推荐位的四套复制</a:t>
            </a:r>
            <a:endParaRPr lang="zh-CN" sz="2000"/>
          </a:p>
        </p:txBody>
      </p:sp>
    </p:spTree>
  </p:cSld>
  <p:clrMapOvr>
    <a:masterClrMapping/>
  </p:clrMapOvr>
  <p:hf sldNum="0" hdr="0" ftr="0" dt="0"/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步骤① 识别坏味道并给出证据</a:t>
            </a:r>
          </a:p>
        </p:txBody>
      </p:sp>
      <p:sp>
        <p:nvSpPr>
          <p:cNvPr id="101" name="fig-d"/>
          <p:cNvSpPr/>
          <p:nvPr/>
        </p:nvSpPr>
        <p:spPr>
          <a:xfrm>
            <a:off x="411480" y="1572768"/>
            <a:ext cx="1371600" cy="128016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要求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1874520" y="1572768"/>
            <a:ext cx="6858000" cy="566928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写出是哪一类，并给到文件和行号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1874520" y="2286000"/>
            <a:ext cx="6858000" cy="566928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指出调用者，或数据从哪来到哪去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411480" y="3108960"/>
            <a:ext cx="1371600" cy="566928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示例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1874520" y="3108960"/>
            <a:ext cx="685800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示例：三段判定，第 127、137、150 行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411480" y="4114800"/>
            <a:ext cx="8321040" cy="685800"/>
          </a:xfrm>
          <a:prstGeom prst="rect">
            <a:avLst/>
          </a:prstGeom>
          <a:solidFill>
            <a:srgbClr val="FFFFFF"/>
          </a:solidFill>
          <a:ln w="28575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A33B38"/>
                </a:solidFill>
                <a:latin typeface="微软雅黑"/>
                <a:ea typeface="微软雅黑"/>
              </a:rPr>
              <a:t>你的选题换一类，同样要指到行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实验</a:t>
            </a:r>
          </a:p>
        </p:txBody>
      </p:sp>
    </p:spTree>
  </p:cSld>
  <p:clrMapOvr>
    <a:masterClrMapping/>
  </p:clrMapOvr>
  <p:hf sldNum="0" hdr="0" ftr="0" dt="0"/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步骤② 让 AI 起草特征测试，核对锁的是行为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128016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锁可用顺序 11、13、14、18，不可用 12、15、16、19</a:t>
            </a:r>
          </a:p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未知范围 17 两边都没有。不断言类名</a:t>
            </a:r>
          </a:p>
        </p:txBody>
      </p:sp>
      <p:sp>
        <p:nvSpPr>
          <p:cNvPr id="4" name="code"/>
          <p:cNvSpPr txBox="1"/>
          <p:nvPr/>
        </p:nvSpPr>
        <p:spPr>
          <a:xfrm>
            <a:off x="411480" y="2834640"/>
            <a:ext cx="8138160" cy="2084832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</p:spPr>
        <p:txBody>
          <a:bodyPr wrap="square" lIns="54864" rIns="54864" tIns="18288" bIns="18288" eaLnBrk="1" hangingPunct="1" latinLnBrk="1"/>
          <a:lstStyle/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List&lt;Long&gt; ​enabled ​= ​ids(​service.​listCart(​cart,​ 1));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List&lt;Long&gt; ​disabled ​= ​ids(​service.​listCart(​cart,​ 0));</a:t>
            </a:r>
          </a:p>
          <a:p>
            <a:pPr algn="l" eaLnBrk="1" hangingPunct="1" marL="447040" indent="-44704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/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assertEquals(​List.​of(​11L,​ 13L,​ 14L,​ 18L),​ enabled);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assertEquals(​List.​of(​12L,​ 15L,​ 16L,​ 19L),​ disabled);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assertFalse(​enabled.​contains(​17L));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assertFalse(​disabled.​contains(​17L));</a:t>
            </a:r>
          </a:p>
        </p:txBody>
      </p:sp>
      <p:sp>
        <p:nvSpPr>
          <p:cNvPr id="5" name="fn"/>
          <p:cNvSpPr txBox="1"/>
          <p:nvPr/>
        </p:nvSpPr>
        <p:spPr>
          <a:xfrm>
            <a:off x="411480" y="4937760"/>
            <a:ext cx="8321040" cy="4572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出处：meng004/​mall@​175decae6c209b4cdc1db36fadb44b437f092843:​</a:t>
            </a:r>
          </a:p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mall-portal/​src/​test/​java/​com/​macro/​mall/​sdc/​e4/​SDCE400Test.java:​63-69</a:t>
            </a:r>
          </a:p>
        </p:txBody>
      </p:sp>
      <p:sp>
        <p:nvSpPr>
          <p:cNvPr id="6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实验</a:t>
            </a:r>
          </a:p>
        </p:txBody>
      </p:sp>
    </p:spTree>
  </p:cSld>
  <p:clrMapOvr>
    <a:masterClrMapping/>
  </p:clrMapOvr>
  <p:hf sldNum="0" hdr="0" ftr="0" dt="0"/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步骤③ 让 AI 局部重构，与只提取方法比较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128016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提取方法没有进入分支。同一组测试也是 5 项通过</a:t>
            </a:r>
          </a:p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处数没有变少。收益是不复制分列</a:t>
            </a:r>
          </a:p>
        </p:txBody>
      </p:sp>
      <p:graphicFrame>
        <p:nvGraphicFramePr>
          <p:cNvPr id="4" name="table"/>
          <p:cNvGraphicFramePr>
            <a:graphicFrameLocks noGrp="1"/>
          </p:cNvGraphicFramePr>
          <p:nvPr/>
        </p:nvGraphicFramePr>
        <p:xfrm>
          <a:off x="365760" y="2834640"/>
          <a:ext cx="8138160" cy="305409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011680"/>
                <a:gridCol w="6126480"/>
              </a:tblGrid>
              <a:tr h="610819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方案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新增一种范围，只看可用判定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</a:tr>
              <a:tr h="610819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改前分支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 处：复制判定和分列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610819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提取方法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 处：if 链加 2 行，再加方法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0819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本次策略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 处：新类，登记列表加 1 项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61082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行数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244；提取方法 252；策略 289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实验</a:t>
            </a:r>
          </a:p>
        </p:txBody>
      </p:sp>
    </p:spTree>
  </p:cSld>
  <p:clrMapOvr>
    <a:masterClrMapping/>
  </p:clrMapOvr>
  <p:hf sldNum="0" hdr="0" ftr="0" dt="0"/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步骤④ 按放行前三查评价 AI 的重构</a:t>
            </a:r>
          </a:p>
        </p:txBody>
      </p:sp>
      <p:sp>
        <p:nvSpPr>
          <p:cNvPr id="101" name="fig"/>
          <p:cNvSpPr/>
          <p:nvPr/>
        </p:nvSpPr>
        <p:spPr>
          <a:xfrm>
            <a:off x="411480" y="1572768"/>
            <a:ext cx="8321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可以让它标坏味道、起草改法和测试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411480" y="2468880"/>
            <a:ext cx="1188720" cy="603504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局限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1691640" y="2468880"/>
            <a:ext cx="7040880" cy="603504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局限：可能越界，碰到不许改的部分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411480" y="3182112"/>
            <a:ext cx="1188720" cy="603504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局限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1691640" y="3182112"/>
            <a:ext cx="7040880" cy="603504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局限：可能夹带无关修改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6" name="fig-d"/>
          <p:cNvSpPr/>
          <p:nvPr/>
        </p:nvSpPr>
        <p:spPr>
          <a:xfrm>
            <a:off x="411480" y="3895344"/>
            <a:ext cx="1188720" cy="603504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局限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"/>
          <p:cNvSpPr/>
          <p:nvPr/>
        </p:nvSpPr>
        <p:spPr>
          <a:xfrm>
            <a:off x="1691640" y="3895344"/>
            <a:ext cx="7040880" cy="603504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局限：全绿不能证明未混入修复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411480" y="4709160"/>
            <a:ext cx="8321040" cy="731520"/>
          </a:xfrm>
          <a:prstGeom prst="rect">
            <a:avLst/>
          </a:prstGeom>
          <a:solidFill>
            <a:srgbClr val="A33B38"/>
          </a:solidFill>
          <a:ln w="28575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三查：约束、差异、测试，都过才留下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9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实验</a:t>
            </a:r>
          </a:p>
        </p:txBody>
      </p:sp>
    </p:spTree>
  </p:cSld>
  <p:clrMapOvr>
    <a:masterClrMapping/>
  </p:clrMapOvr>
  <p:hf sldNum="0" hdr="0" ftr="0" dt="0"/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步骤⑤ 用模式的四个要素写出效果</a:t>
            </a:r>
          </a:p>
        </p:txBody>
      </p:sp>
      <p:sp>
        <p:nvSpPr>
          <p:cNvPr id="101" name="fig-d"/>
          <p:cNvSpPr/>
          <p:nvPr/>
        </p:nvSpPr>
        <p:spPr>
          <a:xfrm>
            <a:off x="411480" y="1572768"/>
            <a:ext cx="1371600" cy="749808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名称·问题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1874520" y="1572768"/>
            <a:ext cx="6858000" cy="749808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名称是策略。问题是范围一多，方法就加长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411480" y="2414016"/>
            <a:ext cx="1371600" cy="749808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解决方案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1874520" y="2414016"/>
            <a:ext cx="6858000" cy="749808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方案是每种范围一个类，循环只查找和分列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411480" y="3255264"/>
            <a:ext cx="1371600" cy="749808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效果·得到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1874520" y="3255264"/>
            <a:ext cx="6858000" cy="749808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得到：新增范围不改 listCart，不复制分列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411480" y="4096512"/>
            <a:ext cx="1371600" cy="749808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效果·失去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1874520" y="4096512"/>
            <a:ext cx="6858000" cy="749808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代价：净增 45 行（244→289）；判定仍写三份；先登记者生效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9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实验</a:t>
            </a:r>
          </a:p>
        </p:txBody>
      </p:sp>
    </p:spTree>
  </p:cSld>
  <p:clrMapOvr>
    <a:masterClrMapping/>
  </p:clrMapOvr>
  <p:hf sldNum="0" hdr="0" ftr="0" dt="0"/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步骤⑥ 过长的下单方法该不该拆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1847088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generateOrder 从第 94 行写到第 250 行，写入集中在这一段</a:t>
            </a:r>
          </a:p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事务在接口第 26 行。同步调用、外层事务仍在，就不会丢</a:t>
            </a:r>
          </a:p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改入口、传播方式或改异步，才可能拆开。本次不拆</a:t>
            </a:r>
          </a:p>
        </p:txBody>
      </p:sp>
      <p:sp>
        <p:nvSpPr>
          <p:cNvPr id="4" name="code"/>
          <p:cNvSpPr txBox="1"/>
          <p:nvPr/>
        </p:nvSpPr>
        <p:spPr>
          <a:xfrm>
            <a:off x="411480" y="3401568"/>
            <a:ext cx="8138160" cy="713232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</p:spPr>
        <p:txBody>
          <a:bodyPr wrap="square" lIns="54864" rIns="54864" tIns="18288" bIns="18288" eaLnBrk="1" hangingPunct="1" latinLnBrk="1"/>
          <a:lstStyle/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@Transactional</a:t>
            </a:r>
          </a:p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Map&lt;String,​ Object&gt; ​generateOrder(​OrderParam orderParam);</a:t>
            </a:r>
          </a:p>
        </p:txBody>
      </p:sp>
      <p:sp>
        <p:nvSpPr>
          <p:cNvPr id="5" name="fn"/>
          <p:cNvSpPr txBox="1"/>
          <p:nvPr/>
        </p:nvSpPr>
        <p:spPr>
          <a:xfrm>
            <a:off x="411480" y="4133088"/>
            <a:ext cx="8321040" cy="4572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出处：meng004/​mall@​dcaa93b3150352e5044708d7211b5bed0af4509f:​</a:t>
            </a:r>
          </a:p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mall-portal/​src/​main/​java/​com/​macro/​mall/​portal/​service/​OmsPortalOrderService.java:​26-27</a:t>
            </a:r>
          </a:p>
        </p:txBody>
      </p:sp>
      <p:sp>
        <p:nvSpPr>
          <p:cNvPr id="6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实验</a:t>
            </a:r>
          </a:p>
        </p:txBody>
      </p:sp>
    </p:spTree>
  </p:cSld>
  <p:clrMapOvr>
    <a:masterClrMapping/>
  </p:clrMapOvr>
  <p:hf sldNum="0" hdr="0" ftr="0" dt="0"/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常见失分</a:t>
            </a:r>
          </a:p>
        </p:txBody>
      </p:sp>
      <p:sp>
        <p:nvSpPr>
          <p:cNvPr id="101" name="fig-d"/>
          <p:cNvSpPr/>
          <p:nvPr/>
        </p:nvSpPr>
        <p:spPr>
          <a:xfrm>
            <a:off x="411480" y="1874520"/>
            <a:ext cx="457200" cy="457200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×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1005840" y="1691640"/>
            <a:ext cx="772668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137160" rIns="137160" tIns="68580" bIns="6858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不写变化场景、原结构和改动行号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411480" y="2834640"/>
            <a:ext cx="457200" cy="457200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×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1005840" y="2651760"/>
            <a:ext cx="772668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137160" rIns="137160" tIns="68580" bIns="6858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不写调用链，或没说必须保持的行为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411480" y="3794760"/>
            <a:ext cx="457200" cy="457200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×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1005840" y="3611880"/>
            <a:ext cx="772668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137160" rIns="137160" tIns="68580" bIns="6858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只写模式名，不写失去了什么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411480" y="4754880"/>
            <a:ext cx="457200" cy="457200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×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1005840" y="4572000"/>
            <a:ext cx="772668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137160" rIns="137160" tIns="68580" bIns="6858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改了断言，或把没跑过的接口写成已经验证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9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实验</a:t>
            </a:r>
          </a:p>
        </p:txBody>
      </p:sp>
    </p:spTree>
  </p:cSld>
  <p:clrMapOvr>
    <a:masterClrMapping/>
  </p:clrMapOvr>
  <p:hf sldNum="0" hdr="0" ftr="0" dt="0"/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讨论</a:t>
            </a:r>
          </a:p>
        </p:txBody>
      </p:sp>
      <p:sp>
        <p:nvSpPr>
          <p:cNvPr id="101" name="fig-d"/>
          <p:cNvSpPr/>
          <p:nvPr/>
        </p:nvSpPr>
        <p:spPr>
          <a:xfrm>
            <a:off x="685800" y="1783080"/>
            <a:ext cx="109728" cy="155448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960120" y="1417320"/>
            <a:ext cx="9144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6000" b="1">
                <a:solidFill>
                  <a:srgbClr val="A33B38"/>
                </a:solidFill>
                <a:latin typeface="微软雅黑"/>
                <a:ea typeface="微软雅黑"/>
              </a:rPr>
              <a:t>“</a:t>
            </a:r>
            <a:endParaRPr lang="zh-CN" sz="60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1097280" y="1965960"/>
            <a:ext cx="7635240" cy="13716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400" b="1">
                <a:solidFill>
                  <a:srgbClr val="262626"/>
                </a:solidFill>
                <a:latin typeface="微软雅黑"/>
                <a:ea typeface="微软雅黑"/>
              </a:rPr>
              <a:t>新增一种情况，重构前后各要改几处？</a:t>
            </a:r>
            <a:endParaRPr lang="zh-CN" sz="2400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411480" y="3474720"/>
            <a:ext cx="274320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595959"/>
                </a:solidFill>
                <a:latin typeface="微软雅黑"/>
                <a:ea typeface="微软雅黑"/>
              </a:rPr>
              <a:t>提示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411480" y="3794760"/>
            <a:ext cx="8321040" cy="502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抽 1 人按源码数。只看可用判定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411480" y="4361688"/>
            <a:ext cx="8321040" cy="502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改前分支、提取方法、本次策略，各说一处数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"/>
          <p:cNvSpPr/>
          <p:nvPr/>
        </p:nvSpPr>
        <p:spPr>
          <a:xfrm>
            <a:off x="411480" y="4928616"/>
            <a:ext cx="8321040" cy="502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处数之外，还要说明要不要复制分列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8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小结</a:t>
            </a:r>
          </a:p>
        </p:txBody>
      </p:sp>
    </p:spTree>
  </p:cSld>
  <p:clrMapOvr>
    <a:masterClrMapping/>
  </p:clrMapOvr>
  <p:hf sldNum="0" hdr="0" ftr="0" dt="0"/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全绿只证明行为保持</a:t>
            </a:r>
          </a:p>
        </p:txBody>
      </p:sp>
      <p:sp>
        <p:nvSpPr>
          <p:cNvPr id="101" name="fig"/>
          <p:cNvSpPr/>
          <p:nvPr/>
        </p:nvSpPr>
        <p:spPr>
          <a:xfrm>
            <a:off x="365760" y="1828800"/>
            <a:ext cx="4114800" cy="640080"/>
          </a:xfrm>
          <a:prstGeom prst="round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FFFFFF"/>
                </a:solidFill>
                <a:latin typeface="微软雅黑"/>
                <a:ea typeface="微软雅黑"/>
              </a:rPr>
              <a:t>能说明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4663440" y="1828800"/>
            <a:ext cx="4114800" cy="640080"/>
          </a:xfrm>
          <a:prstGeom prst="round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FFFFFF"/>
                </a:solidFill>
                <a:latin typeface="微软雅黑"/>
                <a:ea typeface="微软雅黑"/>
              </a:rPr>
              <a:t>不能说明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365760" y="2578608"/>
            <a:ext cx="4114800" cy="100584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相同测试改前、改后都通过，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跳过都是 0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4663440" y="2578608"/>
            <a:ext cx="4114800" cy="10058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设计好不好，要看改几处、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失去什么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365760" y="3694176"/>
            <a:ext cx="4114800" cy="100584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这只证明可观察行为还在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4663440" y="3694176"/>
            <a:ext cx="4114800" cy="10058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99.90 仍可用。这一行只打印，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不断言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小结</a:t>
            </a:r>
          </a:p>
        </p:txBody>
      </p:sp>
    </p:spTree>
  </p:cSld>
  <p:clrMapOvr>
    <a:masterClrMapping/>
  </p:clrMapOvr>
  <p:hf sldNum="0" hdr="0" ftr="0" dt="0"/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怎样向 AI 提问</a:t>
            </a:r>
          </a:p>
        </p:txBody>
      </p:sp>
      <p:sp>
        <p:nvSpPr>
          <p:cNvPr id="101" name="fig"/>
          <p:cNvSpPr/>
          <p:nvPr/>
        </p:nvSpPr>
        <p:spPr>
          <a:xfrm>
            <a:off x="411480" y="1481328"/>
            <a:ext cx="7863840" cy="713232"/>
          </a:xfrm>
          <a:prstGeom prst="wedgeRectCallou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137160" rIns="137160" tIns="68580" bIns="6858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Persona：你在维护 mall，准备做一次纯重构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411480" y="2395728"/>
            <a:ext cx="7863840" cy="713232"/>
          </a:xfrm>
          <a:prstGeom prst="wedgeRectCallou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137160" rIns="137160" tIns="68580" bIns="6858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Template：逐条回答，给出类名、方法名和行号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411480" y="3310128"/>
            <a:ext cx="7863840" cy="713232"/>
          </a:xfrm>
          <a:prstGeom prst="wedgeRectCallou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137160" rIns="137160" tIns="68580" bIns="6858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Question Refinement：找不到就跳过，未知范围还一致吗？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411480" y="4315968"/>
            <a:ext cx="8321040" cy="54864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每一句标出模式和它在本次任务里的作用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411480" y="4956048"/>
            <a:ext cx="8321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595959"/>
                </a:solidFill>
                <a:latin typeface="微软雅黑"/>
                <a:ea typeface="微软雅黑"/>
              </a:rPr>
              <a:t>采集：deepseek-flash，2026.10.19，exp/E4 只读检出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6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小结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怎样核对 AI 的产出</a:t>
            </a:r>
          </a:p>
        </p:txBody>
      </p:sp>
      <p:sp>
        <p:nvSpPr>
          <p:cNvPr id="101" name="fig-d"/>
          <p:cNvSpPr/>
          <p:nvPr/>
        </p:nvSpPr>
        <p:spPr>
          <a:xfrm>
            <a:off x="411480" y="1591056"/>
            <a:ext cx="457200" cy="457200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√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1005840" y="1481328"/>
            <a:ext cx="7726680" cy="658368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137160" rIns="137160" tIns="68580" bIns="6858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分支在第 127、137、150 行：引用存在，对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411480" y="2340864"/>
            <a:ext cx="457200" cy="457200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√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1005840" y="2231136"/>
            <a:ext cx="7726680" cy="658368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137160" rIns="137160" tIns="68580" bIns="6858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新增范围还要改下单核销、后台等 4 处：逐处属实，对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411480" y="3090672"/>
            <a:ext cx="457200" cy="457200"/>
          </a:xfrm>
          <a:prstGeom prst="ellipse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？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1005840" y="2980944"/>
            <a:ext cx="7726680" cy="658368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137160" rIns="137160" tIns="68580" bIns="6858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不该断言顺序：对真实库成立，对替身测试不成立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411480" y="3840480"/>
            <a:ext cx="457200" cy="457200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√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1005840" y="3730752"/>
            <a:ext cx="7726680" cy="658368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137160" rIns="137160" tIns="68580" bIns="6858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null 的 useType 改前会抛异常：属实，E4-00 保留了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9" name="fig"/>
          <p:cNvSpPr/>
          <p:nvPr/>
        </p:nvSpPr>
        <p:spPr>
          <a:xfrm>
            <a:off x="411480" y="4572000"/>
            <a:ext cx="8321040" cy="777240"/>
          </a:xfrm>
          <a:prstGeom prst="rect">
            <a:avLst/>
          </a:prstGeom>
          <a:solidFill>
            <a:srgbClr val="A33B38"/>
          </a:solidFill>
          <a:ln w="28575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结论：采纳；修改面要按全系统数，不只数 listCart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0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小结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一页说明样例里三项各写什么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12500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教师示例 E4-00 的真实材料</a:t>
            </a:r>
          </a:p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三项缺一，那一项就没有证据</a:t>
            </a:r>
          </a:p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你的作业用本人选题的证据</a:t>
            </a:r>
          </a:p>
        </p:txBody>
      </p:sp>
      <p:graphicFrame>
        <p:nvGraphicFramePr>
          <p:cNvPr id="4" name="table"/>
          <p:cNvGraphicFramePr>
            <a:graphicFrameLocks noGrp="1"/>
          </p:cNvGraphicFramePr>
          <p:nvPr/>
        </p:nvGraphicFramePr>
        <p:xfrm>
          <a:off x="411480" y="2831328"/>
          <a:ext cx="8128000" cy="2336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70000"/>
                <a:gridCol w="5207000"/>
                <a:gridCol w="1651000"/>
              </a:tblGrid>
              <a:tr h="43180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三项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样例怎么写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依据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</a:tr>
              <a:tr h="63500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讲清楚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三段同形分支（第 127、137、150 行）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K4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63500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有依据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四要素；listCart 56→25 行，门槛仍 3 处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K4、K10、K11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500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验证过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SDCE400Test 改前、改后 pass，各 5 项；结论：符合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K14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</a:tbl>
          </a:graphicData>
        </a:graphic>
      </p:graphicFrame>
      <p:sp>
        <p:nvSpPr>
          <p:cNvPr id="5" name="fn"/>
          <p:cNvSpPr txBox="1"/>
          <p:nvPr/>
        </p:nvSpPr>
        <p:spPr>
          <a:xfrm>
            <a:off x="411480" y="5700000"/>
            <a:ext cx="8321040" cy="4572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0" lang="zh-CN" altLang="en-US">
                <a:latin typeface="微软雅黑"/>
                <a:ea typeface="微软雅黑"/>
                <a:cs typeface="微软雅黑"/>
              </a:rPr>
              <a:t>依据：事实卡 E4 K4、K10、K11、K14</a:t>
            </a:r>
          </a:p>
        </p:txBody>
      </p:sp>
      <p:sp>
        <p:nvSpPr>
          <p:cNvPr id="6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小结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评分细则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713232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三栏是 30、30、40。测试全绿不代替设计是否更好</a:t>
            </a:r>
          </a:p>
        </p:txBody>
      </p:sp>
      <p:graphicFrame>
        <p:nvGraphicFramePr>
          <p:cNvPr id="4" name="table"/>
          <p:cNvGraphicFramePr>
            <a:graphicFrameLocks noGrp="1"/>
          </p:cNvGraphicFramePr>
          <p:nvPr/>
        </p:nvGraphicFramePr>
        <p:xfrm>
          <a:off x="365760" y="2267712"/>
          <a:ext cx="8138160" cy="362102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011680"/>
                <a:gridCol w="6126480"/>
              </a:tblGrid>
              <a:tr h="60350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讲清楚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坏味道的具体变化场景、原结构与改动位置15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</a:tr>
              <a:tr h="60350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讲清楚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调用链与必须保持的可观察行为15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60350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有依据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所用模式的四个要素（名称、问题、解决方案、效果）15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有依据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与更简单方案比较</a:t>
                      </a:r>
                    </a:p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新增一种变化的修改位置、收益与代价15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60350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验证过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用执行记录核实相同特征测试在 AI 重构前后均通过25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验证过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读差异核实没有夹带无关修改，</a:t>
                      </a:r>
                    </a:p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并用源码核实修改范围的变化15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</a:tbl>
          </a:graphicData>
        </a:graphic>
      </p:graphicFrame>
      <p:sp>
        <p:nvSpPr>
          <p:cNvPr id="5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小结</a:t>
            </a:r>
          </a:p>
        </p:txBody>
      </p:sp>
    </p:spTree>
  </p:cSld>
  <p:clrMapOvr>
    <a:masterClrMapping/>
  </p:clrMapOvr>
  <p:hf sldNum="0" hdr="0" ftr="0" dt="0"/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提交要求</a:t>
            </a:r>
          </a:p>
        </p:txBody>
      </p:sp>
      <p:sp>
        <p:nvSpPr>
          <p:cNvPr id="3" name="body"/>
          <p:cNvSpPr>
            <a:spLocks noGrp="1"/>
          </p:cNvSpPr>
          <p:nvPr>
            <p:ph idx="1"/>
          </p:nvPr>
        </p:nvSpPr>
        <p:spPr>
          <a:xfrm>
            <a:off x="384048" y="1444752"/>
            <a:ext cx="8366760" cy="4480560"/>
          </a:xfrm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400"/>
              </a:spcBef>
              <a:spcAft>
                <a:spcPts val="200"/>
              </a:spcAft>
            </a:pPr>
            <a:r>
              <a:rPr sz="2300" b="0" lang="zh-CN" altLang="en-US">
                <a:latin typeface="微软雅黑"/>
                <a:ea typeface="微软雅黑"/>
                <a:cs typeface="微软雅黑"/>
              </a:rPr>
              <a:t>一页说明（按讲清楚、有依据、验证过组织）＋不超过2分钟</a:t>
            </a:r>
            <a:br>
              <a:rPr sz="2300" b="0" lang="zh-CN" altLang="en-US">
                <a:latin typeface="微软雅黑"/>
                <a:ea typeface="微软雅黑"/>
              </a:rPr>
            </a:br>
            <a:r>
              <a:rPr sz="2300" b="0" lang="zh-CN" altLang="en-US">
                <a:latin typeface="微软雅黑"/>
                <a:ea typeface="微软雅黑"/>
                <a:cs typeface="微软雅黑"/>
              </a:rPr>
              <a:t>本人录屏。</a:t>
            </a:r>
          </a:p>
          <a:p>
            <a:pPr algn="l" eaLnBrk="1" hangingPunct="1">
              <a:lnSpc>
                <a:spcPct val="100000"/>
              </a:lnSpc>
              <a:spcBef>
                <a:spcPts val="2400"/>
              </a:spcBef>
              <a:spcAft>
                <a:spcPts val="200"/>
              </a:spcAft>
            </a:pPr>
            <a:r>
              <a:rPr sz="2300" b="0" lang="zh-CN" altLang="en-US">
                <a:latin typeface="微软雅黑"/>
                <a:ea typeface="微软雅黑"/>
                <a:cs typeface="微软雅黑"/>
              </a:rPr>
              <a:t>录屏由本人讲解，并展示本实验相应的证据</a:t>
            </a:r>
          </a:p>
          <a:p>
            <a:pPr algn="l" eaLnBrk="1" hangingPunct="1">
              <a:lnSpc>
                <a:spcPct val="100000"/>
              </a:lnSpc>
              <a:spcBef>
                <a:spcPts val="2400"/>
              </a:spcBef>
              <a:spcAft>
                <a:spcPts val="200"/>
              </a:spcAft>
            </a:pPr>
            <a:r>
              <a:rPr sz="2300" b="0" lang="zh-CN" altLang="en-US">
                <a:latin typeface="微软雅黑"/>
                <a:ea typeface="微软雅黑"/>
                <a:cs typeface="微软雅黑"/>
              </a:rPr>
              <a:t>说明里写本人的选择、执行和证据</a:t>
            </a:r>
          </a:p>
          <a:p>
            <a:pPr algn="l" eaLnBrk="1" hangingPunct="1">
              <a:lnSpc>
                <a:spcPct val="100000"/>
              </a:lnSpc>
              <a:spcBef>
                <a:spcPts val="2400"/>
              </a:spcBef>
              <a:spcAft>
                <a:spcPts val="200"/>
              </a:spcAft>
            </a:pPr>
            <a:r>
              <a:rPr sz="2300" b="0" lang="zh-CN" altLang="en-US">
                <a:latin typeface="微软雅黑"/>
                <a:ea typeface="微软雅黑"/>
                <a:cs typeface="微软雅黑"/>
              </a:rPr>
              <a:t>参考实现可以看，不能代替本人的选择和证据</a:t>
            </a:r>
          </a:p>
        </p:txBody>
      </p:sp>
      <p:sp>
        <p:nvSpPr>
          <p:cNvPr id="4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小结</a:t>
            </a:r>
          </a:p>
        </p:txBody>
      </p:sp>
    </p:spTree>
  </p:cSld>
  <p:clrMapOvr>
    <a:masterClrMapping/>
  </p:clrMapOvr>
  <p:hf sldNum="0" hdr="0" ftr="0" dt="0"/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本次课结束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/>
            <a:r>
              <a:rPr lang="zh-CN" altLang="en-US" sz="2000" b="0">
                <a:solidFill>
                  <a:srgbClr val="595959"/>
                </a:solidFill>
                <a:latin typeface="微软雅黑"/>
                <a:ea typeface="微软雅黑"/>
              </a:rPr>
              <a:t>下次课：第 9 次课｜软件设计、重构与系统演化（一）</a:t>
            </a:r>
          </a:p>
        </p:txBody>
      </p:sp>
    </p:spTree>
  </p:cSld>
  <p:clrMapOvr>
    <a:masterClrMapping/>
  </p:clrMapOvr>
</p:sld>
</file>

<file path=ppt/tags/tag7.xml><?xml version="1.0" encoding="utf-8"?>
<p:tagLst xmlns:p="http://schemas.openxmlformats.org/presentationml/2006/main">
  <p:tag name="commondata" val="eyJoZGlkIjoiZDkzYzZkNDRlZDllNjdlNTFlNDRjOWFlMDM3NGQyOTAifQ=="/>
</p:tagLst>
</file>

<file path=ppt/theme/theme1.xml><?xml version="1.0" encoding="utf-8"?>
<a:theme xmlns:a="http://schemas.openxmlformats.org/drawingml/2006/main" name="2_985平台">
  <a:themeElements>
    <a:clrScheme name="SDC-2026">
      <a:dk1>
        <a:srgbClr val="262626"/>
      </a:dk1>
      <a:lt1>
        <a:srgbClr val="FFFFFF"/>
      </a:lt1>
      <a:dk2>
        <a:srgbClr val="A33B38"/>
      </a:dk2>
      <a:lt2>
        <a:srgbClr val="F6E8E6"/>
      </a:lt2>
      <a:accent1>
        <a:srgbClr val="A33B38"/>
      </a:accent1>
      <a:accent2>
        <a:srgbClr val="A33B38"/>
      </a:accent2>
      <a:accent3>
        <a:srgbClr val="595959"/>
      </a:accent3>
      <a:accent4>
        <a:srgbClr val="2E7D32"/>
      </a:accent4>
      <a:accent5>
        <a:srgbClr val="B26A00"/>
      </a:accent5>
      <a:accent6>
        <a:srgbClr val="D9D9D9"/>
      </a:accent6>
      <a:hlink>
        <a:srgbClr val="A33B38"/>
      </a:hlink>
      <a:folHlink>
        <a:srgbClr val="7F7F7F"/>
      </a:folHlink>
    </a:clrScheme>
    <a:fontScheme name="SDC-2026">
      <a:majorFont>
        <a:latin typeface="微软雅黑"/>
        <a:ea typeface="微软雅黑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微软雅黑"/>
        <a:ea typeface="微软雅黑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bg1">
                <a:gamma/>
                <a:shade val="46275"/>
                <a:invGamma/>
              </a:schemeClr>
            </a:gs>
            <a:gs pos="50000">
              <a:schemeClr val="bg1"/>
            </a:gs>
            <a:gs pos="100000">
              <a:schemeClr val="bg1">
                <a:gamma/>
                <a:shade val="46275"/>
                <a:invGamma/>
              </a:schemeClr>
            </a:gs>
          </a:gsLst>
          <a:lin ang="5400000" scaled="1"/>
        </a:gradFill>
        <a:ln w="38100" cap="flat" cmpd="sng" algn="ctr">
          <a:solidFill>
            <a:srgbClr val="3366FF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bg1">
                <a:gamma/>
                <a:shade val="46275"/>
                <a:invGamma/>
              </a:schemeClr>
            </a:gs>
            <a:gs pos="50000">
              <a:schemeClr val="bg1"/>
            </a:gs>
            <a:gs pos="100000">
              <a:schemeClr val="bg1">
                <a:gamma/>
                <a:shade val="46275"/>
                <a:invGamma/>
              </a:schemeClr>
            </a:gs>
          </a:gsLst>
          <a:lin ang="5400000" scaled="1"/>
        </a:gradFill>
        <a:ln w="38100" cap="flat" cmpd="sng" algn="ctr">
          <a:solidFill>
            <a:srgbClr val="3366FF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2_985平台 1">
        <a:dk1>
          <a:srgbClr val="A50021"/>
        </a:dk1>
        <a:lt1>
          <a:srgbClr val="FFFFFF"/>
        </a:lt1>
        <a:dk2>
          <a:srgbClr val="800000"/>
        </a:dk2>
        <a:lt2>
          <a:srgbClr val="FFFFFF"/>
        </a:lt2>
        <a:accent1>
          <a:srgbClr val="FF9900"/>
        </a:accent1>
        <a:accent2>
          <a:srgbClr val="FF3300"/>
        </a:accent2>
        <a:accent3>
          <a:srgbClr val="C0AAAA"/>
        </a:accent3>
        <a:accent4>
          <a:srgbClr val="DADADA"/>
        </a:accent4>
        <a:accent5>
          <a:srgbClr val="FFCAAA"/>
        </a:accent5>
        <a:accent6>
          <a:srgbClr val="E72D00"/>
        </a:accent6>
        <a:hlink>
          <a:srgbClr val="FFFFCC"/>
        </a:hlink>
        <a:folHlink>
          <a:srgbClr val="FFCC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2">
        <a:dk1>
          <a:srgbClr val="3C001E"/>
        </a:dk1>
        <a:lt1>
          <a:srgbClr val="FFFFFF"/>
        </a:lt1>
        <a:dk2>
          <a:srgbClr val="51072E"/>
        </a:dk2>
        <a:lt2>
          <a:srgbClr val="FFFFFF"/>
        </a:lt2>
        <a:accent1>
          <a:srgbClr val="89A38F"/>
        </a:accent1>
        <a:accent2>
          <a:srgbClr val="666699"/>
        </a:accent2>
        <a:accent3>
          <a:srgbClr val="B3AAAD"/>
        </a:accent3>
        <a:accent4>
          <a:srgbClr val="DADADA"/>
        </a:accent4>
        <a:accent5>
          <a:srgbClr val="C4CEC6"/>
        </a:accent5>
        <a:accent6>
          <a:srgbClr val="5C5C8A"/>
        </a:accent6>
        <a:hlink>
          <a:srgbClr val="80800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3">
        <a:dk1>
          <a:srgbClr val="333333"/>
        </a:dk1>
        <a:lt1>
          <a:srgbClr val="FFFFFF"/>
        </a:lt1>
        <a:dk2>
          <a:srgbClr val="000000"/>
        </a:dk2>
        <a:lt2>
          <a:srgbClr val="FFFFFF"/>
        </a:lt2>
        <a:accent1>
          <a:srgbClr val="3399FF"/>
        </a:accent1>
        <a:accent2>
          <a:srgbClr val="CC0000"/>
        </a:accent2>
        <a:accent3>
          <a:srgbClr val="AAAAAA"/>
        </a:accent3>
        <a:accent4>
          <a:srgbClr val="DADADA"/>
        </a:accent4>
        <a:accent5>
          <a:srgbClr val="ADCAFF"/>
        </a:accent5>
        <a:accent6>
          <a:srgbClr val="B90000"/>
        </a:accent6>
        <a:hlink>
          <a:srgbClr val="666699"/>
        </a:hlink>
        <a:folHlink>
          <a:srgbClr val="6600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4">
        <a:dk1>
          <a:srgbClr val="4B3D1B"/>
        </a:dk1>
        <a:lt1>
          <a:srgbClr val="FFFFFF"/>
        </a:lt1>
        <a:dk2>
          <a:srgbClr val="330000"/>
        </a:dk2>
        <a:lt2>
          <a:srgbClr val="FFFFFF"/>
        </a:lt2>
        <a:accent1>
          <a:srgbClr val="CC9900"/>
        </a:accent1>
        <a:accent2>
          <a:srgbClr val="CC6600"/>
        </a:accent2>
        <a:accent3>
          <a:srgbClr val="ADAAAA"/>
        </a:accent3>
        <a:accent4>
          <a:srgbClr val="DADADA"/>
        </a:accent4>
        <a:accent5>
          <a:srgbClr val="E2CAAA"/>
        </a:accent5>
        <a:accent6>
          <a:srgbClr val="B95C00"/>
        </a:accent6>
        <a:hlink>
          <a:srgbClr val="666699"/>
        </a:hlink>
        <a:folHlink>
          <a:srgbClr val="CC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5">
        <a:dk1>
          <a:srgbClr val="006666"/>
        </a:dk1>
        <a:lt1>
          <a:srgbClr val="FFFFFF"/>
        </a:lt1>
        <a:dk2>
          <a:srgbClr val="003366"/>
        </a:dk2>
        <a:lt2>
          <a:srgbClr val="FFFFFF"/>
        </a:lt2>
        <a:accent1>
          <a:srgbClr val="0099CC"/>
        </a:accent1>
        <a:accent2>
          <a:srgbClr val="6666FF"/>
        </a:accent2>
        <a:accent3>
          <a:srgbClr val="AAADB8"/>
        </a:accent3>
        <a:accent4>
          <a:srgbClr val="DADADA"/>
        </a:accent4>
        <a:accent5>
          <a:srgbClr val="AACAE2"/>
        </a:accent5>
        <a:accent6>
          <a:srgbClr val="5C5CE7"/>
        </a:accent6>
        <a:hlink>
          <a:srgbClr val="FFFFCC"/>
        </a:hlink>
        <a:folHlink>
          <a:srgbClr val="FF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6">
        <a:dk1>
          <a:srgbClr val="003366"/>
        </a:dk1>
        <a:lt1>
          <a:srgbClr val="FFFFFF"/>
        </a:lt1>
        <a:dk2>
          <a:srgbClr val="006666"/>
        </a:dk2>
        <a:lt2>
          <a:srgbClr val="FFFFFF"/>
        </a:lt2>
        <a:accent1>
          <a:srgbClr val="6699FF"/>
        </a:accent1>
        <a:accent2>
          <a:srgbClr val="00CCFF"/>
        </a:accent2>
        <a:accent3>
          <a:srgbClr val="AAB8B8"/>
        </a:accent3>
        <a:accent4>
          <a:srgbClr val="DADADA"/>
        </a:accent4>
        <a:accent5>
          <a:srgbClr val="B8CAFF"/>
        </a:accent5>
        <a:accent6>
          <a:srgbClr val="00B9E7"/>
        </a:accent6>
        <a:hlink>
          <a:srgbClr val="FFFFCC"/>
        </a:hlink>
        <a:folHlink>
          <a:srgbClr val="33CC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7">
        <a:dk1>
          <a:srgbClr val="000000"/>
        </a:dk1>
        <a:lt1>
          <a:srgbClr val="619CB1"/>
        </a:lt1>
        <a:dk2>
          <a:srgbClr val="FFFFFF"/>
        </a:dk2>
        <a:lt2>
          <a:srgbClr val="4E899E"/>
        </a:lt2>
        <a:accent1>
          <a:srgbClr val="FFCC00"/>
        </a:accent1>
        <a:accent2>
          <a:srgbClr val="B6523E"/>
        </a:accent2>
        <a:accent3>
          <a:srgbClr val="B7CBD5"/>
        </a:accent3>
        <a:accent4>
          <a:srgbClr val="000000"/>
        </a:accent4>
        <a:accent5>
          <a:srgbClr val="FFE2AA"/>
        </a:accent5>
        <a:accent6>
          <a:srgbClr val="A54937"/>
        </a:accent6>
        <a:hlink>
          <a:srgbClr val="99CC00"/>
        </a:hlink>
        <a:folHlink>
          <a:srgbClr val="66669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985平台 8">
        <a:dk1>
          <a:srgbClr val="598600"/>
        </a:dk1>
        <a:lt1>
          <a:srgbClr val="FFFFFF"/>
        </a:lt1>
        <a:dk2>
          <a:srgbClr val="336600"/>
        </a:dk2>
        <a:lt2>
          <a:srgbClr val="FFFFFF"/>
        </a:lt2>
        <a:accent1>
          <a:srgbClr val="33CC33"/>
        </a:accent1>
        <a:accent2>
          <a:srgbClr val="99CC00"/>
        </a:accent2>
        <a:accent3>
          <a:srgbClr val="ADB8AA"/>
        </a:accent3>
        <a:accent4>
          <a:srgbClr val="DADADA"/>
        </a:accent4>
        <a:accent5>
          <a:srgbClr val="ADE2AD"/>
        </a:accent5>
        <a:accent6>
          <a:srgbClr val="8AB900"/>
        </a:accent6>
        <a:hlink>
          <a:srgbClr val="FFCC00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9">
        <a:dk1>
          <a:srgbClr val="000000"/>
        </a:dk1>
        <a:lt1>
          <a:srgbClr val="FFFFFF"/>
        </a:lt1>
        <a:dk2>
          <a:srgbClr val="000000"/>
        </a:dk2>
        <a:lt2>
          <a:srgbClr val="DDDDDD"/>
        </a:lt2>
        <a:accent1>
          <a:srgbClr val="A3B2C1"/>
        </a:accent1>
        <a:accent2>
          <a:srgbClr val="CC0000"/>
        </a:accent2>
        <a:accent3>
          <a:srgbClr val="FFFFFF"/>
        </a:accent3>
        <a:accent4>
          <a:srgbClr val="000000"/>
        </a:accent4>
        <a:accent5>
          <a:srgbClr val="CED5DD"/>
        </a:accent5>
        <a:accent6>
          <a:srgbClr val="B90000"/>
        </a:accent6>
        <a:hlink>
          <a:srgbClr val="336699"/>
        </a:hlink>
        <a:folHlink>
          <a:srgbClr val="003366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3022</Words>
  <Application>WPS 演示</Application>
  <PresentationFormat>全屏显示(4:3)</PresentationFormat>
  <Paragraphs>283</Paragraphs>
  <Slides>44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44</vt:i4>
      </vt:variant>
    </vt:vector>
  </HeadingPairs>
  <TitlesOfParts>
    <vt:vector size="59" baseType="lpstr">
      <vt:lpstr>Arial</vt:lpstr>
      <vt:lpstr>宋体</vt:lpstr>
      <vt:lpstr>Wingdings</vt:lpstr>
      <vt:lpstr>Verdana</vt:lpstr>
      <vt:lpstr>隶书</vt:lpstr>
      <vt:lpstr>Cambria</vt:lpstr>
      <vt:lpstr>黑体</vt:lpstr>
      <vt:lpstr>Times New Roman</vt:lpstr>
      <vt:lpstr>新宋体</vt:lpstr>
      <vt:lpstr>Tahoma</vt:lpstr>
      <vt:lpstr>微软雅黑</vt:lpstr>
      <vt:lpstr>Arial Unicode MS</vt:lpstr>
      <vt:lpstr>Calibri</vt:lpstr>
      <vt:lpstr>华文行楷</vt:lpstr>
      <vt:lpstr>2_985平台</vt:lpstr>
      <vt:lpstr>软件设计与规范 </vt:lpstr>
      <vt:lpstr>自我介绍</vt:lpstr>
      <vt:lpstr>超星学习通</vt:lpstr>
      <vt:lpstr>超星学习通</vt:lpstr>
      <vt:lpstr>教材</vt:lpstr>
      <vt:lpstr>推荐参考书</vt:lpstr>
      <vt:lpstr>参考书</vt:lpstr>
      <vt:lpstr>课程定位</vt:lpstr>
      <vt:lpstr>PowerPoint 演示文稿</vt:lpstr>
      <vt:lpstr>PowerPoint 演示文稿</vt:lpstr>
      <vt:lpstr>解决两大难题</vt:lpstr>
      <vt:lpstr>教学困难--实践能力</vt:lpstr>
      <vt:lpstr>PowerPoint 演示文稿</vt:lpstr>
      <vt:lpstr>PowerPoint 演示文稿</vt:lpstr>
      <vt:lpstr>PowerPoint 演示文稿</vt:lpstr>
      <vt:lpstr>教学困难--解决问题的能力</vt:lpstr>
      <vt:lpstr>PowerPoint 演示文稿</vt:lpstr>
      <vt:lpstr>PowerPoint 演示文稿</vt:lpstr>
      <vt:lpstr>教学改革</vt:lpstr>
      <vt:lpstr>PowerPoint 演示文稿</vt:lpstr>
      <vt:lpstr>PowerPoint 演示文稿</vt:lpstr>
      <vt:lpstr>教学设计</vt:lpstr>
      <vt:lpstr>翻转课堂学习绩效</vt:lpstr>
      <vt:lpstr>考核安排</vt:lpstr>
      <vt:lpstr>PowerPoint 演示文稿</vt:lpstr>
      <vt:lpstr>PowerPoint 演示文稿</vt:lpstr>
      <vt:lpstr>优秀</vt:lpstr>
      <vt:lpstr>课程网站扩展项目</vt:lpstr>
      <vt:lpstr>课程设计</vt:lpstr>
      <vt:lpstr>课程网站案例分类</vt:lpstr>
      <vt:lpstr>案例的使用</vt:lpstr>
      <vt:lpstr>授课方式</vt:lpstr>
      <vt:lpstr>PowerPoint 演示文稿</vt:lpstr>
      <vt:lpstr>课程网站</vt:lpstr>
      <vt:lpstr>能力构成</vt:lpstr>
      <vt:lpstr>环境</vt:lpstr>
      <vt:lpstr>助教</vt:lpstr>
      <vt:lpstr>SWOT分析</vt:lpstr>
      <vt:lpstr>课后阅读</vt:lpstr>
      <vt:lpstr>课后练习</vt:lpstr>
      <vt:lpstr>作业</vt:lpstr>
      <vt:lpstr>Tips</vt:lpstr>
      <vt:lpstr>Tips（续）</vt:lpstr>
      <vt:lpstr>PowerPoint 演示文稿</vt:lpstr>
    </vt:vector>
  </TitlesOfParts>
  <Company>sei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1-1课程简介</dc:title>
  <dc:creator>李萌</dc:creator>
  <cp:lastModifiedBy>lemon 牛</cp:lastModifiedBy>
  <cp:revision>1036</cp:revision>
  <cp:lastPrinted>2003-09-14T10:10:00Z</cp:lastPrinted>
  <dcterms:created xsi:type="dcterms:W3CDTF">2003-08-28T12:03:00Z</dcterms:created>
  <dcterms:modified xsi:type="dcterms:W3CDTF">2024-02-25T15:12:44Z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6B7E428AAD9D47FD86FE404DDCE365B0_12</vt:lpwstr>
  </property>
  <property fmtid="{D5CDD505-2E9C-101B-9397-08002B2CF9AE}" pid="3" name="KSOProductBuildVer">
    <vt:lpwstr>2052-12.1.0.16250</vt:lpwstr>
  </property>
</Properties>
</file>