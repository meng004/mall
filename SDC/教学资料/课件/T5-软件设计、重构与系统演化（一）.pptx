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4"/>
  </p:notesMasterIdLst>
  <p:handoutMasterIdLst>
    <p:handoutMasterId r:id="rId48"/>
  </p:handout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</p:sldIdLst>
  <p:sldSz cx="9144000" cy="6858000" type="screen4x3"/>
  <p:notesSz cx="6760845" cy="9931400"/>
  <p:custDataLst>
    <p:tags r:id="rId52"/>
  </p:custData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D4D4D"/>
    <a:srgbClr val="FF3300"/>
    <a:srgbClr val="CC0000"/>
    <a:srgbClr val="FFFFCC"/>
    <a:srgbClr val="FFCCFF"/>
    <a:srgbClr val="FFFFFF"/>
    <a:srgbClr val="3399FF"/>
    <a:srgbClr val="33CC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173" autoAdjust="0"/>
    <p:restoredTop sz="86423" autoAdjust="0"/>
  </p:normalViewPr>
  <p:slideViewPr>
    <p:cSldViewPr showGuides="1">
      <p:cViewPr varScale="1">
        <p:scale>
          <a:sx n="93" d="100"/>
          <a:sy n="93" d="100"/>
        </p:scale>
        <p:origin x="812" y="64"/>
      </p:cViewPr>
      <p:guideLst>
        <p:guide orient="horz" pos="2160"/>
        <p:guide pos="288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>
      <p:cViewPr>
        <p:scale>
          <a:sx n="100" d="100"/>
          <a:sy n="100" d="100"/>
        </p:scale>
        <p:origin x="1662" y="-1344"/>
      </p:cViewPr>
      <p:guideLst>
        <p:guide orient="horz" pos="3129"/>
        <p:guide pos="213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8" Type="http://schemas.openxmlformats.org/officeDocument/2006/relationships/handoutMaster" Target="handoutMasters/handout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ableStyles" Target="tableStyles.xml"/><Relationship Id="rId52" Type="http://schemas.openxmlformats.org/officeDocument/2006/relationships/tags" Target="tags/tag7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97188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t" anchorCtr="0" compatLnSpc="1"/>
          <a:lstStyle>
            <a:lvl1pPr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7203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63975" y="0"/>
            <a:ext cx="2897188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t" anchorCtr="0" compatLnSpc="1"/>
          <a:lstStyle>
            <a:lvl1pPr algn="r"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203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09113"/>
            <a:ext cx="2897188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b" anchorCtr="0" compatLnSpc="1"/>
          <a:lstStyle>
            <a:lvl1pPr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203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63975" y="9409113"/>
            <a:ext cx="2897188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b" anchorCtr="0" compatLnSpc="1"/>
          <a:lstStyle>
            <a:lvl1pPr algn="r"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F9BFF2AA-1B51-48D4-AF79-5A13FE5BDCE2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3052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>
            <a:lvl1pPr defTabSz="954405" eaLnBrk="1" hangingPunct="1">
              <a:defRPr sz="1200" smtClean="0"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27463" y="0"/>
            <a:ext cx="2932112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>
            <a:lvl1pPr algn="r" defTabSz="954405" eaLnBrk="1" hangingPunct="1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98525" y="744538"/>
            <a:ext cx="4967288" cy="3725862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2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74688" y="4719638"/>
            <a:ext cx="5411787" cy="4467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/>
          <a:p>
            <a:pPr lvl="0"/>
            <a:r>
              <a:rPr lang="en-US" altLang="zh-CN" noProof="0"/>
              <a:t>Click to edit Master text styles</a:t>
            </a:r>
            <a:endParaRPr lang="en-US" altLang="zh-CN" noProof="0"/>
          </a:p>
          <a:p>
            <a:pPr lvl="1"/>
            <a:r>
              <a:rPr lang="en-US" altLang="zh-CN" noProof="0"/>
              <a:t>Second level</a:t>
            </a:r>
            <a:endParaRPr lang="en-US" altLang="zh-CN" noProof="0"/>
          </a:p>
          <a:p>
            <a:pPr lvl="2"/>
            <a:r>
              <a:rPr lang="en-US" altLang="zh-CN" noProof="0"/>
              <a:t>Third level</a:t>
            </a:r>
            <a:endParaRPr lang="en-US" altLang="zh-CN" noProof="0"/>
          </a:p>
          <a:p>
            <a:pPr lvl="3"/>
            <a:r>
              <a:rPr lang="en-US" altLang="zh-CN" noProof="0"/>
              <a:t>Fourth level</a:t>
            </a:r>
            <a:endParaRPr lang="en-US" altLang="zh-CN" noProof="0"/>
          </a:p>
          <a:p>
            <a:pPr lvl="4"/>
            <a:r>
              <a:rPr lang="en-US" altLang="zh-CN" noProof="0"/>
              <a:t>Fifth level</a:t>
            </a:r>
            <a:endParaRPr lang="en-US" altLang="zh-CN" noProof="0"/>
          </a:p>
        </p:txBody>
      </p:sp>
      <p:sp>
        <p:nvSpPr>
          <p:cNvPr id="92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31338"/>
            <a:ext cx="293052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b" anchorCtr="0" compatLnSpc="1"/>
          <a:lstStyle>
            <a:lvl1pPr defTabSz="954405" eaLnBrk="1" hangingPunct="1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2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27463" y="9431338"/>
            <a:ext cx="2932112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b" anchorCtr="0" compatLnSpc="1"/>
          <a:lstStyle>
            <a:lvl1pPr algn="r" defTabSz="954405" eaLnBrk="1" hangingPunct="1">
              <a:defRPr sz="1200" smtClean="0"/>
            </a:lvl1pPr>
          </a:lstStyle>
          <a:p>
            <a:pPr>
              <a:defRPr/>
            </a:pPr>
            <a:fld id="{BF21029A-2C2D-4ABF-B6A0-347AF3B9548E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节：模式四要素</a:t>
            </a:r>
          </a:p>
          <a:p>
            <a:r>
              <a:t>本节 20 分钟</a:t>
            </a:r>
          </a:p>
          <a:p>
            <a:r>
              <a:t>定义：这一讲讲模式的效果、从坏味道走到模式，以及原则在既有代码里怎么判定。</a:t>
            </a:r>
          </a:p>
          <a:p>
            <a:r>
              <a:t>代价：只背模式名字，下一讲说不清引入之后失去了什么。</a:t>
            </a:r>
          </a:p>
          <a:p>
            <a:r>
              <a:t>判定：开场点明这是第 9 次课，讲软件设计、重构与系统演化的前半。</a:t>
            </a:r>
          </a:p>
          <a:p>
            <a:r>
              <a:t>权衡：三个班周次不同，口头交代各班时间，课上只强调课次。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节：模式四要素</a:t>
            </a:r>
          </a:p>
          <a:p>
            <a:r>
              <a:t>时长见本节首页（本节 20 分钟）</a:t>
            </a:r>
          </a:p>
          <a:p>
            <a:r>
              <a:t>定义：目标是会写模式的效果，会从坏味道走到重构，会在既有代码上判定原则，并知道 AI 重构怎样放行。</a:t>
            </a:r>
          </a:p>
          <a:p>
            <a:r>
              <a:t>代价：不接上一讲和实验 E4，策略和装饰会变成另一套名词。</a:t>
            </a:r>
          </a:p>
          <a:p>
            <a:r>
              <a:t>判定：能否说出从 T4、E4 接来什么，以及实验 E5 要先分析改动碰到哪里。</a:t>
            </a:r>
          </a:p>
          <a:p>
            <a:r>
              <a:t>权衡：时间不够时，先保住效果和“模式是重构的结果”。E5 的预习题在布置里。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节：模式四要素</a:t>
            </a:r>
          </a:p>
          <a:p>
            <a:r>
              <a:t>时长见本节首页（本节 20 分钟）</a:t>
            </a:r>
          </a:p>
          <a:p>
            <a:r>
              <a:t>定义：广义是可重复使用的一类解法；狭义是特定场景下对类和协作对象的描述。三类是创建型、结构型、行为型。</a:t>
            </a:r>
          </a:p>
          <a:p>
            <a:r>
              <a:t>代价：把某一个框架的类名当成模式本身，换一种实现就讲不下去。</a:t>
            </a:r>
          </a:p>
          <a:p>
            <a:r>
              <a:t>判定：问这是在规定对象怎么创建，还是在规定它们怎么协作。</a:t>
            </a:r>
          </a:p>
          <a:p>
            <a:r>
              <a:t>权衡：三类够用即可。23 个模式的名单留在 Gamma 等《设计模式》第 1 章，这一讲不逐条念。说法见 2024 第 7-1 讲第 5–6 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节：模式四要素</a:t>
            </a:r>
          </a:p>
          <a:p>
            <a:r>
              <a:t>时长见本节首页（本节 20 分钟）</a:t>
            </a:r>
          </a:p>
          <a:p>
            <a:r>
              <a:t>定义：四要素是名称、问题、解决方案、效果。评价时先写效果，再看类有多少。</a:t>
            </a:r>
          </a:p>
          <a:p>
            <a:r>
              <a:t>代价：只写类图，不写失去了什么，引入之后无法判断值不值。</a:t>
            </a:r>
          </a:p>
          <a:p>
            <a:r>
              <a:t>判定：问这一项回答的是适用场合、协作方式，还是得到与失去。</a:t>
            </a:r>
          </a:p>
          <a:p>
            <a:r>
              <a:t>权衡：效果写清楚，类可以少画。四要素的名单见 2024 第 7-1 讲第 10 页，也见 Gamma 等《设计模式》第 1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节：模式四要素</a:t>
            </a:r>
          </a:p>
          <a:p>
            <a:r>
              <a:t>时长见本节首页（本节 20 分钟）</a:t>
            </a:r>
          </a:p>
          <a:p>
            <a:r>
              <a:t>定义：策略把可替换的算法分开。客户依赖共同接口，不在流程里写死某一种算法。</a:t>
            </a:r>
          </a:p>
          <a:p>
            <a:r>
              <a:t>代价：类变多，而且“这次选哪一种”仍要有地方放，并没有消失。</a:t>
            </a:r>
          </a:p>
          <a:p>
            <a:r>
              <a:t>判定：问新增一种算法时，改的是客户流程，还是只加一个算法类。</a:t>
            </a:r>
          </a:p>
          <a:p>
            <a:r>
              <a:t>权衡：流程稳定，选择规则集中在一处。概念来自 2024 第 7-2 讲：多种打折方案，每次只应用一种。真实代码留到下一节的优惠券范围，不在这里展开。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节：模式四要素</a:t>
            </a:r>
          </a:p>
          <a:p>
            <a:r>
              <a:t>时长见本节首页（本节 20 分钟）</a:t>
            </a:r>
          </a:p>
          <a:p>
            <a:r>
              <a:t>定义：装饰在现有对象外再包一层职责。装饰者持有同一接口，先用内层的结果，再加上自己的规则。</a:t>
            </a:r>
          </a:p>
          <a:p>
            <a:r>
              <a:t>代价：组合代替继承之后，对象链变长，叠错顺序就会算错。</a:t>
            </a:r>
          </a:p>
          <a:p>
            <a:r>
              <a:t>判定：问新功能是子类重写，还是外层先调用内层再追加。</a:t>
            </a:r>
          </a:p>
          <a:p>
            <a:r>
              <a:t>权衡：组合数上去了也不必为每种搭配建一个子类。材料是 2024 第 7-3 讲第 21–24 页：先有一种折扣，再叠加另一种。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节：模式四要素</a:t>
            </a:r>
          </a:p>
          <a:p>
            <a:r>
              <a:t>时长见本节首页（本节 20 分钟）</a:t>
            </a:r>
          </a:p>
          <a:p>
            <a:r>
              <a:t>定义：同一套四要素，策略和装饰都要写出得到的和失去的，不能只写类的名单。</a:t>
            </a:r>
          </a:p>
          <a:p>
            <a:r>
              <a:t>代价：只谈灵活，不谈多出来的类和间接调用，讨论会停在“用了就更好”。</a:t>
            </a:r>
          </a:p>
          <a:p>
            <a:r>
              <a:t>判定：问这一处是少改了客户，还是把选择规则挪到了另一个地方。</a:t>
            </a:r>
          </a:p>
          <a:p>
            <a:r>
              <a:t>权衡：两类模式都是用间接换稳定。值不值，要看变化是不是真的会来。下一页请学生自己说。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节：模式四要素</a:t>
            </a:r>
          </a:p>
          <a:p>
            <a:r>
              <a:t>时长见本节首页（本节 20 分钟）</a:t>
            </a:r>
          </a:p>
          <a:p>
            <a:r>
              <a:t>定义：讨论引入一个模式之后，得到了什么，又失去了什么。</a:t>
            </a:r>
          </a:p>
          <a:p>
            <a:r>
              <a:t>代价：只回答模式的名字，不说代价，四要素里的效果就没有用上。</a:t>
            </a:r>
          </a:p>
          <a:p>
            <a:r>
              <a:t>判定：回答要各举一条得到的和一条失去的，并说得出它们落在哪。</a:t>
            </a:r>
          </a:p>
          <a:p>
            <a:r>
              <a:t>权衡：得到的往往是客户少改；失去的往往是类变多、多一次调用。课上先听学生的例子。</a:t>
            </a:r>
          </a:p>
          <a:p>
            <a:r>
              <a:t>参考要点：得到的是变化收进新类，客户流程少改；失去的是类变多，并多一次间接调用。</a:t>
            </a:r>
          </a:p>
          <a:p>
            <a:r>
              <a:t>依据：课件大纲「模式四要素」；Gamma 等《设计模式》第 1 章把效果列为四要素之一。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节：坏味道与重构</a:t>
            </a:r>
          </a:p>
          <a:p>
            <a:r>
              <a:t>本节 30 分钟</a:t>
            </a:r>
          </a:p>
          <a:p>
            <a:r>
              <a:t>定义：坏味道是 Fowler《重构》里对难改结构的称呼。发散式变化用提炼类或拆分阶段；霰弹式修改用搬移函数、搬移字段或内联类。</a:t>
            </a:r>
          </a:p>
          <a:p>
            <a:r>
              <a:t>代价：看见分支就上模式，会把还能用提炼方法解决的问题弄得更重。</a:t>
            </a:r>
          </a:p>
          <a:p>
            <a:r>
              <a:t>判定：问变化是改同一类的多处，还是一次改动要散到多个类；再对上提炼类、拆分阶段，或搬移函数、搬移字段、内联类。</a:t>
            </a:r>
          </a:p>
          <a:p>
            <a:r>
              <a:t>权衡：手法名称依据 Fowler《重构》第 2 版第 3 章。这一页只留七个，后面的演示只用重复、过长和按类型分支。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节：坏味道与重构</a:t>
            </a:r>
          </a:p>
          <a:p>
            <a:r>
              <a:t>时长见本节首页（本节 30 分钟）</a:t>
            </a:r>
          </a:p>
          <a:p>
            <a:r>
              <a:t>定义：模式是重构做到那一步之后的结果。起点是坏味道和要保护的行为，不是模式的名字。</a:t>
            </a:r>
          </a:p>
          <a:p>
            <a:r>
              <a:t>代价：先选定策略再找代码来套，会把不必拆开的分支也拆开。</a:t>
            </a:r>
          </a:p>
          <a:p>
            <a:r>
              <a:t>判定：问是先有“这里按类型重复”，还是先有“这里要用策略”。</a:t>
            </a:r>
          </a:p>
          <a:p>
            <a:r>
              <a:t>权衡：能用提炼方法收住的，就不要先加接口。下一节的比较会把这个取舍说具体。Kerievsky《重构与模式》第 3 章把模式放在重构之后。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节：坏味道与重构</a:t>
            </a:r>
          </a:p>
          <a:p>
            <a:r>
              <a:t>时长见本节首页（本节 30 分钟）</a:t>
            </a:r>
          </a:p>
          <a:p>
            <a:r>
              <a:t>定义：三个版本只说明一件事：增加一种动物时，饲养员类要不要改。版本二把吃收成动物自己的动作；版本三改成一次喂一群。</a:t>
            </a:r>
          </a:p>
          <a:p>
            <a:r>
              <a:t>代价：版本一每加一种动物就要改饲养员；版本二不再加方法，但逐只调用仍然重复。</a:t>
            </a:r>
          </a:p>
          <a:p>
            <a:r>
              <a:t>判定：问加熊猫时，改的是饲养员，还是只加一种动物并放进那一群。</a:t>
            </a:r>
          </a:p>
          <a:p>
            <a:r>
              <a:t>权衡：这是概念导入，来自 2024 第 4-4 讲第 16–27 页。不把某一种语言的类写进来。真实代码从下一页的优惠券范围开始。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节：坏味道与重构</a:t>
            </a:r>
          </a:p>
          <a:p>
            <a:r>
              <a:t>时长见本节首页（本节 30 分钟）</a:t>
            </a:r>
          </a:p>
          <a:p>
            <a:r>
              <a:t>定义：现场演示三步：按适用范围的分支，特征测试 SDCE400Test，再收成策略。示例是 E4-00，Issue #20。</a:t>
            </a:r>
          </a:p>
          <a:p>
            <a:r>
              <a:t>代价：不先锁行为就改分支，重构和改需求会混在同一次提交里。</a:t>
            </a:r>
          </a:p>
          <a:p>
            <a:r>
              <a:t>判定：问测试固定的是改前的可用结果，还是策略类的名字。</a:t>
            </a:r>
          </a:p>
          <a:p>
            <a:r>
              <a:t>权衡：全场、分类、商品三段重复的是判定和分列，不同的只是按哪种范围取金额。促销计算不是这一讲的例子。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节：坏味道与重构</a:t>
            </a:r>
          </a:p>
          <a:p>
            <a:r>
              <a:t>时长见本节首页（本节 30 分钟）</a:t>
            </a:r>
          </a:p>
          <a:p>
            <a:r>
              <a:t>定义：第 129 行按适用范围取策略。找不到就跳过，这张券不进可用，也不进不可用。</a:t>
            </a:r>
          </a:p>
          <a:p>
            <a:r>
              <a:t>代价：跳过若写成放进不可用，未知范围的结果就和改前不一样。</a:t>
            </a:r>
          </a:p>
          <a:p>
            <a:r>
              <a:t>判定：看第 130–132 行是 continue，还是把券放进某一个列表。</a:t>
            </a:r>
          </a:p>
          <a:p>
            <a:r>
              <a:t>权衡：改前靠分支链没有最后的否则，未知范围同样两边都不放。这里把那件事变明确了。行号对 E4-00 的提交 175decae。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节：坏味道与重构</a:t>
            </a:r>
          </a:p>
          <a:p>
            <a:r>
              <a:t>时长见本节首页（本节 30 分钟）</a:t>
            </a:r>
          </a:p>
          <a:p>
            <a:r>
              <a:t>定义：这五项里的第一项锁住同一购物车下可用、不可用的编号和顺序，并锁住未知范围 17 两边都不出现。</a:t>
            </a:r>
          </a:p>
          <a:p>
            <a:r>
              <a:t>代价：断言写到策略类的名字上，重构一改名测试就红，固定的就不是行为。</a:t>
            </a:r>
          </a:p>
          <a:p>
            <a:r>
              <a:t>判定：问失败时是编号或顺序变了，还是只是类名变了。</a:t>
            </a:r>
          </a:p>
          <a:p>
            <a:r>
              <a:t>权衡：Issue #20 记录整份测试有五项，改前改后都通过，断言不改。过期、空购物车和门槛两侧在另外几项里。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节：坏味道与重构</a:t>
            </a:r>
          </a:p>
          <a:p>
            <a:r>
              <a:t>时长见本节首页（本节 30 分钟）</a:t>
            </a:r>
          </a:p>
          <a:p>
            <a:r>
              <a:t>定义：policyFor 返回第一个 supports 为真的策略。都不是就返回空，调用方跳过。</a:t>
            </a:r>
          </a:p>
          <a:p>
            <a:r>
              <a:t>代价：两个策略都能匹配时，先登记的生效。这条规则只写在循环里。</a:t>
            </a:r>
          </a:p>
          <a:p>
            <a:r>
              <a:t>判定：问未知范围是返回空，还是返回一个默认策略。</a:t>
            </a:r>
          </a:p>
          <a:p>
            <a:r>
              <a:t>权衡：现在三种范围互不重叠，顺序不影响结果。以后若重叠，要先改这条查找，不能只加类。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节：坏味道与重构</a:t>
            </a:r>
          </a:p>
          <a:p>
            <a:r>
              <a:t>时长见本节首页（本节 30 分钟）</a:t>
            </a:r>
          </a:p>
          <a:p>
            <a:r>
              <a:t>定义：只看 listCart 的可用判定。改前加一种范围改 1 处，但要复制判定和分列；策略改 2 处，listCart 本身不用改。</a:t>
            </a:r>
          </a:p>
          <a:p>
            <a:r>
              <a:t>代价：处数没有变少。策略还多了接口、三个内部类，以及一次查找。</a:t>
            </a:r>
          </a:p>
          <a:p>
            <a:r>
              <a:t>判定：问少掉的是修改处数，还是“要不要复制那一段分列”。</a:t>
            </a:r>
          </a:p>
          <a:p>
            <a:r>
              <a:t>权衡：Issue #20 的结论：就现状而言，提取方法更省也够用。采用策略是为了在同一处演示四要素。范围种类确实会增加，或某种判定要单独替换、单独测试时，再值得用策略。基线 244 行，提取方法 252 行，策略 289 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节：坏味道与重构</a:t>
            </a:r>
          </a:p>
          <a:p>
            <a:r>
              <a:t>时长见本节首页（本节 30 分钟）</a:t>
            </a:r>
          </a:p>
          <a:p>
            <a:r>
              <a:t>定义：全场策略仍用 intValue 截断。分类和商品在第 193、213 行同样保留。重构不改这个行为。</a:t>
            </a:r>
          </a:p>
          <a:p>
            <a:r>
              <a:t>代价：把截断顺手改成精确比较，就混进了另一次修复，特征测试还可能仍然是绿的。</a:t>
            </a:r>
          </a:p>
          <a:p>
            <a:r>
              <a:t>判定：问 99.90 被判成可用，是策略引入的，还是改前就如此。</a:t>
            </a:r>
          </a:p>
          <a:p>
            <a:r>
              <a:t>权衡：这属于 E3-01。测试只打印 THRESHOLD_BASELINE，不断言 99.90。改成 compareTo 时，改前改后都要改 3 处，这次重构对它没有收益。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节：模块化原则的判定</a:t>
            </a:r>
          </a:p>
          <a:p>
            <a:r>
              <a:t>本节 25 分钟</a:t>
            </a:r>
          </a:p>
          <a:p>
            <a:r>
              <a:t>定义：抽象是把注意力放在当前这一层，忽略更低的细节。逐步求精是把宏观描述不断分解，直到能落到方法。</a:t>
            </a:r>
          </a:p>
          <a:p>
            <a:r>
              <a:t>代价：一开始就写进每一个字段，分摊精度和库存锁定会缠在同一层里。</a:t>
            </a:r>
          </a:p>
          <a:p>
            <a:r>
              <a:t>判定：问这一步是在给订单分块，还是已经在定小数保留几位。</a:t>
            </a:r>
          </a:p>
          <a:p>
            <a:r>
              <a:t>权衡：2024 第 5-2 讲从订单里再识别出子项。2024 第 5-1 讲第 4 页把抽象和逐步求精放在一起用。mall 的落点是 generateOrder。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节：模块化原则的判定</a:t>
            </a:r>
          </a:p>
          <a:p>
            <a:r>
              <a:t>时长见本节首页（本节 25 分钟）</a:t>
            </a:r>
          </a:p>
          <a:p>
            <a:r>
              <a:t>定义：设计过程、主要活动的展开、设计质量、规格说明和设计评审，这一讲不讲步骤，放在线上预习。</a:t>
            </a:r>
          </a:p>
          <a:p>
            <a:r>
              <a:t>代价：课上把评审流程讲完，就没有时间在订单代码上判定原则。</a:t>
            </a:r>
          </a:p>
          <a:p>
            <a:r>
              <a:t>判定：问这四项是课上要展开的步骤，还是预习时对照的清单。</a:t>
            </a:r>
          </a:p>
          <a:p>
            <a:r>
              <a:t>权衡：过程的两层迭代见 2024 第 5-1 讲第 10 页。课上只用订单代码做判定。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节：模块化原则的判定</a:t>
            </a:r>
          </a:p>
          <a:p>
            <a:r>
              <a:t>时长见本节首页（本节 25 分钟）</a:t>
            </a:r>
          </a:p>
          <a:p>
            <a:r>
              <a:t>定义：信息隐藏按要藏起的设计决定来切模块，不是按流程步骤来切。Parnas 1972 的标准是：把可能改变的决定藏进模块。</a:t>
            </a:r>
          </a:p>
          <a:p>
            <a:r>
              <a:t>代价：按步骤切开之后，精度仍出现两次，改一处会漏掉另一处。</a:t>
            </a:r>
          </a:p>
          <a:p>
            <a:r>
              <a:t>判定：问模块边界藏起的是“分摊保留几位”，还是“先计价再落库”这个顺序。</a:t>
            </a:r>
          </a:p>
          <a:p>
            <a:r>
              <a:t>权衡：2024 第 5-1 讲第 6 页强调开发者只需知道接口。接口是结果；先要问藏起的是哪一项决定。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节：模块化原则的判定</a:t>
            </a:r>
          </a:p>
          <a:p>
            <a:r>
              <a:t>时长见本节首页（本节 25 分钟）</a:t>
            </a:r>
          </a:p>
          <a:p>
            <a:r>
              <a:t>定义：低内聚的证据是一个方法混有多个独立变化原因：锁库存、写订单、算优惠、扣积分。两处分摊共同依赖同一精度决定，形成变更耦合，也违反 DRY。</a:t>
            </a:r>
          </a:p>
          <a:p>
            <a:r>
              <a:t>代价：把步骤多当成低内聚，会把同一次事务里的连续动作都说成设计问题。</a:t>
            </a:r>
          </a:p>
          <a:p>
            <a:r>
              <a:t>判定：问锁库存和扣积分能否各自变化；问精度是一项决定被两处依赖，还是两个模块在互相调用。</a:t>
            </a:r>
          </a:p>
          <a:p>
            <a:r>
              <a:t>权衡：这里的耦合是变更耦合，不是模块之间的耦合。一般定义见 2024 第 5-1 讲第 8 页，证据按订单代码改写。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节：模块化原则的判定</a:t>
            </a:r>
          </a:p>
          <a:p>
            <a:r>
              <a:t>时长见本节首页（本节 25 分钟）</a:t>
            </a:r>
          </a:p>
          <a:p>
            <a:r>
              <a:t>定义：两处都用商品价格除以总额，比例保留 3 位，再乘上要分摊的金额。第 157 行是积分，第 662 行是优惠券。</a:t>
            </a:r>
          </a:p>
          <a:p>
            <a:r>
              <a:t>代价：精度是一项决定，却写在两个方法里。改一处、漏一处，同一张订单会按两种精度分摊。</a:t>
            </a:r>
          </a:p>
          <a:p>
            <a:r>
              <a:t>判定：看 divide 的位数参数是不是都是 3，舍入是不是都是 HALF_EVEN。</a:t>
            </a:r>
          </a:p>
          <a:p>
            <a:r>
              <a:t>权衡：第 623、624 行的位数是 2，那是积分换算和订单比例，不是这两处的分摊。行号对基线 baseline-dcaa93b3。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节：模块化原则的判定</a:t>
            </a:r>
          </a:p>
          <a:p>
            <a:r>
              <a:t>时长见本节首页（本节 25 分钟）</a:t>
            </a:r>
          </a:p>
          <a:p>
            <a:r>
              <a:t>定义：generateOrder 从第 94 行起，在同一个方法里串起用券、积分、锁库存、写订单和明细、更新券、扣积分、删购物车、发延迟消息。</a:t>
            </a:r>
          </a:p>
          <a:p>
            <a:r>
              <a:t>代价：方法过长。改分摊、改锁库或改消息，都要进入这一段。</a:t>
            </a:r>
          </a:p>
          <a:p>
            <a:r>
              <a:t>判定：问这些步骤是一次调用里的连续动作，还是已经拆成各自的入口。</a:t>
            </a:r>
          </a:p>
          <a:p>
            <a:r>
              <a:t>权衡：事务因此能包住这一整段，方法也因此难读。过长适合讨论该不该拆，不适合在这一讲里当场拆开。落库在第 224、229 行，更新券在第 232 行，扣积分在第 240 行，删购物车在第 243 行，发消息在第 245 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节：模块化原则的判定</a:t>
            </a:r>
          </a:p>
          <a:p>
            <a:r>
              <a:t>时长见本节首页（本节 25 分钟）</a:t>
            </a:r>
          </a:p>
          <a:p>
            <a:r>
              <a:t>定义：有证据的是三条。下单方法有多个改动理由；加一种范围不必改循环，但登记仍要改；策略接口的实现是同一类里的私有类。</a:t>
            </a:r>
          </a:p>
          <a:p>
            <a:r>
              <a:t>代价：五条都要判成违背，就会把没有证据的两条也说成缺陷。</a:t>
            </a:r>
          </a:p>
          <a:p>
            <a:r>
              <a:t>判定：问引起下单方法变化的理由是一条还是多条；替换策略要不要改这个类。</a:t>
            </a:r>
          </a:p>
          <a:p>
            <a:r>
              <a:t>权衡：私有内部类外部不能单独替换，依赖倒置只做到接口这一步。定义见 2024 第 4-1 讲第 37–38 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节：模块化原则的判定</a:t>
            </a:r>
          </a:p>
          <a:p>
            <a:r>
              <a:t>时长见本节首页（本节 25 分钟）</a:t>
            </a:r>
          </a:p>
          <a:p>
            <a:r>
              <a:t>定义：重复和解耦：精度收成一处，改一次就齐；若积分和优惠券以后要不同精度，收在一起会互相牵动。开闭和不过度设计：策略让循环少改，但现状下提取方法更省。</a:t>
            </a:r>
          </a:p>
          <a:p>
            <a:r>
              <a:t>代价：两条都当成绝对要求，就会同时要求“一处都不能改”和“现在就把以后的范围都预留出来”。</a:t>
            </a:r>
          </a:p>
          <a:p>
            <a:r>
              <a:t>判定：问这次变化是两种分摊必须相同，还是范围种类确定会增加。</a:t>
            </a:r>
          </a:p>
          <a:p>
            <a:r>
              <a:t>权衡：不过度设计见 2024 第 4-1 讲第 36 页，重复见同讲第 35 页。取舍要写明现在已知的变化，而不是把原则名叠在一起。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节：模块化原则的判定</a:t>
            </a:r>
          </a:p>
          <a:p>
            <a:r>
              <a:t>时长见本节首页（本节 25 分钟）</a:t>
            </a:r>
          </a:p>
          <a:p>
            <a:r>
              <a:t>定义：讨论把金额分摊的精度从 3 位改成 2 位，要改几处，漏掉一处会怎样。</a:t>
            </a:r>
          </a:p>
          <a:p>
            <a:r>
              <a:t>代价：把第 623 行那种换算也算进来，改动范围就会大过真正的分摊。</a:t>
            </a:r>
          </a:p>
          <a:p>
            <a:r>
              <a:t>判定：回答要给出处数，并说明漏掉一处时两笔分摊还是否同一种精度。</a:t>
            </a:r>
          </a:p>
          <a:p>
            <a:r>
              <a:t>权衡：分摊就两处，第 157 行和第 662 行。漏一处，积分和优惠券会按不同精度分摊。课上先听学生怎么数。</a:t>
            </a:r>
          </a:p>
          <a:p>
            <a:r>
              <a:t>参考要点：分摊精度写了两处，第 157 行和第 662 行；漏掉一处时，积分和优惠券按不同精度分摊。</a:t>
            </a:r>
          </a:p>
          <a:p>
            <a:r>
              <a:t>依据：课件大纲「模块化原则的判定」；Parnas 1972 要求把这项设计决定藏进一处。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节：AI 辅助重构</a:t>
            </a:r>
          </a:p>
          <a:p>
            <a:r>
              <a:t>本节 15 分钟</a:t>
            </a:r>
          </a:p>
          <a:p>
            <a:r>
              <a:t>定义：AI 可以标坏味道、起草重构方案、起草特征测试。这三样都是草稿，放行不由它决定。</a:t>
            </a:r>
          </a:p>
          <a:p>
            <a:r>
              <a:t>代价：把草稿直接提交，无关修改和不可变约束会一起进入代码。</a:t>
            </a:r>
          </a:p>
          <a:p>
            <a:r>
              <a:t>判定：问这一份输出是在指出位置、给出改法，还是已经代替了测试结果。</a:t>
            </a:r>
          </a:p>
          <a:p>
            <a:r>
              <a:t>权衡：特征测试的断言仍要人核对：它锁的是行为，还是锁住了类名和行号。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节：AI 辅助重构</a:t>
            </a:r>
          </a:p>
          <a:p>
            <a:r>
              <a:t>时长见本节首页（本节 15 分钟）</a:t>
            </a:r>
          </a:p>
          <a:p>
            <a:r>
              <a:t>定义：放行前先看有没有碰到不许改的部分，再看差异里有没有无关修改，最后看测试结果。三查都过才留下。</a:t>
            </a:r>
          </a:p>
          <a:p>
            <a:r>
              <a:t>代价：只看测试全绿，截断被顺手改掉时，这一讲的特征测试仍然可以是绿的。</a:t>
            </a:r>
          </a:p>
          <a:p>
            <a:r>
              <a:t>判定：问卡住这次放行的是约束、是差异里多出来的行，还是测试失败。</a:t>
            </a:r>
          </a:p>
          <a:p>
            <a:r>
              <a:t>权衡：三查的顺序不能倒过来。测试用来确认行为，不用来发现“这次本不该改的行”。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节：AI 辅助重构</a:t>
            </a:r>
          </a:p>
          <a:p>
            <a:r>
              <a:t>时长见本节首页（本节 15 分钟）</a:t>
            </a:r>
          </a:p>
          <a:p>
            <a:r>
              <a:t>定义：这次重构约定不修门槛截断、不改公开接口、不引入规则引擎。Issue #20 记录重构提交 37e30f1 只改了优惠券服务这一个类，五项断言不改且都通过。</a:t>
            </a:r>
          </a:p>
          <a:p>
            <a:r>
              <a:t>代价：测试没有断言 99.90，所以全绿不能证明没有混入截断修复。</a:t>
            </a:r>
          </a:p>
          <a:p>
            <a:r>
              <a:t>判定：问“没有混入修复”是测试证明的，还是要读差异才能看出来。</a:t>
            </a:r>
          </a:p>
          <a:p>
            <a:r>
              <a:t>权衡：截断仍在第 173、193、213 行。打印那一行没有写成断言。夹带若正好改的是这三行，第三查会漏掉。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节：AI 辅助重构</a:t>
            </a:r>
          </a:p>
          <a:p>
            <a:r>
              <a:t>时长见本节首页（本节 15 分钟）</a:t>
            </a:r>
          </a:p>
          <a:p>
            <a:r>
              <a:t>定义：讨论 AI 给出的重构里夹带了无关修改时应该怎么处理。</a:t>
            </a:r>
          </a:p>
          <a:p>
            <a:r>
              <a:t>代价：因为测试是绿的就整份留下，无关修改会和重构绑在同一次提交里。</a:t>
            </a:r>
          </a:p>
          <a:p>
            <a:r>
              <a:t>判定：回答要说出无关修改是留下、退回，还是另提，并说明测试能不能代替读差异。</a:t>
            </a:r>
          </a:p>
          <a:p>
            <a:r>
              <a:t>权衡：无关修改退回或另提。先核对不可变约束，再看测试。课上先听学生怎么处理那三行截断。</a:t>
            </a:r>
          </a:p>
          <a:p>
            <a:r>
              <a:t>参考要点：无关修改从差异里挑出来，不连同放行；测试全绿不能代替读差异，还要核对不可变约束。</a:t>
            </a:r>
          </a:p>
          <a:p>
            <a:r>
              <a:t>依据：课件大纲「AI 辅助重构」；放行前三查的第二查就是夹带的无关修改。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节：AI 辅助重构</a:t>
            </a:r>
          </a:p>
          <a:p>
            <a:r>
              <a:t>时长见本节首页（本节 15 分钟）</a:t>
            </a:r>
          </a:p>
          <a:p>
            <a:r>
              <a:t>定义：这一讲收成四句：效果、模式从重构里来、原则要落到行上、AI 的改动先过三查。</a:t>
            </a:r>
          </a:p>
          <a:p>
            <a:r>
              <a:t>代价：只记住策略和装饰的名字，实验 E5 仍不会先看改动碰到哪里。</a:t>
            </a:r>
          </a:p>
          <a:p>
            <a:r>
              <a:t>判定：能否各用一句说效果、模式从哪里来、精度改几处，以及放行前要查什么。</a:t>
            </a:r>
          </a:p>
          <a:p>
            <a:r>
              <a:t>权衡：实验 E5 做变更影响分析。预习题和阅读在下一节。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节：布置</a:t>
            </a:r>
          </a:p>
          <a:p>
            <a:r>
              <a:t>本节 15 分钟（并入上一节）</a:t>
            </a:r>
          </a:p>
          <a:p>
            <a:r>
              <a:t>题目页</a:t>
            </a:r>
          </a:p>
          <a:p>
            <a:r>
              <a:t>答案：1D 2B 3A</a:t>
            </a:r>
          </a:p>
          <a:p>
            <a:r>
              <a:t>定义：这三题是实验 E5 前的预习，课前按客观题完成。</a:t>
            </a:r>
          </a:p>
          <a:p>
            <a:r>
              <a:t>代价：未做的话，下一讲分不清回归范围按什么划，演化策略有哪几种。</a:t>
            </a:r>
          </a:p>
          <a:p>
            <a:r>
              <a:t>判定：回归范围按受影响的模块和调用链来定；新功能单独实现仍可能影响既有流程。</a:t>
            </a:r>
          </a:p>
          <a:p>
            <a:r>
              <a:t>权衡：演化策略是维护、重构、再工程、替换。后两题和阅读在下一页。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节：布置</a:t>
            </a:r>
          </a:p>
          <a:p>
            <a:r>
              <a:t>时长见本节首页（本节 15 分钟（并入上一节））</a:t>
            </a:r>
          </a:p>
          <a:p>
            <a:r>
              <a:t>题目页</a:t>
            </a:r>
          </a:p>
          <a:p>
            <a:r>
              <a:t>答案：4B 5A</a:t>
            </a:r>
          </a:p>
          <a:p>
            <a:r>
              <a:t>定义：第 4 题问逆向工程和再工程的关系；第 5 题问约束要调整时走不走变更评审。</a:t>
            </a:r>
          </a:p>
          <a:p>
            <a:r>
              <a:t>代价：把两者当成同义词，下一讲就分不清理解和改造。</a:t>
            </a:r>
          </a:p>
          <a:p>
            <a:r>
              <a:t>判定：逆向工程用来理解既有系统，是再工程的一部分；约束确需调整时走变更评审。</a:t>
            </a:r>
          </a:p>
          <a:p>
            <a:r>
              <a:t>权衡：阅读页把 Parnas、Lehman 和 Chikofsky 的出处放在一起，实验前先看这三篇的题目。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节：布置</a:t>
            </a:r>
          </a:p>
          <a:p>
            <a:r>
              <a:t>时长见本节首页（本节 15 分钟（并入上一节））</a:t>
            </a:r>
          </a:p>
          <a:p>
            <a:r>
              <a:t>定义：课后按作业第 2 条核对这些文献。Parnas 1972、Lehman 1980、Chikofsky 1990 是这一讲点过名的三篇。</a:t>
            </a:r>
          </a:p>
          <a:p>
            <a:r>
              <a:t>代价：不读重构那一章，坏味道的名字会和某一种模式绑死。</a:t>
            </a:r>
          </a:p>
          <a:p>
            <a:r>
              <a:t>判定：页上要能对上 Parnas 1972、Lehman 1980 和 Chikofsky。</a:t>
            </a:r>
          </a:p>
          <a:p>
            <a:r>
              <a:t>权衡：先读 Gamma 第 1 章的效果，再读 Fowler 第 3 章的坏味道。Lenarduzzi 2020 与表中文献同读，讲迁移和技术债时再展开。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Relationship Id="rId4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9" descr="usc_r5_c1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715000"/>
            <a:ext cx="45720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13" descr="usc_r5_c2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59300" y="5715000"/>
            <a:ext cx="45720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13" descr="（白底）中文"/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3800" y="228600"/>
            <a:ext cx="1676400" cy="1676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8169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1524000"/>
            <a:ext cx="7772400" cy="1371600"/>
          </a:xfrm>
        </p:spPr>
        <p:txBody>
          <a:bodyPr/>
          <a:lstStyle>
            <a:lvl1pPr>
              <a:defRPr sz="4500"/>
            </a:lvl1pPr>
          </a:lstStyle>
          <a:p>
            <a:pPr lvl="0"/>
            <a:r>
              <a:rPr lang="zh-CN" altLang="en-US" noProof="0"/>
              <a:t>单击此处编辑母版标题样式</a:t>
            </a:r>
            <a:endParaRPr lang="zh-CN" altLang="en-US" noProof="0"/>
          </a:p>
        </p:txBody>
      </p:sp>
      <p:sp>
        <p:nvSpPr>
          <p:cNvPr id="118169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066800" y="3429000"/>
            <a:ext cx="7010400" cy="1600200"/>
          </a:xfrm>
        </p:spPr>
        <p:txBody>
          <a:bodyPr/>
          <a:lstStyle>
            <a:lvl1pPr marL="0" indent="0">
              <a:buFont typeface="Wingdings" panose="05000000000000000000" pitchFamily="2" charset="2"/>
              <a:buNone/>
              <a:defRPr sz="3000"/>
            </a:lvl1pPr>
          </a:lstStyle>
          <a:p>
            <a:pPr lvl="0"/>
            <a:r>
              <a:rPr lang="zh-CN" altLang="en-US" noProof="0"/>
              <a:t>单击此处编辑母版副标题样式</a:t>
            </a:r>
            <a:endParaRPr lang="zh-CN" altLang="en-US" noProof="0"/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1" hangingPunct="1">
              <a:defRPr sz="1200" smtClean="0">
                <a:latin typeface="+mn-lt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 eaLnBrk="1" hangingPunct="1">
              <a:defRPr sz="1200" smtClean="0">
                <a:latin typeface="+mn-lt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1" hangingPunct="1">
              <a:defRPr sz="1200" smtClean="0">
                <a:latin typeface="+mn-lt"/>
              </a:defRPr>
            </a:lvl1pPr>
          </a:lstStyle>
          <a:p>
            <a:pPr>
              <a:defRPr/>
            </a:pPr>
            <a:fld id="{13B25BE5-3F7A-4904-922D-A053C7DF1757}" type="slidenum">
              <a:rPr lang="zh-CN" altLang="en-US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566738" y="1752600"/>
            <a:ext cx="3924300" cy="426720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3438" y="1752600"/>
            <a:ext cx="3924300" cy="426720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573838" y="304800"/>
            <a:ext cx="2001837" cy="571500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566738" y="304800"/>
            <a:ext cx="5854700" cy="571500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image" Target="../media/image4.jpeg"/><Relationship Id="rId13" Type="http://schemas.openxmlformats.org/officeDocument/2006/relationships/image" Target="../media/image1.jpeg"/><Relationship Id="rId14" Type="http://schemas.openxmlformats.org/officeDocument/2006/relationships/image" Target="../media/image2.jpeg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pattFill prst="ltHorz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74675" y="304800"/>
            <a:ext cx="8001000" cy="963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66738" y="1752600"/>
            <a:ext cx="8001000" cy="426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1028" name="AutoShape 4"/>
          <p:cNvSpPr>
            <a:spLocks noChangeArrowheads="1"/>
          </p:cNvSpPr>
          <p:nvPr/>
        </p:nvSpPr>
        <p:spPr bwMode="auto">
          <a:xfrm>
            <a:off x="609600" y="1295400"/>
            <a:ext cx="7958138" cy="109538"/>
          </a:xfrm>
          <a:custGeom>
            <a:avLst/>
            <a:gdLst>
              <a:gd name="T0" fmla="*/ 0 w 1000"/>
              <a:gd name="T1" fmla="*/ 0 h 1000"/>
              <a:gd name="T2" fmla="*/ 4655511 w 1000"/>
              <a:gd name="T3" fmla="*/ 0 h 1000"/>
              <a:gd name="T4" fmla="*/ 4655511 w 1000"/>
              <a:gd name="T5" fmla="*/ 109538 h 1000"/>
              <a:gd name="T6" fmla="*/ 0 w 1000"/>
              <a:gd name="T7" fmla="*/ 109538 h 1000"/>
              <a:gd name="T8" fmla="*/ 0 w 1000"/>
              <a:gd name="T9" fmla="*/ 0 h 1000"/>
              <a:gd name="T10" fmla="*/ 7958138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1000" h="1000" stroke="0">
                <a:moveTo>
                  <a:pt x="0" y="0"/>
                </a:moveTo>
                <a:lnTo>
                  <a:pt x="585" y="0"/>
                </a:lnTo>
                <a:lnTo>
                  <a:pt x="585" y="1000"/>
                </a:lnTo>
                <a:lnTo>
                  <a:pt x="0" y="1000"/>
                </a:lnTo>
                <a:lnTo>
                  <a:pt x="0" y="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chemeClr val="accent2"/>
          </a:solidFill>
          <a:ln w="9525">
            <a:solidFill>
              <a:schemeClr val="accent2"/>
            </a:solidFill>
            <a:round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9" name="Line 5"/>
          <p:cNvSpPr>
            <a:spLocks noChangeShapeType="1"/>
          </p:cNvSpPr>
          <p:nvPr/>
        </p:nvSpPr>
        <p:spPr bwMode="auto">
          <a:xfrm flipV="1">
            <a:off x="609600" y="6172200"/>
            <a:ext cx="7924800" cy="0"/>
          </a:xfrm>
          <a:prstGeom prst="line">
            <a:avLst/>
          </a:prstGeom>
          <a:noFill/>
          <a:ln w="3175">
            <a:solidFill>
              <a:schemeClr val="accent2"/>
            </a:solidFill>
            <a:rou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030" name="Text Box 6"/>
          <p:cNvSpPr txBox="1">
            <a:spLocks noChangeArrowheads="1"/>
          </p:cNvSpPr>
          <p:nvPr/>
        </p:nvSpPr>
        <p:spPr bwMode="auto">
          <a:xfrm>
            <a:off x="5548313" y="6308725"/>
            <a:ext cx="3671887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zh-CN" altLang="en-US">
                <a:solidFill>
                  <a:srgbClr val="009900"/>
                </a:solidFill>
                <a:latin typeface="Verdana" panose="020B0604030504040204" pitchFamily="34" charset="0"/>
                <a:ea typeface="隶书" panose="02010509060101010101" pitchFamily="49" charset="-122"/>
              </a:rPr>
              <a:t>计算机科学与技术学院</a:t>
            </a:r>
            <a:endParaRPr lang="zh-CN" altLang="en-US">
              <a:solidFill>
                <a:srgbClr val="009900"/>
              </a:solidFill>
              <a:latin typeface="Verdana" panose="020B0604030504040204" pitchFamily="34" charset="0"/>
              <a:ea typeface="隶书" panose="02010509060101010101" pitchFamily="49" charset="-122"/>
            </a:endParaRPr>
          </a:p>
        </p:txBody>
      </p:sp>
      <p:pic>
        <p:nvPicPr>
          <p:cNvPr id="1031" name="Picture 8" descr="计算机学院logo-1"/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6413" y="6261100"/>
            <a:ext cx="509587" cy="50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2" name="Picture 9" descr="usc_r5_c1"/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138" y="6221413"/>
            <a:ext cx="2217737" cy="604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3" name="Picture 13" descr="usc_r5_c2"/>
          <p:cNvPicPr>
            <a:picLocks noChangeAspect="1" noChangeArrowheads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1938" y="6219825"/>
            <a:ext cx="2227262" cy="604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accent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Cambria" panose="02040503050406030204" pitchFamily="18" charset="0"/>
          <a:ea typeface="黑体" panose="02010609060101010101" pitchFamily="49" charset="-122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Cambria" panose="02040503050406030204" pitchFamily="18" charset="0"/>
          <a:ea typeface="黑体" panose="02010609060101010101" pitchFamily="49" charset="-122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Cambria" panose="02040503050406030204" pitchFamily="18" charset="0"/>
          <a:ea typeface="黑体" panose="02010609060101010101" pitchFamily="49" charset="-122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Cambria" panose="02040503050406030204" pitchFamily="18" charset="0"/>
          <a:ea typeface="黑体" panose="02010609060101010101" pitchFamily="49" charset="-122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黑体" panose="02010609060101010101" pitchFamily="49" charset="-122"/>
          <a:ea typeface="黑体" panose="02010609060101010101" pitchFamily="49" charset="-122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黑体" panose="02010609060101010101" pitchFamily="49" charset="-122"/>
          <a:ea typeface="黑体" panose="02010609060101010101" pitchFamily="49" charset="-122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黑体" panose="02010609060101010101" pitchFamily="49" charset="-122"/>
          <a:ea typeface="黑体" panose="02010609060101010101" pitchFamily="49" charset="-122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黑体" panose="02010609060101010101" pitchFamily="49" charset="-122"/>
          <a:ea typeface="黑体" panose="02010609060101010101" pitchFamily="49" charset="-122"/>
        </a:defRPr>
      </a:lvl9pPr>
    </p:titleStyle>
    <p:bodyStyle>
      <a:lvl1pPr marL="469900" indent="-4699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32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908050" indent="-43688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Font typeface="Wingdings" panose="05000000000000000000" pitchFamily="2" charset="2"/>
        <a:buChar char="l"/>
        <a:defRPr sz="28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304925" indent="-395605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23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94180" indent="-38735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94230" indent="-398780" algn="l" rtl="0" eaLnBrk="0" fontAlgn="base" hangingPunct="0">
        <a:spcBef>
          <a:spcPct val="25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3200" b="0" lang="zh-CN" altLang="en-US">
                <a:latin typeface="微软雅黑"/>
                <a:ea typeface="微软雅黑"/>
                <a:cs typeface="微软雅黑"/>
              </a:rPr>
              <a:t>软件设计与规范</a:t>
            </a:r>
          </a:p>
        </p:txBody>
      </p:sp>
      <p:sp>
        <p:nvSpPr>
          <p:cNvPr id="3" name="body"/>
          <p:cNvSpPr>
            <a:spLocks noGrp="1"/>
          </p:cNvSpPr>
          <p:nvPr>
            <p:ph type="subTitle" idx="1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第 9 次课｜软件设计、重构与系统演化（一）</a:t>
            </a:r>
          </a:p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李萌</a:t>
            </a:r>
          </a:p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计算机科学与技术学院</a:t>
            </a:r>
          </a:p>
        </p:txBody>
      </p:sp>
    </p:spTree>
  </p:cSld>
  <p:clrMapOvr>
    <a:masterClrMapping/>
  </p:clrMapOvr>
  <p:hf sldNum="0" hdr="0" ftr="0" dt="0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本次目标与衔接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承接 T4：分层、注入和映射已经分开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654046"/>
            <a:ext cx="7918704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承接 E4：局部重构要先固定行为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735324"/>
            <a:ext cx="7516367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本讲看效果、坏味道和原则判定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816602"/>
            <a:ext cx="7114031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引出 E5：先看改动会碰到哪里</a:t>
            </a:r>
          </a:p>
        </p:txBody>
      </p:sp>
    </p:spTree>
  </p:cSld>
  <p:clrMapOvr>
    <a:masterClrMapping/>
  </p:clrMapOvr>
  <p:hf sldNum="0" hdr="0" ftr="0" dt="0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模式：定义与三类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能反复用来解决一类问题的方案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437790"/>
            <a:ext cx="7918704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特定场景里，协作对象的一种描述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302812"/>
            <a:ext cx="7516367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创建型：对象怎样被创建出来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167835"/>
            <a:ext cx="7114031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结构型：类和对象怎样组成更大结构</a:t>
            </a:r>
          </a:p>
        </p:txBody>
      </p:sp>
      <p:sp>
        <p:nvSpPr>
          <p:cNvPr id="7" name="fig"/>
          <p:cNvSpPr/>
          <p:nvPr/>
        </p:nvSpPr>
        <p:spPr>
          <a:xfrm>
            <a:off x="1216152" y="5032857"/>
            <a:ext cx="6711696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行为型：职责和算法怎样在对象间分配</a:t>
            </a:r>
          </a:p>
        </p:txBody>
      </p:sp>
    </p:spTree>
  </p:cSld>
  <p:clrMapOvr>
    <a:masterClrMapping/>
  </p:clrMapOvr>
  <p:hf sldNum="0" hdr="0" ftr="0" dt="0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四要素里先看效果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名称：用一个词称呼这种方案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654046"/>
            <a:ext cx="7918704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问题：什么情况下它适用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735324"/>
            <a:ext cx="7516367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方案：参与的对象怎样协作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816602"/>
            <a:ext cx="7114031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效果：得到什么，失去什么</a:t>
            </a:r>
          </a:p>
        </p:txBody>
      </p:sp>
    </p:spTree>
  </p:cSld>
  <p:clrMapOvr>
    <a:masterClrMapping/>
  </p:clrMapOvr>
  <p:hf sldNum="0" hdr="0" ftr="0" dt="0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策略模式的四要素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850392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6766560"/>
              </a:tblGrid>
              <a:tr h="71628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要素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写法</a:t>
                      </a:r>
                    </a:p>
                  </a:txBody>
                  <a:tcPr anchor="ctr"/>
                </a:tc>
              </a:tr>
              <a:tr h="71628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名称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策略：算法封装后可以替换</a:t>
                      </a:r>
                    </a:p>
                  </a:txBody>
                  <a:tcPr anchor="ctr"/>
                </a:tc>
              </a:tr>
              <a:tr h="71628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问题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有多种算法，每次只生效一种</a:t>
                      </a:r>
                    </a:p>
                  </a:txBody>
                  <a:tcPr anchor="ctr"/>
                </a:tc>
              </a:tr>
              <a:tr h="71628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方案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各自封装，客户只依赖共同接口</a:t>
                      </a:r>
                    </a:p>
                  </a:txBody>
                  <a:tcPr anchor="ctr"/>
                </a:tc>
              </a:tr>
              <a:tr h="71628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效果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加一种算法，不必改客户流程</a:t>
                      </a:r>
                    </a:p>
                  </a:txBody>
                  <a:tcPr anchor="ctr"/>
                </a:tc>
              </a:tr>
              <a:tr h="71628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代价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类变多，客户仍要决定选谁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p:hf sldNum="0" hdr="0" ftr="0" dt="0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装饰模式的四要素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850392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6766560"/>
              </a:tblGrid>
              <a:tr h="71628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要素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写法</a:t>
                      </a:r>
                    </a:p>
                  </a:txBody>
                  <a:tcPr anchor="ctr"/>
                </a:tc>
              </a:tr>
              <a:tr h="71628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名称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装饰：在现有对象外包一层</a:t>
                      </a:r>
                    </a:p>
                  </a:txBody>
                  <a:tcPr anchor="ctr"/>
                </a:tc>
              </a:tr>
              <a:tr h="71628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问题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要叠加功能，继承会类爆炸</a:t>
                      </a:r>
                    </a:p>
                  </a:txBody>
                  <a:tcPr anchor="ctr"/>
                </a:tc>
              </a:tr>
              <a:tr h="71628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方案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持有同一接口，先算内层</a:t>
                      </a:r>
                    </a:p>
                  </a:txBody>
                  <a:tcPr anchor="ctr"/>
                </a:tc>
              </a:tr>
              <a:tr h="71628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效果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按需要组合，不为每种组合建子类</a:t>
                      </a:r>
                    </a:p>
                  </a:txBody>
                  <a:tcPr anchor="ctr"/>
                </a:tc>
              </a:tr>
              <a:tr h="71628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代价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对象链变长，顺序就是计算顺序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p:hf sldNum="0" hdr="0" ftr="0" dt="0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得到什么，失去什么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引入之前先写这两列</a:t>
            </a:r>
          </a:p>
        </p:txBody>
      </p:sp>
      <p:sp>
        <p:nvSpPr>
          <p:cNvPr id="4" name="fig"/>
          <p:cNvSpPr/>
          <p:nvPr/>
        </p:nvSpPr>
        <p:spPr>
          <a:xfrm>
            <a:off x="365760" y="2432304"/>
            <a:ext cx="4114800" cy="640080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得到</a:t>
            </a:r>
          </a:p>
        </p:txBody>
      </p:sp>
      <p:sp>
        <p:nvSpPr>
          <p:cNvPr id="5" name="fig"/>
          <p:cNvSpPr/>
          <p:nvPr/>
        </p:nvSpPr>
        <p:spPr>
          <a:xfrm>
            <a:off x="4663440" y="2432304"/>
            <a:ext cx="4114800" cy="640080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失去</a:t>
            </a:r>
          </a:p>
        </p:txBody>
      </p:sp>
      <p:sp>
        <p:nvSpPr>
          <p:cNvPr id="6" name="fig"/>
          <p:cNvSpPr/>
          <p:nvPr/>
        </p:nvSpPr>
        <p:spPr>
          <a:xfrm>
            <a:off x="365760" y="320954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变化收进单独的类</a:t>
            </a:r>
          </a:p>
        </p:txBody>
      </p:sp>
      <p:sp>
        <p:nvSpPr>
          <p:cNvPr id="7" name="fig"/>
          <p:cNvSpPr/>
          <p:nvPr/>
        </p:nvSpPr>
        <p:spPr>
          <a:xfrm>
            <a:off x="4663440" y="320954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类和对象变多</a:t>
            </a:r>
          </a:p>
        </p:txBody>
      </p:sp>
      <p:sp>
        <p:nvSpPr>
          <p:cNvPr id="8" name="fig"/>
          <p:cNvSpPr/>
          <p:nvPr/>
        </p:nvSpPr>
        <p:spPr>
          <a:xfrm>
            <a:off x="365760" y="409346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客户流程少改</a:t>
            </a:r>
          </a:p>
        </p:txBody>
      </p:sp>
      <p:sp>
        <p:nvSpPr>
          <p:cNvPr id="9" name="fig"/>
          <p:cNvSpPr/>
          <p:nvPr/>
        </p:nvSpPr>
        <p:spPr>
          <a:xfrm>
            <a:off x="4663440" y="409346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多一次间接调用</a:t>
            </a:r>
          </a:p>
        </p:txBody>
      </p:sp>
      <p:sp>
        <p:nvSpPr>
          <p:cNvPr id="10" name="fig"/>
          <p:cNvSpPr/>
          <p:nvPr/>
        </p:nvSpPr>
        <p:spPr>
          <a:xfrm>
            <a:off x="365760" y="497738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一种算法可以单独换</a:t>
            </a:r>
          </a:p>
        </p:txBody>
      </p:sp>
      <p:sp>
        <p:nvSpPr>
          <p:cNvPr id="11" name="fig"/>
          <p:cNvSpPr/>
          <p:nvPr/>
        </p:nvSpPr>
        <p:spPr>
          <a:xfrm>
            <a:off x="4663440" y="497738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选择规则要有地方放</a:t>
            </a:r>
          </a:p>
        </p:txBody>
      </p:sp>
    </p:spTree>
  </p:cSld>
  <p:clrMapOvr>
    <a:masterClrMapping/>
  </p:clrMapOvr>
  <p:hf sldNum="0" hdr="0" ftr="0" dt="0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417880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引入一个模式，得到了什么、失去了什么？</a:t>
            </a:r>
          </a:p>
        </p:txBody>
      </p:sp>
    </p:spTree>
  </p:cSld>
  <p:clrMapOvr>
    <a:masterClrMapping/>
  </p:clrMapOvr>
  <p:hf sldNum="0" hdr="0" ftr="0" dt="0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常见坏味道与手法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850392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6766560"/>
              </a:tblGrid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坏味道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看到什么，先用什么手法</a:t>
                      </a:r>
                    </a:p>
                  </a:txBody>
                  <a:tcPr anchor="ctr"/>
                </a:tc>
              </a:tr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重复代码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同一判定写了多遍，先提炼方法</a:t>
                      </a:r>
                    </a:p>
                  </a:txBody>
                  <a:tcPr anchor="ctr"/>
                </a:tc>
              </a:tr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过长函数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一个方法做完整段业务，提炼方法</a:t>
                      </a:r>
                    </a:p>
                  </a:txBody>
                  <a:tcPr anchor="ctr"/>
                </a:tc>
              </a:tr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过大类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一个类承担多块职责，提炼类</a:t>
                      </a:r>
                    </a:p>
                  </a:txBody>
                  <a:tcPr anchor="ctr"/>
                </a:tc>
              </a:tr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发散式变化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同一类多处跟着改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提炼类或拆分阶段</a:t>
                      </a:r>
                    </a:p>
                  </a:txBody>
                  <a:tcPr anchor="ctr"/>
                </a:tc>
              </a:tr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霰弹式修改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一处改动散到多处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搬移函数、搬移字段、内联类</a:t>
                      </a:r>
                    </a:p>
                  </a:txBody>
                  <a:tcPr anchor="ctr"/>
                </a:tc>
              </a:tr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按类型分支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按类型写分支，以多态取代条件</a:t>
                      </a:r>
                    </a:p>
                  </a:txBody>
                  <a:tcPr anchor="ctr"/>
                </a:tc>
              </a:tr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数据泥团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同一组数据总是一起出现，提炼对象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p:hf sldNum="0" hdr="0" ftr="0" dt="0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模式是重构的结果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先指出重复和按类型分支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654046"/>
            <a:ext cx="7918704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再选手法，而不是先选模式名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735324"/>
            <a:ext cx="7516367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以多态取代条件之后，才叫策略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816602"/>
            <a:ext cx="7114031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模式不是设计的起点</a:t>
            </a:r>
          </a:p>
        </p:txBody>
      </p:sp>
    </p:spTree>
  </p:cSld>
  <p:clrMapOvr>
    <a:masterClrMapping/>
  </p:clrMapOvr>
  <p:hf sldNum="0" hdr="0" ftr="0" dt="0"/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喂食动物：三个版本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增加一种动物时，看饲养员改不改</a:t>
            </a:r>
          </a:p>
        </p:txBody>
      </p:sp>
      <p:sp>
        <p:nvSpPr>
          <p:cNvPr id="4" name="fig"/>
          <p:cNvSpPr/>
          <p:nvPr/>
        </p:nvSpPr>
        <p:spPr>
          <a:xfrm>
            <a:off x="411480" y="2432304"/>
            <a:ext cx="8321040" cy="880871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版本一：每种动物一个方法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加熊猫就要改饲养员</a:t>
            </a:r>
          </a:p>
        </p:txBody>
      </p:sp>
      <p:sp>
        <p:nvSpPr>
          <p:cNvPr id="5" name="fig"/>
          <p:cNvSpPr/>
          <p:nvPr/>
        </p:nvSpPr>
        <p:spPr>
          <a:xfrm>
            <a:off x="4434840" y="3313175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ig"/>
          <p:cNvSpPr/>
          <p:nvPr/>
        </p:nvSpPr>
        <p:spPr>
          <a:xfrm>
            <a:off x="411480" y="3587496"/>
            <a:ext cx="8321040" cy="880871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版本二：动物抽象出吃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饲养员收成一个方法</a:t>
            </a:r>
          </a:p>
        </p:txBody>
      </p:sp>
      <p:sp>
        <p:nvSpPr>
          <p:cNvPr id="7" name="fig"/>
          <p:cNvSpPr/>
          <p:nvPr/>
        </p:nvSpPr>
        <p:spPr>
          <a:xfrm>
            <a:off x="4434840" y="4468368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ig"/>
          <p:cNvSpPr/>
          <p:nvPr/>
        </p:nvSpPr>
        <p:spPr>
          <a:xfrm>
            <a:off x="411480" y="4742688"/>
            <a:ext cx="8321040" cy="880871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版本三：一次喂一群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饲养员不用再改</a:t>
            </a:r>
          </a:p>
        </p:txBody>
      </p:sp>
    </p:spTree>
  </p:cSld>
  <p:clrMapOvr>
    <a:masterClrMapping/>
  </p:clrMapOvr>
  <p:hf sldNum="0" hdr="0" ftr="0" dt="0"/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现场：分支、测试、策略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572768"/>
            <a:ext cx="8321040" cy="1316736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真实代码只看优惠券适用范围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E4-00 的 listCart：特征测试之后收到策略</a:t>
            </a:r>
          </a:p>
        </p:txBody>
      </p:sp>
      <p:sp>
        <p:nvSpPr>
          <p:cNvPr id="4" name="fig"/>
          <p:cNvSpPr/>
          <p:nvPr/>
        </p:nvSpPr>
        <p:spPr>
          <a:xfrm>
            <a:off x="411480" y="2962656"/>
            <a:ext cx="8321040" cy="459485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认出按范围复制的判定</a:t>
            </a:r>
          </a:p>
        </p:txBody>
      </p:sp>
      <p:sp>
        <p:nvSpPr>
          <p:cNvPr id="5" name="fig"/>
          <p:cNvSpPr/>
          <p:nvPr/>
        </p:nvSpPr>
        <p:spPr>
          <a:xfrm>
            <a:off x="4434840" y="3422142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ig"/>
          <p:cNvSpPr/>
          <p:nvPr/>
        </p:nvSpPr>
        <p:spPr>
          <a:xfrm>
            <a:off x="411480" y="3696462"/>
            <a:ext cx="8321040" cy="459485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用特征测试锁住现有行为</a:t>
            </a:r>
          </a:p>
        </p:txBody>
      </p:sp>
      <p:sp>
        <p:nvSpPr>
          <p:cNvPr id="7" name="fig"/>
          <p:cNvSpPr/>
          <p:nvPr/>
        </p:nvSpPr>
        <p:spPr>
          <a:xfrm>
            <a:off x="4434840" y="4155948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ig"/>
          <p:cNvSpPr/>
          <p:nvPr/>
        </p:nvSpPr>
        <p:spPr>
          <a:xfrm>
            <a:off x="411480" y="4430268"/>
            <a:ext cx="8321040" cy="459485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以多态取代条件</a:t>
            </a:r>
          </a:p>
        </p:txBody>
      </p:sp>
      <p:sp>
        <p:nvSpPr>
          <p:cNvPr id="9" name="fig"/>
          <p:cNvSpPr/>
          <p:nvPr/>
        </p:nvSpPr>
        <p:spPr>
          <a:xfrm>
            <a:off x="4434840" y="4889754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ig"/>
          <p:cNvSpPr/>
          <p:nvPr/>
        </p:nvSpPr>
        <p:spPr>
          <a:xfrm>
            <a:off x="411480" y="5164074"/>
            <a:ext cx="8321040" cy="459485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得到策略，而不是事先指定</a:t>
            </a:r>
          </a:p>
        </p:txBody>
      </p:sp>
    </p:spTree>
  </p:cSld>
  <p:clrMapOvr>
    <a:masterClrMapping/>
  </p:clrMapOvr>
  <p:hf sldNum="0" hdr="0" ftr="0" dt="0"/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按范围取出策略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7132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E4-00：listCart 特征测试已锁住，找不到策略就跳过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267712"/>
            <a:ext cx="8138160" cy="3054096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1"/>
          <a:lstStyle/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    CouponScopePolicy policy ​= ​policyFor(​couponHistoryDetail.​</a:t>
            </a:r>
            <a:br/>
            <a:r>
              <a:rPr sz="1600" b="0" lang="zh-CN" altLang="en-US">
                <a:latin typeface="Consolas"/>
                <a:ea typeface="Consolas"/>
                <a:cs typeface="Consolas"/>
              </a:rPr>
              <a:t>getCoupon(​).​getUseType(​));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    if (​policy ​== ​null) {</a:t>
            </a:r>
          </a:p>
          <a:p>
            <a:pPr algn="l" eaLnBrk="1" hangingPunct="1" marL="2235200" indent="-223520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        continue;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    }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    if (​policy.​usable(​couponHistoryDetail,​ cartItemList,​</a:t>
            </a:r>
            <a:br/>
            <a:r>
              <a:rPr sz="1600" b="0" lang="zh-CN" altLang="en-US">
                <a:latin typeface="Consolas"/>
                <a:ea typeface="Consolas"/>
                <a:cs typeface="Consolas"/>
              </a:rPr>
              <a:t> now)) {</a:t>
            </a:r>
          </a:p>
          <a:p>
            <a:pPr algn="l" eaLnBrk="1" hangingPunct="1" marL="2235200" indent="-223520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        enableList.​add(​couponHistoryDetail);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    } else {</a:t>
            </a:r>
          </a:p>
          <a:p>
            <a:pPr algn="l" eaLnBrk="1" hangingPunct="1" marL="2235200" indent="-223520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        disableList.​add(​couponHistoryDetail);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5340096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出处：meng004/​mall@​175decae6c209b4cdc1db36fadb44b437f092843:​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mall-portal/​src/​main/​java/​com/​macro/​mall/​portal/​service/​impl/​UmsMemberCouponServiceImpl.java:​129-136</a:t>
            </a:r>
          </a:p>
        </p:txBody>
      </p:sp>
    </p:spTree>
  </p:cSld>
  <p:clrMapOvr>
    <a:masterClrMapping/>
  </p:clrMapOvr>
  <p:hf sldNum="0" hdr="0" ftr="0" dt="0"/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特征测试锁住行为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可用顺序锁成 11、13、14、18，未知范围 17 两边都没有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E4-00 的特征测试锁 listCart，不锁策略类名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834640"/>
            <a:ext cx="8138160" cy="20848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1"/>
          <a:lstStyle/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List&lt;Long&gt; ​enabled ​= ​ids(​service.​listCart(​cart,​ 1));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List&lt;Long&gt; ​disabled ​= ​ids(​service.​listCart(​cart,​ 0));</a:t>
            </a:r>
          </a:p>
          <a:p>
            <a:pPr algn="l" eaLnBrk="1" hangingPunct="1" marL="447040" indent="-44704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/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assertEquals(​List.​of(​11L,​ 13L,​ 14L,​ 18L),​ enabled);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assertEquals(​List.​of(​12L,​ 15L,​ 16L,​ 19L),​ disabled);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assertFalse(​enabled.​contains(​17L));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assertFalse(​disabled.​contains(​17L));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937760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出处：meng004/​mall@​175decae6c209b4cdc1db36fadb44b437f092843:​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mall-portal/​src/​test/​java/​com/​macro/​mall/​sdc/​e4/​SDCE400Test.java:​63-69</a:t>
            </a:r>
          </a:p>
        </p:txBody>
      </p:sp>
    </p:spTree>
  </p:cSld>
  <p:clrMapOvr>
    <a:masterClrMapping/>
  </p:clrMapOvr>
  <p:hf sldNum="0" hdr="0" ftr="0" dt="0"/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找不到就返回空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E4-00：listCart 按登记顺序找策略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特征测试不锁定这条查找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834640"/>
            <a:ext cx="8138160" cy="235915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1"/>
          <a:lstStyle/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private CouponScopePolicy policyFor(​Integer useType) {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for (​CouponScopePolicy policy ​: ​scopePolicies) {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    if (​policy.​supports(​useType)) {</a:t>
            </a:r>
          </a:p>
          <a:p>
            <a:pPr algn="l" eaLnBrk="1" hangingPunct="1" marL="2235200" indent="-223520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        return policy;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    }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}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return null;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5212080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出处：meng004/​mall@​175decae6c209b4cdc1db36fadb44b437f092843:​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mall-portal/​src/​main/​java/​com/​macro/​mall/​portal/​service/​impl/​UmsMemberCouponServiceImpl.java:​146-153</a:t>
            </a:r>
          </a:p>
        </p:txBody>
      </p:sp>
    </p:spTree>
  </p:cSld>
  <p:clrMapOvr>
    <a:masterClrMapping/>
  </p:clrMapOvr>
  <p:hf sldNum="0" hdr="0" ftr="0" dt="0"/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新增一种范围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E4-00 只统计 listCart 的可用判定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特征测试不变，策略的处数不减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365760" y="2834640"/>
          <a:ext cx="8138160" cy="27066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126480"/>
              </a:tblGrid>
              <a:tr h="67665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方案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新增一种范围</a:t>
                      </a:r>
                    </a:p>
                  </a:txBody>
                  <a:tcPr anchor="ctr"/>
                </a:tc>
              </a:tr>
              <a:tr h="67665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改前分支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1 处：复制判定和分列</a:t>
                      </a:r>
                    </a:p>
                  </a:txBody>
                  <a:tcPr anchor="ctr"/>
                </a:tc>
              </a:tr>
              <a:tr h="67665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提取方法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2 处：分支加行，再加方法</a:t>
                      </a:r>
                    </a:p>
                  </a:txBody>
                  <a:tcPr anchor="ctr"/>
                </a:tc>
              </a:tr>
              <a:tr h="67665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本次策略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2 处：新类，登记加一行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p:hf sldNum="0" hdr="0" ftr="0" dt="0"/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门槛截断仍保留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E4-00 的 listCart 在 99.90 时仍可用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特征测试只打印，策略不改行为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834640"/>
            <a:ext cx="8138160" cy="1682495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1"/>
          <a:lstStyle/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    BigDecimal minPoint ​= ​detail.​getCoupon(​).​getMinPoint(​);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    Date endTime ​= ​detail.​getCoupon(​).​getEndTime(​);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    BigDecimal totalAmount ​= ​calcTotalAmount(​cartItemList);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    return now.​before(​endTime) ​&amp;&amp; ​totalAmount.​subtract(​</a:t>
            </a:r>
            <a:br/>
            <a:r>
              <a:rPr sz="1600" b="0" lang="zh-CN" altLang="en-US">
                <a:latin typeface="Consolas"/>
                <a:ea typeface="Consolas"/>
                <a:cs typeface="Consolas"/>
              </a:rPr>
              <a:t>minPoint).​intValue(​) ​&gt;= ​0;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535424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出处：meng004/​mall@​175decae6c209b4cdc1db36fadb44b437f092843:​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mall-portal/​src/​main/​java/​com/​macro/​mall/​portal/​service/​impl/​UmsMemberCouponServiceImpl.java:​170-173</a:t>
            </a:r>
          </a:p>
        </p:txBody>
      </p:sp>
    </p:spTree>
  </p:cSld>
  <p:clrMapOvr>
    <a:masterClrMapping/>
  </p:clrMapOvr>
  <p:hf sldNum="0" hdr="0" ftr="0" dt="0"/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订单：抽象与逐步求精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抽象：先看这一层，暂时忽略细节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654046"/>
            <a:ext cx="7918704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订单先分成校验、计价和落库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735324"/>
            <a:ext cx="7516367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求精：再落到具体的方法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816602"/>
            <a:ext cx="7114031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子项、分摊和库存是下一层</a:t>
            </a:r>
          </a:p>
        </p:txBody>
      </p:sp>
    </p:spTree>
  </p:cSld>
  <p:clrMapOvr>
    <a:masterClrMapping/>
  </p:clrMapOvr>
  <p:hf sldNum="0" hdr="0" ftr="0" dt="0"/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四项放在线上预习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过程是迭代：从抽象做到能实现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654046"/>
            <a:ext cx="7918704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需求模型更新后，设计再做一遍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735324"/>
            <a:ext cx="7516367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设计质量：方案是否经得起后续修改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816602"/>
            <a:ext cx="7114031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规格说明和设计评审同看</a:t>
            </a:r>
          </a:p>
        </p:txBody>
      </p:sp>
    </p:spTree>
  </p:cSld>
  <p:clrMapOvr>
    <a:masterClrMapping/>
  </p:clrMapOvr>
  <p:hf sldNum="0" hdr="0" ftr="0" dt="0"/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信息隐藏：藏起决定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分摊保留几位，就是一项设计决定</a:t>
            </a:r>
          </a:p>
        </p:txBody>
      </p:sp>
      <p:sp>
        <p:nvSpPr>
          <p:cNvPr id="4" name="fig"/>
          <p:cNvSpPr/>
          <p:nvPr/>
        </p:nvSpPr>
        <p:spPr>
          <a:xfrm>
            <a:off x="365760" y="2432304"/>
            <a:ext cx="4114800" cy="640080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按流程切开</a:t>
            </a:r>
          </a:p>
        </p:txBody>
      </p:sp>
      <p:sp>
        <p:nvSpPr>
          <p:cNvPr id="5" name="fig"/>
          <p:cNvSpPr/>
          <p:nvPr/>
        </p:nvSpPr>
        <p:spPr>
          <a:xfrm>
            <a:off x="4663440" y="2432304"/>
            <a:ext cx="4114800" cy="640080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按决定藏起</a:t>
            </a:r>
          </a:p>
        </p:txBody>
      </p:sp>
      <p:sp>
        <p:nvSpPr>
          <p:cNvPr id="6" name="fig"/>
          <p:cNvSpPr/>
          <p:nvPr/>
        </p:nvSpPr>
        <p:spPr>
          <a:xfrm>
            <a:off x="365760" y="320954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校验、计价、落库各一段</a:t>
            </a:r>
          </a:p>
        </p:txBody>
      </p:sp>
      <p:sp>
        <p:nvSpPr>
          <p:cNvPr id="7" name="fig"/>
          <p:cNvSpPr/>
          <p:nvPr/>
        </p:nvSpPr>
        <p:spPr>
          <a:xfrm>
            <a:off x="4663440" y="320954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藏起分摊保留几位</a:t>
            </a:r>
          </a:p>
        </p:txBody>
      </p:sp>
      <p:sp>
        <p:nvSpPr>
          <p:cNvPr id="8" name="fig"/>
          <p:cNvSpPr/>
          <p:nvPr/>
        </p:nvSpPr>
        <p:spPr>
          <a:xfrm>
            <a:off x="365760" y="409346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保留几位写在两段里</a:t>
            </a:r>
          </a:p>
        </p:txBody>
      </p:sp>
      <p:sp>
        <p:nvSpPr>
          <p:cNvPr id="9" name="fig"/>
          <p:cNvSpPr/>
          <p:nvPr/>
        </p:nvSpPr>
        <p:spPr>
          <a:xfrm>
            <a:off x="4663440" y="409346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调用方只见分摊结果</a:t>
            </a:r>
          </a:p>
        </p:txBody>
      </p:sp>
      <p:sp>
        <p:nvSpPr>
          <p:cNvPr id="10" name="fig"/>
          <p:cNvSpPr/>
          <p:nvPr/>
        </p:nvSpPr>
        <p:spPr>
          <a:xfrm>
            <a:off x="365760" y="497738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改精度要记得两处</a:t>
            </a:r>
          </a:p>
        </p:txBody>
      </p:sp>
      <p:sp>
        <p:nvSpPr>
          <p:cNvPr id="11" name="fig"/>
          <p:cNvSpPr/>
          <p:nvPr/>
        </p:nvSpPr>
        <p:spPr>
          <a:xfrm>
            <a:off x="4663440" y="497738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这是 Parnas 1972</a:t>
            </a:r>
          </a:p>
        </p:txBody>
      </p:sp>
    </p:spTree>
  </p:cSld>
  <p:clrMapOvr>
    <a:masterClrMapping/>
  </p:clrMapOvr>
  <p:hf sldNum="0" hdr="0" ftr="0" dt="0"/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内聚与耦合</a:t>
            </a:r>
          </a:p>
        </p:txBody>
      </p:sp>
      <p:sp>
        <p:nvSpPr>
          <p:cNvPr id="3" name="fig"/>
          <p:cNvSpPr/>
          <p:nvPr/>
        </p:nvSpPr>
        <p:spPr>
          <a:xfrm>
            <a:off x="365760" y="1572768"/>
            <a:ext cx="4114800" cy="640080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内聚</a:t>
            </a:r>
          </a:p>
        </p:txBody>
      </p:sp>
      <p:sp>
        <p:nvSpPr>
          <p:cNvPr id="4" name="fig"/>
          <p:cNvSpPr/>
          <p:nvPr/>
        </p:nvSpPr>
        <p:spPr>
          <a:xfrm>
            <a:off x="4663440" y="1572768"/>
            <a:ext cx="4114800" cy="640080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变更耦合</a:t>
            </a:r>
          </a:p>
        </p:txBody>
      </p:sp>
      <p:sp>
        <p:nvSpPr>
          <p:cNvPr id="5" name="fig"/>
          <p:cNvSpPr/>
          <p:nvPr/>
        </p:nvSpPr>
        <p:spPr>
          <a:xfrm>
            <a:off x="365760" y="2350008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一个方法混有多个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独立变化原因</a:t>
            </a:r>
          </a:p>
        </p:txBody>
      </p:sp>
      <p:sp>
        <p:nvSpPr>
          <p:cNvPr id="6" name="fig"/>
          <p:cNvSpPr/>
          <p:nvPr/>
        </p:nvSpPr>
        <p:spPr>
          <a:xfrm>
            <a:off x="4663440" y="2350008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共同依赖同一精度决定</a:t>
            </a:r>
          </a:p>
        </p:txBody>
      </p:sp>
      <p:sp>
        <p:nvSpPr>
          <p:cNvPr id="7" name="fig"/>
          <p:cNvSpPr/>
          <p:nvPr/>
        </p:nvSpPr>
        <p:spPr>
          <a:xfrm>
            <a:off x="365760" y="3520439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锁库存、写订单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算优惠、扣积分</a:t>
            </a:r>
          </a:p>
        </p:txBody>
      </p:sp>
      <p:sp>
        <p:nvSpPr>
          <p:cNvPr id="8" name="fig"/>
          <p:cNvSpPr/>
          <p:nvPr/>
        </p:nvSpPr>
        <p:spPr>
          <a:xfrm>
            <a:off x="4663440" y="3520439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形成变更耦合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也违反 DRY</a:t>
            </a:r>
          </a:p>
        </p:txBody>
      </p:sp>
      <p:sp>
        <p:nvSpPr>
          <p:cNvPr id="9" name="fig"/>
          <p:cNvSpPr/>
          <p:nvPr/>
        </p:nvSpPr>
        <p:spPr>
          <a:xfrm>
            <a:off x="365760" y="4690872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这就是低内聚</a:t>
            </a:r>
          </a:p>
        </p:txBody>
      </p:sp>
      <p:sp>
        <p:nvSpPr>
          <p:cNvPr id="10" name="fig"/>
          <p:cNvSpPr/>
          <p:nvPr/>
        </p:nvSpPr>
        <p:spPr>
          <a:xfrm>
            <a:off x="4663440" y="4690872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不是模块之间的耦合</a:t>
            </a:r>
          </a:p>
        </p:txBody>
      </p:sp>
    </p:spTree>
  </p:cSld>
  <p:clrMapOvr>
    <a:masterClrMapping/>
  </p:clrMapOvr>
  <p:hf sldNum="0" hdr="0" ftr="0" dt="0"/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两处分摊都写死 3 位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7132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积分第 157 行，优惠券第 662 行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267712"/>
            <a:ext cx="8138160" cy="987551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1"/>
          <a:lstStyle/>
          <a:p>
            <a:pPr algn="l" eaLnBrk="1" hangingPunct="1" marL="2682240" indent="-268224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            BigDecimal perAmount ​= ​orderItem.​getProductPrice(​).​</a:t>
            </a:r>
            <a:br/>
            <a:r>
              <a:rPr sz="1600" b="0" lang="zh-CN" altLang="en-US">
                <a:latin typeface="Consolas"/>
                <a:ea typeface="Consolas"/>
                <a:cs typeface="Consolas"/>
              </a:rPr>
              <a:t>divide(​totalAmount,​ 3,​ RoundingMode.​HALF_EVEN).​</a:t>
            </a:r>
            <a:br/>
            <a:r>
              <a:rPr sz="1600" b="0" lang="zh-CN" altLang="en-US">
                <a:latin typeface="Consolas"/>
                <a:ea typeface="Consolas"/>
                <a:cs typeface="Consolas"/>
              </a:rPr>
              <a:t>multiply(​integrationAmount);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3273552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出处：mall-portal/​src/​main/​java/​com/​macro/​mall/​portal/​service/​impl/​OmsPortalOrderServiceImpl.java:​157-157</a:t>
            </a:r>
          </a:p>
        </p:txBody>
      </p:sp>
      <p:sp>
        <p:nvSpPr>
          <p:cNvPr id="6" name="code"/>
          <p:cNvSpPr txBox="1"/>
          <p:nvPr/>
        </p:nvSpPr>
        <p:spPr>
          <a:xfrm>
            <a:off x="411480" y="3547872"/>
            <a:ext cx="8138160" cy="987551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1"/>
          <a:lstStyle/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    BigDecimal couponAmount ​= ​orderItem.​getProductPrice(​).​</a:t>
            </a:r>
            <a:br/>
            <a:r>
              <a:rPr sz="1600" b="0" lang="zh-CN" altLang="en-US">
                <a:latin typeface="Consolas"/>
                <a:ea typeface="Consolas"/>
                <a:cs typeface="Consolas"/>
              </a:rPr>
              <a:t>divide(​totalAmount,​ 3,​ RoundingMode.​HALF_EVEN).​</a:t>
            </a:r>
            <a:br/>
            <a:r>
              <a:rPr sz="1600" b="0" lang="zh-CN" altLang="en-US">
                <a:latin typeface="Consolas"/>
                <a:ea typeface="Consolas"/>
                <a:cs typeface="Consolas"/>
              </a:rPr>
              <a:t>multiply(​coupon.​getAmount(​));</a:t>
            </a:r>
          </a:p>
        </p:txBody>
      </p:sp>
      <p:sp>
        <p:nvSpPr>
          <p:cNvPr id="7" name="fn"/>
          <p:cNvSpPr txBox="1"/>
          <p:nvPr/>
        </p:nvSpPr>
        <p:spPr>
          <a:xfrm>
            <a:off x="411480" y="4553712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出处：mall-portal/​src/​main/​java/​com/​macro/​mall/​portal/​service/​impl/​OmsPortalOrderServiceImpl.java:​662-662</a:t>
            </a:r>
          </a:p>
        </p:txBody>
      </p:sp>
    </p:spTree>
  </p:cSld>
  <p:clrMapOvr>
    <a:masterClrMapping/>
  </p:clrMapOvr>
  <p:hf sldNum="0" hdr="0" ftr="0" dt="0"/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下单方法从第 94 行写起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80695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generateOrder 从第 94 行写起</a:t>
            </a:r>
          </a:p>
        </p:txBody>
      </p:sp>
      <p:sp>
        <p:nvSpPr>
          <p:cNvPr id="4" name="fig"/>
          <p:cNvSpPr/>
          <p:nvPr/>
        </p:nvSpPr>
        <p:spPr>
          <a:xfrm>
            <a:off x="4434840" y="2379726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ig"/>
          <p:cNvSpPr/>
          <p:nvPr/>
        </p:nvSpPr>
        <p:spPr>
          <a:xfrm>
            <a:off x="411480" y="2654046"/>
            <a:ext cx="8321040" cy="80695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第 140 行进入用券，第 662 行分摊</a:t>
            </a:r>
          </a:p>
        </p:txBody>
      </p:sp>
      <p:sp>
        <p:nvSpPr>
          <p:cNvPr id="6" name="fig"/>
          <p:cNvSpPr/>
          <p:nvPr/>
        </p:nvSpPr>
        <p:spPr>
          <a:xfrm>
            <a:off x="4434840" y="3461004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ig"/>
          <p:cNvSpPr/>
          <p:nvPr/>
        </p:nvSpPr>
        <p:spPr>
          <a:xfrm>
            <a:off x="411480" y="3735324"/>
            <a:ext cx="8321040" cy="80695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第 157 行分摊积分，第 165 行锁库存</a:t>
            </a:r>
          </a:p>
        </p:txBody>
      </p:sp>
      <p:sp>
        <p:nvSpPr>
          <p:cNvPr id="8" name="fig"/>
          <p:cNvSpPr/>
          <p:nvPr/>
        </p:nvSpPr>
        <p:spPr>
          <a:xfrm>
            <a:off x="4434840" y="4542282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ig"/>
          <p:cNvSpPr/>
          <p:nvPr/>
        </p:nvSpPr>
        <p:spPr>
          <a:xfrm>
            <a:off x="411480" y="4816602"/>
            <a:ext cx="8321040" cy="80695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第 224 行起落库、扣减、发消息</a:t>
            </a:r>
          </a:p>
        </p:txBody>
      </p:sp>
    </p:spTree>
  </p:cSld>
  <p:clrMapOvr>
    <a:masterClrMapping/>
  </p:clrMapOvr>
  <p:hf sldNum="0" hdr="0" ftr="0" dt="0"/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三条原则怎么判定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单一职责：下单同时锁库、落库、扣减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654046"/>
            <a:ext cx="7918704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开闭：加范围可以不改循环，登记仍要改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735324"/>
            <a:ext cx="7516367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依赖倒置：依赖接口，实现仍在同一类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816602"/>
            <a:ext cx="7114031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里氏替换和接口隔离，这里看不出违背</a:t>
            </a:r>
          </a:p>
        </p:txBody>
      </p:sp>
    </p:spTree>
  </p:cSld>
  <p:clrMapOvr>
    <a:masterClrMapping/>
  </p:clrMapOvr>
  <p:hf sldNum="0" hdr="0" ftr="0" dt="0"/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两对原则怎么取舍</a:t>
            </a:r>
          </a:p>
        </p:txBody>
      </p:sp>
      <p:sp>
        <p:nvSpPr>
          <p:cNvPr id="3" name="fig"/>
          <p:cNvSpPr/>
          <p:nvPr/>
        </p:nvSpPr>
        <p:spPr>
          <a:xfrm>
            <a:off x="365760" y="1572768"/>
            <a:ext cx="4114800" cy="640080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重复与解耦</a:t>
            </a:r>
          </a:p>
        </p:txBody>
      </p:sp>
      <p:sp>
        <p:nvSpPr>
          <p:cNvPr id="4" name="fig"/>
          <p:cNvSpPr/>
          <p:nvPr/>
        </p:nvSpPr>
        <p:spPr>
          <a:xfrm>
            <a:off x="4663440" y="1572768"/>
            <a:ext cx="4114800" cy="640080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开闭与不过度</a:t>
            </a:r>
          </a:p>
        </p:txBody>
      </p:sp>
      <p:sp>
        <p:nvSpPr>
          <p:cNvPr id="5" name="fig"/>
          <p:cNvSpPr/>
          <p:nvPr/>
        </p:nvSpPr>
        <p:spPr>
          <a:xfrm>
            <a:off x="365760" y="2350008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两处都写死 3 位</a:t>
            </a:r>
          </a:p>
        </p:txBody>
      </p:sp>
      <p:sp>
        <p:nvSpPr>
          <p:cNvPr id="6" name="fig"/>
          <p:cNvSpPr/>
          <p:nvPr/>
        </p:nvSpPr>
        <p:spPr>
          <a:xfrm>
            <a:off x="4663440" y="2350008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现状就是三种范围</a:t>
            </a:r>
          </a:p>
        </p:txBody>
      </p:sp>
      <p:sp>
        <p:nvSpPr>
          <p:cNvPr id="7" name="fig"/>
          <p:cNvSpPr/>
          <p:nvPr/>
        </p:nvSpPr>
        <p:spPr>
          <a:xfrm>
            <a:off x="365760" y="3520439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收成一处，改一次就齐</a:t>
            </a:r>
          </a:p>
        </p:txBody>
      </p:sp>
      <p:sp>
        <p:nvSpPr>
          <p:cNvPr id="8" name="fig"/>
          <p:cNvSpPr/>
          <p:nvPr/>
        </p:nvSpPr>
        <p:spPr>
          <a:xfrm>
            <a:off x="4663440" y="3520439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提取方法更省也够用</a:t>
            </a:r>
          </a:p>
        </p:txBody>
      </p:sp>
      <p:sp>
        <p:nvSpPr>
          <p:cNvPr id="9" name="fig"/>
          <p:cNvSpPr/>
          <p:nvPr/>
        </p:nvSpPr>
        <p:spPr>
          <a:xfrm>
            <a:off x="365760" y="4690872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若要分道，会互相牵动</a:t>
            </a:r>
          </a:p>
        </p:txBody>
      </p:sp>
      <p:sp>
        <p:nvSpPr>
          <p:cNvPr id="10" name="fig"/>
          <p:cNvSpPr/>
          <p:nvPr/>
        </p:nvSpPr>
        <p:spPr>
          <a:xfrm>
            <a:off x="4663440" y="4690872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种类真会增加再用策略</a:t>
            </a:r>
          </a:p>
        </p:txBody>
      </p:sp>
    </p:spTree>
  </p:cSld>
  <p:clrMapOvr>
    <a:masterClrMapping/>
  </p:clrMapOvr>
  <p:hf sldNum="0" hdr="0" ftr="0" dt="0"/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3" name="fig"/>
          <p:cNvSpPr/>
          <p:nvPr/>
        </p:nvSpPr>
        <p:spPr>
          <a:xfrm>
            <a:off x="164592" y="1572768"/>
            <a:ext cx="8814816" cy="417880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18288" rIns="18288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金额分摊精度要从3位改成2位，得改几处？漏掉一处会怎样？</a:t>
            </a:r>
          </a:p>
        </p:txBody>
      </p:sp>
    </p:spTree>
  </p:cSld>
  <p:clrMapOvr>
    <a:masterClrMapping/>
  </p:clrMapOvr>
  <p:hf sldNum="0" hdr="0" ftr="0" dt="0"/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AI 可以帮的三件事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80695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标出坏味道和它在哪一段</a:t>
            </a:r>
          </a:p>
        </p:txBody>
      </p:sp>
      <p:sp>
        <p:nvSpPr>
          <p:cNvPr id="4" name="fig"/>
          <p:cNvSpPr/>
          <p:nvPr/>
        </p:nvSpPr>
        <p:spPr>
          <a:xfrm>
            <a:off x="4434840" y="2379726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ig"/>
          <p:cNvSpPr/>
          <p:nvPr/>
        </p:nvSpPr>
        <p:spPr>
          <a:xfrm>
            <a:off x="411480" y="2654046"/>
            <a:ext cx="8321040" cy="80695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起草重构方案，并写明代价</a:t>
            </a:r>
          </a:p>
        </p:txBody>
      </p:sp>
      <p:sp>
        <p:nvSpPr>
          <p:cNvPr id="6" name="fig"/>
          <p:cNvSpPr/>
          <p:nvPr/>
        </p:nvSpPr>
        <p:spPr>
          <a:xfrm>
            <a:off x="4434840" y="3461004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ig"/>
          <p:cNvSpPr/>
          <p:nvPr/>
        </p:nvSpPr>
        <p:spPr>
          <a:xfrm>
            <a:off x="411480" y="3735324"/>
            <a:ext cx="8321040" cy="80695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起草特征测试，锁住现有行为</a:t>
            </a:r>
          </a:p>
        </p:txBody>
      </p:sp>
      <p:sp>
        <p:nvSpPr>
          <p:cNvPr id="8" name="fig"/>
          <p:cNvSpPr/>
          <p:nvPr/>
        </p:nvSpPr>
        <p:spPr>
          <a:xfrm>
            <a:off x="4434840" y="4542282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ig"/>
          <p:cNvSpPr/>
          <p:nvPr/>
        </p:nvSpPr>
        <p:spPr>
          <a:xfrm>
            <a:off x="411480" y="4816602"/>
            <a:ext cx="8321040" cy="80695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放不放行仍由人决定</a:t>
            </a:r>
          </a:p>
        </p:txBody>
      </p:sp>
    </p:spTree>
  </p:cSld>
  <p:clrMapOvr>
    <a:masterClrMapping/>
  </p:clrMapOvr>
  <p:hf sldNum="0" hdr="0" ftr="0" dt="0"/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放行前三查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第一查：有没有碰到不可变约束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654046"/>
            <a:ext cx="7918704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第二查：有没有夹带无关修改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735324"/>
            <a:ext cx="7516367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第三查：测试结果是否支持留下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816602"/>
            <a:ext cx="7114031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三查都过，改动才留下</a:t>
            </a:r>
          </a:p>
        </p:txBody>
      </p:sp>
    </p:spTree>
  </p:cSld>
  <p:clrMapOvr>
    <a:masterClrMapping/>
  </p:clrMapOvr>
  <p:hf sldNum="0" hdr="0" ftr="0" dt="0"/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用优惠券重构对照三查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约束：不修截断，不改公开接口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654046"/>
            <a:ext cx="7918704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重构提交 37e30f1 只改了一个类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735324"/>
            <a:ext cx="7516367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五项断言不改，改前改后都通过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816602"/>
            <a:ext cx="7114031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全绿仍要读差异，打印不是断言</a:t>
            </a:r>
          </a:p>
        </p:txBody>
      </p:sp>
    </p:spTree>
  </p:cSld>
  <p:clrMapOvr>
    <a:masterClrMapping/>
  </p:clrMapOvr>
  <p:hf sldNum="0" hdr="0" ftr="0" dt="0"/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417880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AI给出的重构夹带了无关修改，应该怎么处理？</a:t>
            </a:r>
          </a:p>
        </p:txBody>
      </p:sp>
    </p:spTree>
  </p:cSld>
  <p:clrMapOvr>
    <a:masterClrMapping/>
  </p:clrMapOvr>
  <p:hf sldNum="0" hdr="0" ftr="0" dt="0"/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效果要写得到什么、失去什么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654046"/>
            <a:ext cx="7918704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模式是重构的结果，不是起点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735324"/>
            <a:ext cx="7516367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原则落到具体行，冲突时写明取舍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816602"/>
            <a:ext cx="7114031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AI 的改动先过三查，再谈放行</a:t>
            </a:r>
          </a:p>
        </p:txBody>
      </p:sp>
    </p:spTree>
  </p:cSld>
  <p:clrMapOvr>
    <a:masterClrMapping/>
  </p:clrMapOvr>
  <p:hf sldNum="0" hdr="0" ftr="0" dt="0"/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预习题（1—3）</a:t>
            </a:r>
          </a:p>
        </p:txBody>
      </p:sp>
      <p:sp>
        <p:nvSpPr>
          <p:cNvPr id="3" name="quiz"/>
          <p:cNvSpPr>
            <a:spLocks noGrp="1"/>
          </p:cNvSpPr>
          <p:nvPr>
            <p:ph idx="1"/>
          </p:nvPr>
        </p:nvSpPr>
        <p:spPr>
          <a:xfrm>
            <a:off x="237744" y="1444752"/>
            <a:ext cx="8686800" cy="4480560"/>
          </a:xfrm>
        </p:spPr>
        <p:txBody>
          <a:bodyPr wrap="square" lIns="27432" rIns="27432" tIns="18288" bIns="18288" eaLnBrk="1" hangingPunct="1" latinLnBrk="0"/>
          <a:lstStyle/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请同学们在实验开始之前完成全部五道预习题，题干和选项必须一致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1. 影响面分析中，“回归测试范围”依据什么确定？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被修改文件的代码行数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开发者个人的经验判断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C. 上一轮测试留下的用例数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D. 受影响的模块与调用链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2. 只要新功能单独实现，就不会影响既有流程。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正确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错误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3. 遗留系统的演化策略通常包括哪几种？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维护、重构、再工程、替换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编译、链接、部署、回滚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C. 设计、编码、测试、验收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D. 抽象、封装、继承、多态</a:t>
            </a:r>
          </a:p>
        </p:txBody>
      </p:sp>
    </p:spTree>
  </p:cSld>
  <p:clrMapOvr>
    <a:masterClrMapping/>
  </p:clrMapOvr>
  <p:hf sldNum="0" hdr="0" ftr="0" dt="0"/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预习题（4—5）</a:t>
            </a:r>
          </a:p>
        </p:txBody>
      </p:sp>
      <p:sp>
        <p:nvSpPr>
          <p:cNvPr id="3" name="quiz"/>
          <p:cNvSpPr>
            <a:spLocks noGrp="1"/>
          </p:cNvSpPr>
          <p:nvPr>
            <p:ph idx="1"/>
          </p:nvPr>
        </p:nvSpPr>
        <p:spPr>
          <a:xfrm>
            <a:off x="237744" y="1444752"/>
            <a:ext cx="8686800" cy="4480560"/>
          </a:xfrm>
        </p:spPr>
        <p:txBody>
          <a:bodyPr wrap="square" lIns="27432" rIns="27432" tIns="18288" bIns="18288" eaLnBrk="1" hangingPunct="1" latinLnBrk="0"/>
          <a:lstStyle/>
          <a:p>
            <a:pPr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4. 逆向工程与再工程的关系是什么？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两者是同义词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逆向工程用于理解既有系统，是再工程的组成部分之一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C. 再工程只处理数据，逆向工程只处理代码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D. 两者互不相干</a:t>
            </a:r>
          </a:p>
          <a:p>
            <a:pPr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5. 不可变约束一旦确定，后续需求若确需调整，应当走变更评审。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正确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错误</a:t>
            </a:r>
          </a:p>
          <a:p>
            <a:pPr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做完这两题，再看下一页的阅读</a:t>
            </a:r>
          </a:p>
        </p:txBody>
      </p:sp>
    </p:spTree>
  </p:cSld>
  <p:clrMapOvr>
    <a:masterClrMapping/>
  </p:clrMapOvr>
  <p:hf sldNum="0" hdr="0" ftr="0" dt="0"/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本讲重点阅读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850392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6766560"/>
              </a:tblGrid>
              <a:tr h="390698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编号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文献</a:t>
                      </a:r>
                    </a:p>
                  </a:txBody>
                  <a:tcPr anchor="ctr"/>
                </a:tc>
              </a:tr>
              <a:tr h="390698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[1]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《软件设计与体系结构》</a:t>
                      </a:r>
                    </a:p>
                  </a:txBody>
                  <a:tcPr anchor="ctr"/>
                </a:tc>
              </a:tr>
              <a:tr h="390698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[2]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Martin《敏捷软件开发》</a:t>
                      </a:r>
                    </a:p>
                  </a:txBody>
                  <a:tcPr anchor="ctr"/>
                </a:tc>
              </a:tr>
              <a:tr h="390698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[3]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Gamma 等《设计模式》第 1 章</a:t>
                      </a:r>
                    </a:p>
                  </a:txBody>
                  <a:tcPr anchor="ctr"/>
                </a:tc>
              </a:tr>
              <a:tr h="390698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[4]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Fowler《重构》第 2 版第 3 章</a:t>
                      </a:r>
                    </a:p>
                  </a:txBody>
                  <a:tcPr anchor="ctr"/>
                </a:tc>
              </a:tr>
              <a:tr h="390698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[5]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Kerievsky《重构与模式》第 3 章</a:t>
                      </a:r>
                    </a:p>
                  </a:txBody>
                  <a:tcPr anchor="ctr"/>
                </a:tc>
              </a:tr>
              <a:tr h="390698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[6]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Feathers《修改代码的艺术》第 4、13 章</a:t>
                      </a:r>
                    </a:p>
                  </a:txBody>
                  <a:tcPr anchor="ctr"/>
                </a:tc>
              </a:tr>
              <a:tr h="390698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[22]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Parnas 1972：按设计决定分解模块</a:t>
                      </a:r>
                    </a:p>
                  </a:txBody>
                  <a:tcPr anchor="ctr"/>
                </a:tc>
              </a:tr>
              <a:tr h="390698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[23]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Lehman 1980：持续变化与复杂度增长</a:t>
                      </a:r>
                    </a:p>
                  </a:txBody>
                  <a:tcPr anchor="ctr"/>
                </a:tc>
              </a:tr>
              <a:tr h="390698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[24]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Chikofsky 1990：逆向工程的分类</a:t>
                      </a:r>
                    </a:p>
                  </a:txBody>
                  <a:tcPr anchor="ctr"/>
                </a:tc>
              </a:tr>
              <a:tr h="3907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[26]、[28]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Bennett 2000；Lenarduzzi 2020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p:hf sldNum="0" hdr="0" ftr="0" dt="0"/>
</p:sld>
</file>

<file path=ppt/tags/tag7.xml><?xml version="1.0" encoding="utf-8"?>
<p:tagLst xmlns:p="http://schemas.openxmlformats.org/presentationml/2006/main">
  <p:tag name="commondata" val="eyJoZGlkIjoiZDkzYzZkNDRlZDllNjdlNTFlNDRjOWFlMDM3NGQyOTAifQ=="/>
</p:tagLst>
</file>

<file path=ppt/theme/theme1.xml><?xml version="1.0" encoding="utf-8"?>
<a:theme xmlns:a="http://schemas.openxmlformats.org/drawingml/2006/main" name="2_985平台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ambria-Calibri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bg1">
                <a:gamma/>
                <a:shade val="46275"/>
                <a:invGamma/>
              </a:schemeClr>
            </a:gs>
            <a:gs pos="50000">
              <a:schemeClr val="bg1"/>
            </a:gs>
            <a:gs pos="100000">
              <a:schemeClr val="bg1">
                <a:gamma/>
                <a:shade val="46275"/>
                <a:invGamma/>
              </a:schemeClr>
            </a:gs>
          </a:gsLst>
          <a:lin ang="5400000" scaled="1"/>
        </a:gradFill>
        <a:ln w="38100" cap="flat" cmpd="sng" algn="ctr">
          <a:solidFill>
            <a:srgbClr val="3366FF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bg1">
                <a:gamma/>
                <a:shade val="46275"/>
                <a:invGamma/>
              </a:schemeClr>
            </a:gs>
            <a:gs pos="50000">
              <a:schemeClr val="bg1"/>
            </a:gs>
            <a:gs pos="100000">
              <a:schemeClr val="bg1">
                <a:gamma/>
                <a:shade val="46275"/>
                <a:invGamma/>
              </a:schemeClr>
            </a:gs>
          </a:gsLst>
          <a:lin ang="5400000" scaled="1"/>
        </a:gradFill>
        <a:ln w="38100" cap="flat" cmpd="sng" algn="ctr">
          <a:solidFill>
            <a:srgbClr val="3366FF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985平台 1">
        <a:dk1>
          <a:srgbClr val="A50021"/>
        </a:dk1>
        <a:lt1>
          <a:srgbClr val="FFFFFF"/>
        </a:lt1>
        <a:dk2>
          <a:srgbClr val="800000"/>
        </a:dk2>
        <a:lt2>
          <a:srgbClr val="FFFFFF"/>
        </a:lt2>
        <a:accent1>
          <a:srgbClr val="FF9900"/>
        </a:accent1>
        <a:accent2>
          <a:srgbClr val="FF3300"/>
        </a:accent2>
        <a:accent3>
          <a:srgbClr val="C0AAAA"/>
        </a:accent3>
        <a:accent4>
          <a:srgbClr val="DADADA"/>
        </a:accent4>
        <a:accent5>
          <a:srgbClr val="FFCAAA"/>
        </a:accent5>
        <a:accent6>
          <a:srgbClr val="E72D00"/>
        </a:accent6>
        <a:hlink>
          <a:srgbClr val="FFFFCC"/>
        </a:hlink>
        <a:folHlink>
          <a:srgbClr val="FFCC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2">
        <a:dk1>
          <a:srgbClr val="3C001E"/>
        </a:dk1>
        <a:lt1>
          <a:srgbClr val="FFFFFF"/>
        </a:lt1>
        <a:dk2>
          <a:srgbClr val="51072E"/>
        </a:dk2>
        <a:lt2>
          <a:srgbClr val="FFFFFF"/>
        </a:lt2>
        <a:accent1>
          <a:srgbClr val="89A38F"/>
        </a:accent1>
        <a:accent2>
          <a:srgbClr val="666699"/>
        </a:accent2>
        <a:accent3>
          <a:srgbClr val="B3AAAD"/>
        </a:accent3>
        <a:accent4>
          <a:srgbClr val="DADADA"/>
        </a:accent4>
        <a:accent5>
          <a:srgbClr val="C4CEC6"/>
        </a:accent5>
        <a:accent6>
          <a:srgbClr val="5C5C8A"/>
        </a:accent6>
        <a:hlink>
          <a:srgbClr val="80800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3">
        <a:dk1>
          <a:srgbClr val="333333"/>
        </a:dk1>
        <a:lt1>
          <a:srgbClr val="FFFFFF"/>
        </a:lt1>
        <a:dk2>
          <a:srgbClr val="000000"/>
        </a:dk2>
        <a:lt2>
          <a:srgbClr val="FFFFFF"/>
        </a:lt2>
        <a:accent1>
          <a:srgbClr val="3399FF"/>
        </a:accent1>
        <a:accent2>
          <a:srgbClr val="CC0000"/>
        </a:accent2>
        <a:accent3>
          <a:srgbClr val="AAAAAA"/>
        </a:accent3>
        <a:accent4>
          <a:srgbClr val="DADADA"/>
        </a:accent4>
        <a:accent5>
          <a:srgbClr val="ADCAFF"/>
        </a:accent5>
        <a:accent6>
          <a:srgbClr val="B90000"/>
        </a:accent6>
        <a:hlink>
          <a:srgbClr val="666699"/>
        </a:hlink>
        <a:folHlink>
          <a:srgbClr val="66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4">
        <a:dk1>
          <a:srgbClr val="4B3D1B"/>
        </a:dk1>
        <a:lt1>
          <a:srgbClr val="FFFFFF"/>
        </a:lt1>
        <a:dk2>
          <a:srgbClr val="330000"/>
        </a:dk2>
        <a:lt2>
          <a:srgbClr val="FFFFFF"/>
        </a:lt2>
        <a:accent1>
          <a:srgbClr val="CC9900"/>
        </a:accent1>
        <a:accent2>
          <a:srgbClr val="CC6600"/>
        </a:accent2>
        <a:accent3>
          <a:srgbClr val="ADAAAA"/>
        </a:accent3>
        <a:accent4>
          <a:srgbClr val="DADADA"/>
        </a:accent4>
        <a:accent5>
          <a:srgbClr val="E2CAAA"/>
        </a:accent5>
        <a:accent6>
          <a:srgbClr val="B95C00"/>
        </a:accent6>
        <a:hlink>
          <a:srgbClr val="666699"/>
        </a:hlink>
        <a:folHlink>
          <a:srgbClr val="CC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5">
        <a:dk1>
          <a:srgbClr val="006666"/>
        </a:dk1>
        <a:lt1>
          <a:srgbClr val="FFFFFF"/>
        </a:lt1>
        <a:dk2>
          <a:srgbClr val="003366"/>
        </a:dk2>
        <a:lt2>
          <a:srgbClr val="FFFFFF"/>
        </a:lt2>
        <a:accent1>
          <a:srgbClr val="0099CC"/>
        </a:accent1>
        <a:accent2>
          <a:srgbClr val="6666FF"/>
        </a:accent2>
        <a:accent3>
          <a:srgbClr val="AAADB8"/>
        </a:accent3>
        <a:accent4>
          <a:srgbClr val="DADADA"/>
        </a:accent4>
        <a:accent5>
          <a:srgbClr val="AACAE2"/>
        </a:accent5>
        <a:accent6>
          <a:srgbClr val="5C5CE7"/>
        </a:accent6>
        <a:hlink>
          <a:srgbClr val="FFFFCC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6">
        <a:dk1>
          <a:srgbClr val="003366"/>
        </a:dk1>
        <a:lt1>
          <a:srgbClr val="FFFFFF"/>
        </a:lt1>
        <a:dk2>
          <a:srgbClr val="006666"/>
        </a:dk2>
        <a:lt2>
          <a:srgbClr val="FFFFFF"/>
        </a:lt2>
        <a:accent1>
          <a:srgbClr val="6699FF"/>
        </a:accent1>
        <a:accent2>
          <a:srgbClr val="00CCFF"/>
        </a:accent2>
        <a:accent3>
          <a:srgbClr val="AAB8B8"/>
        </a:accent3>
        <a:accent4>
          <a:srgbClr val="DADADA"/>
        </a:accent4>
        <a:accent5>
          <a:srgbClr val="B8CAFF"/>
        </a:accent5>
        <a:accent6>
          <a:srgbClr val="00B9E7"/>
        </a:accent6>
        <a:hlink>
          <a:srgbClr val="FFFFCC"/>
        </a:hlink>
        <a:folHlink>
          <a:srgbClr val="33CC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7">
        <a:dk1>
          <a:srgbClr val="000000"/>
        </a:dk1>
        <a:lt1>
          <a:srgbClr val="619CB1"/>
        </a:lt1>
        <a:dk2>
          <a:srgbClr val="FFFFFF"/>
        </a:dk2>
        <a:lt2>
          <a:srgbClr val="4E899E"/>
        </a:lt2>
        <a:accent1>
          <a:srgbClr val="FFCC00"/>
        </a:accent1>
        <a:accent2>
          <a:srgbClr val="B6523E"/>
        </a:accent2>
        <a:accent3>
          <a:srgbClr val="B7CBD5"/>
        </a:accent3>
        <a:accent4>
          <a:srgbClr val="000000"/>
        </a:accent4>
        <a:accent5>
          <a:srgbClr val="FFE2AA"/>
        </a:accent5>
        <a:accent6>
          <a:srgbClr val="A54937"/>
        </a:accent6>
        <a:hlink>
          <a:srgbClr val="99CC00"/>
        </a:hlink>
        <a:folHlink>
          <a:srgbClr val="6666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985平台 8">
        <a:dk1>
          <a:srgbClr val="598600"/>
        </a:dk1>
        <a:lt1>
          <a:srgbClr val="FFFFFF"/>
        </a:lt1>
        <a:dk2>
          <a:srgbClr val="336600"/>
        </a:dk2>
        <a:lt2>
          <a:srgbClr val="FFFFFF"/>
        </a:lt2>
        <a:accent1>
          <a:srgbClr val="33CC33"/>
        </a:accent1>
        <a:accent2>
          <a:srgbClr val="99CC00"/>
        </a:accent2>
        <a:accent3>
          <a:srgbClr val="ADB8AA"/>
        </a:accent3>
        <a:accent4>
          <a:srgbClr val="DADADA"/>
        </a:accent4>
        <a:accent5>
          <a:srgbClr val="ADE2AD"/>
        </a:accent5>
        <a:accent6>
          <a:srgbClr val="8AB900"/>
        </a:accent6>
        <a:hlink>
          <a:srgbClr val="FFCC00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9">
        <a:dk1>
          <a:srgbClr val="000000"/>
        </a:dk1>
        <a:lt1>
          <a:srgbClr val="FFFFFF"/>
        </a:lt1>
        <a:dk2>
          <a:srgbClr val="000000"/>
        </a:dk2>
        <a:lt2>
          <a:srgbClr val="DDDDDD"/>
        </a:lt2>
        <a:accent1>
          <a:srgbClr val="A3B2C1"/>
        </a:accent1>
        <a:accent2>
          <a:srgbClr val="CC0000"/>
        </a:accent2>
        <a:accent3>
          <a:srgbClr val="FFFFFF"/>
        </a:accent3>
        <a:accent4>
          <a:srgbClr val="000000"/>
        </a:accent4>
        <a:accent5>
          <a:srgbClr val="CED5DD"/>
        </a:accent5>
        <a:accent6>
          <a:srgbClr val="B90000"/>
        </a:accent6>
        <a:hlink>
          <a:srgbClr val="336699"/>
        </a:hlink>
        <a:folHlink>
          <a:srgbClr val="00336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3022</Words>
  <Application>WPS 演示</Application>
  <PresentationFormat>全屏显示(4:3)</PresentationFormat>
  <Paragraphs>283</Paragraphs>
  <Slides>44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44</vt:i4>
      </vt:variant>
    </vt:vector>
  </HeadingPairs>
  <TitlesOfParts>
    <vt:vector size="59" baseType="lpstr">
      <vt:lpstr>Arial</vt:lpstr>
      <vt:lpstr>宋体</vt:lpstr>
      <vt:lpstr>Wingdings</vt:lpstr>
      <vt:lpstr>Verdana</vt:lpstr>
      <vt:lpstr>隶书</vt:lpstr>
      <vt:lpstr>Cambria</vt:lpstr>
      <vt:lpstr>黑体</vt:lpstr>
      <vt:lpstr>Times New Roman</vt:lpstr>
      <vt:lpstr>新宋体</vt:lpstr>
      <vt:lpstr>Tahoma</vt:lpstr>
      <vt:lpstr>微软雅黑</vt:lpstr>
      <vt:lpstr>Arial Unicode MS</vt:lpstr>
      <vt:lpstr>Calibri</vt:lpstr>
      <vt:lpstr>华文行楷</vt:lpstr>
      <vt:lpstr>2_985平台</vt:lpstr>
      <vt:lpstr>软件设计与规范 </vt:lpstr>
      <vt:lpstr>自我介绍</vt:lpstr>
      <vt:lpstr>超星学习通</vt:lpstr>
      <vt:lpstr>超星学习通</vt:lpstr>
      <vt:lpstr>教材</vt:lpstr>
      <vt:lpstr>推荐参考书</vt:lpstr>
      <vt:lpstr>参考书</vt:lpstr>
      <vt:lpstr>课程定位</vt:lpstr>
      <vt:lpstr>PowerPoint 演示文稿</vt:lpstr>
      <vt:lpstr>PowerPoint 演示文稿</vt:lpstr>
      <vt:lpstr>解决两大难题</vt:lpstr>
      <vt:lpstr>教学困难--实践能力</vt:lpstr>
      <vt:lpstr>PowerPoint 演示文稿</vt:lpstr>
      <vt:lpstr>PowerPoint 演示文稿</vt:lpstr>
      <vt:lpstr>PowerPoint 演示文稿</vt:lpstr>
      <vt:lpstr>教学困难--解决问题的能力</vt:lpstr>
      <vt:lpstr>PowerPoint 演示文稿</vt:lpstr>
      <vt:lpstr>PowerPoint 演示文稿</vt:lpstr>
      <vt:lpstr>教学改革</vt:lpstr>
      <vt:lpstr>PowerPoint 演示文稿</vt:lpstr>
      <vt:lpstr>PowerPoint 演示文稿</vt:lpstr>
      <vt:lpstr>教学设计</vt:lpstr>
      <vt:lpstr>翻转课堂学习绩效</vt:lpstr>
      <vt:lpstr>考核安排</vt:lpstr>
      <vt:lpstr>PowerPoint 演示文稿</vt:lpstr>
      <vt:lpstr>PowerPoint 演示文稿</vt:lpstr>
      <vt:lpstr>优秀</vt:lpstr>
      <vt:lpstr>课程网站扩展项目</vt:lpstr>
      <vt:lpstr>课程设计</vt:lpstr>
      <vt:lpstr>课程网站案例分类</vt:lpstr>
      <vt:lpstr>案例的使用</vt:lpstr>
      <vt:lpstr>授课方式</vt:lpstr>
      <vt:lpstr>PowerPoint 演示文稿</vt:lpstr>
      <vt:lpstr>课程网站</vt:lpstr>
      <vt:lpstr>能力构成</vt:lpstr>
      <vt:lpstr>环境</vt:lpstr>
      <vt:lpstr>助教</vt:lpstr>
      <vt:lpstr>SWOT分析</vt:lpstr>
      <vt:lpstr>课后阅读</vt:lpstr>
      <vt:lpstr>课后练习</vt:lpstr>
      <vt:lpstr>作业</vt:lpstr>
      <vt:lpstr>Tips</vt:lpstr>
      <vt:lpstr>Tips（续）</vt:lpstr>
      <vt:lpstr>PowerPoint 演示文稿</vt:lpstr>
    </vt:vector>
  </TitlesOfParts>
  <Company>sei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1-1课程简介</dc:title>
  <dc:creator>李萌</dc:creator>
  <cp:lastModifiedBy>lemon 牛</cp:lastModifiedBy>
  <cp:revision>1036</cp:revision>
  <cp:lastPrinted>2003-09-14T10:10:00Z</cp:lastPrinted>
  <dcterms:created xsi:type="dcterms:W3CDTF">2003-08-28T12:03:00Z</dcterms:created>
  <dcterms:modified xsi:type="dcterms:W3CDTF">2024-02-25T15:12:44Z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6B7E428AAD9D47FD86FE404DDCE365B0_12</vt:lpwstr>
  </property>
  <property fmtid="{D5CDD505-2E9C-101B-9397-08002B2CF9AE}" pid="3" name="KSOProductBuildVer">
    <vt:lpwstr>2052-12.1.0.16250</vt:lpwstr>
  </property>
</Properties>
</file>