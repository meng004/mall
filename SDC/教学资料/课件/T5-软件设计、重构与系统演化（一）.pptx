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96" r:id="rId59"/>
    <p:sldId id="257" r:id="rId10"/>
    <p:sldId id="293" r:id="rId56"/>
    <p:sldId id="294" r:id="rId57"/>
    <p:sldId id="292" r:id="rId55"/>
    <p:sldId id="274" r:id="rId27"/>
    <p:sldId id="273" r:id="rId26"/>
    <p:sldId id="275" r:id="rId28"/>
    <p:sldId id="277" r:id="rId30"/>
    <p:sldId id="298" r:id="rId61"/>
    <p:sldId id="295" r:id="rId58"/>
    <p:sldId id="276" r:id="rId29"/>
    <p:sldId id="278" r:id="rId31"/>
    <p:sldId id="279" r:id="rId32"/>
    <p:sldId id="280" r:id="rId33"/>
    <p:sldId id="281" r:id="rId34"/>
    <p:sldId id="258" r:id="rId11"/>
    <p:sldId id="259" r:id="rId12"/>
    <p:sldId id="260" r:id="rId13"/>
    <p:sldId id="261" r:id="rId14"/>
    <p:sldId id="291" r:id="rId54"/>
    <p:sldId id="290" r:id="rId53"/>
    <p:sldId id="262" r:id="rId15"/>
    <p:sldId id="263" r:id="rId16"/>
    <p:sldId id="264" r:id="rId17"/>
    <p:sldId id="266" r:id="rId19"/>
    <p:sldId id="265" r:id="rId18"/>
    <p:sldId id="267" r:id="rId20"/>
    <p:sldId id="269" r:id="rId22"/>
    <p:sldId id="268" r:id="rId21"/>
    <p:sldId id="270" r:id="rId23"/>
    <p:sldId id="271" r:id="rId24"/>
    <p:sldId id="272" r:id="rId25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7" r:id="rId60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4.xml"/><Relationship Id="rId16" Type="http://schemas.openxmlformats.org/officeDocument/2006/relationships/slide" Target="slides/slide25.xml"/><Relationship Id="rId17" Type="http://schemas.openxmlformats.org/officeDocument/2006/relationships/slide" Target="slides/slide26.xml"/><Relationship Id="rId18" Type="http://schemas.openxmlformats.org/officeDocument/2006/relationships/slide" Target="slides/slide28.xml"/><Relationship Id="rId19" Type="http://schemas.openxmlformats.org/officeDocument/2006/relationships/slide" Target="slides/slide27.xml"/><Relationship Id="rId20" Type="http://schemas.openxmlformats.org/officeDocument/2006/relationships/slide" Target="slides/slide29.xml"/><Relationship Id="rId21" Type="http://schemas.openxmlformats.org/officeDocument/2006/relationships/slide" Target="slides/slide31.xml"/><Relationship Id="rId22" Type="http://schemas.openxmlformats.org/officeDocument/2006/relationships/slide" Target="slides/slide30.xml"/><Relationship Id="rId23" Type="http://schemas.openxmlformats.org/officeDocument/2006/relationships/slide" Target="slides/slide32.xml"/><Relationship Id="rId24" Type="http://schemas.openxmlformats.org/officeDocument/2006/relationships/slide" Target="slides/slide33.xml"/><Relationship Id="rId25" Type="http://schemas.openxmlformats.org/officeDocument/2006/relationships/slide" Target="slides/slide34.xml"/><Relationship Id="rId26" Type="http://schemas.openxmlformats.org/officeDocument/2006/relationships/slide" Target="slides/slide8.xml"/><Relationship Id="rId27" Type="http://schemas.openxmlformats.org/officeDocument/2006/relationships/slide" Target="slides/slide7.xml"/><Relationship Id="rId28" Type="http://schemas.openxmlformats.org/officeDocument/2006/relationships/slide" Target="slides/slide9.xml"/><Relationship Id="rId29" Type="http://schemas.openxmlformats.org/officeDocument/2006/relationships/slide" Target="slides/slide13.xml"/><Relationship Id="rId30" Type="http://schemas.openxmlformats.org/officeDocument/2006/relationships/slide" Target="slides/slide10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Relationship Id="rId53" Type="http://schemas.openxmlformats.org/officeDocument/2006/relationships/slide" Target="slides/slide23.xml"/><Relationship Id="rId54" Type="http://schemas.openxmlformats.org/officeDocument/2006/relationships/slide" Target="slides/slide22.xml"/><Relationship Id="rId55" Type="http://schemas.openxmlformats.org/officeDocument/2006/relationships/slide" Target="slides/slide6.xml"/><Relationship Id="rId56" Type="http://schemas.openxmlformats.org/officeDocument/2006/relationships/slide" Target="slides/slide4.xml"/><Relationship Id="rId57" Type="http://schemas.openxmlformats.org/officeDocument/2006/relationships/slide" Target="slides/slide5.xml"/><Relationship Id="rId58" Type="http://schemas.openxmlformats.org/officeDocument/2006/relationships/slide" Target="slides/slide12.xml"/><Relationship Id="rId59" Type="http://schemas.openxmlformats.org/officeDocument/2006/relationships/slide" Target="slides/slide2.xml"/><Relationship Id="rId60" Type="http://schemas.openxmlformats.org/officeDocument/2006/relationships/slide" Target="slides/slide43.xml"/><Relationship Id="rId6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本节 15 分钟</a:t>
            </a:r>
          </a:p>
          <a:p>
            <a:r>
              <a:t>定义：这一讲讲模式的效果、从坏味道走到模式，以及原则在既有代码里怎么判定。</a:t>
            </a:r>
          </a:p>
          <a:p>
            <a:r>
              <a:t>代价：只背模式名字，下一讲说不清引入之后失去了什么。</a:t>
            </a:r>
          </a:p>
          <a:p>
            <a:r>
              <a:t>判定：开场点明这是第 9 次课，讲软件设计、重构与系统演化的前半。</a:t>
            </a:r>
          </a:p>
          <a:p>
            <a:r>
              <a:t>权衡：三个班周次不同，口头交代各班时间，课上只强调课次。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节：本次课目标</a:t>
            </a:r>
          </a:p>
          <a:p>
            <a:r>
              <a:t>定义：先讲设计过程的两层迭代与六项主要活动；目标是会写模式的效果，会从坏味道走到重构，会在既有代码上核对内容，并知道 AI 重构怎样放行。</a:t>
            </a:r>
          </a:p>
          <a:p>
            <a:r>
              <a:t>代价：不接上一讲和实验 E4，策略和装饰会变成另一套名词。</a:t>
            </a:r>
          </a:p>
          <a:p>
            <a:r>
              <a:t>判定：能否说出从 T4、E4 接来什么，以及实验 E5 要先分析改动碰到哪里。</a:t>
            </a:r>
          </a:p>
          <a:p>
            <a:r>
              <a:t>权衡：时间不够时，先保住效果和“模式是重构的结果”。本课预习题在布置里逐题讲评。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节：模式的四个要素</a:t>
            </a:r>
          </a:p>
          <a:p>
            <a:r>
              <a:t>本节 20 分钟</a:t>
            </a:r>
          </a:p>
          <a:p>
            <a:r>
              <a:t>定义：广义是可重复使用的一类解法；狭义是特定场景下对类和协作对象的描述。三类是创建型、结构型、行为型。</a:t>
            </a:r>
          </a:p>
          <a:p>
            <a:r>
              <a:t>代价：把某一个框架的类名当成模式本身，换一种实现就讲不下去。</a:t>
            </a:r>
          </a:p>
          <a:p>
            <a:r>
              <a:t>判定：问这是在规定对象怎么创建，还是在规定它们怎么协作。</a:t>
            </a:r>
          </a:p>
          <a:p>
            <a:r>
              <a:t>权衡：三类够用即可。23 个模式的名单留在 Gamma 等《设计模式》第 1 章，这一讲不逐条念。说法见 2024 第 7-1 讲第 5–6 页。页上下栏只放本讲的四个模式，归类按 2024 第 7-1 讲第 8–9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节：模式的四个要素</a:t>
            </a:r>
          </a:p>
          <a:p>
            <a:r>
              <a:t>时长见本节首页（本节 20 分钟）</a:t>
            </a:r>
          </a:p>
          <a:p>
            <a:r>
              <a:t>定义：模式的四个要素是名称、问题、解决方案、效果。评价时先写效果，再看类有多少。</a:t>
            </a:r>
          </a:p>
          <a:p>
            <a:r>
              <a:t>代价：只写类图，不写失去了什么，引入之后无法判断值不值。</a:t>
            </a:r>
          </a:p>
          <a:p>
            <a:r>
              <a:t>判定：问这一项回答的是适用场合、协作方式，还是得到与失去。</a:t>
            </a:r>
          </a:p>
          <a:p>
            <a:r>
              <a:t>权衡：效果写清楚，类可以少画。四个要素的名单见 2024 第 7-1 讲第 10 页，也见 Gamma 等《设计模式》第 1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节：模式的四个要素</a:t>
            </a:r>
          </a:p>
          <a:p>
            <a:r>
              <a:t>时长见本节首页（本节 20 分钟）</a:t>
            </a:r>
          </a:p>
          <a:p>
            <a:r>
              <a:t>定义：策略把可替换的算法分开。客户依赖共同接口，不在流程里写死某一种算法。</a:t>
            </a:r>
          </a:p>
          <a:p>
            <a:r>
              <a:t>代价：类变多，而且“这次选哪一种”仍要有地方放，并没有消失。</a:t>
            </a:r>
          </a:p>
          <a:p>
            <a:r>
              <a:t>判定：问新增一种算法时，改的是客户流程，还是只加一个算法类。</a:t>
            </a:r>
          </a:p>
          <a:p>
            <a:r>
              <a:t>权衡：消除的是按算法类型写的条件分支（坏味道“按类型分支”）。流程稳定，选择规则集中在一处。概念来自 2024 第 7-2 讲：多种打折方案，每次只应用一种。真实代码留到下一节的优惠券范围，不在这里展开。右侧结构图依 Gamma 等《设计模式》，2024 第 7-2 讲第 8 页用的是同一张图。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节：模式的四个要素</a:t>
            </a:r>
          </a:p>
          <a:p>
            <a:r>
              <a:t>时长见本节首页（本节 20 分钟）</a:t>
            </a:r>
          </a:p>
          <a:p>
            <a:r>
              <a:t>定义：装饰在现有对象外再包一层职责。装饰者持有同一接口，先用内层的结果，再加上自己的规则。</a:t>
            </a:r>
          </a:p>
          <a:p>
            <a:r>
              <a:t>代价：组合代替继承之后，对象链变长，叠错顺序就会算错。</a:t>
            </a:r>
          </a:p>
          <a:p>
            <a:r>
              <a:t>判定：问新功能是子类重写，还是外层先调用内层再追加。</a:t>
            </a:r>
          </a:p>
          <a:p>
            <a:r>
              <a:t>权衡：消除的是为功能组合派生的大量子类，Gamma 等把它列为装饰的动机；这不在 Fowler 的坏味道清单里。组合数上去了也不必为每种搭配建一个子类。材料是 2024 第 7-3 讲第 21–24 页：先有一种折扣，再叠加另一种。右侧结构图依 Gamma 等《设计模式》，2024 第 7-3 讲第 17 页用的是同一张图；装饰持有构件，用菱形表示。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节：模式的四个要素</a:t>
            </a:r>
          </a:p>
          <a:p>
            <a:r>
              <a:t>时长见本节首页（本节 20 分钟）</a:t>
            </a:r>
          </a:p>
          <a:p>
            <a:r>
              <a:t>定义：同一组四个要素，策略和装饰都要写出得到的和失去的，不能只写类的名单。</a:t>
            </a:r>
          </a:p>
          <a:p>
            <a:r>
              <a:t>代价：只谈灵活，不谈多出来的类和间接调用，讨论会停在“用了就更好”。</a:t>
            </a:r>
          </a:p>
          <a:p>
            <a:r>
              <a:t>判定：问这一处是少改了客户，还是把选择规则挪到了另一个地方。</a:t>
            </a:r>
          </a:p>
          <a:p>
            <a:r>
              <a:t>权衡：两类模式都是用间接换稳定。值不值，要看变化是不是真的会来。下一页请学生自己说。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节：模式的四个要素</a:t>
            </a:r>
          </a:p>
          <a:p>
            <a:r>
              <a:t>时长见本节首页（本节 20 分钟）</a:t>
            </a:r>
          </a:p>
          <a:p>
            <a:r>
              <a:t>定义：讨论引入一个模式之后，得到了什么，又失去了什么。</a:t>
            </a:r>
          </a:p>
          <a:p>
            <a:r>
              <a:t>代价：只回答模式的名字，不说代价，四个要素里的效果就没有用上。</a:t>
            </a:r>
          </a:p>
          <a:p>
            <a:r>
              <a:t>判定：回答要各举一条得到的和一条失去的，并说得出它们落在哪。</a:t>
            </a:r>
          </a:p>
          <a:p>
            <a:r>
              <a:t>权衡：得到的往往是客户少改；失去的往往是类变多、多一次调用。课上先听学生的例子。</a:t>
            </a:r>
          </a:p>
          <a:p>
            <a:r>
              <a:t>参考要点：得到的是变化收进新类，客户流程少改；失去的是类变多，并多一次间接调用。</a:t>
            </a:r>
          </a:p>
          <a:p>
            <a:r>
              <a:t>依据：课件大纲「模式的四个要素」；Gamma 等《设计模式》第 1 章把效果列为四个要素之一。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本节 20 分钟</a:t>
            </a:r>
          </a:p>
          <a:p>
            <a:r>
              <a:t>定义：坏味道是 Fowler《重构》里对难改结构的称呼。发散式变化用提炼类或拆分阶段；霰弹式修改用搬移函数、搬移字段或内联类。</a:t>
            </a:r>
          </a:p>
          <a:p>
            <a:r>
              <a:t>代价：看见分支就上模式，会把还能用提炼方法解决的问题弄得更重。</a:t>
            </a:r>
          </a:p>
          <a:p>
            <a:r>
              <a:t>判定：问变化是改同一类的多处，还是一次改动要散到多个类；再对上提炼类、拆分阶段，或搬移函数、搬移字段、内联类。</a:t>
            </a:r>
          </a:p>
          <a:p>
            <a:r>
              <a:t>权衡：手法名称依据 Fowler《重构》第 2 版第 3 章。这一页只留七个，后面的演示只用重复、过长和按类型分支。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定义：模式是重构做到那一步之后的结果。起点是坏味道和要保护的行为，不是模式的名字。</a:t>
            </a:r>
          </a:p>
          <a:p>
            <a:r>
              <a:t>代价：先选定策略再找代码来套，会把不必拆开的分支也拆开。</a:t>
            </a:r>
          </a:p>
          <a:p>
            <a:r>
              <a:t>判定：问是先有“这里按类型重复”，还是先有“这里要用策略”。</a:t>
            </a:r>
          </a:p>
          <a:p>
            <a:r>
              <a:t>权衡：能用提炼方法收住的，就不要先加接口。第 24 页的得与失已把这个取舍说具体。Kerievsky《重构与模式》第 3 章把模式放在重构之后。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定义：三个版本只说明一件事：增加一种动物时，饲养员类要不要改。版本二把吃收成动物自己的动作；版本三改成一次喂一群。</a:t>
            </a:r>
          </a:p>
          <a:p>
            <a:r>
              <a:t>代价：版本一每加一种动物就要改饲养员；版本二不再加方法，但逐只调用仍然重复。</a:t>
            </a:r>
          </a:p>
          <a:p>
            <a:r>
              <a:t>判定：问加熊猫时，改的是饲养员，还是只加一种动物并放进那一群。</a:t>
            </a:r>
          </a:p>
          <a:p>
            <a:r>
              <a:t>权衡：这是概念导入，来自 2024 第 4-4 讲第 16–27 页。不把某一种语言的类写进来。真实代码从后面的现场演示开始。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定义：现场演示三步：按适用范围的分支，特征测试 SDCE400Test，再收成策略。示例是 E4-00，Issue #20。</a:t>
            </a:r>
          </a:p>
          <a:p>
            <a:r>
              <a:t>代价：不先锁行为就改分支，重构和改需求会混在同一次提交里。</a:t>
            </a:r>
          </a:p>
          <a:p>
            <a:r>
              <a:t>判定：问测试固定的是改前的可用结果，还是策略类的名字。</a:t>
            </a:r>
          </a:p>
          <a:p>
            <a:r>
              <a:t>权衡：全场、分类、商品三段重复的是判定和分列，不同的只是按哪种范围取金额。促销计算不是这一讲的例子。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定义：第 129 行按适用范围取策略。找不到就跳过，这张券不进可用，也不进不可用。</a:t>
            </a:r>
          </a:p>
          <a:p>
            <a:r>
              <a:t>代价：跳过若写成放进不可用，未知范围的结果就和改前不一样。</a:t>
            </a:r>
          </a:p>
          <a:p>
            <a:r>
              <a:t>判定：看第 130–132 行是 continue，还是把券放进某一个列表。</a:t>
            </a:r>
          </a:p>
          <a:p>
            <a:r>
              <a:t>权衡：改前靠分支链没有最后的否则，未知范围同样两边都不放。这里把那件事变明确了。行号对 E4-00 的提交 175decae。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定义：这五项里的第一项锁住同一购物车下可用、不可用的编号和顺序，并锁住未知范围 17 两边都不出现。</a:t>
            </a:r>
          </a:p>
          <a:p>
            <a:r>
              <a:t>代价：断言写到策略类的名字上，重构一改名测试就红，固定的就不是行为。</a:t>
            </a:r>
          </a:p>
          <a:p>
            <a:r>
              <a:t>判定：问失败时是编号或顺序变了，还是只是类名变了。</a:t>
            </a:r>
          </a:p>
          <a:p>
            <a:r>
              <a:t>权衡：Issue #20 记录整份测试有五项，改前改后都通过，断言不改。过期、空购物车和门槛两侧在另外几项里。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定义：policyFor 返回第一个 supports 为真的策略。都不是就返回空，调用方跳过。</a:t>
            </a:r>
          </a:p>
          <a:p>
            <a:r>
              <a:t>代价：两个策略都能匹配时，先登记的生效。这条规则只写在循环里。</a:t>
            </a:r>
          </a:p>
          <a:p>
            <a:r>
              <a:t>判定：问未知范围是返回空，还是返回一个默认策略。</a:t>
            </a:r>
          </a:p>
          <a:p>
            <a:r>
              <a:t>权衡：现在三种范围互不重叠，顺序不影响结果。以后若重叠，要先改这条查找，不能只加类。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定义：只看 listCart 的可用判定。改前加一种范围改 1 处，但要复制判定和分列；策略改 2 处，listCart 本身不用改。</a:t>
            </a:r>
          </a:p>
          <a:p>
            <a:r>
              <a:t>代价：处数没有变少。策略还多了接口、三个内部类，以及一次查找。</a:t>
            </a:r>
          </a:p>
          <a:p>
            <a:r>
              <a:t>判定：问少掉的是修改处数，还是“要不要复制那一段分列”。</a:t>
            </a:r>
          </a:p>
          <a:p>
            <a:r>
              <a:t>权衡：Issue #20 的结论：就现状而言，提取方法更省也够用。采用策略是为了在同一处演示四个要素。范围种类确实会增加，或某种判定要单独替换、单独测试时，再值得用策略。基线 244 行，提取方法 252 行，策略 289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节：坏味道与重构</a:t>
            </a:r>
          </a:p>
          <a:p>
            <a:r>
              <a:t>时长见本节首页（本节 20 分钟）</a:t>
            </a:r>
          </a:p>
          <a:p>
            <a:r>
              <a:t>定义：全场策略仍用 intValue 截断。分类和商品在第 193、213 行同样保留。重构不改这个行为。</a:t>
            </a:r>
          </a:p>
          <a:p>
            <a:r>
              <a:t>代价：把截断顺手改成精确比较，就混进了另一次修复，特征测试还可能仍然是绿的。</a:t>
            </a:r>
          </a:p>
          <a:p>
            <a:r>
              <a:t>判定：问 99.90 被判成可用，是策略引入的，还是改前就如此。</a:t>
            </a:r>
          </a:p>
          <a:p>
            <a:r>
              <a:t>权衡：这属于 E3-01。测试只打印 THRESHOLD_BASELINE，不断言 99.90。改成 compareTo 时，改前改后都要改 3 处，这次重构对它没有收益。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定义：抽象是把注意力放在当前这一层，忽略更低的细节。逐步求精是把宏观描述不断分解，直到能落到方法。</a:t>
            </a:r>
          </a:p>
          <a:p>
            <a:r>
              <a:t>代价：一开始就写进每一个字段，分摊精度和库存锁定会缠在同一层里。</a:t>
            </a:r>
          </a:p>
          <a:p>
            <a:r>
              <a:t>判定：问这一步是在给订单分块，还是已经在定小数保留几位。</a:t>
            </a:r>
          </a:p>
          <a:p>
            <a:r>
              <a:t>权衡：2024 第 5-2 讲从订单里再识别出子项。2024 第 5-1 讲第 4 页把抽象和逐步求精放在一起用。mall 的修改位置是 generateOrder。图按 2024 第 5-1 讲第 5 页重画，省去带类型的第 4 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节：模块化原则的判定</a:t>
            </a:r>
          </a:p>
          <a:p>
            <a:r>
              <a:rPr lang="zh-CN" dirty="0"/>
              <a:t>本节 20 分钟</a:t>
            </a:r>
          </a:p>
          <a:p>
            <a:r>
              <a:rPr lang="zh-CN" dirty="0"/>
              <a:t>依据：教案 T5 主要知识点第 1 条（软件设计的一般过程与主要活动在课上讲授；设计质量、规格说明与设计评审放在线上预习）。</a:t>
            </a:r>
          </a:p>
          <a:p>
            <a:r>
              <a:rPr lang="zh-CN" dirty="0"/>
              <a:t>定义：设计质量、规格说明和设计评审三项不在课上展开，放在线上预习；设计过程与六项主要活动已在本讲第一节讲过。</a:t>
            </a:r>
          </a:p>
          <a:p>
            <a:r>
              <a:rPr lang="zh-CN" dirty="0"/>
              <a:t>代价：课上把评审流程讲完，就没有时间在订单代码上核对内容。</a:t>
            </a:r>
          </a:p>
          <a:p>
            <a:r>
              <a:rPr lang="zh-CN" dirty="0"/>
              <a:t>判定：问这三项是课上要展开的步骤，还是预习时对照的清单。</a:t>
            </a:r>
          </a:p>
          <a:p>
            <a:r>
              <a:rPr lang="zh-CN" dirty="0"/>
              <a:t>权衡：设计质量的要素（结构良好、充分性、可行性、简单性等）见 2024 第 5-1 讲第 24 页。课上只用订单代码做判定。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定义：信息隐藏按要藏起的设计决定来切模块，不是按流程步骤来切。Parnas 1972 的标准是：把可能改变的决定藏进模块。</a:t>
            </a:r>
          </a:p>
          <a:p>
            <a:r>
              <a:t>代价：按步骤切开之后，精度仍出现两次，改一处会漏掉另一处。</a:t>
            </a:r>
          </a:p>
          <a:p>
            <a:r>
              <a:t>判定：问模块边界藏起的是“分摊保留几位”，还是“先计价再落库”这个顺序。</a:t>
            </a:r>
          </a:p>
          <a:p>
            <a:r>
              <a:t>权衡：2024 第 5-1 讲第 6 页强调开发者只需知道接口。接口是结果；先要问藏起的是哪一项决定。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定义：低内聚的证据是一个方法混有多个独立变化原因：锁库存、写订单、算优惠、扣积分。两处分摊共同依赖同一精度决定，形成变更耦合，也违反 DRY。</a:t>
            </a:r>
          </a:p>
          <a:p>
            <a:r>
              <a:t>代价：把步骤多当成低内聚，会把同一次事务里的连续动作都说成设计问题。</a:t>
            </a:r>
          </a:p>
          <a:p>
            <a:r>
              <a:t>判定：问锁库存和扣积分能否各自变化；问精度是一项决定被两处依赖，还是两个模块在互相调用。</a:t>
            </a:r>
          </a:p>
          <a:p>
            <a:r>
              <a:t>权衡：这里的耦合是变更耦合，不是模块之间的耦合。一般定义见 2024 第 5-1 讲第 8 页，证据按订单代码改写。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定义：两处都用商品价格除以总额，比例保留 3 位，再乘上要分摊的金额。第 157 行是积分，第 662 行是优惠券。</a:t>
            </a:r>
          </a:p>
          <a:p>
            <a:r>
              <a:t>代价：精度是一项决定，却写在两个方法里。改一处、漏一处，同一张订单会按两种精度分摊。</a:t>
            </a:r>
          </a:p>
          <a:p>
            <a:r>
              <a:t>判定：看 divide 的位数参数是不是都是 3，舍入是不是都是 HALF_EVEN。</a:t>
            </a:r>
          </a:p>
          <a:p>
            <a:r>
              <a:t>权衡：第 623、624 行的位数是 2，那是积分换算和订单比例，不是这两处的分摊。行号对基线 baseline-dcaa93b3。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定义：generateOrder 从第 94 行起，在同一个方法里串起用券、积分、锁库存、写订单和明细、更新券、扣积分、删购物车、发延迟消息。</a:t>
            </a:r>
          </a:p>
          <a:p>
            <a:r>
              <a:t>代价：方法过长。改分摊、改锁库或改消息，都要进入这一段。</a:t>
            </a:r>
          </a:p>
          <a:p>
            <a:r>
              <a:t>判定：问这些步骤是一次调用里的连续动作，还是已经拆成各自的入口。</a:t>
            </a:r>
          </a:p>
          <a:p>
            <a:r>
              <a:t>权衡：事务因此能包住这一整段，方法也因此难读。过长适合讨论该不该拆，不适合在这一讲里当场拆开。落库在第 224、229 行，更新券在第 232 行，扣积分在第 240 行，删购物车在第 243 行，发消息在第 245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定义：有证据的是三条。下单方法有多个改动理由；加一种范围不必改循环，但登记仍要改；策略接口的实现是同一类里的私有类。</a:t>
            </a:r>
          </a:p>
          <a:p>
            <a:r>
              <a:t>代价：五条都要判成违背，就会把没有证据的两条也说成缺陷。</a:t>
            </a:r>
          </a:p>
          <a:p>
            <a:r>
              <a:t>判定：问引起下单方法变化的理由是一条还是多条；替换策略要不要改这个类。</a:t>
            </a:r>
          </a:p>
          <a:p>
            <a:r>
              <a:t>权衡：私有内部类外部不能单独替换，依赖倒置只做到接口这一步。定义已在 T4 的 SOLID 五条给出（亦见 2024 第 4-1 讲第 37–38 页），这里只做判定。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定义：重复和解耦：精度收成一处，改一次就齐；若积分和优惠券以后要不同精度，收在一起会互相牵动。开闭和不过度设计：策略让循环少改，但现状下提取方法更省。</a:t>
            </a:r>
          </a:p>
          <a:p>
            <a:r>
              <a:t>代价：两条都当成绝对要求，就会同时要求“一处都不能改”和“现在就把以后的范围都预留出来”。</a:t>
            </a:r>
          </a:p>
          <a:p>
            <a:r>
              <a:t>判定：问这次变化是两种分摊必须相同，还是范围种类确定会增加。</a:t>
            </a:r>
          </a:p>
          <a:p>
            <a:r>
              <a:t>权衡：不过度设计见 2024 第 4-1 讲第 36 页，重复见同讲第 35 页。取舍要写明现在已知的变化，而不是把原则名叠在一起。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节：模块化原则的判定</a:t>
            </a:r>
          </a:p>
          <a:p>
            <a:r>
              <a:t>时长见本节首页（本节 20 分钟）</a:t>
            </a:r>
          </a:p>
          <a:p>
            <a:r>
              <a:t>定义：讨论把金额分摊的精度从 3 位改成 2 位，要改几处，漏掉一处会怎样。</a:t>
            </a:r>
          </a:p>
          <a:p>
            <a:r>
              <a:t>代价：把第 623 行那种换算也算进来，改动范围就会大过真正的分摊。</a:t>
            </a:r>
          </a:p>
          <a:p>
            <a:r>
              <a:t>判定：回答要给出处数，并说明漏掉一处时两笔分摊还是否同一种精度。</a:t>
            </a:r>
          </a:p>
          <a:p>
            <a:r>
              <a:t>权衡：分摊就两处，第 157 行和第 662 行。漏一处，积分和优惠券会按不同精度分摊。课上先听学生怎么数。</a:t>
            </a:r>
          </a:p>
          <a:p>
            <a:r>
              <a:t>参考要点：分摊精度写了两处，第 157 行和第 662 行；漏掉一处时，积分和优惠券按不同精度分摊。</a:t>
            </a:r>
          </a:p>
          <a:p>
            <a:r>
              <a:t>依据：课件大纲「模块化原则的判定」；Parnas 1972 要求把这项设计决定藏进一处。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辅助重构</a:t>
            </a:r>
          </a:p>
          <a:p>
            <a:r>
              <a:t>本节 15 分钟</a:t>
            </a:r>
          </a:p>
          <a:p>
            <a:r>
              <a:t>定义：AI 可以标坏味道、起草重构方案、起草特征测试。这三样都是草稿，放行不由它决定。</a:t>
            </a:r>
          </a:p>
          <a:p>
            <a:r>
              <a:t>代价：把草稿直接提交，无关修改和不得修改的部分会一起进入代码。</a:t>
            </a:r>
          </a:p>
          <a:p>
            <a:r>
              <a:t>判定：问这一份输出是在指出位置、给出改法，还是已经代替了测试结果。</a:t>
            </a:r>
          </a:p>
          <a:p>
            <a:r>
              <a:t>权衡：特征测试的断言仍要人核对：它锁的是行为，还是锁住了类名和行号。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辅助重构</a:t>
            </a:r>
          </a:p>
          <a:p>
            <a:r>
              <a:t>时长见本节首页（本节 15 分钟）</a:t>
            </a:r>
          </a:p>
          <a:p>
            <a:r>
              <a:t>定义：放行前先看有没有碰到不许改的部分，再看差异里有没有无关修改，最后看测试结果。三查都过才留下。</a:t>
            </a:r>
          </a:p>
          <a:p>
            <a:r>
              <a:t>代价：只看测试全绿，截断被顺手改掉时，这一讲的特征测试仍然可以是绿的。</a:t>
            </a:r>
          </a:p>
          <a:p>
            <a:r>
              <a:t>判定：问卡住这次放行的是约束、是差异里多出来的行，还是测试失败。</a:t>
            </a:r>
          </a:p>
          <a:p>
            <a:r>
              <a:t>权衡：三查的顺序不能倒过来。测试用来确认行为，不用来发现“这次本不该改的行”。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辅助重构</a:t>
            </a:r>
          </a:p>
          <a:p>
            <a:r>
              <a:t>时长见本节首页（本节 15 分钟）</a:t>
            </a:r>
          </a:p>
          <a:p>
            <a:r>
              <a:t>定义：这次重构约定不修门槛截断、不改公开接口、不引入规则引擎。Issue #20 记录重构提交 37e30f1 只改了优惠券服务这一个类，五项断言不改且都通过。</a:t>
            </a:r>
          </a:p>
          <a:p>
            <a:r>
              <a:t>代价：测试没有断言 99.90，所以全绿不能证明没有混入截断修复。</a:t>
            </a:r>
          </a:p>
          <a:p>
            <a:r>
              <a:t>判定：问“没有混入修复”是测试证明的，还是要读差异才能看出来。</a:t>
            </a:r>
          </a:p>
          <a:p>
            <a:r>
              <a:t>权衡：截断仍在第 173、193、213 行。打印那一行没有写成断言。夹带若正好改的是这三行，第三查会漏掉。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辅助重构</a:t>
            </a:r>
          </a:p>
          <a:p>
            <a:r>
              <a:t>时长见本节首页（本节 15 分钟）</a:t>
            </a:r>
          </a:p>
          <a:p>
            <a:r>
              <a:t>定义：讨论 AI 给出的重构里夹带了无关修改时应该怎么处理。</a:t>
            </a:r>
          </a:p>
          <a:p>
            <a:r>
              <a:t>代价：因为测试是绿的就整份留下，无关修改会和重构绑在同一次提交里。</a:t>
            </a:r>
          </a:p>
          <a:p>
            <a:r>
              <a:t>判定：回答要说出无关修改是留下、退回，还是另提，并说明测试能不能代替读差异。</a:t>
            </a:r>
          </a:p>
          <a:p>
            <a:r>
              <a:t>权衡：无关修改退回或另提。先核对不得修改的部分，再看测试。课上先听学生怎么处理那三行截断。</a:t>
            </a:r>
          </a:p>
          <a:p>
            <a:r>
              <a:t>参考要点：无关修改从差异里挑出来，不连同放行；测试全绿不能代替读差异，还要核对不得修改的部分。</a:t>
            </a:r>
          </a:p>
          <a:p>
            <a:r>
              <a:t>依据：课件大纲「AI 辅助重构」；放行前三查的第二查就是夹带的无关修改。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节：AI 辅助重构</a:t>
            </a:r>
          </a:p>
          <a:p>
            <a:r>
              <a:t>时长见本节首页（本节 15 分钟）</a:t>
            </a:r>
          </a:p>
          <a:p>
            <a:r>
              <a:t>定义：这一讲收成四句：效果、模式从重构里来、原则要落到行上、AI 的改动先过三查。</a:t>
            </a:r>
          </a:p>
          <a:p>
            <a:r>
              <a:t>代价：只记住策略和装饰的名字，实验 E5 仍不会先看改动碰到哪里。</a:t>
            </a:r>
          </a:p>
          <a:p>
            <a:r>
              <a:t>判定：能否各用一句说效果、模式从哪里来、精度改几处，以及放行前要查什么。</a:t>
            </a:r>
          </a:p>
          <a:p>
            <a:r>
              <a:t>权衡：实验 E5 做变更影响分析。预习题和阅读在下一节。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本节 15 分钟（并入上一节）</a:t>
            </a:r>
          </a:p>
          <a:p>
            <a:r>
              <a:t>题目页</a:t>
            </a:r>
          </a:p>
          <a:p>
            <a:r>
              <a:t>答案：1C 2B 3A</a:t>
            </a:r>
          </a:p>
          <a:p>
            <a:r>
              <a:t>定义：这三题问模式是否一定降低复杂度、效果要素回答什么、可售库存写四份是什么坏味道。</a:t>
            </a:r>
          </a:p>
          <a:p>
            <a:r>
              <a:t>代价：未做的话，课上说不清引入模式失去了什么。</a:t>
            </a:r>
          </a:p>
          <a:p>
            <a:r>
              <a:t>判定：模式会增加类与间接调用，不一定降低复杂度；效果写得到什么、失去什么；一条规则散在四处属于霰弹式修改。</a:t>
            </a:r>
          </a:p>
          <a:p>
            <a:r>
              <a:t>权衡：可售库存在原则判定一节展开（实验 E5 的教师示例：先收口）。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时长见本节首页（本节 15 分钟（并入上一节））</a:t>
            </a:r>
          </a:p>
          <a:p>
            <a:r>
              <a:t>题目页</a:t>
            </a:r>
          </a:p>
          <a:p>
            <a:r>
              <a:t>答案：4D 5A</a:t>
            </a:r>
          </a:p>
          <a:p>
            <a:r>
              <a:t>定义：第 4 题问模式与重构的先后；第 5 题问评估 AI 重构先查什么。</a:t>
            </a:r>
          </a:p>
          <a:p>
            <a:r>
              <a:t>代价：先选模式再套代码，容易过度设计。</a:t>
            </a:r>
          </a:p>
          <a:p>
            <a:r>
              <a:t>判定：模式通常是重构的结果；AI 重构先查是否触及不得修改的部分、是否夹带无关修改。</a:t>
            </a:r>
          </a:p>
          <a:p>
            <a:r>
              <a:t>权衡：阅读页必读 Fowler《重构》第 3 章，选读 Kerievsky，课后先看这两篇的题目。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时长见本节首页（本节 15 分钟（并入上一节））</a:t>
            </a:r>
          </a:p>
          <a:p>
            <a:r>
              <a:t>定义：课后按作业第 2 条核对这些文献。[4] 必读，[5] 选读。</a:t>
            </a:r>
          </a:p>
          <a:p>
            <a:r>
              <a:t>代价：不读重构那一章，坏味道的名字会和某一种模式绑死。</a:t>
            </a:r>
          </a:p>
          <a:p>
            <a:r>
              <a:t>判定：页上要能对上 Fowler《重构》和 Kerievsky《重构与模式》。</a:t>
            </a:r>
          </a:p>
          <a:p>
            <a:r>
              <a:t>权衡：先读 Fowler 第 3 章的坏味道，再读 Kerievsky 第 3 章，看重构与模式怎样衔接。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节：模式的四个要素</a:t>
            </a:r>
          </a:p>
          <a:p>
            <a:r>
              <a:rPr lang="zh-CN" dirty="0"/>
              <a:t>时长见本节首页（本节 20 分钟）</a:t>
            </a:r>
          </a:p>
          <a:p>
            <a:r>
              <a:rPr lang="zh-CN" dirty="0"/>
              <a:t>依据：教案 T5 主要知识点第 2 条（重复的处理流程用模板方法）；2024 第 7-1 讲（模板模式：定义算法骨架，把一些步骤延迟到子类，子类不改算法结构即可重定义某些步骤）；Gamma 等《设计模式》模板方法一节（效果：代码复用的基本技术，形成反向的控制结构）。</a:t>
            </a:r>
          </a:p>
          <a:p>
            <a:r>
              <a:rPr lang="zh-CN" dirty="0"/>
              <a:t>定义：模板方法在父类里写好步骤的顺序，把会变的步骤留给子类实现。</a:t>
            </a:r>
          </a:p>
          <a:p>
            <a:r>
              <a:rPr lang="zh-CN" dirty="0"/>
              <a:t>代价：它靠继承，子类必须按父类定下的步骤和钩子来写；骨架要改，所有子类都会受牵连。</a:t>
            </a:r>
          </a:p>
          <a:p>
            <a:r>
              <a:rPr lang="zh-CN" dirty="0"/>
              <a:t>判定：问几处代码重复的是整个处理流程，还是只有某一步算法不同。只有一步不同、且要在运行时换，更像策略。</a:t>
            </a:r>
          </a:p>
          <a:p>
            <a:r>
              <a:rPr lang="zh-CN" dirty="0"/>
              <a:t>权衡：消除的是重复的处理流程（坏味道“重复代码”）。和策略比：模板方法用继承固定流程，策略用组合替换算法。右侧结构图依 Gamma 等《设计模式》。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节：模式的四个要素</a:t>
            </a:r>
          </a:p>
          <a:p>
            <a:r>
              <a:rPr lang="zh-CN" dirty="0"/>
              <a:t>时长见本节首页（本节 20 分钟）</a:t>
            </a:r>
          </a:p>
          <a:p>
            <a:r>
              <a:rPr lang="zh-CN" dirty="0"/>
              <a:t>依据：教案 T5 主要知识点第 2 条（条件分支密集时用策略或状态模式）；2024 第 7-1 讲（状态模式：对象在内部状态改变时改变行为）；Gamma 等《设计模式》状态模式一节（效果：与状态相关的行为局部化，状态转换显式化；类的数目增加）。</a:t>
            </a:r>
          </a:p>
          <a:p>
            <a:r>
              <a:rPr lang="zh-CN" dirty="0"/>
              <a:t>定义：状态模式把每一种状态下的行为放进一个状态类，上下文对象只委托给当前状态。</a:t>
            </a:r>
          </a:p>
          <a:p>
            <a:r>
              <a:rPr lang="zh-CN" dirty="0"/>
              <a:t>代价：类变多；状态之间怎么转换要有人知道，常常是状态类互相知道下一种状态。</a:t>
            </a:r>
          </a:p>
          <a:p>
            <a:r>
              <a:rPr lang="zh-CN" dirty="0"/>
              <a:t>判定：问分支是按“现在处于什么状态”来分，还是按“选用哪一种算法”来分。前者是状态，后者是策略。</a:t>
            </a:r>
          </a:p>
          <a:p>
            <a:r>
              <a:rPr lang="zh-CN" dirty="0"/>
              <a:t>权衡：消除的是按状态写的密集条件分支。状态少且几乎不变时，一个分支更直白。右侧结构图依 Gamma 等《设计模式》；与策略的图形相同，区别在由谁、何时换掉当前对象。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节：软件设计的一般过程与主要活动</a:t>
            </a:r>
          </a:p>
          <a:p>
            <a:r>
              <a:rPr lang="zh-CN" dirty="0"/>
              <a:t>时长见本节首页（本节 15 分钟）</a:t>
            </a:r>
          </a:p>
          <a:p>
            <a:r>
              <a:rPr lang="zh-CN" dirty="0"/>
              <a:t>依据：2024 第 5-1 讲第 13–21 页（设计计划最早，然后是体系结构设计、界面设计、模块/子系统设计、数据模型设计、过程/算法设计）；大纲第四章“软件设计过程”；基线 baseline-dcaa93b3：pom.xml 第 13–19 行（七个模块）、OmsPortalOrderServiceImpl.java:70、80（generateConfirmOrder 取可用券）、UmsMemberCouponService.java、document/sql/mall.sql:444、565（oms_order、oms_order_item）。</a:t>
            </a:r>
          </a:p>
          <a:p>
            <a:r>
              <a:rPr lang="zh-CN" dirty="0"/>
              <a:t>定义：设计计划最早做，之后是体系结构、界面、模块/子系统、数据模型和过程/算法五项设计。</a:t>
            </a:r>
          </a:p>
          <a:p>
            <a:r>
              <a:rPr lang="zh-CN" dirty="0"/>
              <a:t>代价：跳过计划直接画结构，输入是否就绪、做到什么算完都没有约定，评审就没有准则可对。</a:t>
            </a:r>
          </a:p>
          <a:p>
            <a:r>
              <a:rPr lang="zh-CN" dirty="0"/>
              <a:t>判定：拿到一项设计工作，问它产出的是全局结构、界面、模块接口、数据结构，还是某个模块内部的步骤。</a:t>
            </a:r>
          </a:p>
          <a:p>
            <a:r>
              <a:rPr lang="zh-CN" dirty="0"/>
              <a:t>权衡：例子都取 mall，界面一例说的是后端为确认下单页准备的数据，界面本身不在这个仓库里。分摊的具体代码在模块化判定一节再看。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节：软件设计的一般过程与主要活动</a:t>
            </a:r>
          </a:p>
          <a:p>
            <a:r>
              <a:rPr lang="zh-CN" dirty="0"/>
              <a:t>本节 15 分钟</a:t>
            </a:r>
          </a:p>
          <a:p>
            <a:r>
              <a:rPr lang="zh-CN" dirty="0"/>
              <a:t>依据：2024 第 5-1 讲第 10 页（迭代的两层含义）；大纲第四章“软件设计的一般过程（两层迭代）”。图按 2024 第 5-1 讲第 11 页重画。</a:t>
            </a:r>
          </a:p>
          <a:p>
            <a:r>
              <a:rPr lang="zh-CN" dirty="0"/>
              <a:t>定义：设计是迭代的。第一层：针对给定的需求模型，多次从抽象到具体，直到设计模型细到能实现；第二层：需求模型变化并更新后，第一层的过程再展开一次。</a:t>
            </a:r>
          </a:p>
          <a:p>
            <a:r>
              <a:rPr lang="zh-CN" dirty="0"/>
              <a:t>代价：只从上到下做一遍，需求一改就只在代码里打补丁，设计模型和代码就对不上了。</a:t>
            </a:r>
          </a:p>
          <a:p>
            <a:r>
              <a:rPr lang="zh-CN" dirty="0"/>
              <a:t>判定：问这一轮迭代是需求没变、设计在变细，还是需求变了、设计重走。</a:t>
            </a:r>
          </a:p>
          <a:p>
            <a:r>
              <a:rPr lang="zh-CN" dirty="0"/>
              <a:t>权衡：两个例子都取订单。第一层在后面“订单的抽象与逐步求精”展开；“加一种券范围”与坏味道一节的新增范围呼应，是示意，不是 mall 的需求记录。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节：软件设计的一般过程与主要活动</a:t>
            </a:r>
          </a:p>
          <a:p>
            <a:r>
              <a:rPr lang="zh-CN" altLang="en-US"/>
              <a:t>时长见本节首页（本节 15 分钟）</a:t>
            </a:r>
          </a:p>
          <a:p>
            <a:r>
              <a:rPr lang="zh-CN" altLang="en-US"/>
              <a:t>依据：2024 第 5-1 讲第 12 页（软件设计的一般过程），图按原结构重画；教案 T5 主要知识点第 1 条。</a:t>
            </a:r>
          </a:p>
          <a:p>
            <a:r>
              <a:rPr lang="zh-CN" altLang="en-US"/>
              <a:t>定义：设计从需求规格说明出发，先做设计计划，再在体系结构、界面、模块/子系统、过程/算法、数据模型五项活动之间来回，产出设计规格说明，经设计评审通过才进入实现。</a:t>
            </a:r>
          </a:p>
          <a:p>
            <a:r>
              <a:rPr lang="zh-CN" altLang="en-US"/>
              <a:t>代价：评审不通过要回到设计计划再走一遍；计划里没写清的输出与验收准则，会让整轮返工。</a:t>
            </a:r>
          </a:p>
          <a:p>
            <a:r>
              <a:rPr lang="zh-CN" altLang="en-US"/>
              <a:t>判定：问一份设计输出出自哪项活动、有没有经过评审；没有评审记录的规格说明只是草稿。</a:t>
            </a:r>
          </a:p>
          <a:p>
            <a:r>
              <a:rPr lang="zh-CN" altLang="en-US"/>
              <a:t>权衡：五项活动没有固定先后，按问题来回切换；下一页用 mall 给每项活动配一例。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节：模块化原则的判定</a:t>
            </a:r>
          </a:p>
          <a:p>
            <a:r>
              <a:rPr lang="zh-CN" altLang="en-US"/>
              <a:t>时长见本节首页（本节 20 分钟）</a:t>
            </a:r>
          </a:p>
          <a:p>
            <a:r>
              <a:rPr lang="zh-CN" altLang="en-US"/>
              <a:t>依据：2024 第 5-1 讲第 7 页（模块数量与成本），图按原结构重画。</a:t>
            </a:r>
          </a:p>
          <a:p>
            <a:r>
              <a:rPr lang="zh-CN" altLang="en-US"/>
              <a:t>定义：把系统分成更多模块，每个模块的开发成本下降，模块之间的接口开销上升，两者相加的总成本在中间某个模块数 M 附近最低。</a:t>
            </a:r>
          </a:p>
          <a:p>
            <a:r>
              <a:rPr lang="zh-CN" altLang="en-US"/>
              <a:t>代价：分得太细，接口和协调的开销吃掉拆分的好处；分得太粗，又回到一个方法混着多个变化原因。</a:t>
            </a:r>
          </a:p>
          <a:p>
            <a:r>
              <a:rPr lang="zh-CN" altLang="en-US"/>
              <a:t>判定：M 无法事先算出，只能看具体改动，一次需求变化要动几个模块、要改几处接口。</a:t>
            </a:r>
          </a:p>
          <a:p>
            <a:r>
              <a:rPr lang="zh-CN" altLang="en-US"/>
              <a:t>权衡：下一页的内聚与耦合，就是判断分得对不对的两把尺子。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节：目录</a:t>
            </a:r>
          </a:p>
          <a:p>
            <a:r>
              <a:rPr lang="zh-CN" altLang="en-US"/>
              <a:t>依据：各页备注“节：”行，按出现顺序编号；目录页由统一视觉脚本生成，不另写内容。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节：结束页</a:t>
            </a:r>
          </a:p>
          <a:p>
            <a:r>
              <a:rPr lang="zh-CN" altLang="en-US"/>
              <a:t>依据：下次课名称取自下一份课件封面的“第 n 次课｜课题”行。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节：模块化原则的判定</a:t>
            </a:r>
          </a:p>
          <a:p>
            <a:r>
              <a:rPr lang="zh-CN" altLang="en-US"/>
              <a:t>时长见本节首页（本节 20 分钟）</a:t>
            </a:r>
          </a:p>
          <a:p>
            <a:r>
              <a:rPr lang="zh-CN" altLang="en-US"/>
              <a:t>定义：可售库存 = stock − lockStock。它在 OmsPromotionServiceImpl 第 53、73、96、167 行四个促销分支各算一次；锁定写在 OmsPortalOrderServiceImpl 第 734–740 行（Java 先读再改），扣减与释放写在 PortalOrderDao.xml 第 60、82 行（SQL），分散三处。</a:t>
            </a:r>
          </a:p>
          <a:p>
            <a:r>
              <a:rPr lang="zh-CN" altLang="en-US"/>
              <a:t>代价：“可售怎么算”是一项会变的设计决定（比如要扣掉安全库存），却没有被藏进一个模块；口径一改要改四处，漏一处，同一张订单在不同分支上按两种口径判断够不够卖。这是霰弹式修改。</a:t>
            </a:r>
          </a:p>
          <a:p>
            <a:r>
              <a:rPr lang="zh-CN" altLang="en-US"/>
              <a:t>判定：问这条公式出现了几次，删掉其中三处、收成一个方法后，复杂度是集中了还是只是挪动。</a:t>
            </a:r>
          </a:p>
          <a:p>
            <a:r>
              <a:rPr lang="zh-CN" altLang="en-US"/>
              <a:t>权衡：这就是实验 E5 的教师示例 E5-00：交变更计划前先把四处收成一处，用特征测试证明行为不变，再分析库存预警的影响面；先让改动变容易，再做容易的改动。</a:t>
            </a:r>
          </a:p>
          <a:p>
            <a:r>
              <a:rPr lang="zh-CN" altLang="en-US"/>
              <a:t>基线 dcaa93b3150352e5044708d7211b5bed0af4509f。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9 次课｜软件设计、重构与系统演化（一）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软件设计的一般过程与主要活动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模块化原则的判定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模式的四个要素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坏味道与重构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05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AI 辅助重构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06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布置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4069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承接 T4：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分层、注入和映射已经分开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691640"/>
            <a:ext cx="406908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承接 E4：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局部重构要先固定行为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441448" y="2651760"/>
            <a:ext cx="9144" cy="411480"/>
          </a:xfrm>
          <a:custGeom>
            <a:avLst/>
            <a:gdLst/>
            <a:ahLst/>
            <a:cxnLst/>
            <a:rect l="0" t="0" r="r" b="b"/>
            <a:pathLst>
              <a:path w="9144" h="411480" fill="none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6693408" y="2651760"/>
            <a:ext cx="9144" cy="411480"/>
          </a:xfrm>
          <a:custGeom>
            <a:avLst/>
            <a:gdLst/>
            <a:ahLst/>
            <a:cxnLst/>
            <a:rect l="0" t="0" r="r" b="b"/>
            <a:pathLst>
              <a:path w="9144" h="411480" fill="none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108960"/>
            <a:ext cx="8321040" cy="100584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600" b="1">
                <a:solidFill>
                  <a:srgbClr val="FFFFFF"/>
                </a:solidFill>
                <a:latin typeface="微软雅黑"/>
                <a:ea typeface="微软雅黑"/>
              </a:rPr>
              <a:t>本讲：设计过程、效果、坏味道、原则判定</a:t>
            </a:r>
            <a:endParaRPr lang="zh-CN" sz="2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572000" y="4160520"/>
            <a:ext cx="9144" cy="365760"/>
          </a:xfrm>
          <a:custGeom>
            <a:avLst/>
            <a:gdLst/>
            <a:ahLst/>
            <a:cxnLst/>
            <a:rect l="0" t="0" r="r" b="b"/>
            <a:pathLst>
              <a:path w="9144" h="365760" fill="none">
                <a:moveTo>
                  <a:pt x="0" y="0"/>
                </a:moveTo>
                <a:lnTo>
                  <a:pt x="0" y="36576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2286000" y="4572000"/>
            <a:ext cx="4572000" cy="8686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引出 E5：先看改动会碰到哪里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本次课目标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设计分两层迭代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2240280"/>
            <a:ext cx="365760" cy="9144"/>
          </a:xfrm>
          <a:custGeom>
            <a:avLst/>
            <a:gdLst/>
            <a:ahLst/>
            <a:cxnLst/>
            <a:rect l="0" t="0" r="r" b="b"/>
            <a:pathLst>
              <a:path w="365760" h="9144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777240" y="1965960"/>
            <a:ext cx="105156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需求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828800" y="2240280"/>
            <a:ext cx="457200" cy="9144"/>
          </a:xfrm>
          <a:custGeom>
            <a:avLst/>
            <a:gdLst/>
            <a:ahLst/>
            <a:cxnLst/>
            <a:rect l="0" t="0" r="r" b="b"/>
            <a:pathLst>
              <a:path w="457200" h="9144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2286000" y="1965960"/>
            <a:ext cx="1783080" cy="5486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单次设计过程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069080" y="2240280"/>
            <a:ext cx="502920" cy="9144"/>
          </a:xfrm>
          <a:custGeom>
            <a:avLst/>
            <a:gdLst/>
            <a:ahLst/>
            <a:cxnLst/>
            <a:rect l="0" t="0" r="r" b="b"/>
            <a:pathLst>
              <a:path w="502920" h="9144" fill="none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572000" y="1965960"/>
            <a:ext cx="1463040" cy="5486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原型构造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6035040" y="2240280"/>
            <a:ext cx="457200" cy="9144"/>
          </a:xfrm>
          <a:custGeom>
            <a:avLst/>
            <a:gdLst/>
            <a:ahLst/>
            <a:cxnLst/>
            <a:rect l="0" t="0" r="r" b="b"/>
            <a:pathLst>
              <a:path w="457200" h="9144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6492240" y="1965960"/>
            <a:ext cx="146304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需求变化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7955280" y="2240280"/>
            <a:ext cx="594360" cy="9144"/>
          </a:xfrm>
          <a:custGeom>
            <a:avLst/>
            <a:gdLst/>
            <a:ahLst/>
            <a:cxnLst/>
            <a:rect l="0" t="0" r="r" b="b"/>
            <a:pathLst>
              <a:path w="594360" h="9144" fill="none">
                <a:moveTo>
                  <a:pt x="0" y="0"/>
                </a:moveTo>
                <a:lnTo>
                  <a:pt x="59436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2057400" y="2240280"/>
            <a:ext cx="2258568" cy="640080"/>
          </a:xfrm>
          <a:custGeom>
            <a:avLst/>
            <a:gdLst/>
            <a:ahLst/>
            <a:cxnLst/>
            <a:rect l="0" t="0" r="r" b="b"/>
            <a:pathLst>
              <a:path w="2258568" h="640080" fill="none">
                <a:moveTo>
                  <a:pt x="2258568" y="0"/>
                </a:moveTo>
                <a:lnTo>
                  <a:pt x="2258568" y="640080"/>
                </a:lnTo>
                <a:lnTo>
                  <a:pt x="0" y="640080"/>
                </a:lnTo>
                <a:lnTo>
                  <a:pt x="0" y="36576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2103120" y="289864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A33B38"/>
                </a:solidFill>
                <a:latin typeface="微软雅黑"/>
                <a:ea typeface="微软雅黑"/>
              </a:rPr>
              <a:t>第一层：针对固定需求的设计精化迭代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566928" y="2240280"/>
            <a:ext cx="7708392" cy="1188720"/>
          </a:xfrm>
          <a:custGeom>
            <a:avLst/>
            <a:gdLst/>
            <a:ahLst/>
            <a:cxnLst/>
            <a:rect l="0" t="0" r="r" b="b"/>
            <a:pathLst>
              <a:path w="7708392" h="1188720" fill="none">
                <a:moveTo>
                  <a:pt x="7708392" y="0"/>
                </a:moveTo>
                <a:lnTo>
                  <a:pt x="7708392" y="1188720"/>
                </a:lnTo>
                <a:lnTo>
                  <a:pt x="0" y="1188720"/>
                </a:lnTo>
                <a:lnTo>
                  <a:pt x="0" y="36576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2103120" y="344728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第二层：针对需求变化进行设计迭代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"/>
          <p:cNvSpPr/>
          <p:nvPr/>
        </p:nvSpPr>
        <p:spPr>
          <a:xfrm>
            <a:off x="411480" y="3931920"/>
            <a:ext cx="4069080" cy="7772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第一层：同一需求模型，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从抽象做到具体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5" name="fig"/>
          <p:cNvSpPr/>
          <p:nvPr/>
        </p:nvSpPr>
        <p:spPr>
          <a:xfrm>
            <a:off x="411480" y="4800600"/>
            <a:ext cx="40690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例：订单先分校验、计价、落库，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再细到分摊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6" name="fig"/>
          <p:cNvSpPr/>
          <p:nvPr/>
        </p:nvSpPr>
        <p:spPr>
          <a:xfrm>
            <a:off x="4663440" y="3931920"/>
            <a:ext cx="40690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第二层：需求模型更新后，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第一层再走一遍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7" name="fig"/>
          <p:cNvSpPr/>
          <p:nvPr/>
        </p:nvSpPr>
        <p:spPr>
          <a:xfrm>
            <a:off x="4663440" y="4800600"/>
            <a:ext cx="40690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例：要加一种券范围，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设计从抽象重新走起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8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5-1 讲第 11 页（软件设计的迭代）重画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软件设计的一般过程与主要活动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A33B38"/>
                </a:solidFill>
                <a:latin typeface="微软雅黑"/>
                <a:ea typeface="微软雅黑"/>
              </a:rPr>
              <a:t>软件设计的一般过程</a:t>
            </a:r>
          </a:p>
        </p:txBody>
      </p:sp>
      <p:sp>
        <p:nvSpPr>
          <p:cNvPr id="101" name="fig-d"/>
          <p:cNvSpPr/>
          <p:nvPr/>
        </p:nvSpPr>
        <p:spPr>
          <a:xfrm>
            <a:off x="365760" y="2286000"/>
            <a:ext cx="14173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需求规格说明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783080" y="2560320"/>
            <a:ext cx="457200" cy="9144"/>
          </a:xfrm>
          <a:custGeom>
            <a:avLst/>
            <a:gdLst/>
            <a:ahLst/>
            <a:cxnLst/>
            <a:rect l="0" t="0" r="r" b="b"/>
            <a:pathLst>
              <a:path w="457200" h="9144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240280" y="2286000"/>
            <a:ext cx="1051560" cy="5486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设计计划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3291840" y="2560320"/>
            <a:ext cx="411480" cy="9144"/>
          </a:xfrm>
          <a:custGeom>
            <a:avLst/>
            <a:gdLst/>
            <a:ahLst/>
            <a:cxnLst/>
            <a:rect l="0" t="0" r="r" b="b"/>
            <a:pathLst>
              <a:path w="411480" h="9144" fill="none">
                <a:moveTo>
                  <a:pt x="0" y="0"/>
                </a:moveTo>
                <a:lnTo>
                  <a:pt x="41148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3703320" y="155448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3703320" y="157276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设计活动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3840480" y="1920240"/>
            <a:ext cx="1463040" cy="5029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体系结构设计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5440680" y="1920240"/>
            <a:ext cx="1188720" cy="5029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界面设计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6766560" y="1920240"/>
            <a:ext cx="1828800" cy="5029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模块/子系统设计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4526280" y="2743200"/>
            <a:ext cx="1645920" cy="5029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过程/算法设计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6355080" y="2743200"/>
            <a:ext cx="1645920" cy="5029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数据模型设计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3493008" y="2596896"/>
            <a:ext cx="713232" cy="1243584"/>
          </a:xfrm>
          <a:custGeom>
            <a:avLst/>
            <a:gdLst/>
            <a:ahLst/>
            <a:cxnLst/>
            <a:rect l="0" t="0" r="r" b="b"/>
            <a:pathLst>
              <a:path w="713232" h="1243584" fill="none">
                <a:moveTo>
                  <a:pt x="713232" y="969264"/>
                </a:moveTo>
                <a:lnTo>
                  <a:pt x="713232" y="1243584"/>
                </a:lnTo>
                <a:lnTo>
                  <a:pt x="0" y="124358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7726680" y="3566160"/>
            <a:ext cx="9144" cy="594360"/>
          </a:xfrm>
          <a:custGeom>
            <a:avLst/>
            <a:gdLst/>
            <a:ahLst/>
            <a:cxnLst/>
            <a:rect l="0" t="0" r="r" b="b"/>
            <a:pathLst>
              <a:path w="9144" h="594360" fill="none">
                <a:moveTo>
                  <a:pt x="0" y="0"/>
                </a:moveTo>
                <a:lnTo>
                  <a:pt x="0" y="59436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6949440" y="4160520"/>
            <a:ext cx="15544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设计规格说明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2788920" y="4434840"/>
            <a:ext cx="4160520" cy="9144"/>
          </a:xfrm>
          <a:custGeom>
            <a:avLst/>
            <a:gdLst/>
            <a:ahLst/>
            <a:cxnLst/>
            <a:rect l="0" t="0" r="r" b="b"/>
            <a:pathLst>
              <a:path w="4160520" h="9144" fill="none">
                <a:moveTo>
                  <a:pt x="4160520" y="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1463040" y="4160520"/>
            <a:ext cx="1325880" cy="5486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设计评审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457200" y="4434840"/>
            <a:ext cx="1005840" cy="9144"/>
          </a:xfrm>
          <a:custGeom>
            <a:avLst/>
            <a:gdLst/>
            <a:ahLst/>
            <a:cxnLst/>
            <a:rect l="0" t="0" r="r" b="b"/>
            <a:pathLst>
              <a:path w="1005840" h="9144" fill="none">
                <a:moveTo>
                  <a:pt x="1005840" y="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457200" y="44805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通过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1984248" y="2596896"/>
            <a:ext cx="9144" cy="1563624"/>
          </a:xfrm>
          <a:custGeom>
            <a:avLst/>
            <a:gdLst/>
            <a:ahLst/>
            <a:cxnLst/>
            <a:rect l="0" t="0" r="r" b="b"/>
            <a:pathLst>
              <a:path w="9144" h="1563624" fill="none">
                <a:moveTo>
                  <a:pt x="0" y="156362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2057400" y="32461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未通过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1" name="body"/>
          <p:cNvSpPr/>
          <p:nvPr/>
        </p:nvSpPr>
        <p:spPr>
          <a:xfrm>
            <a:off x="411480" y="498348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评审不通过，回到设计计划再走一遍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22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5-1 讲第 12 页（软件设计的一般过程）重画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2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软件设计的一般过程与主要活动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六项主要活动，各配一例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160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2743200"/>
                <a:gridCol w="4023360"/>
              </a:tblGrid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mall 中的例子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设计计划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定目标、输出与验收准则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先定不得修改的部分与验收（T3）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体系结构设计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子系统、构件及部署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七个 Maven 模块，如 mall-portal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界面设计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用户交互界面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确认下单时列出可用优惠券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模块/子系统设计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模块接口与内部结构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UmsMemberCouponService 接口与实现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数据模型设计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数据结构与数据库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oms_order 与 oms_order_item 两张表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943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过程/算法设计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模块内部执行过程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分摊：价格占比乘以分摊金额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软件设计的一般过程与主要活动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三项放在线上预习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4592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过程与六项活动已在本讲开头讲过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280160" y="2514600"/>
            <a:ext cx="74523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设计质量：方案是否经得起后续修改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502920" y="3630168"/>
            <a:ext cx="548640" cy="54864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80160" y="3520440"/>
            <a:ext cx="74523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规格说明和设计评审同看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617720"/>
            <a:ext cx="83210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课上只在订单代码上做判定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订单的抽象与逐步求精</a:t>
            </a:r>
          </a:p>
        </p:txBody>
      </p:sp>
      <p:sp>
        <p:nvSpPr>
          <p:cNvPr id="101" name="fig-d"/>
          <p:cNvSpPr/>
          <p:nvPr/>
        </p:nvSpPr>
        <p:spPr>
          <a:xfrm>
            <a:off x="1371600" y="160020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2468880" y="162763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抽象级别 1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874520" y="2011680"/>
            <a:ext cx="9144" cy="457200"/>
          </a:xfrm>
          <a:custGeom>
            <a:avLst/>
            <a:gdLst/>
            <a:ahLst/>
            <a:cxnLst/>
            <a:rect l="0" t="0" r="r" b="b"/>
            <a:pathLst>
              <a:path w="9144" h="457200" fill="none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965960" y="208483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精化步骤 1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1371600" y="248716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1783080" y="2871216"/>
            <a:ext cx="182880" cy="146304"/>
          </a:xfrm>
          <a:prstGeom prst="diamond">
            <a:avLst/>
          </a:prstGeom>
          <a:solidFill>
            <a:srgbClr val="595959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1874520" y="3017520"/>
            <a:ext cx="9144" cy="173736"/>
          </a:xfrm>
          <a:custGeom>
            <a:avLst/>
            <a:gdLst/>
            <a:ahLst/>
            <a:cxnLst/>
            <a:rect l="0" t="0" r="r" b="b"/>
            <a:pathLst>
              <a:path w="9144" h="173736" fill="none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1115568" y="3191256"/>
            <a:ext cx="1517904" cy="9144"/>
          </a:xfrm>
          <a:custGeom>
            <a:avLst/>
            <a:gdLst/>
            <a:ahLst/>
            <a:cxnLst/>
            <a:rect l="0" t="0" r="r" b="b"/>
            <a:pathLst>
              <a:path w="1517904" h="9144" fill="none">
                <a:moveTo>
                  <a:pt x="0" y="0"/>
                </a:moveTo>
                <a:lnTo>
                  <a:pt x="1517904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1115568" y="3191256"/>
            <a:ext cx="9144" cy="173736"/>
          </a:xfrm>
          <a:custGeom>
            <a:avLst/>
            <a:gdLst/>
            <a:ahLst/>
            <a:cxnLst/>
            <a:rect l="0" t="0" r="r" b="b"/>
            <a:pathLst>
              <a:path w="9144" h="173736" fill="none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2633472" y="3191256"/>
            <a:ext cx="9144" cy="173736"/>
          </a:xfrm>
          <a:custGeom>
            <a:avLst/>
            <a:gdLst/>
            <a:ahLst/>
            <a:cxnLst/>
            <a:rect l="0" t="0" r="r" b="b"/>
            <a:pathLst>
              <a:path w="9144" h="173736" fill="none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57200" y="3364992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OrderHead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1965960" y="3364992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OrderItem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1143000" y="3090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1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2670048" y="3090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*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457200" y="3785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抽象级别 2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3383280" y="2697480"/>
            <a:ext cx="822960" cy="9144"/>
          </a:xfrm>
          <a:custGeom>
            <a:avLst/>
            <a:gdLst/>
            <a:ahLst/>
            <a:cxnLst/>
            <a:rect l="0" t="0" r="r" b="b"/>
            <a:pathLst>
              <a:path w="822960" h="9144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3310128" y="23317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精化步骤 2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5669280" y="1554480"/>
            <a:ext cx="1783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5669280" y="1938528"/>
            <a:ext cx="1783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Number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SumTotal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5669280" y="2560320"/>
            <a:ext cx="1783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Print()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1" name="fig-d"/>
          <p:cNvSpPr/>
          <p:nvPr/>
        </p:nvSpPr>
        <p:spPr>
          <a:xfrm>
            <a:off x="6464808" y="2926080"/>
            <a:ext cx="182880" cy="146304"/>
          </a:xfrm>
          <a:prstGeom prst="diamond">
            <a:avLst/>
          </a:prstGeom>
          <a:solidFill>
            <a:srgbClr val="595959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2" name="fig-d"/>
          <p:cNvSpPr/>
          <p:nvPr/>
        </p:nvSpPr>
        <p:spPr>
          <a:xfrm>
            <a:off x="6556248" y="3072384"/>
            <a:ext cx="9144" cy="18288"/>
          </a:xfrm>
          <a:custGeom>
            <a:avLst/>
            <a:gdLst/>
            <a:ahLst/>
            <a:cxnLst/>
            <a:rect l="0" t="0" r="r" b="b"/>
            <a:pathLst>
              <a:path w="9144" h="18288" fill="none">
                <a:moveTo>
                  <a:pt x="0" y="0"/>
                </a:moveTo>
                <a:lnTo>
                  <a:pt x="0" y="18288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3" name="fig-d"/>
          <p:cNvSpPr/>
          <p:nvPr/>
        </p:nvSpPr>
        <p:spPr>
          <a:xfrm>
            <a:off x="5257800" y="3090672"/>
            <a:ext cx="2514600" cy="9144"/>
          </a:xfrm>
          <a:custGeom>
            <a:avLst/>
            <a:gdLst/>
            <a:ahLst/>
            <a:cxnLst/>
            <a:rect l="0" t="0" r="r" b="b"/>
            <a:pathLst>
              <a:path w="2514600" h="9144" fill="none">
                <a:moveTo>
                  <a:pt x="0" y="0"/>
                </a:moveTo>
                <a:lnTo>
                  <a:pt x="2514600" y="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4" name="fig-d"/>
          <p:cNvSpPr/>
          <p:nvPr/>
        </p:nvSpPr>
        <p:spPr>
          <a:xfrm>
            <a:off x="5257800" y="3090672"/>
            <a:ext cx="9144" cy="18288"/>
          </a:xfrm>
          <a:custGeom>
            <a:avLst/>
            <a:gdLst/>
            <a:ahLst/>
            <a:cxnLst/>
            <a:rect l="0" t="0" r="r" b="b"/>
            <a:pathLst>
              <a:path w="9144" h="18288" fill="none">
                <a:moveTo>
                  <a:pt x="0" y="0"/>
                </a:moveTo>
                <a:lnTo>
                  <a:pt x="0" y="18288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5" name="fig-d"/>
          <p:cNvSpPr/>
          <p:nvPr/>
        </p:nvSpPr>
        <p:spPr>
          <a:xfrm>
            <a:off x="7772400" y="3090672"/>
            <a:ext cx="9144" cy="18288"/>
          </a:xfrm>
          <a:custGeom>
            <a:avLst/>
            <a:gdLst/>
            <a:ahLst/>
            <a:cxnLst/>
            <a:rect l="0" t="0" r="r" b="b"/>
            <a:pathLst>
              <a:path w="9144" h="18288" fill="none">
                <a:moveTo>
                  <a:pt x="0" y="0"/>
                </a:moveTo>
                <a:lnTo>
                  <a:pt x="0" y="18288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6" name="fig-d"/>
          <p:cNvSpPr/>
          <p:nvPr/>
        </p:nvSpPr>
        <p:spPr>
          <a:xfrm>
            <a:off x="4297680" y="310896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OrderHead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7" name="fig-d"/>
          <p:cNvSpPr/>
          <p:nvPr/>
        </p:nvSpPr>
        <p:spPr>
          <a:xfrm>
            <a:off x="4297680" y="3493008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CustomerName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CustomerAddress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8" name="fig-d"/>
          <p:cNvSpPr/>
          <p:nvPr/>
        </p:nvSpPr>
        <p:spPr>
          <a:xfrm>
            <a:off x="4297680" y="4114800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GetName()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GetAddress()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9" name="fig-d"/>
          <p:cNvSpPr/>
          <p:nvPr/>
        </p:nvSpPr>
        <p:spPr>
          <a:xfrm>
            <a:off x="6858000" y="310896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OrderItem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0" name="fig-d"/>
          <p:cNvSpPr/>
          <p:nvPr/>
        </p:nvSpPr>
        <p:spPr>
          <a:xfrm>
            <a:off x="6858000" y="3493008"/>
            <a:ext cx="18288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ProductName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Price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Quantity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1" name="fig-d"/>
          <p:cNvSpPr/>
          <p:nvPr/>
        </p:nvSpPr>
        <p:spPr>
          <a:xfrm>
            <a:off x="6858000" y="437083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GetSubtotal()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2" name="fig-d"/>
          <p:cNvSpPr/>
          <p:nvPr/>
        </p:nvSpPr>
        <p:spPr>
          <a:xfrm>
            <a:off x="5303520" y="28163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1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3" name="fig-d"/>
          <p:cNvSpPr/>
          <p:nvPr/>
        </p:nvSpPr>
        <p:spPr>
          <a:xfrm>
            <a:off x="7818120" y="28163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*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4" name="fig-d"/>
          <p:cNvSpPr/>
          <p:nvPr/>
        </p:nvSpPr>
        <p:spPr>
          <a:xfrm>
            <a:off x="4297680" y="47548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抽象级别 3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35" name="fig"/>
          <p:cNvSpPr/>
          <p:nvPr/>
        </p:nvSpPr>
        <p:spPr>
          <a:xfrm>
            <a:off x="411480" y="4206240"/>
            <a:ext cx="2926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抽象：先看这一层，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暂时忽略细节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36" name="fig"/>
          <p:cNvSpPr/>
          <p:nvPr/>
        </p:nvSpPr>
        <p:spPr>
          <a:xfrm>
            <a:off x="411480" y="4983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订单先分成校验、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计价和落库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37" name="fig"/>
          <p:cNvSpPr/>
          <p:nvPr/>
        </p:nvSpPr>
        <p:spPr>
          <a:xfrm>
            <a:off x="4297680" y="5047488"/>
            <a:ext cx="4434840" cy="34747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求精：再落到具体的方法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38" name="fig"/>
          <p:cNvSpPr/>
          <p:nvPr/>
        </p:nvSpPr>
        <p:spPr>
          <a:xfrm>
            <a:off x="4297680" y="5413248"/>
            <a:ext cx="4434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子项、分摊和库存是下一层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39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5-1 讲第 5 页（抽象与逐步求精）重画，省去带类型的第 4 级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4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信息隐藏藏的是决定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分摊保留几位，就是一项设计决定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按流程切开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按决定藏起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65760" y="3182112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校验、计价、落库各一段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3182112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藏起分摊保留几位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65760" y="4069080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保留几位写在两段里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663440" y="4069080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调用方只见分摊结果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365760" y="4956048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改精度要记得两处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663440" y="4956048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这是 Parnas 1972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两处分摊都写死 3 位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积分第 157 行，优惠券第 662 行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194560"/>
            <a:ext cx="8138160" cy="132588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2682240" indent="-26822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    BigDecimal perAmount ​= ​orderItem.​getProductPrice(​).​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divide(​totalAmount,​ 3,​ RoundingMode.​HALF_EVEN).​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multiply(​integrationAmount);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出处：mall-portal/​src/​main/​java/​com/​macro/​mall/​portal/​service/​impl/​OmsPortalOrderServiceImpl.java:​157-157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886200"/>
            <a:ext cx="8138160" cy="987551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BigDecimal couponAmount ​= ​orderItem.​getProductPrice(​).​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divide(​totalAmount,​ 3,​ RoundingMode.​HALF_EVEN).​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multiply(​coupon.​getAmount(​));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9377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出处：mall-portal/​src/​main/​java/​com/​macro/​mall/​portal/​service/​impl/​OmsPortalOrderServiceImpl.java:​662-662</a:t>
            </a:r>
          </a:p>
        </p:txBody>
      </p:sp>
      <p:sp>
        <p:nvSpPr>
          <p:cNvPr id="8" name="review"/>
          <p:cNvSpPr txBox="1"/>
          <p:nvPr/>
        </p:nvSpPr>
        <p:spPr>
          <a:xfrm>
            <a:off x="411480" y="5660136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引出 E5：一笔改动牵到几处，先做影响分析再下手</a:t>
            </a:r>
          </a:p>
        </p:txBody>
      </p:sp>
      <p:sp>
        <p:nvSpPr>
          <p:cNvPr id="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可售库存的公式写了四份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17320"/>
            <a:ext cx="8321040" cy="86868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53、73、96、167 行，四个促销分支各算一次</a:t>
            </a:r>
          </a:p>
          <a:p>
            <a:pPr algn="l" eaLnBrk="1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锁定在 Java，扣减与释放在 SQL，分散三处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331720"/>
            <a:ext cx="8138160" cy="8229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    cartPromotionItem.​setRealStock(​skuStock.​getStock(​)-skuStock.​getLockStock(​));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18211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出处：mall-portal/src/main/java/com/macro/mall/portal/service/impl/OmsPromotionServiceImpl.java:53-53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566160"/>
            <a:ext cx="8138160" cy="8229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cartPromotionItem.​setRealStock(​skuStock.​getStock(​)-skuStock.​getLockStock(​));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4165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出处：mall-portal/src/main/java/com/macro/mall/portal/service/impl/OmsPromotionServiceImpl.java:167-167</a:t>
            </a:r>
          </a:p>
        </p:txBody>
      </p:sp>
      <p:sp>
        <p:nvSpPr>
          <p:cNvPr id="8" name="review"/>
          <p:cNvSpPr txBox="1"/>
          <p:nvPr/>
        </p:nvSpPr>
        <p:spPr>
          <a:xfrm>
            <a:off x="411480" y="5660136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引出 E5：先把四处收成一处，再分析预警的影响面</a:t>
            </a:r>
          </a:p>
        </p:txBody>
      </p:sp>
      <p:sp>
        <p:nvSpPr>
          <p:cNvPr id="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A33B38"/>
                </a:solidFill>
                <a:latin typeface="微软雅黑"/>
                <a:ea typeface="微软雅黑"/>
              </a:rPr>
              <a:t>模块数量与成本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36192"/>
            <a:ext cx="832104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模块越多，每块越便宜，接口开销越高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总成本在中间某个模块数 M 附近最低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280160" y="2377440"/>
            <a:ext cx="9144" cy="3154680"/>
          </a:xfrm>
          <a:custGeom>
            <a:avLst/>
            <a:gdLst/>
            <a:ahLst/>
            <a:cxnLst/>
            <a:rect l="0" t="0" r="r" b="b"/>
            <a:pathLst>
              <a:path w="9144" h="3154680" fill="none">
                <a:moveTo>
                  <a:pt x="0" y="315468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280160" y="5532120"/>
            <a:ext cx="6583680" cy="9144"/>
          </a:xfrm>
          <a:custGeom>
            <a:avLst/>
            <a:gdLst/>
            <a:ahLst/>
            <a:cxnLst/>
            <a:rect l="0" t="0" r="r" b="b"/>
            <a:pathLst>
              <a:path w="6583680" h="9144" fill="none">
                <a:moveTo>
                  <a:pt x="0" y="0"/>
                </a:moveTo>
                <a:lnTo>
                  <a:pt x="6583680" y="0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371600" y="22860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成本或工作量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583680" y="55595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模块数目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1554480" y="2651760"/>
            <a:ext cx="5760720" cy="2606040"/>
          </a:xfrm>
          <a:custGeom>
            <a:avLst/>
            <a:gdLst/>
            <a:ahLst/>
            <a:cxnLst/>
            <a:rect l="0" t="0" r="r" b="b"/>
            <a:pathLst>
              <a:path w="5760720" h="2606040" fill="none">
                <a:moveTo>
                  <a:pt x="0" y="0"/>
                </a:moveTo>
                <a:cubicBezTo>
                  <a:pt x="914400" y="1828800"/>
                  <a:pt x="2651760" y="2468880"/>
                  <a:pt x="5760720" y="2606040"/>
                </a:cubicBezTo>
              </a:path>
            </a:pathLst>
          </a:custGeom>
          <a:noFill/>
          <a:ln w="15875">
            <a:solidFill>
              <a:srgbClr val="59595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1554480" y="2651760"/>
            <a:ext cx="5760720" cy="2606040"/>
          </a:xfrm>
          <a:custGeom>
            <a:avLst/>
            <a:gdLst/>
            <a:ahLst/>
            <a:cxnLst/>
            <a:rect l="0" t="0" r="r" b="b"/>
            <a:pathLst>
              <a:path w="5760720" h="2606040" fill="none">
                <a:moveTo>
                  <a:pt x="0" y="2606040"/>
                </a:moveTo>
                <a:cubicBezTo>
                  <a:pt x="3108960" y="2468880"/>
                  <a:pt x="4846320" y="1828800"/>
                  <a:pt x="5760720" y="0"/>
                </a:cubicBezTo>
              </a:path>
            </a:pathLst>
          </a:custGeom>
          <a:noFill/>
          <a:ln w="15875">
            <a:solidFill>
              <a:srgbClr val="59595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1828800" y="2560320"/>
            <a:ext cx="5212080" cy="1874520"/>
          </a:xfrm>
          <a:custGeom>
            <a:avLst/>
            <a:gdLst/>
            <a:ahLst/>
            <a:cxnLst/>
            <a:rect l="0" t="0" r="r" b="b"/>
            <a:pathLst>
              <a:path w="5212080" h="1874520" fill="none">
                <a:moveTo>
                  <a:pt x="0" y="0"/>
                </a:moveTo>
                <a:cubicBezTo>
                  <a:pt x="731520" y="1417320"/>
                  <a:pt x="1554480" y="1874520"/>
                  <a:pt x="2606040" y="1874520"/>
                </a:cubicBezTo>
                <a:cubicBezTo>
                  <a:pt x="3657600" y="1874520"/>
                  <a:pt x="4480560" y="1417320"/>
                  <a:pt x="5212080" y="0"/>
                </a:cubicBezTo>
              </a:path>
            </a:pathLst>
          </a:custGeom>
          <a:noFill/>
          <a:ln w="38100">
            <a:solidFill>
              <a:srgbClr val="A33B38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3611880" y="3977640"/>
            <a:ext cx="1645920" cy="1554480"/>
          </a:xfrm>
          <a:prstGeom prst="rect">
            <a:avLst/>
          </a:prstGeom>
          <a:noFill/>
          <a:ln w="15875">
            <a:solidFill>
              <a:srgbClr val="595959"/>
            </a:solidFill>
            <a:prstDash val="dash"/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3383280" y="361188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最小成本区域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251960" y="555955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M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7086600" y="23774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软件总耗费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1600200" y="484632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接口开销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6035040" y="484632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成本/模块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5-1 讲第 7 页（模块数量与成本）重画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内聚与耦合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内聚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变更耦合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65760" y="2322576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一个方法混有多个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独立变化原因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2322576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共同依赖同一精度决定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365760" y="3493008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锁库存、写订单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算优惠、扣积分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663440" y="3493008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形成变更耦合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也违反 DRY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65760" y="4663440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这就是低内聚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663440" y="4663440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不是模块之间的耦合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下单方法从第 94 行写起</a:t>
            </a:r>
          </a:p>
        </p:txBody>
      </p:sp>
      <p:sp>
        <p:nvSpPr>
          <p:cNvPr id="101" name="fig-d"/>
          <p:cNvSpPr/>
          <p:nvPr/>
        </p:nvSpPr>
        <p:spPr>
          <a:xfrm>
            <a:off x="1417320" y="1783080"/>
            <a:ext cx="9144" cy="3840480"/>
          </a:xfrm>
          <a:custGeom>
            <a:avLst/>
            <a:gdLst/>
            <a:ahLst/>
            <a:cxnLst/>
            <a:rect l="0" t="0" r="r" b="b"/>
            <a:pathLst>
              <a:path w="9144" h="3840480" fill="none">
                <a:moveTo>
                  <a:pt x="0" y="0"/>
                </a:moveTo>
                <a:lnTo>
                  <a:pt x="0" y="3840480"/>
                </a:lnTo>
              </a:path>
            </a:pathLst>
          </a:custGeom>
          <a:noFill/>
          <a:ln w="28575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167335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94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298448" y="1984248"/>
            <a:ext cx="237744" cy="23774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783080" y="1828800"/>
            <a:ext cx="69494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generateOrder 从第 94 行写起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272491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140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1298448" y="3035808"/>
            <a:ext cx="237744" cy="23774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783080" y="2880360"/>
            <a:ext cx="69494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第 140 行进入用券，第 662 行分摊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377647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157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1298448" y="4087368"/>
            <a:ext cx="237744" cy="23774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783080" y="3931920"/>
            <a:ext cx="69494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第 157 行分摊积分，第 165 行锁库存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11480" y="482803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224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1298448" y="5138928"/>
            <a:ext cx="237744" cy="237744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"/>
          <p:cNvSpPr/>
          <p:nvPr/>
        </p:nvSpPr>
        <p:spPr>
          <a:xfrm>
            <a:off x="1783080" y="4983480"/>
            <a:ext cx="69494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第 224 行起落库、扣减、发消息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274320" y="5650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行号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三条原则怎么判定</a:t>
            </a:r>
          </a:p>
        </p:txBody>
      </p:sp>
      <p:sp>
        <p:nvSpPr>
          <p:cNvPr id="7" name="review"/>
          <p:cNvSpPr txBox="1"/>
          <p:nvPr/>
        </p:nvSpPr>
        <p:spPr>
          <a:xfrm>
            <a:off x="411480" y="5660136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回顾 E2：单一职责与依赖倒置都落到具体行，判定要写清楚</a:t>
            </a:r>
          </a:p>
        </p:txBody>
      </p:sp>
      <p:graphicFrame>
        <p:nvGraphicFramePr>
          <p:cNvPr id="90" name="table"/>
          <p:cNvGraphicFramePr>
            <a:graphicFrameLocks noGrp="1"/>
          </p:cNvGraphicFramePr>
          <p:nvPr/>
        </p:nvGraphicFramePr>
        <p:xfrm>
          <a:off x="411480" y="1600200"/>
          <a:ext cx="8321040" cy="356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1760"/>
                <a:gridCol w="5669280"/>
              </a:tblGrid>
              <a:tr h="71323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原则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在下单代码里看到什么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71323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单一职责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下单同时锁库、落库、扣减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71323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开闭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加范围可以不改循环，登记仍要改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依赖倒置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依赖接口，实现仍在同一类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713232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里氏替换和接口隔离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这里看不出违背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两对原则怎么取舍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重复与解耦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开闭与不过度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65760" y="2322576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两处都写死 3 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2322576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现状就是三种范围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365760" y="3493008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收成一处，改一次就齐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663440" y="3493008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提取方法更省也够用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65760" y="4663440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若要分道，会互相牵动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663440" y="4663440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种类真会增加再用策略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金额分摊精度要从3位改成2位，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得改几处？漏掉一处会怎样？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模块化原则的判定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模式的定义和三类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868680" cy="5486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广义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371600" y="1645920"/>
            <a:ext cx="73609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能反复用来解决一类问题的方案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31720"/>
            <a:ext cx="868680" cy="5486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狭义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371600" y="2331720"/>
            <a:ext cx="73609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特定场景里，协作对象的一种描述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017520"/>
            <a:ext cx="2697480" cy="13258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创建型：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对象怎样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被创建出来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434840"/>
            <a:ext cx="269748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595959"/>
                </a:solidFill>
                <a:latin typeface="微软雅黑"/>
                <a:ea typeface="微软雅黑"/>
              </a:rPr>
              <a:t>本讲不展开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218688" y="3017520"/>
            <a:ext cx="2697480" cy="13258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结构型：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类和对象怎样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组成更大结构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3218688" y="4434840"/>
            <a:ext cx="2697480" cy="10972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装饰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6025896" y="3017520"/>
            <a:ext cx="2697480" cy="13258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行为型：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职责和算法怎样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在对象间分配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6025896" y="4434840"/>
            <a:ext cx="2697480" cy="10972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策略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状态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模板方法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411480" y="555955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下栏：本讲讲到的四个模式归在哪一类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四个要素先看效果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4069080" cy="18745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名称：用一个词称呼这种方案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691640"/>
            <a:ext cx="4069080" cy="18745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问题：什么情况下它适用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749040"/>
            <a:ext cx="4069080" cy="18745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方案：参与的对象怎样协作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3749040"/>
            <a:ext cx="4069080" cy="187452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效果：得到什么，失去什么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策略模式的四个要素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484632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3977640"/>
              </a:tblGrid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策略：算法封装后可以替换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有多种算法，每次只生效一种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各自封装，客户只依赖共同接口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加一种算法，不必改客户流程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类变多，客户仍要决定选谁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按算法类型写的条件分支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fig-d"/>
          <p:cNvSpPr/>
          <p:nvPr/>
        </p:nvSpPr>
        <p:spPr>
          <a:xfrm>
            <a:off x="6263640" y="164592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上下文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6263640" y="2029968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请求()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6995160" y="2395728"/>
            <a:ext cx="182880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7086600" y="2542032"/>
            <a:ext cx="9144" cy="155448"/>
          </a:xfrm>
          <a:custGeom>
            <a:avLst/>
            <a:gdLst/>
            <a:ahLst/>
            <a:cxnLst/>
            <a:rect l="0" t="0" r="r" b="b"/>
            <a:pathLst>
              <a:path w="9144" h="155448" fill="none">
                <a:moveTo>
                  <a:pt x="0" y="0"/>
                </a:moveTo>
                <a:lnTo>
                  <a:pt x="0" y="155448"/>
                </a:lnTo>
              </a:path>
            </a:pathLst>
          </a:custGeom>
          <a:noFill/>
          <a:ln w="12700">
            <a:solidFill>
              <a:srgbClr val="A6A6A6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126480" y="2697480"/>
            <a:ext cx="1920240" cy="3840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«接口» 策略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6126480" y="308152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执行()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6986016" y="3447288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7086600" y="361188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6263640" y="3931920"/>
            <a:ext cx="1645920" cy="9144"/>
          </a:xfrm>
          <a:custGeom>
            <a:avLst/>
            <a:gdLst/>
            <a:ahLst/>
            <a:cxnLst/>
            <a:rect l="0" t="0" r="r" b="b"/>
            <a:pathLst>
              <a:path w="1645920" h="9144" fill="none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6263640" y="393192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7909560" y="393192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5486400" y="4251960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具体策略A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5486400" y="4636008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执行()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7132320" y="4251960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具体策略B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7132320" y="4636008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执行()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结构图：按 Gamma 等《设计模式》；2024 版第 7-2 讲第 8 页同图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装饰模式的四个要素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484632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3977640"/>
              </a:tblGrid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装饰：在现有对象外包一层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要叠加功能，继承会类爆炸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持有同一接口，先算内层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按需要组合，不为每种组合建子类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对象链变长，顺序就是计算顺序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为每种功能组合各建一个子类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fig-d"/>
          <p:cNvSpPr/>
          <p:nvPr/>
        </p:nvSpPr>
        <p:spPr>
          <a:xfrm>
            <a:off x="6172200" y="1645920"/>
            <a:ext cx="1828800" cy="3840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«接口» 构件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6172200" y="2029968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操作()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6986016" y="2395728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7086600" y="256032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126480" y="2834640"/>
            <a:ext cx="1600200" cy="9144"/>
          </a:xfrm>
          <a:custGeom>
            <a:avLst/>
            <a:gdLst/>
            <a:ahLst/>
            <a:cxnLst/>
            <a:rect l="0" t="0" r="r" b="b"/>
            <a:pathLst>
              <a:path w="1600200" h="9144" fill="none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6126480" y="283464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7726680" y="283464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5394960" y="310896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具体构件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5394960" y="3493008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操作()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6995160" y="310896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装饰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6995160" y="3493008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操作()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8467344" y="3227832"/>
            <a:ext cx="182880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8001000" y="1828800"/>
            <a:ext cx="685800" cy="1472184"/>
          </a:xfrm>
          <a:custGeom>
            <a:avLst/>
            <a:gdLst/>
            <a:ahLst/>
            <a:cxnLst/>
            <a:rect l="0" t="0" r="r" b="b"/>
            <a:pathLst>
              <a:path w="685800" h="1472184" fill="none">
                <a:moveTo>
                  <a:pt x="649224" y="1472184"/>
                </a:moveTo>
                <a:lnTo>
                  <a:pt x="685800" y="1472184"/>
                </a:lnTo>
                <a:lnTo>
                  <a:pt x="6858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A6A6A6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7626096" y="3858768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7726680" y="402336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6995160" y="434340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具体装饰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6995160" y="4727448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操作()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5394960" y="4343400"/>
            <a:ext cx="1463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先调内层</a:t>
            </a:r>
            <a:endParaRPr lang="zh-CN" sz="16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再加本层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9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结构图：按 Gamma 等《设计模式》；2024 版第 7-3 讲第 17 页同图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2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状态模式的四个要素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484632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3977640"/>
              </a:tblGrid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状态：行为随内部状态改变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同一方法按状态写了一长串分支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每种状态一个类，上下文委托当前状态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加一种状态多一个类，转换写得明确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类变多，状态类之间要互相知道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按状态写的密集条件分支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fig-d"/>
          <p:cNvSpPr/>
          <p:nvPr/>
        </p:nvSpPr>
        <p:spPr>
          <a:xfrm>
            <a:off x="6263640" y="164592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上下文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6263640" y="2029968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请求()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6995160" y="2395728"/>
            <a:ext cx="182880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7086600" y="2542032"/>
            <a:ext cx="9144" cy="155448"/>
          </a:xfrm>
          <a:custGeom>
            <a:avLst/>
            <a:gdLst/>
            <a:ahLst/>
            <a:cxnLst/>
            <a:rect l="0" t="0" r="r" b="b"/>
            <a:pathLst>
              <a:path w="9144" h="155448" fill="none">
                <a:moveTo>
                  <a:pt x="0" y="0"/>
                </a:moveTo>
                <a:lnTo>
                  <a:pt x="0" y="155448"/>
                </a:lnTo>
              </a:path>
            </a:pathLst>
          </a:custGeom>
          <a:noFill/>
          <a:ln w="12700">
            <a:solidFill>
              <a:srgbClr val="A6A6A6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126480" y="2697480"/>
            <a:ext cx="1920240" cy="3840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«接口» 状态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6126480" y="308152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处理()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6986016" y="3447288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7086600" y="361188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6263640" y="3931920"/>
            <a:ext cx="1645920" cy="9144"/>
          </a:xfrm>
          <a:custGeom>
            <a:avLst/>
            <a:gdLst/>
            <a:ahLst/>
            <a:cxnLst/>
            <a:rect l="0" t="0" r="r" b="b"/>
            <a:pathLst>
              <a:path w="1645920" h="9144" fill="none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6263640" y="393192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7909560" y="3931920"/>
            <a:ext cx="9144" cy="320040"/>
          </a:xfrm>
          <a:custGeom>
            <a:avLst/>
            <a:gdLst/>
            <a:ahLst/>
            <a:cxnLst/>
            <a:rect l="0" t="0" r="r" b="b"/>
            <a:pathLst>
              <a:path w="9144" h="320040" fill="none">
                <a:moveTo>
                  <a:pt x="0" y="0"/>
                </a:moveTo>
                <a:lnTo>
                  <a:pt x="0" y="32004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5486400" y="4251960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具体状态A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5486400" y="4636008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处理()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7132320" y="4251960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具体状态B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7132320" y="4636008"/>
            <a:ext cx="1554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处理()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结构图：按 Gamma 等《设计模式》状态模式一节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模板方法的四个要素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484632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3977640"/>
              </a:tblGrid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模板方法：父类定骨架，子类填步骤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几处流程相同，只有个别步骤不同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父类写好步骤顺序，可变步骤留给子类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流程只写一次，子类只改步骤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绑定继承，子类须按父类的步骤来写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141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消除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重复的处理流程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fig-d"/>
          <p:cNvSpPr/>
          <p:nvPr/>
        </p:nvSpPr>
        <p:spPr>
          <a:xfrm>
            <a:off x="6035040" y="164592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抽象类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6035040" y="2029968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模板方法()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步骤一()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步骤二()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6986016" y="2907792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7086600" y="3072384"/>
            <a:ext cx="9144" cy="539496"/>
          </a:xfrm>
          <a:custGeom>
            <a:avLst/>
            <a:gdLst/>
            <a:ahLst/>
            <a:cxnLst/>
            <a:rect l="0" t="0" r="r" b="b"/>
            <a:pathLst>
              <a:path w="9144" h="539496" fill="none">
                <a:moveTo>
                  <a:pt x="0" y="0"/>
                </a:moveTo>
                <a:lnTo>
                  <a:pt x="0" y="539496"/>
                </a:lnTo>
              </a:path>
            </a:pathLst>
          </a:custGeom>
          <a:noFill/>
          <a:ln w="12700">
            <a:solidFill>
              <a:srgbClr val="A6A6A6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172200" y="361188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具体类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6172200" y="399592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步骤一()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步骤二()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5440680" y="48463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顺序写在模板方法里，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子类只填步骤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结构图：按 Gamma 等《设计模式》模板方法一节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模式的得与失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引入之前先写这两列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得到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失去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65760" y="3182112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变化收进单独的类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3182112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类和对象变多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65760" y="4069080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客户流程少改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663440" y="4069080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多一次间接调用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365760" y="4956048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一种算法可以单独换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663440" y="4956048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选择规则要有地方放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引入一个模式，得到了什么、失去了什么？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模式的四个要素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常见坏味道与手法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6766560"/>
              </a:tblGrid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坏味道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看到什么，先用什么手法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重复代码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同一判定写了多遍，先提炼方法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过长函数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一个方法做完整段业务，提炼方法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过大类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一个类承担多块职责，提炼类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发散式变化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同一类多处跟着改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提炼类或拆分阶段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霰弹式修改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一处改动散到多处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搬移函数、搬移字段、内联类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按类型分支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按类型写分支，以多态取代条件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数据泥团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同一组数据总是一起出现，提炼对象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喂食动物的三个版本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增加一种动物时，看饲养员改不改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651760"/>
            <a:ext cx="2514600" cy="228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版本一：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每种动物一个方法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endParaRPr lang="zh-CN" sz="1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加熊猫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就要改饲养员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971800" y="3794760"/>
            <a:ext cx="292608" cy="9144"/>
          </a:xfrm>
          <a:custGeom>
            <a:avLst/>
            <a:gdLst/>
            <a:ahLst/>
            <a:cxnLst/>
            <a:rect l="0" t="0" r="r" b="b"/>
            <a:pathLst>
              <a:path w="292608" h="9144" fill="none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310128" y="2651760"/>
            <a:ext cx="2514600" cy="22860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版本二：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动物抽象出吃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endParaRPr lang="zh-CN" sz="1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饲养员收成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一个方法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5870448" y="3794760"/>
            <a:ext cx="292608" cy="9144"/>
          </a:xfrm>
          <a:custGeom>
            <a:avLst/>
            <a:gdLst/>
            <a:ahLst/>
            <a:cxnLst/>
            <a:rect l="0" t="0" r="r" b="b"/>
            <a:pathLst>
              <a:path w="292608" h="9144" fill="none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6208776" y="2651760"/>
            <a:ext cx="2514600" cy="228600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版本三：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一次喂一群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endParaRPr lang="zh-CN" sz="1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FFFFFF"/>
                </a:solidFill>
                <a:latin typeface="微软雅黑"/>
                <a:ea typeface="微软雅黑"/>
              </a:rPr>
              <a:t>饲养员不用再改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模式是重构的结果</a:t>
            </a:r>
          </a:p>
        </p:txBody>
      </p:sp>
      <p:sp>
        <p:nvSpPr>
          <p:cNvPr id="101" name="fig-d"/>
          <p:cNvSpPr/>
          <p:nvPr/>
        </p:nvSpPr>
        <p:spPr>
          <a:xfrm>
            <a:off x="1463040" y="16459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194560"/>
            <a:ext cx="2514600" cy="128016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先指出重复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和按类型分支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971800" y="2834640"/>
            <a:ext cx="292608" cy="9144"/>
          </a:xfrm>
          <a:custGeom>
            <a:avLst/>
            <a:gdLst/>
            <a:ahLst/>
            <a:cxnLst/>
            <a:rect l="0" t="0" r="r" b="b"/>
            <a:pathLst>
              <a:path w="292608" h="9144" fill="none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361688" y="16459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3310128" y="2194560"/>
            <a:ext cx="2514600" cy="128016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再选手法，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最后才看模式名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870448" y="2834640"/>
            <a:ext cx="292608" cy="9144"/>
          </a:xfrm>
          <a:custGeom>
            <a:avLst/>
            <a:gdLst/>
            <a:ahLst/>
            <a:cxnLst/>
            <a:rect l="0" t="0" r="r" b="b"/>
            <a:pathLst>
              <a:path w="292608" h="9144" fill="none">
                <a:moveTo>
                  <a:pt x="0" y="0"/>
                </a:moveTo>
                <a:lnTo>
                  <a:pt x="29260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7260336" y="16459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6208776" y="2194560"/>
            <a:ext cx="2514600" cy="128016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以多态取代条件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之后，才叫策略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562856" y="3520440"/>
            <a:ext cx="9144" cy="502920"/>
          </a:xfrm>
          <a:custGeom>
            <a:avLst/>
            <a:gdLst/>
            <a:ahLst/>
            <a:cxnLst/>
            <a:rect l="0" t="0" r="r" b="b"/>
            <a:pathLst>
              <a:path w="9144" h="502920" fill="none">
                <a:moveTo>
                  <a:pt x="0" y="0"/>
                </a:moveTo>
                <a:lnTo>
                  <a:pt x="0" y="50292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411480" y="4114800"/>
            <a:ext cx="8321040" cy="100584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</a:rPr>
              <a:t>模式不是设计的起点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现场演示分支、测试和策略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真实代码只看优惠券适用范围</a:t>
            </a:r>
            <a:endParaRPr lang="zh-CN" sz="22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E4-00 的 listCart：特征测试之后收到策略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3246120"/>
            <a:ext cx="2194560" cy="1280160"/>
          </a:xfrm>
          <a:prstGeom prst="homePlate">
            <a:avLst>
              <a:gd name="adj" fmla="val 18000"/>
            </a:avLst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认出按范围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复制的判定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2377440" y="3246120"/>
            <a:ext cx="2194560" cy="1280160"/>
          </a:xfrm>
          <a:prstGeom prst="chevron">
            <a:avLst>
              <a:gd name="adj" fmla="val 18000"/>
            </a:avLst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用特征测试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锁住现有行为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343400" y="3246120"/>
            <a:ext cx="2194560" cy="1280160"/>
          </a:xfrm>
          <a:prstGeom prst="chevron">
            <a:avLst>
              <a:gd name="adj" fmla="val 18000"/>
            </a:avLst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以多态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取代条件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6446520" y="3246120"/>
            <a:ext cx="2286000" cy="128016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策略是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重构的结果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特征测试锁住行为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可用顺序锁成 11、13、14、18，未知范围 17 两边都没有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的特征测试锁 listCart，不锁策略类名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List&lt;Long&gt; ​enabled ​= ​ids(​service.​listCart(​cart,​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List&lt;Long&gt; ​disabled ​= ​ids(​service.​listCart(​cart,​ 0));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/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assertEquals(​List.​of(​11L,​ 13L,​ 14L,​ 18L),​ enabled);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assertEquals(​List.​of(​12L,​ 15L,​ 16L,​ 19L),​ disabled);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assertFalse(​enabled.​contains(​17L));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assertFalse(​disabled.​contains(​17L));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mall-portal/​src/​test/​java/​com/​macro/​mall/​sdc/​e4/​SDCE400Test.java:​63-69</a:t>
            </a:r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9901" name="review"/>
          <p:cNvSpPr txBox="1"/>
          <p:nvPr/>
        </p:nvSpPr>
        <p:spPr>
          <a:xfrm>
            <a:off x="411480" y="5486400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45720" rIns="45720" tIns="45720" bIns="45720" anchor="ctr">
            <a:normAutofit/>
          </a:bodyPr>
          <a:lstStyle/>
          <a:p>
            <a:r>
              <a:rPr lang="zh-CN" altLang="en-US" sz="2000" b="0" dirty="0">
                <a:solidFill>
                  <a:srgbClr val="505050"/>
                </a:solidFill>
                <a:latin typeface="微软雅黑"/>
                <a:ea typeface="微软雅黑"/>
              </a:rPr>
              <a:t>回顾 E4：特征测试先固定现有行为，改前改后同一组断言都通过</a:t>
            </a:r>
          </a:p>
        </p:txBody>
      </p:sp>
      <p:sp>
        <p:nvSpPr>
          <p:cNvPr id="990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按范围取出策略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E4-00：listCart 特征测试已锁住，找不到策略就跳过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3054096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CouponScopePolicy policy ​= ​policyFor(​couponHistoryDetail.​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getCoupon(​).​getUseType(​));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if (​policy ​== ​null)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continue;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}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if (​policy.​usable(​couponHistoryDetail,​ cartItemList,​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 now))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enableList.​add(​couponHistoryDetail);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} else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disableList.​add(​couponHistoryDetail);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340096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mall-portal/​src/​main/​java/​com/​macro/​mall/​portal/​service/​impl/​UmsMemberCouponServiceImpl.java:​129-136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找不到就返回空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E4-00：listCart 按登记顺序找策略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特征测试不锁定这条查找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private CouponScopePolicy policyFor(​Integer useType)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for (​CouponScopePolicy policy ​: ​scopePolicies)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if (​policy.​supports(​useType))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return policy;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return null;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mall-portal/​src/​main/​java/​com/​macro/​mall/​portal/​service/​impl/​UmsMemberCouponServiceImpl.java:​146-153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新增一种范围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只统计 listCart 的可用判定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特征测试不变，策略的处数不减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834640"/>
          <a:ext cx="8138160" cy="2706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新增一种范围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改前分支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处：复制判定和分列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提取方法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处：分支加行，再加方法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本次策略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处：新类，登记加一行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门槛截断仍保留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E4-00 的 listCart 在 99.90 时仍可用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特征测试只打印，策略不改行为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682495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BigDecimal minPoint ​= ​detail.​getCoupon(​).​getMinPoint(​);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Date endTime ​= ​detail.​getCoupon(​).​getEndTime(​);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BigDecimal totalAmount ​= ​calcTotalAmount(​cartItemList);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return now.​before(​endTime) ​&amp;&amp; ​totalAmount.​subtract(​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minPoint).​intValue(​) ​&gt;= ​0;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53542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mall-portal/​src/​main/​java/​com/​macro/​mall/​portal/​service/​impl/​UmsMemberCouponServiceImpl.java:​170-173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坏味道与重构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AI 可以帮的三件事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36192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AI 可以起草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1920240"/>
            <a:ext cx="2606040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标出坏味道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和它在哪一段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709928" y="3246120"/>
            <a:ext cx="9144" cy="685800"/>
          </a:xfrm>
          <a:custGeom>
            <a:avLst/>
            <a:gdLst/>
            <a:ahLst/>
            <a:cxnLst/>
            <a:rect l="0" t="0" r="r" b="b"/>
            <a:pathLst>
              <a:path w="9144" h="685800" fill="none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A6A6A6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310128" y="1920240"/>
            <a:ext cx="2606040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起草重构方案，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并写明代价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608576" y="3246120"/>
            <a:ext cx="9144" cy="685800"/>
          </a:xfrm>
          <a:custGeom>
            <a:avLst/>
            <a:gdLst/>
            <a:ahLst/>
            <a:cxnLst/>
            <a:rect l="0" t="0" r="r" b="b"/>
            <a:pathLst>
              <a:path w="9144" h="685800" fill="none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A6A6A6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6208776" y="1920240"/>
            <a:ext cx="2606040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起草特征测试，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锁住现有行为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7507224" y="3246120"/>
            <a:ext cx="9144" cy="685800"/>
          </a:xfrm>
          <a:custGeom>
            <a:avLst/>
            <a:gdLst/>
            <a:ahLst/>
            <a:cxnLst/>
            <a:rect l="0" t="0" r="r" b="b"/>
            <a:pathLst>
              <a:path w="9144" h="685800" fill="none">
                <a:moveTo>
                  <a:pt x="0" y="0"/>
                </a:moveTo>
                <a:lnTo>
                  <a:pt x="0" y="685800"/>
                </a:lnTo>
              </a:path>
            </a:pathLst>
          </a:custGeom>
          <a:noFill/>
          <a:ln w="19050">
            <a:solidFill>
              <a:srgbClr val="A6A6A6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3931920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人来决定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11480" y="4297680"/>
            <a:ext cx="8321040" cy="10972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</a:rPr>
              <a:t>放不放行仍由人决定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辅助重构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放行前三查</a:t>
            </a:r>
          </a:p>
        </p:txBody>
      </p:sp>
      <p:sp>
        <p:nvSpPr>
          <p:cNvPr id="101" name="fig-d"/>
          <p:cNvSpPr/>
          <p:nvPr/>
        </p:nvSpPr>
        <p:spPr>
          <a:xfrm>
            <a:off x="502920" y="1801368"/>
            <a:ext cx="548640" cy="54864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280160" y="1691640"/>
            <a:ext cx="74523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第一查：有没有碰到不得修改的部分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502920" y="2761488"/>
            <a:ext cx="548640" cy="54864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280160" y="2651760"/>
            <a:ext cx="74523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第二查：有没有夹带无关修改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502920" y="3721608"/>
            <a:ext cx="548640" cy="54864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280160" y="3611880"/>
            <a:ext cx="74523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第三查：测试结果是否支持留下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562856" y="4526280"/>
            <a:ext cx="9144" cy="228600"/>
          </a:xfrm>
          <a:custGeom>
            <a:avLst/>
            <a:gdLst/>
            <a:ahLst/>
            <a:cxnLst/>
            <a:rect l="0" t="0" r="r" b="b"/>
            <a:pathLst>
              <a:path w="9144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11480" y="4800600"/>
            <a:ext cx="83210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三查都过，改动才留下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辅助重构</a:t>
            </a:r>
          </a:p>
        </p:txBody>
      </p:sp>
    </p:spTree>
  </p:cSld>
  <p:clrMapOvr>
    <a:masterClrMapping/>
  </p:clrMapOvr>
  <p:hf sldNum="0" hdr="0" ftr="0" dt="0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用优惠券重构对照三查</a:t>
            </a:r>
          </a:p>
        </p:txBody>
      </p:sp>
      <p:graphicFrame>
        <p:nvGraphicFramePr>
          <p:cNvPr id="90" name="table"/>
          <p:cNvGraphicFramePr>
            <a:graphicFrameLocks noGrp="1"/>
          </p:cNvGraphicFramePr>
          <p:nvPr/>
        </p:nvGraphicFramePr>
        <p:xfrm>
          <a:off x="411480" y="1600200"/>
          <a:ext cx="8321040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7520"/>
                <a:gridCol w="5303520"/>
              </a:tblGrid>
              <a:tr h="77724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三查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本例证据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77724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第一查：不得修改的部分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约束：不修截断，不改公开接口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77724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第二查：无关修改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重构提交 37e30f1 只改了一个类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第三查：测试结果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五项断言不改，改前改后都通过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101" name="fig"/>
          <p:cNvSpPr/>
          <p:nvPr/>
        </p:nvSpPr>
        <p:spPr>
          <a:xfrm>
            <a:off x="411480" y="4937760"/>
            <a:ext cx="8321040" cy="685800"/>
          </a:xfrm>
          <a:prstGeom prst="rect">
            <a:avLst/>
          </a:prstGeom>
          <a:solidFill>
            <a:srgbClr val="FBF3F2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全绿仍要读差异，打印不是断言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辅助重构</a:t>
            </a:r>
          </a:p>
        </p:txBody>
      </p:sp>
    </p:spTree>
  </p:cSld>
  <p:clrMapOvr>
    <a:masterClrMapping/>
  </p:clrMapOvr>
  <p:hf sldNum="0" hdr="0" ftr="0" dt="0"/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AI给出的重构夹带了无关修改，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应该怎么处理？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辅助重构</a:t>
            </a:r>
          </a:p>
        </p:txBody>
      </p:sp>
    </p:spTree>
  </p:cSld>
  <p:clrMapOvr>
    <a:masterClrMapping/>
  </p:clrMapOvr>
  <p:hf sldNum="0" hdr="0" ftr="0" dt="0"/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9164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417320" y="169164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效果要写得到什么、失去什么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606040"/>
            <a:ext cx="8321040" cy="9144"/>
          </a:xfrm>
          <a:custGeom>
            <a:avLst/>
            <a:gdLst/>
            <a:ahLst/>
            <a:cxnLst/>
            <a:rect l="0" t="0" r="r" b="b"/>
            <a:pathLst>
              <a:path w="8321040" h="9144" fill="none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269748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417320" y="269748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模式重构的结果，不是起点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611880"/>
            <a:ext cx="8321040" cy="9144"/>
          </a:xfrm>
          <a:custGeom>
            <a:avLst/>
            <a:gdLst/>
            <a:ahLst/>
            <a:cxnLst/>
            <a:rect l="0" t="0" r="r" b="b"/>
            <a:pathLst>
              <a:path w="8321040" h="9144" fill="none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70332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417320" y="370332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原则落到具体行，冲突时写明取舍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617720"/>
            <a:ext cx="8321040" cy="9144"/>
          </a:xfrm>
          <a:custGeom>
            <a:avLst/>
            <a:gdLst/>
            <a:ahLst/>
            <a:cxnLst/>
            <a:rect l="0" t="0" r="r" b="b"/>
            <a:pathLst>
              <a:path w="8321040" h="9144" fill="none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411480" y="470916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1417320" y="470916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AI 的改动先过三查，再谈放行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AI 辅助重构</a:t>
            </a:r>
          </a:p>
        </p:txBody>
      </p:sp>
    </p:spTree>
  </p:cSld>
  <p:clrMapOvr>
    <a:masterClrMapping/>
  </p:clrMapOvr>
  <p:hf sldNum="0" hdr="0" ftr="0" dt="0"/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课前已在学习通完成，课上逐题讲评；题干和选项与学习通一致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模式的四个要素中，“效果”一项回答什么问题？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这个模式由哪几个类组成；B. 这个模式解决什么问题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采用这个模式后得到什么、失去什么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这个模式最早出现在哪本书里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目前只有两种运费规则，一年来没变过。有人提议马上引入策略接口和工厂，以便将来扩展。较合理的判断是：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立即引入，开闭原则要求预留扩展点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先保持简单的条件判断，等出现第三种规则、改动变频繁时再重构为策略模式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改用状态模式；D. 两种做法没有区别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mall 中“可售库存 = 库存 − 锁定库存”在促销计算里写了四份，库存规则一变就要改四处。这属于哪种坏味道？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霰弹式修改；B. 过长参数列表；C. 发散式变化；D. 数据泥团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布置</a:t>
            </a:r>
          </a:p>
        </p:txBody>
      </p:sp>
    </p:spTree>
  </p:cSld>
  <p:clrMapOvr>
    <a:masterClrMapping/>
  </p:clrMapOvr>
  <p:hf sldNum="0" hdr="0" ftr="0" dt="0"/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订单的多个方法里都有按“待付款、待发货、已发货、已完成”分支的同一组 switch，每加一种状态就要改每个方法。较合适的重构方向是：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模板方法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装饰模式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合并成一个大方法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状态模式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评估 AI 给出的重构方案时，应当先检查什么？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是否触及不得修改的部分、是否夹带无关修改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新增了多少个类；C. 代码行数是否减少；D. 是否用上了设计模式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做完这两题，再看下一页的阅读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布置</a:t>
            </a:r>
          </a:p>
        </p:txBody>
      </p:sp>
    </p:spTree>
  </p:cSld>
  <p:clrMapOvr>
    <a:masterClrMapping/>
  </p:clrMapOvr>
  <p:hf sldNum="0" hdr="0" ftr="0" dt="0"/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本讲重点阅读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292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6766560"/>
              </a:tblGrid>
              <a:tr h="635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1143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[4]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Fowler《重构》第 2 版第 3 章（必读）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1143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[5]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Kerievsky《重构与模式》第 3 章（选读）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布置</a:t>
            </a:r>
          </a:p>
        </p:txBody>
      </p:sp>
    </p:spTree>
  </p:cSld>
  <p:clrMapOvr>
    <a:masterClrMapping/>
  </p:clrMapOvr>
  <p:hf sldNum="0" hdr="0" ftr="0" dt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本次课结束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下次课：第 10 次课｜变更影响分析</a:t>
            </a:r>
          </a:p>
        </p:txBody>
      </p:sp>
    </p:spTree>
  </p:cSld>
  <p:clrMapOvr>
    <a:masterClrMapping/>
  </p:clrMapOvr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