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本节 20 分钟</a:t>
            </a:r>
          </a:p>
          <a:p>
            <a:r>
              <a:t>定义：本课是专业核心课，承上启下，以既有系统为载体。</a:t>
            </a:r>
          </a:p>
          <a:p>
            <a:r>
              <a:t>代价：不先讲清安排和规则，后面的实验无法按同一口径交。</a:t>
            </a:r>
          </a:p>
          <a:p>
            <a:r>
              <a:t>判定：开场先点明这是第 1 次课，讲标准与规范，并介绍任课教师。</a:t>
            </a:r>
          </a:p>
          <a:p>
            <a:r>
              <a:t>权衡：三个班周次不同，口头交代各班时间，课上只强调课次和章节。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时长见本节首页（本节 20 分钟）</a:t>
            </a:r>
          </a:p>
          <a:p>
            <a:r>
              <a:t>定义：这次课要达到的六条，都落在标准、可维护性和与 AI 协作上。</a:t>
            </a:r>
          </a:p>
          <a:p>
            <a:r>
              <a:t>代价：六条里缺一条，后面的实验就没有同一套词。</a:t>
            </a:r>
          </a:p>
          <a:p>
            <a:r>
              <a:t>判定：能否分别说出两类规范、五个子特性、版本差和判定原则。</a:t>
            </a:r>
          </a:p>
          <a:p>
            <a:r>
              <a:t>权衡：时间不够时，先保住版本差和可维护性，条文留到阅读。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时长见本节首页（本节 20 分钟）</a:t>
            </a:r>
          </a:p>
          <a:p>
            <a:r>
              <a:t>定义：课程训练在既有系统上把设计讲清楚，并用规范与测试证明。</a:t>
            </a:r>
          </a:p>
          <a:p>
            <a:r>
              <a:t>代价：只讲结论、不讲载体，学生无法在真实代码里判定。</a:t>
            </a:r>
          </a:p>
          <a:p>
            <a:r>
              <a:t>判定：本部分 28 学时对得上理论 7 次加实验 7 次，各 2 学时；课程总学时是 56。</a:t>
            </a:r>
          </a:p>
          <a:p>
            <a:r>
              <a:t>权衡：框架只当例子，原理比某一门框架活得长。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时长见本节首页（本节 20 分钟）</a:t>
            </a:r>
          </a:p>
          <a:p>
            <a:r>
              <a:t>定义：五章顺着一次开发往下排。</a:t>
            </a:r>
          </a:p>
          <a:p>
            <a:r>
              <a:t>代价：章次对不上，后面实验会失去上下文。</a:t>
            </a:r>
          </a:p>
          <a:p>
            <a:r>
              <a:t>判定：能否按顺序说出五章名称。</a:t>
            </a:r>
          </a:p>
          <a:p>
            <a:r>
              <a:t>权衡：环节的细节留到各章，这里只建立地图。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时长见本节首页（本节 20 分钟）</a:t>
            </a:r>
          </a:p>
          <a:p>
            <a:r>
              <a:t>定义：棕地开发从既有系统出发，不从空白项目出发。</a:t>
            </a:r>
          </a:p>
          <a:p>
            <a:r>
              <a:t>代价：案例各自独立、技术栈对不上已学的 Web 开发，原则落不到代码上。</a:t>
            </a:r>
          </a:p>
          <a:p>
            <a:r>
              <a:t>判定：实验是否都在同一个 mall 上做，而不是每次换一个例子。</a:t>
            </a:r>
          </a:p>
          <a:p>
            <a:r>
              <a:t>权衡：选取理由放到运行环境一讲，这里先建立“棕地”这个词。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时长见本节首页（本节 20 分钟）</a:t>
            </a:r>
          </a:p>
          <a:p>
            <a:r>
              <a:t>定义：网络课堂看过程，项目实践看每次作品。</a:t>
            </a:r>
          </a:p>
          <a:p>
            <a:r>
              <a:t>代价：未做预习计零分；未运行的部分不能拿相应的分。</a:t>
            </a:r>
          </a:p>
          <a:p>
            <a:r>
              <a:t>判定：三个维度是否各有证据：讲清楚、有依据、验证过。</a:t>
            </a:r>
          </a:p>
          <a:p>
            <a:r>
              <a:t>权衡：缺哪项扣哪项，不把一个问题重复扣进无关子项。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时长见本节首页（本节 20 分钟）</a:t>
            </a:r>
          </a:p>
          <a:p>
            <a:r>
              <a:t>定义：允许使用生成式 AI，六条是使用条件，不是禁令。</a:t>
            </a:r>
          </a:p>
          <a:p>
            <a:r>
              <a:t>代价：未标注、无法解释或拿 AI 产出冒充本人，按学术不诚信处理。</a:t>
            </a:r>
          </a:p>
          <a:p>
            <a:r>
              <a:t>判定：核验靠讲解、现场演示和期末独立展示，不靠 AI 检测器。</a:t>
            </a:r>
          </a:p>
          <a:p>
            <a:r>
              <a:t>权衡：鼓励用工具，责任仍全部在提交者。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时长见本节首页（本节 20 分钟）</a:t>
            </a:r>
          </a:p>
          <a:p>
            <a:r>
              <a:t>定义：协作记录留下怎么用的 AI；提交说明按五个问题写。</a:t>
            </a:r>
          </a:p>
          <a:p>
            <a:r>
              <a:t>代价：只写改了什么、不写为什么和证据，有依据和验证过都拿不到分。</a:t>
            </a:r>
          </a:p>
          <a:p>
            <a:r>
              <a:t>判定：五问是否都有内容；录屏是否本人在演示测试运行。</a:t>
            </a:r>
          </a:p>
          <a:p>
            <a:r>
              <a:t>权衡：如实写明未完成的范围，可以拿解释分；伪造运行记录不行。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本节 25 分钟</a:t>
            </a:r>
          </a:p>
          <a:p>
            <a:r>
              <a:t>定义：GB/T 20000.1-2014：通过标准化活动，按照规定的程序经协商一致制定，为各种活动或其结果提供规则、指南或特性，供共同使用和重复使用的文件。</a:t>
            </a:r>
          </a:p>
          <a:p>
            <a:r>
              <a:t>代价：把个人习惯当成标准，换一个项目就无法对齐。</a:t>
            </a:r>
          </a:p>
          <a:p>
            <a:r>
              <a:t>判定：看它是不是按规定程序协商一致制定，并且供共同使用和重复使用。</a:t>
            </a:r>
          </a:p>
          <a:p>
            <a:r>
              <a:t>权衡：标准给共同规则，项目仍可以剪裁，不是每一条都要原样照搬。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时长见本节首页（本节 25 分钟）</a:t>
            </a:r>
          </a:p>
          <a:p>
            <a:r>
              <a:t>定义：层次看谁制定、在多大范围里用。</a:t>
            </a:r>
          </a:p>
          <a:p>
            <a:r>
              <a:t>代价：把国际标准直接当成国内现行国标，版本一对就错。</a:t>
            </a:r>
          </a:p>
          <a:p>
            <a:r>
              <a:t>判定：先问这份文件是哪一层，再问本项目引用的是哪一版。</a:t>
            </a:r>
          </a:p>
          <a:p>
            <a:r>
              <a:t>权衡：下层可以更具体，但不能假装自己已同步了上层的新版本。JR、YY、JT 是行业标准代号。GJB 是国家军用标准，IEEE 是国际专业组织标准，不放在行业这一层。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时长见本节首页（本节 25 分钟）</a:t>
            </a:r>
          </a:p>
          <a:p>
            <a:r>
              <a:t>定义：国标按基础、开发、文档、管理四类来归。</a:t>
            </a:r>
          </a:p>
          <a:p>
            <a:r>
              <a:t>代价：沿用 1990 年代的标准号，引用的已经不是现行文本。</a:t>
            </a:r>
          </a:p>
          <a:p>
            <a:r>
              <a:t>判定：看到一个标准号，先归到这四类里的哪一类。</a:t>
            </a:r>
          </a:p>
          <a:p>
            <a:r>
              <a:t>权衡：分类是地图，采标关系还要再核验版本。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时长见本节首页（本节 25 分钟）</a:t>
            </a:r>
          </a:p>
          <a:p>
            <a:r>
              <a:t>定义：这些是本章要对照的标准与知识体系，不是完整清单。</a:t>
            </a:r>
          </a:p>
          <a:p>
            <a:r>
              <a:t>代价：沿用旧版编号，结论会对错版本。</a:t>
            </a:r>
          </a:p>
          <a:p>
            <a:r>
              <a:t>判定：引用时写出标准号和年份，不写笼统的“国标规定”。</a:t>
            </a:r>
          </a:p>
          <a:p>
            <a:r>
              <a:t>权衡：课堂只讲它们之间的关系和版本差，条文放在课后阅读。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时长见本节首页（本节 25 分钟）</a:t>
            </a:r>
          </a:p>
          <a:p>
            <a:r>
              <a:t>定义：最新的国际标准，不等于现行国标已经采用它。</a:t>
            </a:r>
          </a:p>
          <a:p>
            <a:r>
              <a:t>代价：拿 2026 版的条款要求一个仍按 2017 版采标的项目，依据用错。</a:t>
            </a:r>
          </a:p>
          <a:p>
            <a:r>
              <a:t>判定：要同时核对是不是最新版、国内有没有同步、现行国标号、等同采用的是哪一版。</a:t>
            </a:r>
          </a:p>
          <a:p>
            <a:r>
              <a:t>权衡：项目可以声明自己采用哪一版，但不能把两版说成同一份文件。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时长见本节首页（本节 25 分钟）</a:t>
            </a:r>
          </a:p>
          <a:p>
            <a:r>
              <a:t>定义：质量模型的特性个数和名称，2011 与 2023 不一样。</a:t>
            </a:r>
          </a:p>
          <a:p>
            <a:r>
              <a:t>代价：用八特性的名字去对九特性的文本，Safety 会被漏掉。</a:t>
            </a:r>
          </a:p>
          <a:p>
            <a:r>
              <a:t>判定：写可维护性之前，先写清依据的是 2016 国标还是 2023 国际标准。</a:t>
            </a:r>
          </a:p>
          <a:p>
            <a:r>
              <a:t>权衡：本课评价设计仍用可维护性这五个子特性，名称变化要单独说清。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时长见本节首页（本节 25 分钟）</a:t>
            </a:r>
          </a:p>
          <a:p>
            <a:r>
              <a:t>定义：版本差和引用错位是本章要了解的难点。</a:t>
            </a:r>
          </a:p>
          <a:p>
            <a:r>
              <a:t>代价：不核验就引用，标准会变成过期的依据。</a:t>
            </a:r>
          </a:p>
          <a:p>
            <a:r>
              <a:t>判定：写出标准号、年份，以及它等同采用的是哪一版。</a:t>
            </a:r>
          </a:p>
          <a:p>
            <a:r>
              <a:t>权衡：条文细节线上读，课堂上只留关系。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节：两类规范</a:t>
            </a:r>
          </a:p>
          <a:p>
            <a:r>
              <a:t>本节 15 分钟</a:t>
            </a:r>
          </a:p>
          <a:p>
            <a:r>
              <a:t>定义：流程规范规定按什么步骤做。</a:t>
            </a:r>
          </a:p>
          <a:p>
            <a:r>
              <a:t>代价：步骤没有约定，同样的产物每个人的做法对不上。</a:t>
            </a:r>
          </a:p>
          <a:p>
            <a:r>
              <a:t>判定：一份规范如果规定的是顺序和活动，就归流程规范。</a:t>
            </a:r>
          </a:p>
          <a:p>
            <a:r>
              <a:t>权衡：CMMI 等级是流程规范的例子，不是本课要实施的评估。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节：两类规范</a:t>
            </a:r>
          </a:p>
          <a:p>
            <a:r>
              <a:t>时长见本节首页（本节 15 分钟）</a:t>
            </a:r>
          </a:p>
          <a:p>
            <a:r>
              <a:t>定义：内容规范规定产物的写法，不是规定今天先做哪一步。</a:t>
            </a:r>
          </a:p>
          <a:p>
            <a:r>
              <a:t>代价：不剪裁就整本照抄，项目里用不到的条文会变成空话。</a:t>
            </a:r>
          </a:p>
          <a:p>
            <a:r>
              <a:t>判定：看它约束的是步骤还是产物；文档三类是内容规范的例子。</a:t>
            </a:r>
          </a:p>
          <a:p>
            <a:r>
              <a:t>权衡：允许按项目剪裁，剪裁本身要说得清留下什么、去掉什么。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节：两类规范</a:t>
            </a:r>
          </a:p>
          <a:p>
            <a:r>
              <a:t>时长见本节首页（本节 15 分钟）</a:t>
            </a:r>
          </a:p>
          <a:p>
            <a:r>
              <a:t>定义：把已经做过的事，归到流程或内容。</a:t>
            </a:r>
          </a:p>
          <a:p>
            <a:r>
              <a:t>代价：归错类，后面就不知道该改步骤还是改产物。</a:t>
            </a:r>
          </a:p>
          <a:p>
            <a:r>
              <a:t>判定：每个例子要说出它管的是步骤还是产物。</a:t>
            </a:r>
          </a:p>
          <a:p>
            <a:r>
              <a:t>权衡：有的团队约定同时管两头，要分开说，不要混成“都是规范”。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本节 20 分钟</a:t>
            </a:r>
          </a:p>
          <a:p>
            <a:r>
              <a:t>定义：产品质量看产品本身，使用质量看在使用中的效果；本讲落到可维护性。</a:t>
            </a:r>
          </a:p>
          <a:p>
            <a:r>
              <a:t>代价：没有统一词汇，讨论会停在“感觉不好”。</a:t>
            </a:r>
          </a:p>
          <a:p>
            <a:r>
              <a:t>判定：评价时要指出用的是哪一个子特性，而不是只说质量差。</a:t>
            </a:r>
          </a:p>
          <a:p>
            <a:r>
              <a:t>权衡：五个词先当比较方案的词汇，度量公式留到真正拿它们评价的时候。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时长见本节首页（本节 20 分钟）</a:t>
            </a:r>
          </a:p>
          <a:p>
            <a:r>
              <a:t>定义：五个子特性的判定各看不同的代码事实。</a:t>
            </a:r>
          </a:p>
          <a:p>
            <a:r>
              <a:t>代价：口径若都一样，就分不出模块化、可复用、易修改和易测试。</a:t>
            </a:r>
          </a:p>
          <a:p>
            <a:r>
              <a:t>判定：模块看改动跨几个模块、依赖是否单向；复用看 mall-mbg 的 Mapper 是否被 admin 与 portal 共用。</a:t>
            </a:r>
          </a:p>
          <a:p>
            <a:r>
              <a:t>权衡：把同一规则集中会多一层间接，但改规则只改一处；字段注入好写，换成可替换的依赖则更好测。两处写的都是 divide(..., 3, HALF_EVEN)。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时长见本节首页（本节 20 分钟）</a:t>
            </a:r>
          </a:p>
          <a:p>
            <a:r>
              <a:t>定义：易分析性要能从名字看出这段代码在做什么。</a:t>
            </a:r>
          </a:p>
          <a:p>
            <a:r>
              <a:t>代价：后来的维护者会按“取消订单”去读，读到的却是投递消息。</a:t>
            </a:r>
          </a:p>
          <a:p>
            <a:r>
              <a:t>判定：对照方法名、路径和实际调用的方法是否同一件事。</a:t>
            </a:r>
          </a:p>
          <a:p>
            <a:r>
              <a:t>权衡：延迟取消本身可以是合理设计，问题是名字没有把这件事说出来。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时长见本节首页（本节 20 分钟）</a:t>
            </a:r>
          </a:p>
          <a:p>
            <a:r>
              <a:t>定义：名字与行为不一致时，维护者要多读、多猜，还可能改错地方。</a:t>
            </a:r>
          </a:p>
          <a:p>
            <a:r>
              <a:t>代价：读错、改错、测错，时间都花在对名字上。</a:t>
            </a:r>
          </a:p>
          <a:p>
            <a:r>
              <a:t>判定：回答要落到维护者多读了什么、可能改错哪里。</a:t>
            </a:r>
          </a:p>
          <a:p>
            <a:r>
              <a:t>权衡：改名字和改行为是两条路，代价不一样，课堂上分开说。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节：整洁代码与 AI for SE</a:t>
            </a:r>
          </a:p>
          <a:p>
            <a:r>
              <a:t>本节 20 分钟</a:t>
            </a:r>
          </a:p>
          <a:p>
            <a:r>
              <a:t>定义：整洁不是版式好看，是让下一次阅读和修改更便宜。</a:t>
            </a:r>
          </a:p>
          <a:p>
            <a:r>
              <a:t>代价：为了去掉重复而抽错抽象，以后每次修改都要先看懂那层空壳。</a:t>
            </a:r>
          </a:p>
          <a:p>
            <a:r>
              <a:t>判定：问改一个需求要动几处、读多少、会不会碰坏别处。</a:t>
            </a:r>
          </a:p>
          <a:p>
            <a:r>
              <a:t>权衡：重复和错误抽象冲突时，先避免错误抽象。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节：整洁代码与 AI for SE</a:t>
            </a:r>
          </a:p>
          <a:p>
            <a:r>
              <a:t>时长见本节首页（本节 20 分钟）</a:t>
            </a:r>
          </a:p>
          <a:p>
            <a:r>
              <a:t>定义：提示词模式是写给 AI 的规格，不是聊天技巧。</a:t>
            </a:r>
          </a:p>
          <a:p>
            <a:r>
              <a:t>代价：没有规格就让 AI 写代码，事后无法判断该不该留下。</a:t>
            </a:r>
          </a:p>
          <a:p>
            <a:r>
              <a:t>判定：一段提示里能否指出 Persona、Few-shot、Template 或 Question Refinement。</a:t>
            </a:r>
          </a:p>
          <a:p>
            <a:r>
              <a:t>权衡：模式帮助说清楚要求，不能代替后面的判定原则。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节：整洁代码与 AI for SE</a:t>
            </a:r>
          </a:p>
          <a:p>
            <a:r>
              <a:t>时长见本节首页（本节 20 分钟）</a:t>
            </a:r>
          </a:p>
          <a:p>
            <a:r>
              <a:t>定义：四步是和 AI 一起做的顺序。</a:t>
            </a:r>
          </a:p>
          <a:p>
            <a:r>
              <a:t>代价：不先写怎样算做完，后面无法判断该不该留下这段产出。</a:t>
            </a:r>
          </a:p>
          <a:p>
            <a:r>
              <a:t>判定：协作记录里能否按这四步对上。</a:t>
            </a:r>
          </a:p>
          <a:p>
            <a:r>
              <a:t>权衡：顺序不能倒过来：先有准则，再审查，而不是先合并再补理由。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节：整洁代码与 AI for SE</a:t>
            </a:r>
          </a:p>
          <a:p>
            <a:r>
              <a:t>时长见本节首页（本节 20 分钟）</a:t>
            </a:r>
          </a:p>
          <a:p>
            <a:r>
              <a:t>定义：这四条用来决定留下、修改还是丢掉 AI 的输出。</a:t>
            </a:r>
          </a:p>
          <a:p>
            <a:r>
              <a:t>代价：不核对引用和运行时事实，会把不存在的 API 和错误的调用关系写进提交。</a:t>
            </a:r>
          </a:p>
          <a:p>
            <a:r>
              <a:t>判定：每一处采纳都要能指出用了哪一条。</a:t>
            </a:r>
          </a:p>
          <a:p>
            <a:r>
              <a:t>权衡：原理对了、实现不对，仍然不能放行。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节：整洁代码与 AI for SE</a:t>
            </a:r>
          </a:p>
          <a:p>
            <a:r>
              <a:t>时长见本节首页（本节 20 分钟）</a:t>
            </a:r>
          </a:p>
          <a:p>
            <a:r>
              <a:t>定义：附录把工作流和判定原则收成课程里的用法。</a:t>
            </a:r>
          </a:p>
          <a:p>
            <a:r>
              <a:t>代价：记录里没有准则、范围和核对，就对不上判定原则。</a:t>
            </a:r>
          </a:p>
          <a:p>
            <a:r>
              <a:t>判定：提交物里能否看到准则、范围、记录和核对。</a:t>
            </a:r>
          </a:p>
          <a:p>
            <a:r>
              <a:t>权衡：用了 AI 就要留记录；不用也要说清哪些是本人做的。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节：整洁代码与 AI for SE</a:t>
            </a:r>
          </a:p>
          <a:p>
            <a:r>
              <a:t>时长见本节首页（本节 20 分钟）</a:t>
            </a:r>
          </a:p>
          <a:p>
            <a:r>
              <a:t>定义：责任按学术诚信六条，在提交者，不在工具。</a:t>
            </a:r>
          </a:p>
          <a:p>
            <a:r>
              <a:t>代价：把责任推给模型，错误的代码还是进了仓库。</a:t>
            </a:r>
          </a:p>
          <a:p>
            <a:r>
              <a:t>判定：能否向教师解释每一处，并在录屏里演示测试运行。</a:t>
            </a:r>
          </a:p>
          <a:p>
            <a:r>
              <a:t>权衡：可以用 AI，不因此减轻对正确性和质量的责任。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节：小结与布置</a:t>
            </a:r>
          </a:p>
          <a:p>
            <a:r>
              <a:t>本节 3 分钟（计入整洁代码与 AI for SE 的 20 分钟）</a:t>
            </a:r>
          </a:p>
          <a:p>
            <a:r>
              <a:t>定义：这一讲收成版本、两类规范、可维护性和整洁代码。</a:t>
            </a:r>
          </a:p>
          <a:p>
            <a:r>
              <a:t>代价：记不住版本差，下一讲会把过期标准当成依据。</a:t>
            </a:r>
          </a:p>
          <a:p>
            <a:r>
              <a:t>判定：能否说出两处版本差和五个子特性。</a:t>
            </a:r>
          </a:p>
          <a:p>
            <a:r>
              <a:t>权衡：时间不够时，先记住版本差和 /cancelOrder 的易分析性。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节：小结与布置</a:t>
            </a:r>
          </a:p>
          <a:p>
            <a:r>
              <a:t>时长见本节首页（本节 3 分钟（计入整洁代码与 AI for SE 的 20 分钟））</a:t>
            </a:r>
          </a:p>
          <a:p>
            <a:r>
              <a:t>题目页</a:t>
            </a:r>
          </a:p>
          <a:p>
            <a:r>
              <a:t>答案：1C 2A 3A</a:t>
            </a:r>
          </a:p>
          <a:p>
            <a:r>
              <a:t>定义：预习题对应实验 E1，课前按客观题完成。</a:t>
            </a:r>
          </a:p>
          <a:p>
            <a:r>
              <a:t>代价：未做计零分。</a:t>
            </a:r>
          </a:p>
          <a:p>
            <a:r>
              <a:t>判定：生成代码属于不可变约束，不因为编译通过就改。</a:t>
            </a:r>
          </a:p>
          <a:p>
            <a:r>
              <a:t>权衡：容器化解决的是环境和伸缩，不是算法效率，也不替代事务。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节：小结与布置</a:t>
            </a:r>
          </a:p>
          <a:p>
            <a:r>
              <a:t>时长见本节首页（本节 3 分钟（计入整洁代码与 AI for SE 的 20 分钟））</a:t>
            </a:r>
          </a:p>
          <a:p>
            <a:r>
              <a:t>题目页</a:t>
            </a:r>
          </a:p>
          <a:p>
            <a:r>
              <a:t>答案：4A 5B</a:t>
            </a:r>
          </a:p>
          <a:p>
            <a:r>
              <a:t>定义：第 4、5 题仍是 E1 预习，问的是不可变边界和构建配置文件。</a:t>
            </a:r>
          </a:p>
          <a:p>
            <a:r>
              <a:t>代价：找错文件，下一讲的构建会从 README 里找命令。</a:t>
            </a:r>
          </a:p>
          <a:p>
            <a:r>
              <a:t>判定：构建方式看 pom.xml 或 build.gradle，不看 .gitignore。</a:t>
            </a:r>
          </a:p>
          <a:p>
            <a:r>
              <a:t>权衡：边界要在设计时写明；找错文件，构建命令会对不上。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节：小结与布置</a:t>
            </a:r>
          </a:p>
          <a:p>
            <a:r>
              <a:t>时长见本节首页（本节 3 分钟（计入整洁代码与 AI for SE 的 20 分钟））</a:t>
            </a:r>
          </a:p>
          <a:p>
            <a:r>
              <a:t>定义：课后按这些文献核对标准号、年份和提示词模式。</a:t>
            </a:r>
          </a:p>
          <a:p>
            <a:r>
              <a:t>代价：不读原文，版本差只能停在转述。</a:t>
            </a:r>
          </a:p>
          <a:p>
            <a:r>
              <a:t>判定：对照标准号和年份，分清 2011 的八特性与 2023 的九特性。</a:t>
            </a:r>
          </a:p>
          <a:p>
            <a:r>
              <a:t>权衡：先读 12207 与 25010 的版本差，再读提示词模式和课程附录。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 descr="usc_r5_c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3" descr="usc_r5_c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30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 descr="（白底）中文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28600"/>
            <a:ext cx="16764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1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524000"/>
            <a:ext cx="7772400" cy="1371600"/>
          </a:xfrm>
        </p:spPr>
        <p:txBody>
          <a:bodyPr/>
          <a:lstStyle>
            <a:lvl1pPr>
              <a:defRPr sz="4500"/>
            </a:lvl1pPr>
          </a:lstStyle>
          <a:p>
            <a:pPr lvl="0"/>
            <a:r>
              <a:rPr lang="zh-CN" altLang="en-US" noProof="0"/>
              <a:t>单击此处编辑母版标题样式</a:t>
            </a:r>
            <a:endParaRPr lang="zh-CN" altLang="en-US" noProof="0"/>
          </a:p>
        </p:txBody>
      </p:sp>
      <p:sp>
        <p:nvSpPr>
          <p:cNvPr id="1181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29000"/>
            <a:ext cx="7010400" cy="1600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000"/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fld id="{13B25BE5-3F7A-4904-922D-A053C7DF175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667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34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3838" y="304800"/>
            <a:ext cx="2001837" cy="5715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66738" y="304800"/>
            <a:ext cx="5854700" cy="57150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4.jpeg"/><Relationship Id="rId13" Type="http://schemas.openxmlformats.org/officeDocument/2006/relationships/image" Target="../media/image1.jpeg"/><Relationship Id="rId14" Type="http://schemas.openxmlformats.org/officeDocument/2006/relationships/image" Target="../media/image2.jpe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ltHorz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74675" y="304800"/>
            <a:ext cx="8001000" cy="96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7526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609600" y="1295400"/>
            <a:ext cx="7958138" cy="109538"/>
          </a:xfrm>
          <a:custGeom>
            <a:avLst/>
            <a:gdLst>
              <a:gd name="T0" fmla="*/ 0 w 1000"/>
              <a:gd name="T1" fmla="*/ 0 h 1000"/>
              <a:gd name="T2" fmla="*/ 4655511 w 1000"/>
              <a:gd name="T3" fmla="*/ 0 h 1000"/>
              <a:gd name="T4" fmla="*/ 4655511 w 1000"/>
              <a:gd name="T5" fmla="*/ 109538 h 1000"/>
              <a:gd name="T6" fmla="*/ 0 w 1000"/>
              <a:gd name="T7" fmla="*/ 109538 h 1000"/>
              <a:gd name="T8" fmla="*/ 0 w 1000"/>
              <a:gd name="T9" fmla="*/ 0 h 1000"/>
              <a:gd name="T10" fmla="*/ 7958138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609600" y="6172200"/>
            <a:ext cx="79248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548313" y="6308725"/>
            <a:ext cx="36718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zh-CN" altLang="en-US">
                <a:solidFill>
                  <a:srgbClr val="009900"/>
                </a:solidFill>
                <a:latin typeface="Verdana" panose="020B0604030504040204" pitchFamily="34" charset="0"/>
                <a:ea typeface="隶书" panose="02010509060101010101" pitchFamily="49" charset="-122"/>
              </a:rPr>
              <a:t>计算机科学与技术学院</a:t>
            </a:r>
            <a:endParaRPr lang="zh-CN" altLang="en-US">
              <a:solidFill>
                <a:srgbClr val="009900"/>
              </a:solidFill>
              <a:latin typeface="Verdana" panose="020B0604030504040204" pitchFamily="34" charset="0"/>
              <a:ea typeface="隶书" panose="02010509060101010101" pitchFamily="49" charset="-122"/>
            </a:endParaRPr>
          </a:p>
        </p:txBody>
      </p:sp>
      <p:pic>
        <p:nvPicPr>
          <p:cNvPr id="1031" name="Picture 8" descr="计算机学院logo-1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6413" y="626110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 descr="usc_r5_c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38" y="6221413"/>
            <a:ext cx="2217737" cy="60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13" descr="usc_r5_c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1938" y="6219825"/>
            <a:ext cx="2227262" cy="60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88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304925" indent="-39560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3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94180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94230" indent="-39878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3200" b="0" lang="zh-CN" altLang="en-US"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第 1 次课｜标准与规范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本次目标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序号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这次课要达到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了解安排：既有系统为棕地载体，每章配一次实验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理解流程规范与内容规范的区别，标准可以剪裁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掌握可维护性五个子特性，能比较、评价方案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了解标准体系内部的版本差与引用错位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理解整洁代码的核心判据</a:t>
                      </a:r>
                    </a:p>
                  </a:txBody>
                  <a:tcPr anchor="ctr"/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掌握 AI 协作工作流与输出的判定原则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专业核心课，承上启下。先修 Java 程序设计、Web 前端、Web 后端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在既有系统上理解设计、诊断缺陷、约束下修改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用规范和测试证明改对了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本部分理论 7 次、实验 7 次，共 28 学时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课程总学时 56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五章与五个环节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五章对应一次开发的五个环节，从标准与规范排到编码与部署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标准与规范；运行环境；体系结构设计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软件设计、重构与系统演化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编码、测试与部署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同时培养与 AI 协作，并验证其产出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棕地开发与每周流程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棕地：既有系统为起点。载体 mall（Spring Boot、MyBatis，7 个模块）。本周实验是 E1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4187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预习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2851099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125419"/>
            <a:ext cx="8321040" cy="4187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课堂实操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354421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3818534"/>
            <a:ext cx="8321040" cy="4187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录屏讲解</a:t>
            </a:r>
          </a:p>
        </p:txBody>
      </p:sp>
      <p:sp>
        <p:nvSpPr>
          <p:cNvPr id="9" name="fig"/>
          <p:cNvSpPr/>
          <p:nvPr/>
        </p:nvSpPr>
        <p:spPr>
          <a:xfrm>
            <a:off x="4434840" y="4237329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g"/>
          <p:cNvSpPr/>
          <p:nvPr/>
        </p:nvSpPr>
        <p:spPr>
          <a:xfrm>
            <a:off x="411480" y="4511649"/>
            <a:ext cx="8321040" cy="4187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线上互评</a:t>
            </a:r>
          </a:p>
        </p:txBody>
      </p:sp>
      <p:sp>
        <p:nvSpPr>
          <p:cNvPr id="11" name="fig"/>
          <p:cNvSpPr/>
          <p:nvPr/>
        </p:nvSpPr>
        <p:spPr>
          <a:xfrm>
            <a:off x="4434840" y="493044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ig"/>
          <p:cNvSpPr/>
          <p:nvPr/>
        </p:nvSpPr>
        <p:spPr>
          <a:xfrm>
            <a:off x="411480" y="5204764"/>
            <a:ext cx="8321040" cy="4187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演示投票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成绩构成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预习未做计零分；互评每人匿名评 3 份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签到 1 次 1 分，10 次以上满分；访问 300 次满分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一页说明按五问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3401568"/>
          <a:ext cx="841248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554480"/>
                <a:gridCol w="5669280"/>
              </a:tblGrid>
              <a:tr h="6583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占比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怎么算</a:t>
                      </a:r>
                    </a:p>
                  </a:txBody>
                  <a:tcPr anchor="ctr"/>
                </a:tc>
              </a:tr>
              <a:tr h="6583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网络课堂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30%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预习 30、互评 20、签到 30、访问 20</a:t>
                      </a:r>
                    </a:p>
                  </a:txBody>
                  <a:tcPr anchor="ctr"/>
                </a:tc>
              </a:tr>
              <a:tr h="658368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项目实践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70%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 30、有依据 30、验证过 40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允许并鼓励在项目实践中使用生成式AI工具，但须遵守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条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必须遵守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（1）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在提交物中标注使用了AI的部分及所用工具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（2）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能够向教师解释AI产出的每一处内容，答辩时随机抽查讲解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（3）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对提交物的正确性与质量负全部责任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（4）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作品讲解的录屏须由本人完成并演示测试运行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（5）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AI检测器的结论不作为认定违规的依据，核验依靠作品讲解、现场演示和期末独立展示</a:t>
                      </a:r>
                    </a:p>
                  </a:txBody>
                  <a:tcPr anchor="ctr"/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（6）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未标注使用AI、无法解释产出内容或以AI产出冒充本人完成的，按学术不诚信处理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协作记录与提交说明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059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写什么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协作记录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验收准则、使用范围、所用工具、修订记录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五问 1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要理解或改变什么？代码和业务依据是什么？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五问 2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我完成了什么？为何这样选择、代价是什么？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五问 3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哪些结论已验证，哪些未验证？</a:t>
                      </a:r>
                    </a:p>
                  </a:txBody>
                  <a:tcPr anchor="ctr"/>
                </a:tc>
              </a:tr>
              <a:tr h="6766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一页说明按五问；录屏不超过 2 分钟，本人演示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标准的定义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标准（GB/T 20000.1-2014）：按规定程序，经协商一致制定，供共同使用和重复使用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为各种活动或其结果提供规则、指南或特性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供共同使用和重复使用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标准宜以科学、技术和经验的综合成果为基础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标准的五个层次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国际标准：供各国参考，如 ISO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国家标准：适用于全国，如 GB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行业标准：如 JR（金融）、YY（医药）、JT（交通）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企业规范：如 IBM《程序设计开发指南》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项目规范：如 CIMS 软件工程规范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国家标准的四类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类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规定什么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基础标准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术语、符号、表示、构造、分类及约定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开发标准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生存期过程、支持环境、维护等工作规范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文档标准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产品、需求、测试、管理等文档怎么编制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管理标准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配置管理、质量保证、可靠性与可维护性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分法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这四类是软件工程国家标准的分法</a:t>
                      </a:r>
                    </a:p>
                  </a:txBody>
                  <a:tcPr anchor="ctr"/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以现行版本为准，旧编号不能再当成现行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本课要用的主要标准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4754880"/>
              </a:tblGrid>
              <a:tr h="51206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标准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主题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GB/T 11457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软件工程术语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GB/T 8566-2022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软件生存周期过程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GB/T 8567-2006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计算机软件文档编制规范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GB/T 25000.10-2016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系统与软件质量模型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ISO/IEC 25010:2023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产品质量模型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ISO/IEC/IEEE 12207:2026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软件生存周期过程</a:t>
                      </a:r>
                    </a:p>
                  </a:txBody>
                  <a:tcPr anchor="ctr"/>
                </a:tc>
              </a:tr>
              <a:tr h="51206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SWEBOK Guide V4.0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软件工程知识体系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版本差：12207 与 GB/T 8566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ISO/IEC/IEEE 12207 的 2026 版是最新版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国内尚未同步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现行 GB/T 8566-2022 等同采用（IDT）12207:2017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采标的不是 2026 版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规范文本本身也要核验版本，更新后的国际标准国内不会自动跟上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版本差：25010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201625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八特性：GB/T 25000.10-2016 承接 25010:2011 八特性</a:t>
            </a:r>
          </a:p>
        </p:txBody>
      </p:sp>
      <p:sp>
        <p:nvSpPr>
          <p:cNvPr id="4" name="fig"/>
          <p:cNvSpPr/>
          <p:nvPr/>
        </p:nvSpPr>
        <p:spPr>
          <a:xfrm>
            <a:off x="164592" y="3735324"/>
            <a:ext cx="8814816" cy="201625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九特性：25010:2023 九特性（新增 Safety，Usability→Interaction Capability，Portability→Flexibility）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版本差要核验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标准体系内部有版本差，也有引用错位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GB/T 8566-2022 的采标关系已核实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核实处：全国标准信息公共服务平台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国标被代替前不会自动作废，现行文本可能还指着上一版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课后核对原文，课堂只讲关系和取舍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流程规范管步骤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实例：GB/T 8566，以及 CMMI 成熟度等级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54681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1 初始级：过程不可控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3125419"/>
            <a:ext cx="7918704" cy="54681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2 已管理级：项目过程可控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3818534"/>
            <a:ext cx="7516367" cy="54681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 已定义级：组织内部过程已制度化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4511649"/>
            <a:ext cx="7114031" cy="54681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4 定量管理级：过程已测量和控制</a:t>
            </a:r>
          </a:p>
        </p:txBody>
      </p:sp>
      <p:sp>
        <p:nvSpPr>
          <p:cNvPr id="8" name="fig"/>
          <p:cNvSpPr/>
          <p:nvPr/>
        </p:nvSpPr>
        <p:spPr>
          <a:xfrm>
            <a:off x="1216152" y="5204764"/>
            <a:ext cx="6711696" cy="54681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5 优化级：关注持续的过程改进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内容规范，以及剪裁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059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定义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内容规范管产物，规定写成什么样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GB/T 8567-2006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开发文档、用户文档、管理文档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代替关系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GB8567-88 已被 GB/T 8567-2006 代替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手册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阿里巴巴《Java开发手册（黄山版）》</a:t>
                      </a:r>
                    </a:p>
                  </a:txBody>
                  <a:tcPr anchor="ctr"/>
                </a:tc>
              </a:tr>
              <a:tr h="6766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剪裁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标准可以按项目剪裁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你在前后端课程中遵守过哪些规范？属于流程规范还是内容规范？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产品质量与使用质量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模型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本讲怎么用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产品质量模型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看产品本身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使用质量模型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看使用中的效果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可维护性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用来比较、评价设计方案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五个子特性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模块化、可复用性、易分析性、易修改性、易测试性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用法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五个词是全课程评价设计的统一词汇</a:t>
                      </a:r>
                    </a:p>
                  </a:txBody>
                  <a:tcPr anchor="ctr"/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现场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判定放在后面的 mall 接口上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怎么在代码里判定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子特性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怎么在代码里判定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模块化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模块化：怎么在代码里判定——改动跨几个模块，依赖是否单向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可复用性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可复用性：怎么在代码里判定——mall-mbg 能否给 admin、portal 共用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易分析性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易分析性：怎么在代码里判定——名字与调用是否一致；/cancelOrder 只投递延迟消息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易修改性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易修改性：怎么在代码里判定——同一规则在几处：OmsPortalOrderServiceImpl 第157、662行</a:t>
                      </a:r>
                    </a:p>
                  </a:txBody>
                  <a:tcPr anchor="ctr"/>
                </a:tc>
              </a:tr>
              <a:tr h="7162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易测试性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易测试性：怎么在代码里判定——依赖能否替换；34-42 全是 @Autowired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现场判定：/cancelOrder 只投递延迟消息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/cancelOrder 只调用 sendDelayMessageCancelOrder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实际只投递延迟消息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名字与行为不一致，归到易分析性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2249423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@Operation(​summary ​= ​"取消单个超时订单")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@RequestMapping(​value ​= ​"/cancelOrder",​ method ​= ​RequestMethod.​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POST)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@ResponseBody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public CommonResult cancelOrder(​Long orderId)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portalOrderService.​sendDelayMessageCancelOrder(​orderId);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return CommonResult.​success(​null);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69279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出处：mall-portal/​src/​main/​java/​com/​macro/​mall/​portal/​controller/​OmsPortalOrderController.java:​64-70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417880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一个名字与行为不一致的接口，会让后来的维护者付出什么代价？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整洁代码的判据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核心判据：降低后续每一次阅读和修改的成本，版式好看并不算数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包括命名、函数、注释、格式与错误处理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也包括边界封装、测试与类的设计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错误抽象的成本往往高于重复代码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形式要求都要服从这一条判据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提示词模式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提示词模式就是人与 AI 之间的规格说明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来源：White 等 2023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962656"/>
            <a:ext cx="4091939" cy="135331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Persona</a:t>
            </a:r>
          </a:p>
        </p:txBody>
      </p:sp>
      <p:sp>
        <p:nvSpPr>
          <p:cNvPr id="5" name="fig"/>
          <p:cNvSpPr/>
          <p:nvPr/>
        </p:nvSpPr>
        <p:spPr>
          <a:xfrm>
            <a:off x="4640580" y="2962656"/>
            <a:ext cx="4091939" cy="135331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Few-shot</a:t>
            </a:r>
          </a:p>
        </p:txBody>
      </p:sp>
      <p:sp>
        <p:nvSpPr>
          <p:cNvPr id="6" name="fig"/>
          <p:cNvSpPr/>
          <p:nvPr/>
        </p:nvSpPr>
        <p:spPr>
          <a:xfrm>
            <a:off x="411480" y="4453128"/>
            <a:ext cx="4091939" cy="135331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Template</a:t>
            </a:r>
          </a:p>
        </p:txBody>
      </p:sp>
      <p:sp>
        <p:nvSpPr>
          <p:cNvPr id="7" name="fig"/>
          <p:cNvSpPr/>
          <p:nvPr/>
        </p:nvSpPr>
        <p:spPr>
          <a:xfrm>
            <a:off x="4640580" y="4453128"/>
            <a:ext cx="4091939" cy="135331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Question Refinement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协作工作流四步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1 任务分解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2 上下文与边界界定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 先写验收准则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4 人工审查与修订记录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AI 输出的四条判定原则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核对引用是否存在</a:t>
            </a:r>
          </a:p>
        </p:txBody>
      </p:sp>
      <p:sp>
        <p:nvSpPr>
          <p:cNvPr id="4" name="fig"/>
          <p:cNvSpPr/>
          <p:nvPr/>
        </p:nvSpPr>
        <p:spPr>
          <a:xfrm>
            <a:off x="4640580" y="1572768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核对运行时事实</a:t>
            </a:r>
          </a:p>
        </p:txBody>
      </p:sp>
      <p:sp>
        <p:nvSpPr>
          <p:cNvPr id="5" name="fig"/>
          <p:cNvSpPr/>
          <p:nvPr/>
        </p:nvSpPr>
        <p:spPr>
          <a:xfrm>
            <a:off x="411480" y="3758183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区分原理与实现</a:t>
            </a:r>
          </a:p>
        </p:txBody>
      </p:sp>
      <p:sp>
        <p:nvSpPr>
          <p:cNvPr id="6" name="fig"/>
          <p:cNvSpPr/>
          <p:nvPr/>
        </p:nvSpPr>
        <p:spPr>
          <a:xfrm>
            <a:off x="4640580" y="3758183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拿原则与规范作依据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附录《AI协作与产出验收规范》怎么用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先写验收准则，再和 AI 一起做，顺序不能倒过来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在提交物中标注 AI 的使用范围和所用工具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留下协作记录：验收准则、使用范围、所用工具，并写下修订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做完按四条判定原则核对产出</a:t>
            </a:r>
          </a:p>
          <a:p>
            <a:pPr algn="l" eaLnBrk="1" hangingPunct="1">
              <a:lnSpc>
                <a:spcPct val="100000"/>
              </a:lnSpc>
              <a:spcBef>
                <a:spcPts val="2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对产出的正确性和质量承担解释责任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用AI写出的代码出了问题，责任在谁？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记住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要点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两类规范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流程管步骤，内容管产物；标准可剪裁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12207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2026 版是最新版，国内尚未同步；GB/T 8566-2022 等同采用 12207:2017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25010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2023 是九特性；25000.10-2016 承接八特性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可维护性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五个子特性用来比较、评价；/cancelOrder 看易分析性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整洁代码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降低后续阅读和修改成本；错误抽象成本往往更高</a:t>
                      </a:r>
                    </a:p>
                  </a:txBody>
                  <a:tcPr anchor="ctr"/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下一讲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E1 开发环境与棕地仓库导读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在分层架构中，生成代码模块（如 mall-mbg）的代码应当如何看待？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与手写代码同等对待，可随时修改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只能由数据科学家修改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属于不可变约束，接口与用法需按规定使用，不直接改动生成产物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编译通过就可以改动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mall-mbg 模块由代码生成器产出，属于不可变约束的一部分。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容器化编排相对在服务器上直接部署，主要解决了什么问题？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让应用与依赖一起打包，保证各环境运行一致，并支持弹性伸缩与故障恢复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提升算法执行效率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替代数据库的事务能力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消除对中间件的依赖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预习题（4—5）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生成代码模块的边界应当在设计阶段作为不可变约束写明。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既有系统的构建方式（如何编译、打包、启动）信息，通常记录在哪个文件里？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.gitignore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构建配置文件，例如 Maven 的 pom.xml 或 Gradle 的 build.gradle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README 的目录结构说明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数据库初始化脚本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课后阅读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[15]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SWEBOK Guide V4.0 第4章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[16]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GB/T 25000.10-2016 第4章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[17][18]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GB/T 8566-2022；GB/T 8567-2006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[19][20]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ISO/IEC 25010:2023；ISO/IEC/IEEE 12207:2026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[29][42]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White 等 2023；Vanderbilt《Prompt Engineering for ChatGPT》</a:t>
                      </a:r>
                    </a:p>
                  </a:txBody>
                  <a:tcPr anchor="ctr"/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[44][47]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Northeastern CS4530；课程组《AI协作与产出验收规范》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