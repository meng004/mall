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3"/>
  </p:notesMasterIdLst>
  <p:handoutMasterIdLst>
    <p:handoutMasterId r:id="rId6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317" r:id="rId70"/>
    <p:sldId id="290" r:id="rId36"/>
    <p:sldId id="291" r:id="rId37"/>
    <p:sldId id="292" r:id="rId38"/>
    <p:sldId id="293" r:id="rId39"/>
    <p:sldId id="294" r:id="rId40"/>
    <p:sldId id="296" r:id="rId42"/>
    <p:sldId id="295" r:id="rId41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4" r:id="rId60"/>
    <p:sldId id="315" r:id="rId61"/>
    <p:sldId id="316" r:id="rId62"/>
  </p:sldIdLst>
  <p:sldSz cx="9144000" cy="6858000" type="screen4x3"/>
  <p:notesSz cx="6761163" cy="9931400"/>
  <p:custDataLst>
    <p:tags r:id="rId6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9">
          <p15:clr>
            <a:srgbClr val="A4A3A4"/>
          </p15:clr>
        </p15:guide>
        <p15:guide id="2" pos="213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2937"/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3175" autoAdjust="0"/>
    <p:restoredTop sz="86376" autoAdjust="0"/>
  </p:normalViewPr>
  <p:slideViewPr>
    <p:cSldViewPr showGuides="1">
      <p:cViewPr varScale="1">
        <p:scale>
          <a:sx n="61" d="100"/>
          <a:sy n="61" d="100"/>
        </p:scale>
        <p:origin x="736" y="92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" Target="slides/slide40.xml"/><Relationship Id="rId41" Type="http://schemas.openxmlformats.org/officeDocument/2006/relationships/slide" Target="slides/slide42.xml"/><Relationship Id="rId42" Type="http://schemas.openxmlformats.org/officeDocument/2006/relationships/slide" Target="slides/slide41.xml"/><Relationship Id="rId43" Type="http://schemas.openxmlformats.org/officeDocument/2006/relationships/slide" Target="slides/slide43.xml"/><Relationship Id="rId44" Type="http://schemas.openxmlformats.org/officeDocument/2006/relationships/slide" Target="slides/slide44.xml"/><Relationship Id="rId45" Type="http://schemas.openxmlformats.org/officeDocument/2006/relationships/slide" Target="slides/slide45.xml"/><Relationship Id="rId46" Type="http://schemas.openxmlformats.org/officeDocument/2006/relationships/slide" Target="slides/slide46.xml"/><Relationship Id="rId47" Type="http://schemas.openxmlformats.org/officeDocument/2006/relationships/slide" Target="slides/slide47.xml"/><Relationship Id="rId48" Type="http://schemas.openxmlformats.org/officeDocument/2006/relationships/slide" Target="slides/slide48.xml"/><Relationship Id="rId49" Type="http://schemas.openxmlformats.org/officeDocument/2006/relationships/slide" Target="slides/slide49.xml"/><Relationship Id="rId50" Type="http://schemas.openxmlformats.org/officeDocument/2006/relationships/slide" Target="slides/slide50.xml"/><Relationship Id="rId51" Type="http://schemas.openxmlformats.org/officeDocument/2006/relationships/slide" Target="slides/slide51.xml"/><Relationship Id="rId52" Type="http://schemas.openxmlformats.org/officeDocument/2006/relationships/slide" Target="slides/slide52.xml"/><Relationship Id="rId53" Type="http://schemas.openxmlformats.org/officeDocument/2006/relationships/slide" Target="slides/slide53.xml"/><Relationship Id="rId54" Type="http://schemas.openxmlformats.org/officeDocument/2006/relationships/slide" Target="slides/slide54.xml"/><Relationship Id="rId55" Type="http://schemas.openxmlformats.org/officeDocument/2006/relationships/slide" Target="slides/slide55.xml"/><Relationship Id="rId56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notesMaster" Target="notesMasters/notesMaster1.xml"/><Relationship Id="rId64" Type="http://schemas.openxmlformats.org/officeDocument/2006/relationships/handoutMaster" Target="handoutMasters/handoutMaster1.xml"/><Relationship Id="rId65" Type="http://schemas.openxmlformats.org/officeDocument/2006/relationships/tags" Target="tags/tag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Relationship Id="rId70" Type="http://schemas.openxmlformats.org/officeDocument/2006/relationships/slide" Target="slides/slide3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节：封面</a:t>
            </a:r>
          </a:p>
          <a:p>
            <a:r>
              <a:t>定义：本课是专业核心课，承上启下，以既有系统为载体。</a:t>
            </a:r>
          </a:p>
          <a:p>
            <a:r>
              <a:t>判定：开场点明这是第 1 次课，讲标准与规范，并介绍任课教师。</a:t>
            </a:r>
          </a:p>
          <a:p>
            <a:r>
              <a:t>权衡：三个班周次不同，封面只写课次和章节，不标上课时间。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节：目录</a:t>
            </a:r>
          </a:p>
          <a:p>
            <a:r>
              <a:t>定义：本次课按九个部分展开，各部分名称与正文各节首页标题一致。</a:t>
            </a:r>
          </a:p>
          <a:p>
            <a:r>
              <a:t>判定：能否按顺序说出各部分。</a:t>
            </a:r>
          </a:p>
          <a:p>
            <a:r>
              <a:t>权衡：课程导入 20 分钟，标准规范体系 25 分钟，流程规范与内容规范 15 分钟，质量模型与可维护性 20 分钟，需求如何转为设计方案与 AI for SE 合计 20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节：本次课目标</a:t>
            </a:r>
          </a:p>
          <a:p>
            <a:r>
              <a:t>定义：五项目标与教案“教学目标与要求”一致，落在标准、可维护性和与 AI 协作上。</a:t>
            </a:r>
          </a:p>
          <a:p>
            <a:r>
              <a:t>代价：缺少统一的词汇，后面的实验无法按同一口径提交。</a:t>
            </a:r>
          </a:p>
          <a:p>
            <a:r>
              <a:t>判定：能否分别说出两类规范、五个子特性、版本差与 AI 输出的核对内容。</a:t>
            </a:r>
          </a:p>
          <a:p>
            <a:r>
              <a:t>权衡：时间不够时，先保住版本差和可维护性，条文留到课后阅读。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节：本次课目标</a:t>
            </a:r>
          </a:p>
          <a:p>
            <a:r>
              <a:t>定义：重点与难点与教案“重点与难点”逐字一致。</a:t>
            </a:r>
          </a:p>
          <a:p>
            <a:r>
              <a:t>代价：重点不明，课堂时间会被条文细节占去。</a:t>
            </a:r>
          </a:p>
          <a:p>
            <a:r>
              <a:t>判定：重点看能否复述并应用；难点看能否用通俗示例讲清，再回到标准条文。</a:t>
            </a:r>
          </a:p>
          <a:p>
            <a:r>
              <a:t>权衡：难点各配一页通俗示例（剪裁用课程设计报告，版本差用手机系统版本），讲完回到标准条文。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节：课程导入</a:t>
            </a:r>
          </a:p>
          <a:p>
            <a:r>
              <a:t>本节 20 分钟。</a:t>
            </a:r>
          </a:p>
          <a:p>
            <a:r>
              <a:t>定义：说明课程怎么上，介绍考核方式与 AI 使用规范，说明协作记录与提交说明的写法。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节：课程导入</a:t>
            </a:r>
          </a:p>
          <a:p>
            <a:r>
              <a:t>定义：课程训练在既有系统上把设计讲清楚，并用规范与测试证明。</a:t>
            </a:r>
          </a:p>
          <a:p>
            <a:r>
              <a:t>代价：只讲结论、不讲载体，学生无法在真实代码里判定。</a:t>
            </a:r>
          </a:p>
          <a:p>
            <a:r>
              <a:t>判定：能否说出先修五门课程与后继两门课程的名称。</a:t>
            </a:r>
          </a:p>
          <a:p>
            <a:r>
              <a:t>权衡：框架只当例子，原理比某一门框架存续得更久。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节：课程导入</a:t>
            </a:r>
          </a:p>
          <a:p>
            <a:r>
              <a:t>定义：五章顺着一次开发往下排；本部分理论 7 次、实验 7 次，各 2 学时，共 28 学时（课程总学时 56，另一部分由另一位教师讲授）。</a:t>
            </a:r>
          </a:p>
          <a:p>
            <a:r>
              <a:t>代价：章次对不上，后面实验会失去上下文。</a:t>
            </a:r>
          </a:p>
          <a:p>
            <a:r>
              <a:t>判定：能否按顺序说出五章名称。</a:t>
            </a:r>
          </a:p>
          <a:p>
            <a:r>
              <a:t>权衡：环节的细节留到各章，这里只建立地图。AI for SE 贯穿五个环节。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节：课程导入</a:t>
            </a:r>
          </a:p>
          <a:p>
            <a:r>
              <a:t>定义：棕地开发指以既有系统为起点的开发方式，真实工作大多如此（教案“教学方法”）。</a:t>
            </a:r>
          </a:p>
          <a:p>
            <a:r>
              <a:t>代价：案例各自独立、技术栈与已学的 Web 开发对不上，原则落不到代码上。</a:t>
            </a:r>
          </a:p>
          <a:p>
            <a:r>
              <a:t>判定：全部实验是否都在同一个 mall 上完成，而不是每次换一个例子。</a:t>
            </a:r>
          </a:p>
          <a:p>
            <a:r>
              <a:t>权衡：选取理由与运行环境放到第二章（T2）讲，这里只建立“棕地”这个词。</a:t>
            </a:r>
          </a:p>
          <a:p>
            <a:r>
              <a:t>核对：七个模块名取自基线 baseline-dcaa93b3 的根 pom.xml 第 13—19 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节：课程导入</a:t>
            </a:r>
          </a:p>
          <a:p>
            <a:r>
              <a:t>定义：每周一个实验，全部实验个人完成。</a:t>
            </a:r>
          </a:p>
          <a:p>
            <a:r>
              <a:t>代价：缺少课前预习，课堂时间会被环境与背景占去。</a:t>
            </a:r>
          </a:p>
          <a:p>
            <a:r>
              <a:t>判定：每一步是否留下可查的产物：预习题成绩、实操记录、录屏、演示与投票。</a:t>
            </a:r>
          </a:p>
          <a:p>
            <a:r>
              <a:t>权衡：课堂时间主要留给实验和讨论，预习放在线上。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节：课程导入</a:t>
            </a:r>
          </a:p>
          <a:p>
            <a:r>
              <a:t>定义：网络课堂看过程，项目实践看每次作品。</a:t>
            </a:r>
          </a:p>
          <a:p>
            <a:r>
              <a:t>代价：未做预习计零分；未运行的部分不得相应分数。</a:t>
            </a:r>
          </a:p>
          <a:p>
            <a:r>
              <a:t>判定：每次作业三个维度是否各有证据：讲清楚、有依据、验证过。</a:t>
            </a:r>
          </a:p>
          <a:p>
            <a:r>
              <a:t>权衡：缺哪项扣哪项，不把同一个问题重复扣进无关子项。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节：课程导入</a:t>
            </a:r>
          </a:p>
          <a:p>
            <a:r>
              <a:t>定义：允许并鼓励使用生成式 AI，六条是使用条件，不是禁令。</a:t>
            </a:r>
          </a:p>
          <a:p>
            <a:r>
              <a:t>代价：未标注、无法解释或以 AI 产出冒充本人完成的，按学术不诚信处理。</a:t>
            </a:r>
          </a:p>
          <a:p>
            <a:r>
              <a:t>判定：核验依靠作品讲解、现场演示和期末独立展示，不依靠 AI 检测器。</a:t>
            </a:r>
          </a:p>
          <a:p>
            <a:r>
              <a:t>权衡：鼓励用工具，责任仍全部在提交者。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节：课程导入</a:t>
            </a:r>
          </a:p>
          <a:p>
            <a:r>
              <a:t>定义：协作记录留下怎样使用 AI；提交说明回答三组问题。</a:t>
            </a:r>
          </a:p>
          <a:p>
            <a:r>
              <a:t>代价：只复述 AI 的话、不写依据和证据，有依据与验证过拿不到分。</a:t>
            </a:r>
          </a:p>
          <a:p>
            <a:r>
              <a:t>判定：三组问题是否都有内容；录屏是否本人演示核实 AI 答案的过程。</a:t>
            </a:r>
          </a:p>
          <a:p>
            <a:r>
              <a:t>权衡：如实写明未完成的范围可得解释分；伪造运行记录按学术诚信规范处理。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节：标准规范体系</a:t>
            </a:r>
          </a:p>
          <a:p>
            <a:r>
              <a:t>本节 25 分钟。</a:t>
            </a:r>
          </a:p>
          <a:p>
            <a:r>
              <a:t>定义：讲标准的层次与主要国家标准；用两处版本差说明规范文本本身也需要核验版本。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节：标准规范体系</a:t>
            </a:r>
          </a:p>
          <a:p>
            <a:r>
              <a:t>定义：标准的作用之一，是约定术语与口径，使各方的产物可以对照。</a:t>
            </a:r>
          </a:p>
          <a:p>
            <a:r>
              <a:t>代价：口径不一致时，同一组数据得出不同结论，双方都可能没有算错。</a:t>
            </a:r>
          </a:p>
          <a:p>
            <a:r>
              <a:t>判定：手工验算：按学分加权为 (3×80＋2×50)÷5＝340÷5＝68.00；按课程数算术平均为 (80＋50)÷2＝65.00。</a:t>
            </a:r>
          </a:p>
          <a:p>
            <a:r>
              <a:t>权衡：哪一种口径更合适取决于需求；关键是先写明口径，再比较结果。后文的学生成绩统计函数采用按学分加权。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节：标准规范体系</a:t>
            </a:r>
          </a:p>
          <a:p>
            <a:r>
              <a:t>定义：GB/T 20000.1-2014：通过标准化活动，按照规定的程序经协商一致制定，为各种活动或其结果提供规则、指南或特性，供共同使用和重复使用的文件。</a:t>
            </a:r>
          </a:p>
          <a:p>
            <a:r>
              <a:t>代价：把个人习惯当成标准，换一个项目就无法对齐。</a:t>
            </a:r>
          </a:p>
          <a:p>
            <a:r>
              <a:t>判定：看它是不是按规定程序协商一致制定，并且供共同使用和重复使用。</a:t>
            </a:r>
          </a:p>
          <a:p>
            <a:r>
              <a:t>权衡：标准给出共同规则，项目仍可以剪裁，不是每一条都要原样照搬。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节：标准规范体系</a:t>
            </a:r>
          </a:p>
          <a:p>
            <a:r>
              <a:t>定义：层次看谁制定、在多大范围里使用。</a:t>
            </a:r>
          </a:p>
          <a:p>
            <a:r>
              <a:t>代价：把国际标准直接当成国内现行国标，版本一对就错。</a:t>
            </a:r>
          </a:p>
          <a:p>
            <a:r>
              <a:t>判定：先问这份文件属于哪一层，再问本项目引用的是哪一版。</a:t>
            </a:r>
          </a:p>
          <a:p>
            <a:r>
              <a:t>权衡：下层可以更具体，但不能假装已同步了上层的新版本。JR、YY、JT 是行业标准代号；GJB 是国家军用标准，IEEE 是国际专业组织标准，不放在行业这一层。</a:t>
            </a:r>
          </a:p>
          <a:p>
            <a:r>
              <a:rPr lang="zh-CN" altLang="en-US"/>
              <a:t>页上层级图据 2024 第 3-4 讲第 7–8 页“标准编制的层次”的说明画，原页只有文字；自上而下五层逐级收窄，适用范围与示例同原表。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节：标准规范体系</a:t>
            </a:r>
          </a:p>
          <a:p>
            <a:r>
              <a:t>定义：国标按基础、开发、文档、管理四类来归。</a:t>
            </a:r>
          </a:p>
          <a:p>
            <a:r>
              <a:t>代价：沿用旧的标准号，引用的已经不是现行文本。</a:t>
            </a:r>
          </a:p>
          <a:p>
            <a:r>
              <a:t>判定：看到一个标准号，先归到这四类里的哪一类，再核对年份。</a:t>
            </a:r>
          </a:p>
          <a:p>
            <a:r>
              <a:t>权衡：分类是地图，采标关系还要再核验版本。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节：标准规范体系</a:t>
            </a:r>
          </a:p>
          <a:p>
            <a:r>
              <a:t>定义：这些是本章要对照的标准与知识体系，不是完整清单。</a:t>
            </a:r>
          </a:p>
          <a:p>
            <a:r>
              <a:t>代价：沿用旧版编号，结论会对错版本。</a:t>
            </a:r>
          </a:p>
          <a:p>
            <a:r>
              <a:t>判定：引用时写出标准号和年份，不写笼统的“国标规定”。</a:t>
            </a:r>
          </a:p>
          <a:p>
            <a:r>
              <a:t>权衡：课堂只讲它们之间的关系和版本差，条文放在课后阅读。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节：标准规范体系</a:t>
            </a:r>
          </a:p>
          <a:p>
            <a:r>
              <a:t>难点通俗示例（版本差），不依赖 mall。</a:t>
            </a:r>
          </a:p>
          <a:p>
            <a:r>
              <a:t>定义：最新版存在，不等于你在用的已经是它。</a:t>
            </a:r>
          </a:p>
          <a:p>
            <a:r>
              <a:t>代价：以为手机“能升级”就当作已经是 17，装应用时才发现不满足要求；对应到标准，就是拿 2026 版条款去要求仍按 2017 版采标的项目。</a:t>
            </a:r>
          </a:p>
          <a:p>
            <a:r>
              <a:t>判定：要同时核对四件事：是不是最新版、国内有没有同步、现行国标号、等同采用的是哪一版。</a:t>
            </a:r>
          </a:p>
          <a:p>
            <a:r>
              <a:t>权衡：手机可以升级，标准也可以改采；但在升级前，依据只能是你手里这一版。</a:t>
            </a:r>
          </a:p>
          <a:p>
            <a:r>
              <a:t>下一页回到标准条文。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节：标准规范体系</a:t>
            </a:r>
          </a:p>
          <a:p>
            <a:r>
              <a:t>定义：最新的国际标准，不等于现行国标已经采用它。</a:t>
            </a:r>
          </a:p>
          <a:p>
            <a:r>
              <a:t>代价：拿 2026 版的条款去要求一个仍按 2017 版采标的项目，依据用错。</a:t>
            </a:r>
          </a:p>
          <a:p>
            <a:r>
              <a:t>判定：同时核对是不是最新版、国内有没有同步、现行国标号、等同采用的是哪一版。</a:t>
            </a:r>
          </a:p>
          <a:p>
            <a:r>
              <a:t>权衡：项目可以声明自己采用哪一版，但不能把两版说成同一份文件。</a:t>
            </a:r>
          </a:p>
          <a:p>
            <a:r>
              <a:t>核实处：全国标准信息公共服务平台。教学大纲 [20] 注明 12207:2017 已被 2026 版代替。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节：标准规范体系</a:t>
            </a:r>
          </a:p>
          <a:p>
            <a:r>
              <a:t>定义：质量模型的特性个数和名称，2011 版与 2023 版不一样；GB/T 25000.10-2016 承接 ISO/IEC 25010:2011。</a:t>
            </a:r>
          </a:p>
          <a:p>
            <a:r>
              <a:t>代价：用八个特性的名字去对九个特性的文本，安全性（Safety）会被漏掉。</a:t>
            </a:r>
          </a:p>
          <a:p>
            <a:r>
              <a:t>判定：写可维护性之前，先写清依据的是 2016 国标还是 2023 国际标准。</a:t>
            </a:r>
          </a:p>
          <a:p>
            <a:r>
              <a:t>权衡：本课程评价设计所用的五个子特性（模块化、可复用性、易分析性、易修改性、易测试性）在两版中名称相同。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节：标准规范体系</a:t>
            </a:r>
          </a:p>
          <a:p>
            <a:r>
              <a:t>定义：2023 版新增 1 个特性，并更改 2 个特性的名称。</a:t>
            </a:r>
          </a:p>
          <a:p>
            <a:r>
              <a:t>代价：只认一版名单，引用时会把更名的同一特性当成两个，或漏掉新增的安全性。</a:t>
            </a:r>
          </a:p>
          <a:p>
            <a:r>
              <a:t>判定：对照两版名单，逐项指出新增与更名。</a:t>
            </a:r>
          </a:p>
          <a:p>
            <a:r>
              <a:t>权衡：更名不等于内容不变，引用时要写明所依据的版本。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节：流程规范与内容规范</a:t>
            </a:r>
          </a:p>
          <a:p>
            <a:r>
              <a:t>本节 15 分钟。</a:t>
            </a:r>
          </a:p>
          <a:p>
            <a:r>
              <a:t>定义：流程规范管步骤，内容规范管产物；举例说明标准可以剪裁。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节：流程规范与内容规范</a:t>
            </a:r>
          </a:p>
          <a:p>
            <a:r>
              <a:t>定义：流程规范规定按什么步骤做。</a:t>
            </a:r>
          </a:p>
          <a:p>
            <a:r>
              <a:t>代价：步骤没有约定，同样的产物每个人的做法对不上。</a:t>
            </a:r>
          </a:p>
          <a:p>
            <a:r>
              <a:t>判定：一份规范如果规定的是顺序和活动，就归流程规范。</a:t>
            </a:r>
          </a:p>
          <a:p>
            <a:r>
              <a:t>权衡：CMMI 等级是流程规范的例子，不是本课要实施的评估。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节：流程规范与内容规范</a:t>
            </a:r>
          </a:p>
          <a:p>
            <a:r>
              <a:t>定义：内容规范规定产物的写法，不是规定今天先做哪一步。</a:t>
            </a:r>
          </a:p>
          <a:p>
            <a:r>
              <a:t>代价：不剪裁就整本照抄，项目里用不到的条文会变成空话。</a:t>
            </a:r>
          </a:p>
          <a:p>
            <a:r>
              <a:t>判定：看它约束的是步骤还是产物；文档的三类是内容规范的例子。</a:t>
            </a:r>
          </a:p>
          <a:p>
            <a:r>
              <a:t>权衡：允许按项目剪裁，剪裁本身要说得清留下什么、去掉什么。</a:t>
            </a:r>
          </a:p>
          <a:p>
            <a:r>
              <a:t>说明：三类文档的示例取自 2024 版课件 6-5 第 5—7 页；2024 版把项目开发计划同时列入开发文档与管理文档，此处归管理文档。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节：流程规范与内容规范</a:t>
            </a:r>
          </a:p>
          <a:p>
            <a:r>
              <a:t>定义：约束对象不同，判定方法也不同。</a:t>
            </a:r>
          </a:p>
          <a:p>
            <a:r>
              <a:t>代价：把两类混为一谈，检查时会用产物的写法去要求步骤，或反过来。</a:t>
            </a:r>
          </a:p>
          <a:p>
            <a:r>
              <a:t>判定：问“它规定的是先做什么再做什么，还是做出来的东西写成什么样”。</a:t>
            </a:r>
          </a:p>
          <a:p>
            <a:r>
              <a:t>权衡：同一份标准可以同时含两类条款，如 GB/T 8566 以流程为主；按条款归类，不按文件名归类。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节：流程规范与内容规范</a:t>
            </a:r>
          </a:p>
          <a:p>
            <a:r>
              <a:t>难点通俗示例（剪裁），不依赖 mall。</a:t>
            </a:r>
          </a:p>
          <a:p>
            <a:r>
              <a:t>定义：剪裁指按项目实际需要，从标准的全部文档中取舍，并写明理由。</a:t>
            </a:r>
          </a:p>
          <a:p>
            <a:r>
              <a:t>代价：全部照抄，要写出一堆不会有人读的文档；随意不写，又无法说明依据是什么。</a:t>
            </a:r>
          </a:p>
          <a:p>
            <a:r>
              <a:t>判定：每一章能否对应到标准中的一类文档；每一项不写的文档是否写了理由。</a:t>
            </a:r>
          </a:p>
          <a:p>
            <a:r>
              <a:t>权衡：此示例的理由为教学示例设定；真实项目的剪裁理由由项目约束决定。</a:t>
            </a:r>
          </a:p>
          <a:p>
            <a:r>
              <a:t>下一页回到标准条文。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节：流程规范与内容规范</a:t>
            </a:r>
          </a:p>
          <a:p>
            <a:r>
              <a:t>定义：标准允许按项目实际需要剪裁（教案“主要知识点”）。</a:t>
            </a:r>
          </a:p>
          <a:p>
            <a:r>
              <a:t>代价：不写剪裁说明，读者无法区分“没有必要写”与“漏写了”。</a:t>
            </a:r>
          </a:p>
          <a:p>
            <a:r>
              <a:t>判定：剪裁说明三项齐全：留下什么、去掉什么、为何去掉；留下的部分仍按标准的写法编制。</a:t>
            </a:r>
          </a:p>
          <a:p>
            <a:r>
              <a:t>权衡：剪裁不等于不遵守；本课程以一页说明代替完整的设计文档（课件大纲 1.5），也是一种剪裁。</a:t>
            </a:r>
          </a:p>
          <a:p>
            <a:r>
              <a:t>未核对：GB/T 8567-2006 中关于剪裁的具体条号，课件未引用。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节：流程规范与内容规范</a:t>
            </a:r>
          </a:p>
          <a:p>
            <a:r>
              <a:t>讨论题（教案“师生互动设计”第 2 题）：你在前后端课程中遵守过哪些规范？属于流程规范还是内容规范？</a:t>
            </a:r>
          </a:p>
          <a:p>
            <a:r>
              <a:t>判定依据：看规范约束的是步骤与活动，还是产物的写法。</a:t>
            </a:r>
          </a:p>
          <a:p>
            <a:r>
              <a:t>参考要点：流程规范例如分支与合并流程、提交前评审流程、先写测试再提交的约定；内容规范例如命名与代码格式约定、接口文档的字段写法、提交说明的格式。</a:t>
            </a:r>
          </a:p>
          <a:p>
            <a:r>
              <a:t>易混淆处：提交说明的格式约束的是产物写法，归内容规范；“提交前须评审”约束的是步骤，归流程规范。</a:t>
            </a:r>
          </a:p>
          <a:p>
            <a:r>
              <a:t>追问：这些规范是否可以剪裁？剪裁时要写明什么？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节：质量模型与可维护性</a:t>
            </a:r>
          </a:p>
          <a:p>
            <a:r>
              <a:t>本节 20 分钟。</a:t>
            </a:r>
          </a:p>
          <a:p>
            <a:r>
              <a:t>定义：讲产品质量模型与使用质量模型，讲可维护性的五个子特性，现场用它评价既有系统中的一处代码。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节：质量模型与可维护性</a:t>
            </a:r>
          </a:p>
          <a:p>
            <a:r>
              <a:t>定义：产品质量模型看产品本身的特性；使用质量模型看产品在使用中的效果。</a:t>
            </a:r>
          </a:p>
          <a:p>
            <a:r>
              <a:t>代价：没有统一词汇，讨论会停在“感觉不好”。</a:t>
            </a:r>
          </a:p>
          <a:p>
            <a:r>
              <a:t>判定：评价时要指出用的是哪一个特性或子特性，而不是只说质量差。</a:t>
            </a:r>
          </a:p>
          <a:p>
            <a:r>
              <a:t>权衡：本课程评价设计方案，重点用产品质量中的可维护性。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节：质量模型与可维护性</a:t>
            </a:r>
          </a:p>
          <a:p>
            <a:r>
              <a:t>定义：25010:2023 的产品质量模型有九个特性，可维护性是其中之一。</a:t>
            </a:r>
          </a:p>
          <a:p>
            <a:r>
              <a:t>代价：不知道可维护性在整体中的位置，容易拿它去解释别的特性的问题。</a:t>
            </a:r>
          </a:p>
          <a:p>
            <a:r>
              <a:t>判定：能否在九个特性中指出可维护性，并说出它与可靠性、安全性、性能效率的区别。</a:t>
            </a:r>
          </a:p>
          <a:p>
            <a:r>
              <a:t>权衡：九个特性并列，本课程只展开可维护性，因为后面各讲都用它评价设计。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节：质量模型与可维护性</a:t>
            </a:r>
          </a:p>
          <a:p>
            <a:r>
              <a:t>定义：可维护性的五个子特性：模块化、可复用性、易分析性、易修改性、易测试性（ISO/IEC 25010:2023）。</a:t>
            </a:r>
          </a:p>
          <a:p>
            <a:r>
              <a:t>代价：没有判定问题和指标，评价只能停在“好像不好改”。</a:t>
            </a:r>
          </a:p>
          <a:p>
            <a:r>
              <a:t>判定：每个子特性对应一个可以提问的问题和一个可以数出来的量。</a:t>
            </a:r>
          </a:p>
          <a:p>
            <a:r>
              <a:t>权衡：指标是课程选定的可观察量，不是标准条文；指标好看不等于设计好，要结合需求解读。设计原则随讲解进度逐次填入：T2 填入模块化与可复用性对应的原则，T3 填入易分析性与易修改性对应的原则，T4 填入易测试性对应的原则。</a:t>
            </a:r>
          </a:p>
          <a:p>
            <a:r>
              <a:t>后续各讲小结用这张表评价本讲示例的改动。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节：质量模型与可维护性</a:t>
            </a:r>
          </a:p>
          <a:p>
            <a:r>
              <a:t>定义：用五个子特性的指标，从 mall 基线中取可以数出来的事实。</a:t>
            </a:r>
          </a:p>
          <a:p>
            <a:r>
              <a:t>代价：只说“感觉不好改”，无法进入评审与改进。</a:t>
            </a:r>
          </a:p>
          <a:p>
            <a:r>
              <a:t>判定：模块数、被共用的模块数、方法行数、同一规则出现的位置、依赖注入方式，均可在基线上逐项复现。</a:t>
            </a:r>
          </a:p>
          <a:p>
            <a:r>
              <a:t>权衡：这些事实只是判定的起点：7 个模块是否合理、157 行是否过长，要结合需求与后续各讲的原则判断，本讲不下结论。易分析性中名称与行为是否一致的判定，在第五章（T7）的命名、函数与注释部分讲。</a:t>
            </a:r>
          </a:p>
          <a:p>
            <a:r>
              <a:t>核对：基线 baseline-dcaa93b3（提交 dcaa93b3）。pom.xml 第 13—19 行为七个模块；mall-admin、mall-portal 的 pom.xml 均依赖 mall-mbg；OmsPortalOrderServiceImpl.java 第 157、662 行为两处 divide(totalAmount, 3, RoundingMode.HALF_EVEN)；generateOrder 方法自第 94 行至第 250 行；字段注入 @Autowired 共 15 处（第 34—66 行）。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节：质量模型与可维护性</a:t>
            </a:r>
          </a:p>
          <a:p>
            <a:r>
              <a:t>讨论题（教案“师生互动设计”第 1 题）：一个名字与行为不一致的接口，会让后来的维护者付出什么代价？</a:t>
            </a:r>
          </a:p>
          <a:p>
            <a:r>
              <a:t>判定依据：对照易分析性的判定问题：读者能否从名称和结构看出它做什么、影响哪里；指标看名称与行为是否一致。</a:t>
            </a:r>
          </a:p>
          <a:p>
            <a:r>
              <a:t>参考要点：（1）读者按名称理解，读到调用才发现差异，阅读成本上升；（2）排查缺陷时先查错位置，定位时间变长；（3）修改时误判影响范围，容易漏改或误改；（4）需要额外的注释或文档补救，且易与代码脱节。</a:t>
            </a:r>
          </a:p>
          <a:p>
            <a:r>
              <a:t>追问：这样的问题归哪个子特性？怎样用指标把它写成有证据的判断？具体代码判定放到第五章（T7）的命名、函数与注释部分展开。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节：需求如何转为设计方案</a:t>
            </a:r>
          </a:p>
          <a:p>
            <a:r>
              <a:t>本节 15 分钟。</a:t>
            </a:r>
          </a:p>
          <a:p>
            <a:r>
              <a:t>定义：讲质量特性是非功能需求的语言，设计是对它的回应，技术说明写成需求、优点、限制与不足。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节：需求如何转为设计方案</a:t>
            </a:r>
          </a:p>
          <a:p>
            <a:r>
              <a:t>定义：功能性需求说明系统做什么，非功能需求说明做到什么程度；质量特性是描述非功能需求的语言，设计方案是对需求的回应。</a:t>
            </a:r>
          </a:p>
          <a:p>
            <a:r>
              <a:t>代价：不从需求出发谈设计，设计好坏只能凭口味争论。</a:t>
            </a:r>
          </a:p>
          <a:p>
            <a:r>
              <a:t>判定：每个设计决定都能指出它回应的需求，并用子特性的指标检查回应得怎样。</a:t>
            </a:r>
          </a:p>
          <a:p>
            <a:r>
              <a:t>权衡：右侧 mall 的设计事实可在基线 pom.xml 核对；它回应的需求是依据设计事实作出的推断，项目文档中未明说，需要由读者核对。</a:t>
            </a:r>
          </a:p>
          <a:p>
            <a:r>
              <a:t>核对：mall-admin、mall-portal 的 pom.xml 均依赖 mall-mbg（第 22、23 行）与 mall-security（第 26、27 行）。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节：需求如何转为设计方案</a:t>
            </a:r>
          </a:p>
          <a:p>
            <a:r>
              <a:t>定义：需求相同，设计不同；用子特性的判定问题与指标把差别说成可检查的事实。</a:t>
            </a:r>
          </a:p>
          <a:p>
            <a:r>
              <a:t>代价：只说“乙更好”，没有依据，别人无法复核。</a:t>
            </a:r>
          </a:p>
          <a:p>
            <a:r>
              <a:t>判定：表中各项由设计描述直接数出：甲的函数承担读入、计算、输出三项职责，及格线 60 写在判断及格与输出提示两处；乙将计算独立为函数，及格线是一个常量。数字为本例设计的构造值，可对照下一页的参考实现复核。</a:t>
            </a:r>
          </a:p>
          <a:p>
            <a:r>
              <a:t>权衡：乙多了一个函数，但指标全面优于甲，说明评价设计看指标，不数组件个数。</a:t>
            </a:r>
          </a:p>
          <a:p>
            <a:r>
              <a:t>需求：给定课程名、学分、成绩的记录，统计已获学分与按学分加权的平均分。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节：需求如何转为设计方案</a:t>
            </a:r>
          </a:p>
          <a:p>
            <a:r>
              <a:t>定义：参考实现按下一节“AI for SE”中的验收准则编写，可直接运行验证。</a:t>
            </a:r>
          </a:p>
          <a:p>
            <a:r>
              <a:t>代价：没有可运行的实现，“乙更好”只是断言。</a:t>
            </a:r>
          </a:p>
          <a:p>
            <a:r>
              <a:t>判定：运行 grades_demo.py（工具/polish/ppt/T1/），输出“4 组验收场景全部通过”；手工验算：(3×80＋2×50)÷5＝68.00。</a:t>
            </a:r>
          </a:p>
          <a:p>
            <a:r>
              <a:t>权衡：实现只覆盖需求说明的范围，不含界面、数据库、文件读取与重修规则。</a:t>
            </a:r>
          </a:p>
          <a:p>
            <a:r>
              <a:t>说明：行号为本页展示的行号，不是仓库文件行号。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节：需求如何转为设计方案</a:t>
            </a:r>
          </a:p>
          <a:p>
            <a:r>
              <a:t>定义：说明一项技术或设计决定时，写出它回应的需求，以及优点、限制与不足四项。</a:t>
            </a:r>
          </a:p>
          <a:p>
            <a:r>
              <a:t>代价：只写优点，限制与不足被隐去，后来者在不知情时越界或误用。</a:t>
            </a:r>
          </a:p>
          <a:p>
            <a:r>
              <a:t>判定：抽查任一技术点，四项齐全。</a:t>
            </a:r>
          </a:p>
          <a:p>
            <a:r>
              <a:t>权衡：限制是使用时必须遵守的边界；不足是它没有解决的问题，二者不同。</a:t>
            </a:r>
          </a:p>
          <a:p>
            <a:r>
              <a:t>核对：基线 mall-mbg 的 mapper 目录下有 76 个 *Mapper.java；mall-mbg/pom.xml 依赖 mybatis-generator-core；mall-portal 另有 dao 包（如 PortalOrderDao）。生成代码属不得修改的部分，见教案 E1 预习题。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节：需求如何转为设计方案</a:t>
            </a:r>
          </a:p>
          <a:p>
            <a:r>
              <a:t>定义：组件数量不是设计水平的度量；技术形态由需求决定。</a:t>
            </a:r>
          </a:p>
          <a:p>
            <a:r>
              <a:t>代价：以组件多为“先进”，会无谓增加部署、调用与排错的成本。</a:t>
            </a:r>
          </a:p>
          <a:p>
            <a:r>
              <a:t>判定：比较两个方案时，先写需求，再列子特性指标，最后看取舍。</a:t>
            </a:r>
          </a:p>
          <a:p>
            <a:r>
              <a:t>权衡：该论点在第二章（T2）以 mall 与 mall-swarm 的对照展开。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节：AI for SE</a:t>
            </a:r>
          </a:p>
          <a:p>
            <a:r>
              <a:t>本节 20 分钟。</a:t>
            </a:r>
          </a:p>
          <a:p>
            <a:r>
              <a:t>定义：讲提示词模式、AI 协作工作流与AI输出的核对内容，并说明讲义附录的使用方式。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节：AI for SE</a:t>
            </a:r>
          </a:p>
          <a:p>
            <a:r>
              <a:t>定义：提示词模式是写给 AI 的规格，不是聊天技巧。来源：White 等 2023，参考资料 [29]。</a:t>
            </a:r>
          </a:p>
          <a:p>
            <a:r>
              <a:t>代价：没有规格就让 AI 写代码，事后无法判断该不该留下。</a:t>
            </a:r>
          </a:p>
          <a:p>
            <a:r>
              <a:t>判定：一段提示里能否指出 Persona、Few-shot、Template 或 Question Refinement。</a:t>
            </a:r>
          </a:p>
          <a:p>
            <a:r>
              <a:t>权衡：模式帮助说清楚要求，不能代替后面的核对。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节：AI for SE</a:t>
            </a:r>
          </a:p>
          <a:p>
            <a:r>
              <a:t>定义：每种模式对应一句可以直接使用的提示。</a:t>
            </a:r>
          </a:p>
          <a:p>
            <a:r>
              <a:t>代价：只说“帮我看看代码”，不写角色、示例、格式或细化要求，回答的范围和格式不可控，也难以核对。</a:t>
            </a:r>
          </a:p>
          <a:p>
            <a:r>
              <a:t>判定：能否在示例中指出各句分别属于哪一种模式。</a:t>
            </a:r>
          </a:p>
          <a:p>
            <a:r>
              <a:t>权衡：示例用 Python 说明，是为了与下面的学生成绩统计函数衔接；课程实验仍用 Java。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节：AI for SE</a:t>
            </a:r>
          </a:p>
          <a:p>
            <a:r>
              <a:t>定义：四步是和 AI 一起做的顺序：任务分解、上下文与边界界定、先写验收准则、人工审查与修订记录。</a:t>
            </a:r>
          </a:p>
          <a:p>
            <a:r>
              <a:t>代价：不先写怎样算做完，后面无法判断该不该留下这段产出。</a:t>
            </a:r>
          </a:p>
          <a:p>
            <a:r>
              <a:t>判定：协作记录里能否按这四步对上。</a:t>
            </a:r>
          </a:p>
          <a:p>
            <a:r>
              <a:t>权衡：顺序不能倒过来：先有准则，再审查，而不是先合并再补理由。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节：AI for SE</a:t>
            </a:r>
          </a:p>
          <a:p>
            <a:r>
              <a:t>定义：以学生成绩统计函数为例，演示工作流第 1、2 步。</a:t>
            </a:r>
          </a:p>
          <a:p>
            <a:r>
              <a:t>代价：不划定边界，AI 会自行补充重修规则、界面等未要求的内容。</a:t>
            </a:r>
          </a:p>
          <a:p>
            <a:r>
              <a:t>判定：边界是否写明了范围、输入保证与不做的事。</a:t>
            </a:r>
          </a:p>
          <a:p>
            <a:r>
              <a:t>权衡：边界收窄便于验证，代价是后续需求变化时要另行补充。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节：AI for SE</a:t>
            </a:r>
          </a:p>
          <a:p>
            <a:r>
              <a:t>定义：验收准则是可以直接转成测试的输入与预期输出。</a:t>
            </a:r>
          </a:p>
          <a:p>
            <a:r>
              <a:t>代价：没有准则，AI 的产出只能凭感觉判断。</a:t>
            </a:r>
          </a:p>
          <a:p>
            <a:r>
              <a:t>判定：手工验算：第一行 (3×80＋2×50)÷5＝68，已获学分只计 80 分的课程，为 3；第二行 60 分算及格，已获学分 2。</a:t>
            </a:r>
          </a:p>
          <a:p>
            <a:r>
              <a:t>权衡：发现需求矛盾时先指出，不要为了让测试通过而修改预期结果。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节：AI for SE</a:t>
            </a:r>
          </a:p>
          <a:p>
            <a:r>
              <a:t>定义：假设 AI 首版把所有课程的学分都计入已获学分，且平均分仅统计及格课程；人工审查逐条对照准则发现并修订。</a:t>
            </a:r>
          </a:p>
          <a:p>
            <a:r>
              <a:t>代价：不对照准则，首版会被当作“能运行”而合并。</a:t>
            </a:r>
          </a:p>
          <a:p>
            <a:r>
              <a:t>判定：首版对 A、B 两门课返回已获学分 5，与准则的 3 不符；平均分仅统计及格课程为 80.00，与 68.00 不符。</a:t>
            </a:r>
          </a:p>
          <a:p>
            <a:r>
              <a:t>权衡：修订后重新运行全部测试，而不是只运行失败的一条。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节：AI for SE</a:t>
            </a:r>
          </a:p>
          <a:p>
            <a:r>
              <a:t>定义：四项核对内容：核对引用是否存在、核对运行时事实、区分原理与实现、拿原则与规范作依据。</a:t>
            </a:r>
          </a:p>
          <a:p>
            <a:r>
              <a:t>代价：不核对引用和运行时事实，会把不存在的接口与错误的调用关系写进提交。</a:t>
            </a:r>
          </a:p>
          <a:p>
            <a:r>
              <a:t>判定：每一处采纳都要能指出用了哪一条。</a:t>
            </a:r>
          </a:p>
          <a:p>
            <a:r>
              <a:t>权衡：原理对了、实现不对，仍然不能放行。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节：AI for SE</a:t>
            </a:r>
          </a:p>
          <a:p>
            <a:r>
              <a:t>定义：每条原则给出一个 AI 可能的输出，以及核对的方法。</a:t>
            </a:r>
          </a:p>
          <a:p>
            <a:r>
              <a:t>代价：不核对就采纳，会把不存在的条款、没有运行过的“测试通过”和错误的平均分口径带进提交物。</a:t>
            </a:r>
          </a:p>
          <a:p>
            <a:r>
              <a:t>判定：核对结论须落到证据：原文、输出、代码或需求。</a:t>
            </a:r>
          </a:p>
          <a:p>
            <a:r>
              <a:t>权衡：“课程成绩管理规范”为教学示例设定的文件，不是真实存在的标准。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节：AI for SE</a:t>
            </a:r>
          </a:p>
          <a:p>
            <a:r>
              <a:t>定义：附录把工作流和核对内容整理成课程里的用法。</a:t>
            </a:r>
          </a:p>
          <a:p>
            <a:r>
              <a:t>代价：记录里没有准则、范围和核对，就无法逐项核对。</a:t>
            </a:r>
          </a:p>
          <a:p>
            <a:r>
              <a:t>判定：提交物里能否看到准则、范围、记录和核对。</a:t>
            </a:r>
          </a:p>
          <a:p>
            <a:r>
              <a:t>权衡：用了 AI 就要留记录；不用也要说清哪些是本人做的。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节：AI for SE</a:t>
            </a:r>
          </a:p>
          <a:p>
            <a:r>
              <a:t>讨论题（教案“师生互动设计”第 3 题）：用AI写出的代码出了问题，责任在谁？</a:t>
            </a:r>
          </a:p>
          <a:p>
            <a:r>
              <a:t>判定依据：本课程 AI 使用与学术诚信规范第（3）条：对提交物的正确性与质量负全部责任；第（2）条：能够向教师解释 AI 产出的每一处内容。</a:t>
            </a:r>
          </a:p>
          <a:p>
            <a:r>
              <a:t>参考要点：（1）责任在提交者，不在工具；（2）能否指出采纳时用了哪一项核对内容；（3）协作记录中是否有验收准则与核对；（4）工具给出的错误不免除提交者的核对义务。</a:t>
            </a:r>
          </a:p>
          <a:p>
            <a:r>
              <a:t>追问：如果协作记录里已写明验收准则和核对过程，仍出现问题，应如何在修订记录中说明？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节：问答题</a:t>
            </a:r>
          </a:p>
          <a:p>
            <a:r>
              <a:t>预习题五题与教案 T1“复习思考及作业”一致，答案：1B 2A 3C 4D 5C。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节：问答题</a:t>
            </a:r>
          </a:p>
          <a:p>
            <a:r>
              <a:t>题目页。答案：1B 2A 3C（教案 T1“复习思考及作业”预习题 1）至 3））。</a:t>
            </a:r>
          </a:p>
          <a:p>
            <a:r>
              <a:t>判定：现行国标 GB/T 8566-2022 仍对应 12207:2017；讲步骤的是流程规范，管产物内容的是内容规范；易用性不属于可维护性。</a:t>
            </a:r>
          </a:p>
          <a:p>
            <a:r>
              <a:t>参考要点：国际标准更新后国内不一定同步，引用前先核版本。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节：问答题</a:t>
            </a:r>
          </a:p>
          <a:p>
            <a:r>
              <a:t>题目页。答案：4D 5C（教案 T1“复习思考及作业”预习题 4）、5））。</a:t>
            </a:r>
          </a:p>
          <a:p>
            <a:r>
              <a:t>判定：名字说“取消”，实际只发延迟消息，读代码的人会误判，损害的是易分析性。</a:t>
            </a:r>
          </a:p>
          <a:p>
            <a:r>
              <a:t>参考要点：提示词里写清任务、边界与验收准则，就是人与 AI 之间的规格说明。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节：结束页</a:t>
            </a:r>
          </a:p>
          <a:p>
            <a:r>
              <a:t>定义：结束页写本次课三条要点与下次课预告。</a:t>
            </a:r>
          </a:p>
          <a:p>
            <a:r>
              <a:t>判定：能否不看课件复述三条要点。</a:t>
            </a:r>
          </a:p>
          <a:p>
            <a:r>
              <a:t>预告：下次课为实验 E1“开发环境与棕地仓库导读”；T2 课前在学习通完成 T2 预习题。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节：本章参考资料</a:t>
            </a:r>
          </a:p>
          <a:p>
            <a:r>
              <a:t>定义：编号与教学大纲“本章参考资料”一致，只列本次课用到的文献。</a:t>
            </a:r>
          </a:p>
          <a:p>
            <a:r>
              <a:t>判定：对照标准号和年份，分清 2011 的八个特性与 2023 的九个特性。</a:t>
            </a:r>
          </a:p>
          <a:p>
            <a:r>
              <a:t>核对：链接取自教学大纲参考文献表；标准类文献无公开链接，以标准号与题名为准。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节：本章参考资料</a:t>
            </a:r>
          </a:p>
          <a:p>
            <a:r>
              <a:t>定义：编号与教学大纲“本章参考资料”一致。</a:t>
            </a:r>
          </a:p>
          <a:p>
            <a:r>
              <a:t>判定：课后先读 12207 与 25010 的版本差，再读提示词模式和课程附录。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节：质量模型与可维护性</a:t>
            </a:r>
          </a:p>
          <a:p>
            <a:r>
              <a:t>依据：基线 baseline-dcaa93b3 mall-portal/src/main/java/com/macro/mall/portal/controller/OmsPortalOrderController.java:64-70；教案第 1 次课教学过程 4“现场用它评价既有系统中的一个接口或模块”；大纲第一章教学建议“结合课程选定的棕地项目，安排一次当场判断”。</a:t>
            </a:r>
          </a:p>
          <a:p>
            <a:r>
              <a:t>定义：易分析性看读者能否从名称和结构看出代码做什么、影响哪里；当场判断就是拿这条判定问题去读一处真实接口。</a:t>
            </a:r>
          </a:p>
          <a:p>
            <a:r>
              <a:t>代价：维护者按“取消订单”去读和排查，读到的却是投递消息；以为调用后订单已关闭，会在错误的地方找问题。</a:t>
            </a:r>
          </a:p>
          <a:p>
            <a:r>
              <a:t>判定：对照路径 /cancelOrder、注解“取消单个超时订单”与方法体实际调用的 sendDelayMessageCancelOrder，三者不是同一件事，归易分析性；指标是“名称与行为是否一致”。</a:t>
            </a:r>
          </a:p>
          <a:p>
            <a:r>
              <a:t>权衡：延迟取消本身可以是合理设计，问题在名字没有说出这件事；改名字与改行为是两条路，代价不同，留到下一页讨论。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dc-logo.png"/><Relationship Id="rId3" Type="http://schemas.openxmlformats.org/officeDocument/2006/relationships/image" Target="../media/sdc-campus-l.jpeg"/><Relationship Id="rId4" Type="http://schemas.openxmlformats.org/officeDocument/2006/relationships/image" Target="../media/sdc-campus-r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dc-logo.png"/><Relationship Id="rId3" Type="http://schemas.openxmlformats.org/officeDocument/2006/relationships/image" Target="../media/sdc-campus-l.jpeg"/><Relationship Id="rId4" Type="http://schemas.openxmlformats.org/officeDocument/2006/relationships/image" Target="../media/sdc-campus-r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dc-logo.png"/><Relationship Id="rId3" Type="http://schemas.openxmlformats.org/officeDocument/2006/relationships/image" Target="../media/sdc-campus-l.jpeg"/><Relationship Id="rId4" Type="http://schemas.openxmlformats.org/officeDocument/2006/relationships/image" Target="../media/sdc-campus-r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dc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11480"/>
            <a:ext cx="868680" cy="8686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640080"/>
          </a:xfrm>
        </p:spPr>
        <p:txBody>
          <a:bodyPr anchor="b"/>
          <a:lstStyle>
            <a:lvl1pPr algn="l" marL="0" indent="0">
              <a:buNone/>
              <a:defRPr sz="2000" b="1">
                <a:solidFill>
                  <a:srgbClr val="A33B38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5800" y="2377440"/>
            <a:ext cx="7772400" cy="2926080"/>
          </a:xfrm>
        </p:spPr>
        <p:txBody>
          <a:bodyPr/>
          <a:lstStyle>
            <a:lvl1pPr algn="l" marL="0" indent="0">
              <a:buNone/>
              <a:defRPr sz="2000" b="0">
                <a:solidFill>
                  <a:srgbClr val="595959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11" name="sdc-photo-band"/>
          <p:cNvSpPr/>
          <p:nvPr userDrawn="1"/>
        </p:nvSpPr>
        <p:spPr>
          <a:xfrm>
            <a:off x="0" y="5550408"/>
            <a:ext cx="9144000" cy="64008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pic>
        <p:nvPicPr>
          <p:cNvPr id="12" name="sdc-campus-l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614416"/>
            <a:ext cx="4572000" cy="1243584"/>
          </a:xfrm>
          <a:prstGeom prst="rect">
            <a:avLst/>
          </a:prstGeom>
        </p:spPr>
      </p:pic>
      <p:pic>
        <p:nvPicPr>
          <p:cNvPr id="13" name="sdc-campus-r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0" y="5614416"/>
            <a:ext cx="4572000" cy="1243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dc-toc-band"/>
          <p:cNvSpPr/>
          <p:nvPr userDrawn="1"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pic>
        <p:nvPicPr>
          <p:cNvPr id="11" name="sdc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5623560"/>
            <a:ext cx="822960" cy="8229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4320" y="640080"/>
            <a:ext cx="1828800" cy="914400"/>
          </a:xfrm>
        </p:spPr>
        <p:txBody>
          <a:bodyPr anchor="t"/>
          <a:lstStyle>
            <a:lvl1pPr algn="l" marL="0" indent="0">
              <a:buNone/>
              <a:defRPr sz="3600" b="1">
                <a:solidFill>
                  <a:srgbClr val="FFFFFF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834640" y="731520"/>
            <a:ext cx="5852160" cy="5120640"/>
          </a:xfrm>
        </p:spPr>
        <p:txBody>
          <a:bodyPr/>
          <a:lstStyle>
            <a:lvl1pPr algn="l" marL="0" indent="0">
              <a:buNone/>
              <a:defRPr sz="2200" b="0">
                <a:solidFill>
                  <a:srgbClr val="262626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dc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11480"/>
            <a:ext cx="868680" cy="8686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011680"/>
            <a:ext cx="7315200" cy="1005840"/>
          </a:xfrm>
        </p:spPr>
        <p:txBody>
          <a:bodyPr anchor="b"/>
          <a:lstStyle>
            <a:lvl1pPr algn="ctr" marL="0" indent="0">
              <a:buNone/>
              <a:defRPr sz="3600" b="1">
                <a:solidFill>
                  <a:srgbClr val="262626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3154680"/>
            <a:ext cx="7315200" cy="1280160"/>
          </a:xfrm>
        </p:spPr>
        <p:txBody>
          <a:bodyPr/>
          <a:lstStyle>
            <a:lvl1pPr algn="ctr" marL="0" indent="0">
              <a:buNone/>
              <a:defRPr sz="2000" b="0">
                <a:solidFill>
                  <a:srgbClr val="595959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11" name="sdc-photo-band"/>
          <p:cNvSpPr/>
          <p:nvPr userDrawn="1"/>
        </p:nvSpPr>
        <p:spPr>
          <a:xfrm>
            <a:off x="0" y="5550408"/>
            <a:ext cx="9144000" cy="64008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pic>
        <p:nvPicPr>
          <p:cNvPr id="12" name="sdc-campus-l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614416"/>
            <a:ext cx="4572000" cy="1243584"/>
          </a:xfrm>
          <a:prstGeom prst="rect">
            <a:avLst/>
          </a:prstGeom>
        </p:spPr>
      </p:pic>
      <p:pic>
        <p:nvPicPr>
          <p:cNvPr id="13" name="sdc-campus-r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0" y="5614416"/>
            <a:ext cx="4572000" cy="1243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sdc-logo.png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76072" y="301752"/>
            <a:ext cx="8001000" cy="960120"/>
          </a:xfrm>
        </p:spPr>
        <p:txBody>
          <a:bodyPr anchor="b"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576072" y="1600200"/>
            <a:ext cx="8001000" cy="4389120"/>
          </a:xfrm>
        </p:spPr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4" name="sdc-title-bar"/>
          <p:cNvSpPr/>
          <p:nvPr userDrawn="1"/>
        </p:nvSpPr>
        <p:spPr>
          <a:xfrm>
            <a:off x="612648" y="1298448"/>
            <a:ext cx="1463040" cy="64008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cxnSp>
        <p:nvCxnSpPr>
          <p:cNvPr id="5" name="sdc-title-line"/>
          <p:cNvCxnSpPr/>
          <p:nvPr userDrawn="1"/>
        </p:nvCxnSpPr>
        <p:spPr>
          <a:xfrm>
            <a:off x="2075688" y="1330452"/>
            <a:ext cx="6492240" cy="0"/>
          </a:xfrm>
          <a:prstGeom prst="line">
            <a:avLst/>
          </a:prstGeom>
          <a:ln w="12700">
            <a:solidFill>
              <a:srgbClr val="E3C4C2"/>
            </a:solidFill>
          </a:ln>
        </p:spPr>
      </p:cxnSp>
      <p:cxnSp>
        <p:nvCxnSpPr>
          <p:cNvPr id="6" name="sdc-footer-line"/>
          <p:cNvCxnSpPr/>
          <p:nvPr userDrawn="1"/>
        </p:nvCxnSpPr>
        <p:spPr>
          <a:xfrm>
            <a:off x="457200" y="6355080"/>
            <a:ext cx="82296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pic>
        <p:nvPicPr>
          <p:cNvPr id="7" name="sdc-footer-logo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57200" y="6419088"/>
            <a:ext cx="329184" cy="329184"/>
          </a:xfrm>
          <a:prstGeom prst="rect">
            <a:avLst/>
          </a:prstGeom>
        </p:spPr>
      </p:pic>
      <p:sp>
        <p:nvSpPr>
          <p:cNvPr id="8" name="sdc-footer-college"/>
          <p:cNvSpPr/>
          <p:nvPr userDrawn="1"/>
        </p:nvSpPr>
        <p:spPr>
          <a:xfrm>
            <a:off x="841248" y="64008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zh-CN" altLang="en-US" sz="1100" b="0">
                <a:solidFill>
                  <a:srgbClr val="595959"/>
                </a:solidFill>
                <a:latin typeface="微软雅黑"/>
                <a:ea typeface="微软雅黑"/>
              </a:rPr>
              <a:t>计算机科学与技术学院</a:t>
            </a:r>
          </a:p>
        </p:txBody>
      </p:sp>
      <p:sp>
        <p:nvSpPr>
          <p:cNvPr id="9" name="sdc-page-number"/>
          <p:cNvSpPr/>
          <p:nvPr userDrawn="1"/>
        </p:nvSpPr>
        <p:spPr>
          <a:xfrm>
            <a:off x="6858000" y="6400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fld id="{B6F15528-21DE-4FAA-801E-634DDDAF4B2B}" type="slidenum">
              <a:rPr lang="zh-CN" altLang="en-US" sz="1200">
                <a:solidFill>
                  <a:srgbClr val="595959"/>
                </a:solidFill>
                <a:latin typeface="微软雅黑"/>
                <a:ea typeface="微软雅黑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eaLnBrk="1" hangingPunct="1">
        <a:lnSpc>
          <a:spcPct val="90000"/>
        </a:lnSpc>
        <a:defRPr sz="2800" b="1" kern="1200">
          <a:solidFill>
            <a:srgbClr val="A33B38"/>
          </a:solidFill>
          <a:latin typeface="微软雅黑"/>
          <a:ea typeface="微软雅黑"/>
          <a:cs typeface="微软雅黑"/>
        </a:defRPr>
      </a:lvl1pPr>
    </p:titleStyle>
    <p:bodyStyle>
      <a:lvl1pPr marL="292608" indent="-292608" algn="l" eaLnBrk="1" hangingPunct="1">
        <a:lnSpc>
          <a:spcPct val="110000"/>
        </a:lnSpc>
        <a:spcBef>
          <a:spcPts val="600"/>
        </a:spcBef>
        <a:buClr>
          <a:srgbClr val="A33B38"/>
        </a:buClr>
        <a:buSzPct val="80000"/>
        <a:buFont typeface="Wingdings"/>
        <a:buChar char="n"/>
        <a:defRPr sz="2200" b="0" kern="1200">
          <a:solidFill>
            <a:srgbClr val="262626"/>
          </a:solidFill>
          <a:latin typeface="微软雅黑"/>
          <a:ea typeface="微软雅黑"/>
          <a:cs typeface="微软雅黑"/>
        </a:defRPr>
      </a:lvl1pPr>
      <a:lvl2pPr marL="640080" indent="-256032" algn="l" eaLnBrk="1" hangingPunct="1">
        <a:lnSpc>
          <a:spcPct val="110000"/>
        </a:lnSpc>
        <a:spcBef>
          <a:spcPts val="600"/>
        </a:spcBef>
        <a:buClr>
          <a:srgbClr val="7F7F7F"/>
        </a:buClr>
        <a:buSzPct val="80000"/>
        <a:buFont typeface="Wingdings"/>
        <a:buChar char="§"/>
        <a:defRPr sz="2000" b="0" kern="1200">
          <a:solidFill>
            <a:srgbClr val="262626"/>
          </a:solidFill>
          <a:latin typeface="微软雅黑"/>
          <a:ea typeface="微软雅黑"/>
          <a:cs typeface="微软雅黑"/>
        </a:defRPr>
      </a:lvl2pPr>
      <a:lvl3pPr marL="960120" indent="-228600" algn="l" eaLnBrk="1" hangingPunct="1">
        <a:lnSpc>
          <a:spcPct val="110000"/>
        </a:lnSpc>
        <a:spcBef>
          <a:spcPts val="600"/>
        </a:spcBef>
        <a:buClr>
          <a:srgbClr val="7F7F7F"/>
        </a:buClr>
        <a:buSzPct val="80000"/>
        <a:buFont typeface="Wingdings"/>
        <a:buChar char="§"/>
        <a:defRPr sz="1800" b="0" kern="1200">
          <a:solidFill>
            <a:srgbClr val="262626"/>
          </a:solidFill>
          <a:latin typeface="微软雅黑"/>
          <a:ea typeface="微软雅黑"/>
          <a:cs typeface="微软雅黑"/>
        </a:defRPr>
      </a:lvl3pPr>
    </p:bodyStyle>
    <p:otherStyle>
      <a:lvl1pPr algn="l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tIns="18288" rIns="54864" bIns="18288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tIns="18288" rIns="54864" bIns="18288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lang="zh-CN" altLang="en-US" sz="2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 1 次课｜标准与规范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fn-abbr"/>
          <p:cNvSpPr txBox="1"/>
          <p:nvPr/>
        </p:nvSpPr>
        <p:spPr>
          <a:xfrm>
            <a:off x="2834640" y="4818888"/>
            <a:ext cx="5852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sz="1600" b="0">
                <a:latin typeface="微软雅黑"/>
                <a:ea typeface="微软雅黑"/>
              </a:rPr>
              <a:t>AI：人工智能（Artificial Intelligence）；</a:t>
            </a:r>
            <a:br>
              <a:rPr sz="1600" b="0">
                <a:latin typeface="微软雅黑"/>
                <a:ea typeface="微软雅黑"/>
              </a:rPr>
            </a:br>
            <a:r>
              <a:rPr sz="1600" b="0">
                <a:latin typeface="微软雅黑"/>
                <a:ea typeface="微软雅黑"/>
              </a:rPr>
              <a:t>SE：软件工程（Software Engineering）；</a:t>
            </a:r>
            <a:br>
              <a:rPr sz="1600" b="0">
                <a:latin typeface="微软雅黑"/>
                <a:ea typeface="微软雅黑"/>
              </a:rPr>
            </a:br>
            <a:r>
              <a:rPr sz="1600" b="0">
                <a:latin typeface="微软雅黑"/>
                <a:ea typeface="微软雅黑"/>
              </a:rPr>
              <a:t>AI for SE：人工智能辅助软件工程，即把生成式人工智能作为受规范约束的开发协作者。</a:t>
            </a:r>
          </a:p>
        </p:txBody>
      </p:sp>
      <p:sp>
        <p:nvSpPr>
          <p:cNvPr id="40" name="body"/>
          <p:cNvSpPr>
            <a:spLocks noGrp="1"/>
          </p:cNvSpPr>
          <p:nvPr>
            <p:ph type="body" idx="1"/>
          </p:nvPr>
        </p:nvSpPr>
        <p:spPr>
          <a:xfrm>
            <a:off x="2834640" y="731520"/>
            <a:ext cx="5852160" cy="4041648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01</a:t>
            </a:r>
            <a:r>
              <a:rPr lang="zh-CN" altLang="en-US" sz="2000">
                <a:solidFill>
                  <a:srgbClr val="262626"/>
                </a:solidFill>
                <a:latin typeface="微软雅黑"/>
                <a:ea typeface="微软雅黑"/>
              </a:rPr>
              <a:t>    课程导入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02</a:t>
            </a:r>
            <a:r>
              <a:rPr lang="zh-CN" altLang="en-US" sz="2000">
                <a:solidFill>
                  <a:srgbClr val="262626"/>
                </a:solidFill>
                <a:latin typeface="微软雅黑"/>
                <a:ea typeface="微软雅黑"/>
              </a:rPr>
              <a:t>    标准规范体系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03</a:t>
            </a:r>
            <a:r>
              <a:rPr lang="zh-CN" altLang="en-US" sz="2000">
                <a:solidFill>
                  <a:srgbClr val="262626"/>
                </a:solidFill>
                <a:latin typeface="微软雅黑"/>
                <a:ea typeface="微软雅黑"/>
              </a:rPr>
              <a:t>    流程规范与内容规范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04</a:t>
            </a:r>
            <a:r>
              <a:rPr lang="zh-CN" altLang="en-US" sz="2000">
                <a:solidFill>
                  <a:srgbClr val="262626"/>
                </a:solidFill>
                <a:latin typeface="微软雅黑"/>
                <a:ea typeface="微软雅黑"/>
              </a:rPr>
              <a:t>    质量模型与可维护性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05</a:t>
            </a:r>
            <a:r>
              <a:rPr lang="zh-CN" altLang="en-US" sz="2000">
                <a:solidFill>
                  <a:srgbClr val="262626"/>
                </a:solidFill>
                <a:latin typeface="微软雅黑"/>
                <a:ea typeface="微软雅黑"/>
              </a:rPr>
              <a:t>    需求如何转为设计方案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06</a:t>
            </a:r>
            <a:r>
              <a:rPr lang="zh-CN" altLang="en-US" sz="2000">
                <a:solidFill>
                  <a:srgbClr val="262626"/>
                </a:solidFill>
                <a:latin typeface="微软雅黑"/>
                <a:ea typeface="微软雅黑"/>
              </a:rPr>
              <a:t>    AI for SE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07</a:t>
            </a:r>
            <a:r>
              <a:rPr lang="zh-CN" altLang="en-US" sz="2000">
                <a:solidFill>
                  <a:srgbClr val="262626"/>
                </a:solidFill>
                <a:latin typeface="微软雅黑"/>
                <a:ea typeface="微软雅黑"/>
              </a:rPr>
              <a:t>    问答题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08</a:t>
            </a:r>
            <a:r>
              <a:rPr lang="zh-CN" altLang="en-US" sz="2000">
                <a:solidFill>
                  <a:srgbClr val="262626"/>
                </a:solidFill>
                <a:latin typeface="微软雅黑"/>
                <a:ea typeface="微软雅黑"/>
              </a:rPr>
              <a:t>    本章参考资料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本次课目标有五项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508760"/>
            <a:ext cx="1188720" cy="768096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了解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691640" y="1508760"/>
            <a:ext cx="7040880" cy="768096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了解本课程的安排：以既有系统为棕地载体，每章配一次实验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359152"/>
            <a:ext cx="1188720" cy="768096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理解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691640" y="2359152"/>
            <a:ext cx="7040880" cy="768096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理解流程规范与内容规范的区别，知道标准可以按项目剪裁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209544"/>
            <a:ext cx="1188720" cy="768096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掌握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691640" y="3209544"/>
            <a:ext cx="7040880" cy="768096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掌握可维护性的五个子特性（模块化、可复用性、易分析性、易修改性、易测试性），能用它比较、评价设计方案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4059936"/>
            <a:ext cx="1188720" cy="768096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了解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691640" y="4059936"/>
            <a:ext cx="7040880" cy="768096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了解标准体系内部的版本差与引用错位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411480" y="4910328"/>
            <a:ext cx="1188720" cy="768096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掌握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1691640" y="4910328"/>
            <a:ext cx="7040880" cy="768096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掌握 AI 协作工作流与 AI 输出的核对内容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1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本次课目标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本次课的重点与难点</a:t>
            </a:r>
          </a:p>
        </p:txBody>
      </p:sp>
      <p:sp>
        <p:nvSpPr>
          <p:cNvPr id="3" name="card"/>
          <p:cNvSpPr/>
          <p:nvPr/>
        </p:nvSpPr>
        <p:spPr>
          <a:xfrm>
            <a:off x="457200" y="1500000"/>
            <a:ext cx="4050000" cy="438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400" b="1">
                <a:solidFill>
                  <a:srgbClr val="A33B38"/>
                </a:solidFill>
                <a:latin typeface="微软雅黑"/>
                <a:ea typeface="微软雅黑"/>
              </a:rPr>
              <a:t>重点</a:t>
            </a:r>
          </a:p>
          <a:p>
            <a:pPr marL="285750" indent="-285750" algn="l">
              <a:spcBef>
                <a:spcPts val="600"/>
              </a:spcBef>
              <a:buClr>
                <a:srgbClr val="A33B38"/>
              </a:buClr>
              <a:buSzPct val="80000"/>
              <a:buFont typeface="Wingdings" pitchFamily="2" charset="2"/>
              <a:buChar char="n"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软件工程标准规范体系与主要标准；</a:t>
            </a:r>
          </a:p>
          <a:p>
            <a:pPr marL="285750" indent="-285750" algn="l">
              <a:spcBef>
                <a:spcPts val="600"/>
              </a:spcBef>
              <a:buClr>
                <a:srgbClr val="A33B38"/>
              </a:buClr>
              <a:buSzPct val="80000"/>
              <a:buFont typeface="Wingdings" pitchFamily="2" charset="2"/>
              <a:buChar char="n"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流程规范与内容规范；</a:t>
            </a:r>
          </a:p>
          <a:p>
            <a:pPr marL="285750" indent="-285750" algn="l">
              <a:spcBef>
                <a:spcPts val="600"/>
              </a:spcBef>
              <a:buClr>
                <a:srgbClr val="A33B38"/>
              </a:buClr>
              <a:buSzPct val="80000"/>
              <a:buFont typeface="Wingdings" pitchFamily="2" charset="2"/>
              <a:buChar char="n"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提示词模式作为人与AI之间的规格说明；</a:t>
            </a:r>
          </a:p>
          <a:p>
            <a:pPr marL="285750" indent="-285750" algn="l">
              <a:spcBef>
                <a:spcPts val="600"/>
              </a:spcBef>
              <a:buClr>
                <a:srgbClr val="A33B38"/>
              </a:buClr>
              <a:buSzPct val="80000"/>
              <a:buFont typeface="Wingdings" pitchFamily="2" charset="2"/>
              <a:buChar char="n"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质量模型的可维护性子特性</a:t>
            </a:r>
            <a:br>
              <a:rPr lang="zh-CN" sz="2000">
                <a:latin typeface="微软雅黑"/>
                <a:ea typeface="微软雅黑"/>
              </a:rPr>
            </a:b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及其判定。</a:t>
            </a:r>
          </a:p>
        </p:txBody>
      </p:sp>
      <p:sp>
        <p:nvSpPr>
          <p:cNvPr id="4" name="card"/>
          <p:cNvSpPr/>
          <p:nvPr/>
        </p:nvSpPr>
        <p:spPr>
          <a:xfrm>
            <a:off x="4637200" y="1500000"/>
            <a:ext cx="4050000" cy="438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400" b="1">
                <a:solidFill>
                  <a:srgbClr val="A33B38"/>
                </a:solidFill>
                <a:latin typeface="微软雅黑"/>
                <a:ea typeface="微软雅黑"/>
              </a:rPr>
              <a:t>难点</a:t>
            </a:r>
          </a:p>
          <a:p>
            <a:pPr marL="285750" indent="-285750" algn="l">
              <a:spcBef>
                <a:spcPts val="600"/>
              </a:spcBef>
              <a:buClr>
                <a:srgbClr val="A33B38"/>
              </a:buClr>
              <a:buSzPct val="80000"/>
              <a:buFont typeface="Wingdings" pitchFamily="2" charset="2"/>
              <a:buChar char="n"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标准允许按项目剪裁，以及</a:t>
            </a:r>
            <a:br>
              <a:rPr lang="zh-CN" sz="2000">
                <a:latin typeface="微软雅黑"/>
                <a:ea typeface="微软雅黑"/>
              </a:rPr>
            </a:b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标准体系内部的版本差；</a:t>
            </a:r>
          </a:p>
          <a:p>
            <a:pPr marL="285750" indent="-285750" algn="l">
              <a:spcBef>
                <a:spcPts val="600"/>
              </a:spcBef>
              <a:buClr>
                <a:srgbClr val="A33B38"/>
              </a:buClr>
              <a:buSzPct val="80000"/>
              <a:buFont typeface="Wingdings" pitchFamily="2" charset="2"/>
              <a:buChar char="n"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把与AI协作纳入工程规范范畴的意识转变。</a:t>
            </a:r>
          </a:p>
        </p:txBody>
      </p:sp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本次课目标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课程导入</a:t>
            </a:r>
          </a:p>
        </p:txBody>
      </p:sp>
      <p:sp>
        <p:nvSpPr>
          <p:cNvPr id="101" name="card-section"/>
          <p:cNvSpPr/>
          <p:nvPr/>
        </p:nvSpPr>
        <p:spPr>
          <a:xfrm>
            <a:off x="411480" y="1600200"/>
            <a:ext cx="2386584" cy="566928"/>
          </a:xfrm>
          <a:prstGeom prst="roundRect">
            <a:avLst>
              <a:gd name="adj" fmla="val 50000"/>
            </a:avLst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本节 20 分钟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11480" y="24231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01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234440" y="242316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课程定位、五章安排与先修课程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11480" y="320040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02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1234440" y="320040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棕地开发与载体 mall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411480" y="39776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03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1234440" y="397764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每周流程与成绩构成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411480" y="475488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04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1234440" y="475488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AI 使用规范、协作记录与提交说明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0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课程导入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本课程承上启下，以既有系统为载体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390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课程性质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专业核心课，承上启下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先修课程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软件工程概论、Java 程序设计、数据结构、Web </a:t>
                      </a:r>
                      <a:br>
                        <a:rPr lang="zh-CN" sz="2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前端开发、Web 后端开发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后继课程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软件验证与确认、软件设计综合课程设计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本课程做什么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在既有系统上理解设计、诊断缺陷、在约束下修改，并用规范和测试证明改对了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课程导入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本部分五章对应一次开发的五个环节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39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章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理论（次）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实验（次）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第一章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标准与规范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第二章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运行环境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第三章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体系结构设计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第四章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软件设计、重构与系统演化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第五章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编码、测试与部署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28 学时（每次 2 学时）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课程导入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棕地开发从既有系统出发，课程用 mall 作载体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1508760"/>
            <a:ext cx="8321040" cy="658368"/>
          </a:xfrm>
          <a:prstGeom prst="rect">
            <a:avLst/>
          </a:prstGeom>
          <a:solidFill>
            <a:srgbClr val="A33B38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棕地开发从既有系统起步，不从空白项目开始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2331720"/>
            <a:ext cx="8321040" cy="86868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mall：开源电商系统，后端用 Spring Boot 与 MyBatis，github.com/macrozheng/mall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333756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262626"/>
                </a:solidFill>
                <a:latin typeface="微软雅黑"/>
                <a:ea typeface="微软雅黑"/>
              </a:rPr>
              <a:t>分为七个 Maven 模块：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11480" y="3749040"/>
            <a:ext cx="832104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mall-common、mall-mbg、mall-security、mall-demo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mall-admin、mall-search、mall-portal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11480" y="4800600"/>
            <a:ext cx="8321040" cy="868680"/>
          </a:xfrm>
          <a:prstGeom prst="rect">
            <a:avLst/>
          </a:prstGeom>
          <a:solidFill>
            <a:srgbClr val="FFFFFF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本课程锁定基线标签 baseline-dcaa93b3，报告中的行号一律以它为准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课程导入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每次实验按预习、实操、讲解、演示四步进行</a:t>
            </a:r>
          </a:p>
        </p:txBody>
      </p:sp>
      <p:sp>
        <p:nvSpPr>
          <p:cNvPr id="3" name="card-1"/>
          <p:cNvSpPr/>
          <p:nvPr/>
        </p:nvSpPr>
        <p:spPr>
          <a:xfrm>
            <a:off x="457200" y="1800000"/>
            <a:ext cx="1907400" cy="230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000" b="1">
                <a:solidFill>
                  <a:srgbClr val="A33B38"/>
                </a:solidFill>
                <a:latin typeface="微软雅黑"/>
                <a:ea typeface="微软雅黑"/>
              </a:rPr>
              <a:t>1 课前线上</a:t>
            </a:r>
            <a:br>
              <a:rPr lang="zh-CN" sz="2000">
                <a:latin typeface="微软雅黑"/>
                <a:ea typeface="微软雅黑"/>
              </a:rPr>
            </a:br>
            <a:r>
              <a:rPr sz="2000" b="1">
                <a:solidFill>
                  <a:srgbClr val="A33B38"/>
                </a:solidFill>
                <a:latin typeface="微软雅黑"/>
                <a:ea typeface="微软雅黑"/>
              </a:rPr>
              <a:t>预习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客观题，课前完成</a:t>
            </a:r>
          </a:p>
        </p:txBody>
      </p:sp>
      <p:sp>
        <p:nvSpPr>
          <p:cNvPr id="4" name="fig-arrow"/>
          <p:cNvSpPr/>
          <p:nvPr/>
        </p:nvSpPr>
        <p:spPr>
          <a:xfrm>
            <a:off x="2394600" y="2840000"/>
            <a:ext cx="140000" cy="220000"/>
          </a:xfrm>
          <a:prstGeom prst="rightArrow">
            <a:avLst/>
          </a:prstGeom>
          <a:solidFill>
            <a:srgbClr val="A3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/>
              <a:ea typeface="微软雅黑"/>
            </a:endParaRPr>
          </a:p>
        </p:txBody>
      </p:sp>
      <p:sp>
        <p:nvSpPr>
          <p:cNvPr id="5" name="card-2"/>
          <p:cNvSpPr/>
          <p:nvPr/>
        </p:nvSpPr>
        <p:spPr>
          <a:xfrm>
            <a:off x="2564600" y="1800000"/>
            <a:ext cx="1907400" cy="230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000" b="1">
                <a:solidFill>
                  <a:srgbClr val="A33B38"/>
                </a:solidFill>
                <a:latin typeface="微软雅黑"/>
                <a:ea typeface="微软雅黑"/>
              </a:rPr>
              <a:t>2 课堂实操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在 mall 上</a:t>
            </a:r>
            <a:br>
              <a:rPr lang="zh-CN" sz="2000">
                <a:latin typeface="微软雅黑"/>
                <a:ea typeface="微软雅黑"/>
              </a:rPr>
            </a:b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完成实验任务</a:t>
            </a:r>
          </a:p>
        </p:txBody>
      </p:sp>
      <p:sp>
        <p:nvSpPr>
          <p:cNvPr id="6" name="fig-arrow"/>
          <p:cNvSpPr/>
          <p:nvPr/>
        </p:nvSpPr>
        <p:spPr>
          <a:xfrm>
            <a:off x="4502000" y="2840000"/>
            <a:ext cx="140000" cy="220000"/>
          </a:xfrm>
          <a:prstGeom prst="rightArrow">
            <a:avLst/>
          </a:prstGeom>
          <a:solidFill>
            <a:srgbClr val="A3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/>
              <a:ea typeface="微软雅黑"/>
            </a:endParaRPr>
          </a:p>
        </p:txBody>
      </p:sp>
      <p:sp>
        <p:nvSpPr>
          <p:cNvPr id="7" name="card-3"/>
          <p:cNvSpPr/>
          <p:nvPr/>
        </p:nvSpPr>
        <p:spPr>
          <a:xfrm>
            <a:off x="4672000" y="1800000"/>
            <a:ext cx="1907400" cy="230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000" b="1">
                <a:solidFill>
                  <a:srgbClr val="A33B38"/>
                </a:solidFill>
                <a:latin typeface="微软雅黑"/>
                <a:ea typeface="微软雅黑"/>
              </a:rPr>
              <a:t>3 课后作品</a:t>
            </a:r>
            <a:br>
              <a:rPr lang="zh-CN" sz="2000">
                <a:latin typeface="微软雅黑"/>
                <a:ea typeface="微软雅黑"/>
              </a:rPr>
            </a:br>
            <a:r>
              <a:rPr sz="2000" b="1">
                <a:solidFill>
                  <a:srgbClr val="A33B38"/>
                </a:solidFill>
                <a:latin typeface="微软雅黑"/>
                <a:ea typeface="微软雅黑"/>
              </a:rPr>
              <a:t>讲解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一页说明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不超过2分钟本人录屏</a:t>
            </a:r>
          </a:p>
        </p:txBody>
      </p:sp>
      <p:sp>
        <p:nvSpPr>
          <p:cNvPr id="8" name="fig-arrow"/>
          <p:cNvSpPr/>
          <p:nvPr/>
        </p:nvSpPr>
        <p:spPr>
          <a:xfrm>
            <a:off x="6609400" y="2840000"/>
            <a:ext cx="140000" cy="220000"/>
          </a:xfrm>
          <a:prstGeom prst="rightArrow">
            <a:avLst/>
          </a:prstGeom>
          <a:solidFill>
            <a:srgbClr val="A3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/>
              <a:ea typeface="微软雅黑"/>
            </a:endParaRPr>
          </a:p>
        </p:txBody>
      </p:sp>
      <p:sp>
        <p:nvSpPr>
          <p:cNvPr id="9" name="card-4"/>
          <p:cNvSpPr/>
          <p:nvPr/>
        </p:nvSpPr>
        <p:spPr>
          <a:xfrm>
            <a:off x="6779400" y="1800000"/>
            <a:ext cx="1907400" cy="230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000" b="1">
                <a:solidFill>
                  <a:srgbClr val="A33B38"/>
                </a:solidFill>
                <a:latin typeface="微软雅黑"/>
                <a:ea typeface="微软雅黑"/>
              </a:rPr>
              <a:t>4 现场演示与投票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课堂演示，</a:t>
            </a:r>
            <a:br>
              <a:rPr lang="zh-CN" sz="2000">
                <a:latin typeface="微软雅黑"/>
                <a:ea typeface="微软雅黑"/>
              </a:rPr>
            </a:b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同学投票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4434840"/>
            <a:ext cx="1371600" cy="65836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个人完成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874520" y="4434840"/>
            <a:ext cx="6858000" cy="65836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全部实验个人完成，评分看讲清楚、有依据、验证过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5184648"/>
            <a:ext cx="1371600" cy="65836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学习通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874520" y="5184648"/>
            <a:ext cx="685800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学习通发布预习、收取作品、组织课堂演示与投票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课程导入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总评由网络课堂 40% 与项目实践 60% 构成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43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占比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线上预习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10%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客观题，理论课前完成；未做计零分，总分取平均分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签到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10%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以投票答题计到场；1 次计 1 分，10 次以上为满分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课程网站访问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10%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300 次及以上得满分，不足按比例扣分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课堂演示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10%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参与演示与投票即计该次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项目实践</a:t>
                      </a:r>
                      <a:br>
                        <a:rPr lang="zh-CN" sz="2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（作业）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60%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每次 100 分：讲清楚 30、有依据 30、验证过 40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课程导入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使用生成式 AI 须遵守六条规定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43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序号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条款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（1）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在提交物中标注使用了AI的部分及所用工具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（2）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能够向教师解释AI产出的每一处内容，答辩时随机抽查讲解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（3）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对提交物的正确性与质量负全部责任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（4）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作品讲解的录屏须由本人完成，并演示核实AI答案的过程</a:t>
                      </a:r>
                      <a:br/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（断点、执行记录或测试运行）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（5）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AI检测器的结论不作为认定违规的依据，核验依靠作品讲解、现场</a:t>
                      </a:r>
                      <a:br>
                        <a:rPr lang="zh-CN" sz="1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演示和期末独立展示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（6）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未标注使用AI、无法解释产出内容或以AI产出冒充本人完成的，</a:t>
                      </a:r>
                      <a:br/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按学术不诚信处理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课程导入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提交说明按讲清楚、有依据、验证过组织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396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协作记录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验收准则、使用范围、所用工具、修订记录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讲清楚（30）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本次要理解或评价什么？观察到什么现象，问题怎么拆，向 AI 提了什么问题？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有依据（30）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依据哪些原则、标准与规范？方案取舍的理由，对 AI 产出采纳或驳回的依据？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验证过（40）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用断点、代码、执行记录、测试记录核实了 AI 的哪些答案，哪些未核实？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提交要求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一页说明（按讲清楚、有依据、验证过组织）＋不</a:t>
                      </a:r>
                      <a:br>
                        <a:rPr lang="zh-CN" sz="2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超过2分钟本人录屏。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课程导入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标准规范体系</a:t>
            </a:r>
          </a:p>
        </p:txBody>
      </p:sp>
      <p:sp>
        <p:nvSpPr>
          <p:cNvPr id="101" name="card-section"/>
          <p:cNvSpPr/>
          <p:nvPr/>
        </p:nvSpPr>
        <p:spPr>
          <a:xfrm>
            <a:off x="411480" y="1600200"/>
            <a:ext cx="2386584" cy="566928"/>
          </a:xfrm>
          <a:prstGeom prst="roundRect">
            <a:avLst>
              <a:gd name="adj" fmla="val 50000"/>
            </a:avLst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本节 25 分钟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11480" y="24231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01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234440" y="242316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为什么需要标准：口径不一致的例子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11480" y="320040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02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1234440" y="320040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标准的定义、五个层次、四类国标与主要标准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411480" y="39776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03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1234440" y="397764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两处版本差：12207 与 GB/T 8566，25010 与 GB/T 25000.10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标准规范体系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口径不一致，同一组成绩得出不同的平均分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270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同一组成绩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计算口径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结果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课程 A：3 学分、80 分</a:t>
                      </a:r>
                    </a:p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课程 B：2 学分、50 分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按学分加权：</a:t>
                      </a:r>
                    </a:p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(3×80＋2×50)÷5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68.00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同上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按课程数算术平均：</a:t>
                      </a:r>
                    </a:p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(80＋50)÷2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65.00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1" name="fig"/>
          <p:cNvSpPr/>
          <p:nvPr/>
        </p:nvSpPr>
        <p:spPr>
          <a:xfrm>
            <a:off x="411480" y="4434840"/>
            <a:ext cx="8321040" cy="60350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两个结果相差 3.00，口径没有写明时无法判断谁对谁错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5138928"/>
            <a:ext cx="8321040" cy="640080"/>
          </a:xfrm>
          <a:prstGeom prst="rect">
            <a:avLst/>
          </a:prstGeom>
          <a:solidFill>
            <a:srgbClr val="A33B38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标准的作用是约定术语、符号与口径，使各方的产物可以对照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标准规范体系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标准是经协商一致制定、供重复使用的规则文件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1508760"/>
            <a:ext cx="8321040" cy="868680"/>
          </a:xfrm>
          <a:prstGeom prst="rect">
            <a:avLst/>
          </a:prstGeom>
          <a:solidFill>
            <a:srgbClr val="A33B38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标准（GB/T 20000.1-2014）：按规定程序，经协商一致制定的文件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11480" y="2514600"/>
            <a:ext cx="109728" cy="4572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594360" y="2514600"/>
            <a:ext cx="8138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为各种活动或其结果提供规则、指南或特性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11480" y="3063240"/>
            <a:ext cx="109728" cy="4572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594360" y="3063240"/>
            <a:ext cx="8138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供共同使用和重复使用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411480" y="3611880"/>
            <a:ext cx="109728" cy="4572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594360" y="3611880"/>
            <a:ext cx="8138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标准宜以科学、技术和经验的综合成果为基础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411480" y="4206240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262626"/>
                </a:solidFill>
                <a:latin typeface="微软雅黑"/>
                <a:ea typeface="微软雅黑"/>
              </a:rPr>
              <a:t>判定一份文件是否属于标准，问两个问题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411480" y="4681728"/>
            <a:ext cx="420624" cy="420624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?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960120" y="4645152"/>
            <a:ext cx="7772400" cy="493776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是否按规定程序、经协商一致制定？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411480" y="5248656"/>
            <a:ext cx="420624" cy="420624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?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2" name="fig"/>
          <p:cNvSpPr/>
          <p:nvPr/>
        </p:nvSpPr>
        <p:spPr>
          <a:xfrm>
            <a:off x="960120" y="5212080"/>
            <a:ext cx="7772400" cy="493776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是否供共同使用和重复使用？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3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标准规范体系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标准分国际、国家、行业、企业、项目五个层次</a:t>
            </a:r>
          </a:p>
        </p:txBody>
      </p:sp>
      <p:sp>
        <p:nvSpPr>
          <p:cNvPr id="4" name="fn-abbr"/>
          <p:cNvSpPr txBox="1"/>
          <p:nvPr/>
        </p:nvSpPr>
        <p:spPr>
          <a:xfrm>
            <a:off x="457200" y="4480560"/>
            <a:ext cx="822960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sz="1600" b="0">
                <a:latin typeface="微软雅黑"/>
                <a:ea typeface="微软雅黑"/>
              </a:rPr>
              <a:t>ISO：国际标准化组织（International Organization for Standardization）</a:t>
            </a:r>
          </a:p>
          <a:p>
            <a:pPr marL="0" indent="0">
              <a:spcBef>
                <a:spcPts val="300"/>
              </a:spcBef>
              <a:buNone/>
            </a:pPr>
            <a:r>
              <a:rPr sz="1600" b="0">
                <a:latin typeface="微软雅黑"/>
                <a:ea typeface="微软雅黑"/>
              </a:rPr>
              <a:t>IEC：国际电工委员会（International Electrotechnical Commission）</a:t>
            </a:r>
          </a:p>
          <a:p>
            <a:pPr marL="0" indent="0">
              <a:spcBef>
                <a:spcPts val="300"/>
              </a:spcBef>
              <a:buNone/>
            </a:pPr>
            <a:r>
              <a:rPr sz="1600" b="0">
                <a:latin typeface="微软雅黑"/>
                <a:ea typeface="微软雅黑"/>
              </a:rPr>
              <a:t>IEEE：电气电子工程师学会（Institute of Electrical and Electronics Engineers）</a:t>
            </a:r>
          </a:p>
          <a:p>
            <a:pPr marL="0" indent="0">
              <a:spcBef>
                <a:spcPts val="300"/>
              </a:spcBef>
              <a:buNone/>
            </a:pPr>
            <a:r>
              <a:rPr sz="1600" b="0">
                <a:latin typeface="微软雅黑"/>
                <a:ea typeface="微软雅黑"/>
              </a:rPr>
              <a:t>GB：国家标准代号，GB/T 为推荐性国家标准</a:t>
            </a:r>
          </a:p>
          <a:p>
            <a:pPr marL="0" indent="0">
              <a:spcBef>
                <a:spcPts val="300"/>
              </a:spcBef>
              <a:buNone/>
            </a:pPr>
            <a:r>
              <a:rPr sz="1600" b="0">
                <a:latin typeface="微软雅黑"/>
                <a:ea typeface="微软雅黑"/>
              </a:rPr>
              <a:t>CIMS：计算机集成制造系统（Computer Integrated Manufacturing Systems）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48132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层次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206240" y="1481328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适用范围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5852160" y="1481328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示例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11480" y="1810512"/>
            <a:ext cx="3657600" cy="42976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国际标准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206240" y="1810512"/>
            <a:ext cx="15544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供各国参考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5852160" y="1810512"/>
            <a:ext cx="2880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ISO/IEC/IEEE 系列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685800" y="2295144"/>
            <a:ext cx="3108960" cy="42976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国家标准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4206240" y="2295144"/>
            <a:ext cx="15544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适用于全国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5852160" y="2295144"/>
            <a:ext cx="2880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GB、GB/T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960120" y="2779776"/>
            <a:ext cx="2560320" cy="42976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行业标准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4206240" y="2779776"/>
            <a:ext cx="15544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适用于行业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5852160" y="2779776"/>
            <a:ext cx="2880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YY（医药）、JT（交通）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3" name="fig-d"/>
          <p:cNvSpPr/>
          <p:nvPr/>
        </p:nvSpPr>
        <p:spPr>
          <a:xfrm>
            <a:off x="1234440" y="3264408"/>
            <a:ext cx="2011680" cy="429768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企业规范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4" name="fig-d"/>
          <p:cNvSpPr/>
          <p:nvPr/>
        </p:nvSpPr>
        <p:spPr>
          <a:xfrm>
            <a:off x="4206240" y="3264408"/>
            <a:ext cx="15544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适用于企业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5" name="fig-d"/>
          <p:cNvSpPr/>
          <p:nvPr/>
        </p:nvSpPr>
        <p:spPr>
          <a:xfrm>
            <a:off x="5852160" y="3264408"/>
            <a:ext cx="2880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IBM《程序设计开发指南》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6" name="fig-d"/>
          <p:cNvSpPr/>
          <p:nvPr/>
        </p:nvSpPr>
        <p:spPr>
          <a:xfrm>
            <a:off x="1508760" y="3749040"/>
            <a:ext cx="1463040" cy="429768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项目规范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7" name="fig-d"/>
          <p:cNvSpPr/>
          <p:nvPr/>
        </p:nvSpPr>
        <p:spPr>
          <a:xfrm>
            <a:off x="4206240" y="3749040"/>
            <a:ext cx="15544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适用于项目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8" name="fig-d"/>
          <p:cNvSpPr/>
          <p:nvPr/>
        </p:nvSpPr>
        <p:spPr>
          <a:xfrm>
            <a:off x="5852160" y="3749040"/>
            <a:ext cx="2880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CIMS 软件工程规范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9" name="fn-source"/>
          <p:cNvSpPr/>
          <p:nvPr/>
        </p:nvSpPr>
        <p:spPr>
          <a:xfrm>
            <a:off x="411480" y="4224528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图：据 2024 版第 3-4 讲第 7–8 页（标准编制的层次）的说明画</a:t>
            </a:r>
            <a:endParaRPr lang="zh-CN" sz="1200">
              <a:latin typeface="微软雅黑"/>
              <a:ea typeface="微软雅黑"/>
            </a:endParaRPr>
          </a:p>
        </p:txBody>
      </p:sp>
      <p:sp>
        <p:nvSpPr>
          <p:cNvPr id="120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标准规范体系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国家标准按基础、开发、文档、管理分为四类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320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分类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规定什么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基础标准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术语、符号、表示、构造、分类及约定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开发标准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生存期过程、支持环境、维护等工作规范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文档标准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产品、需求、测试、管理等文档怎么编制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管理标准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配置管理、质量保证、可靠性与可维护性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body"/>
          <p:cNvSpPr txBox="1"/>
          <p:nvPr/>
        </p:nvSpPr>
        <p:spPr>
          <a:xfrm>
            <a:off x="457200" y="4800000"/>
            <a:ext cx="82296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buClr>
                <a:srgbClr val="A33B38"/>
              </a:buClr>
              <a:buSzPct val="80000"/>
              <a:buFont typeface="Wingdings" pitchFamily="2" charset="2"/>
              <a:buChar char="n"/>
            </a:pPr>
            <a:r>
              <a:rPr sz="2200" b="0">
                <a:latin typeface="微软雅黑"/>
                <a:ea typeface="微软雅黑"/>
              </a:rPr>
              <a:t>标准有编号和年份，如 GB/T 25000.10-2016</a:t>
            </a:r>
          </a:p>
          <a:p>
            <a:pPr marL="342900" indent="-342900">
              <a:spcBef>
                <a:spcPts val="1000"/>
              </a:spcBef>
              <a:buClr>
                <a:srgbClr val="A33B38"/>
              </a:buClr>
              <a:buSzPct val="80000"/>
              <a:buFont typeface="Wingdings" pitchFamily="2" charset="2"/>
              <a:buChar char="n"/>
            </a:pPr>
            <a:r>
              <a:rPr sz="2200" b="0">
                <a:latin typeface="微软雅黑"/>
                <a:ea typeface="微软雅黑"/>
              </a:rPr>
              <a:t>以现行版本为准，旧版本一般废止</a:t>
            </a:r>
          </a:p>
        </p:txBody>
      </p:sp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标准规范体系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本章对照七项标准与知识体系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376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标准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主题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本章用途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GB/T 11457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软件工程术语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统一术语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GB/T 8566-2022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软件生存周期过程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流程规范的实例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GB/T 8567-2006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计算机软件文档编制规范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内容规范的实例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GB/T 25000.10-2016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系统与软件质量模型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八个特性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ISO/IEC 25010:2023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产品质量模型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九个特性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ISO/IEC/IEEE 12207:2026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软件生存周期过程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最新国际版本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SWEBOK Guide V4.0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软件工程知识体系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知识体系参照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fn-swebok"/>
          <p:cNvSpPr txBox="1"/>
          <p:nvPr/>
        </p:nvSpPr>
        <p:spPr>
          <a:xfrm>
            <a:off x="457200" y="5600000"/>
            <a:ext cx="8229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sz="1600" b="0">
                <a:latin typeface="微软雅黑"/>
                <a:ea typeface="微软雅黑"/>
              </a:rPr>
              <a:t>SWEBOK：软件工程知识体系（Software Engineering Body of Knowledge）。</a:t>
            </a:r>
          </a:p>
        </p:txBody>
      </p:sp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标准规范体系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应用要求系统 17 以上，你的手机是 16</a:t>
            </a:r>
          </a:p>
        </p:txBody>
      </p:sp>
      <p:sp>
        <p:nvSpPr>
          <p:cNvPr id="3" name="card-1"/>
          <p:cNvSpPr/>
          <p:nvPr/>
        </p:nvSpPr>
        <p:spPr>
          <a:xfrm>
            <a:off x="457200" y="1700000"/>
            <a:ext cx="2569866" cy="170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200" b="1">
                <a:solidFill>
                  <a:srgbClr val="A33B38"/>
                </a:solidFill>
                <a:latin typeface="微软雅黑"/>
                <a:ea typeface="微软雅黑"/>
              </a:rPr>
              <a:t>应用的要求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系统 17 以上</a:t>
            </a:r>
          </a:p>
        </p:txBody>
      </p:sp>
      <p:sp>
        <p:nvSpPr>
          <p:cNvPr id="4" name="fig-arrow"/>
          <p:cNvSpPr/>
          <p:nvPr/>
        </p:nvSpPr>
        <p:spPr>
          <a:xfrm>
            <a:off x="3057066" y="2440000"/>
            <a:ext cx="200000" cy="220000"/>
          </a:xfrm>
          <a:prstGeom prst="rightArrow">
            <a:avLst/>
          </a:prstGeom>
          <a:solidFill>
            <a:srgbClr val="A3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/>
              <a:ea typeface="微软雅黑"/>
            </a:endParaRPr>
          </a:p>
        </p:txBody>
      </p:sp>
      <p:sp>
        <p:nvSpPr>
          <p:cNvPr id="5" name="card-2"/>
          <p:cNvSpPr/>
          <p:nvPr/>
        </p:nvSpPr>
        <p:spPr>
          <a:xfrm>
            <a:off x="3287066" y="1700000"/>
            <a:ext cx="2569866" cy="170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200" b="1">
                <a:solidFill>
                  <a:srgbClr val="A33B38"/>
                </a:solidFill>
                <a:latin typeface="微软雅黑"/>
                <a:ea typeface="微软雅黑"/>
              </a:rPr>
              <a:t>你的手机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系统 16</a:t>
            </a:r>
          </a:p>
        </p:txBody>
      </p:sp>
      <p:sp>
        <p:nvSpPr>
          <p:cNvPr id="6" name="fig-arrow"/>
          <p:cNvSpPr/>
          <p:nvPr/>
        </p:nvSpPr>
        <p:spPr>
          <a:xfrm>
            <a:off x="5886932" y="2440000"/>
            <a:ext cx="200000" cy="220000"/>
          </a:xfrm>
          <a:prstGeom prst="rightArrow">
            <a:avLst/>
          </a:prstGeom>
          <a:solidFill>
            <a:srgbClr val="A3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/>
              <a:ea typeface="微软雅黑"/>
            </a:endParaRPr>
          </a:p>
        </p:txBody>
      </p:sp>
      <p:sp>
        <p:nvSpPr>
          <p:cNvPr id="7" name="card-3"/>
          <p:cNvSpPr/>
          <p:nvPr/>
        </p:nvSpPr>
        <p:spPr>
          <a:xfrm>
            <a:off x="6116932" y="1700000"/>
            <a:ext cx="2569866" cy="170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200" b="1">
                <a:solidFill>
                  <a:srgbClr val="A33B38"/>
                </a:solidFill>
                <a:latin typeface="微软雅黑"/>
                <a:ea typeface="微软雅黑"/>
              </a:rPr>
              <a:t>结论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不能安装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最新版存在，你手上不一定是它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3730752"/>
            <a:ext cx="420624" cy="420624"/>
          </a:xfrm>
          <a:prstGeom prst="ellipse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960120" y="3657600"/>
            <a:ext cx="777240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系统 17 已经发布，是事实；你的手机仍是 16，也是事实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4425696"/>
            <a:ext cx="420624" cy="420624"/>
          </a:xfrm>
          <a:prstGeom prst="ellipse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960120" y="4352544"/>
            <a:ext cx="777240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能否安装，看你手里的版本，不看最新版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5120640"/>
            <a:ext cx="420624" cy="420624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960120" y="5047488"/>
            <a:ext cx="7772400" cy="56692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对应到标准：最新版存在，项目引用的不一定是它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标准规范体系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国标仍采用 12207 的 2017 版</a:t>
            </a:r>
          </a:p>
        </p:txBody>
      </p:sp>
      <p:sp>
        <p:nvSpPr>
          <p:cNvPr id="3" name="card"/>
          <p:cNvSpPr/>
          <p:nvPr/>
        </p:nvSpPr>
        <p:spPr>
          <a:xfrm>
            <a:off x="457200" y="1550000"/>
            <a:ext cx="4000000" cy="220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200" b="1">
                <a:solidFill>
                  <a:srgbClr val="A33B38"/>
                </a:solidFill>
                <a:latin typeface="微软雅黑"/>
                <a:ea typeface="微软雅黑"/>
              </a:rPr>
              <a:t>国际：对应“最新系统 17”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ISO/IEC/IEEE 12207:2026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代替 12207:2017</a:t>
            </a:r>
          </a:p>
        </p:txBody>
      </p:sp>
      <p:sp>
        <p:nvSpPr>
          <p:cNvPr id="4" name="card"/>
          <p:cNvSpPr/>
          <p:nvPr/>
        </p:nvSpPr>
        <p:spPr>
          <a:xfrm>
            <a:off x="4686800" y="1550000"/>
            <a:ext cx="4000000" cy="220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200" b="1">
                <a:solidFill>
                  <a:srgbClr val="A33B38"/>
                </a:solidFill>
                <a:latin typeface="微软雅黑"/>
                <a:ea typeface="微软雅黑"/>
              </a:rPr>
              <a:t>国内：对应“你的手机 16”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GB/T 8566-2022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等同采用（Identical，IDT）12207:2017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4069080"/>
            <a:ext cx="8321040" cy="685800"/>
          </a:xfrm>
          <a:prstGeom prst="rect">
            <a:avLst/>
          </a:prstGeom>
          <a:solidFill>
            <a:srgbClr val="A33B38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国内尚未同步，现行国标仍对应上一版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4892040"/>
            <a:ext cx="8321040" cy="640080"/>
          </a:xfrm>
          <a:prstGeom prst="rect">
            <a:avLst/>
          </a:prstGeom>
          <a:solidFill>
            <a:srgbClr val="FFFFFF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规范文本本身也要核验版本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标准规范体系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25010 由八个特性变为九个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481328"/>
            <a:ext cx="3200400" cy="73152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八个特性（2011 版）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1800" b="0">
                <a:solidFill>
                  <a:srgbClr val="FFFFFF"/>
                </a:solidFill>
                <a:latin typeface="微软雅黑"/>
                <a:ea typeface="微软雅黑"/>
              </a:rPr>
              <a:t>GB/T 25000.10-2016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5532120" y="1481328"/>
            <a:ext cx="3200400" cy="73152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九个特性（2023 版）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1800" b="0">
                <a:solidFill>
                  <a:srgbClr val="FFFFFF"/>
                </a:solidFill>
                <a:latin typeface="微软雅黑"/>
                <a:ea typeface="微软雅黑"/>
              </a:rPr>
              <a:t>ISO/IEC 25010:2023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304288"/>
            <a:ext cx="320040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功能性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3611880" y="2468880"/>
            <a:ext cx="1920240" cy="9144"/>
          </a:xfrm>
          <a:custGeom>
            <a:avLst/>
            <a:gdLst/>
            <a:ahLst/>
            <a:cxnLst/>
            <a:rect l="0" t="0" r="r" b="b"/>
            <a:pathLst>
              <a:path w="1920240" h="9144" fill="none">
                <a:moveTo>
                  <a:pt x="0" y="0"/>
                </a:moveTo>
                <a:lnTo>
                  <a:pt x="1920240" y="0"/>
                </a:lnTo>
              </a:path>
            </a:pathLst>
          </a:custGeom>
          <a:noFill/>
          <a:ln w="12700">
            <a:solidFill>
              <a:srgbClr val="A6A6A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5532120" y="2304288"/>
            <a:ext cx="320040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功能适合性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411480" y="2688336"/>
            <a:ext cx="320040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性能效率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3611880" y="2852928"/>
            <a:ext cx="1920240" cy="9144"/>
          </a:xfrm>
          <a:custGeom>
            <a:avLst/>
            <a:gdLst/>
            <a:ahLst/>
            <a:cxnLst/>
            <a:rect l="0" t="0" r="r" b="b"/>
            <a:pathLst>
              <a:path w="1920240" h="9144" fill="none">
                <a:moveTo>
                  <a:pt x="0" y="0"/>
                </a:moveTo>
                <a:lnTo>
                  <a:pt x="1920240" y="0"/>
                </a:lnTo>
              </a:path>
            </a:pathLst>
          </a:custGeom>
          <a:noFill/>
          <a:ln w="12700">
            <a:solidFill>
              <a:srgbClr val="A6A6A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5532120" y="2688336"/>
            <a:ext cx="320040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性能效率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411480" y="3072384"/>
            <a:ext cx="320040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兼容性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3611880" y="3236976"/>
            <a:ext cx="1920240" cy="9144"/>
          </a:xfrm>
          <a:custGeom>
            <a:avLst/>
            <a:gdLst/>
            <a:ahLst/>
            <a:cxnLst/>
            <a:rect l="0" t="0" r="r" b="b"/>
            <a:pathLst>
              <a:path w="1920240" h="9144" fill="none">
                <a:moveTo>
                  <a:pt x="0" y="0"/>
                </a:moveTo>
                <a:lnTo>
                  <a:pt x="1920240" y="0"/>
                </a:lnTo>
              </a:path>
            </a:pathLst>
          </a:custGeom>
          <a:noFill/>
          <a:ln w="12700">
            <a:solidFill>
              <a:srgbClr val="A6A6A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5532120" y="3072384"/>
            <a:ext cx="320040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兼容性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411480" y="345643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易用性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3" name="fig-d"/>
          <p:cNvSpPr/>
          <p:nvPr/>
        </p:nvSpPr>
        <p:spPr>
          <a:xfrm>
            <a:off x="3611880" y="3621024"/>
            <a:ext cx="1920240" cy="9144"/>
          </a:xfrm>
          <a:custGeom>
            <a:avLst/>
            <a:gdLst/>
            <a:ahLst/>
            <a:cxnLst/>
            <a:rect l="0" t="0" r="r" b="b"/>
            <a:pathLst>
              <a:path w="1920240" h="9144" fill="none">
                <a:moveTo>
                  <a:pt x="0" y="0"/>
                </a:moveTo>
                <a:lnTo>
                  <a:pt x="1920240" y="0"/>
                </a:lnTo>
              </a:path>
            </a:pathLst>
          </a:custGeom>
          <a:noFill/>
          <a:ln w="19050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4" name="fig-d"/>
          <p:cNvSpPr/>
          <p:nvPr/>
        </p:nvSpPr>
        <p:spPr>
          <a:xfrm>
            <a:off x="5532120" y="3456432"/>
            <a:ext cx="3200400" cy="329184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交互能力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5" name="fig-d"/>
          <p:cNvSpPr/>
          <p:nvPr/>
        </p:nvSpPr>
        <p:spPr>
          <a:xfrm>
            <a:off x="411480" y="3840480"/>
            <a:ext cx="320040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可靠性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6" name="fig-d"/>
          <p:cNvSpPr/>
          <p:nvPr/>
        </p:nvSpPr>
        <p:spPr>
          <a:xfrm>
            <a:off x="3611880" y="4005072"/>
            <a:ext cx="1920240" cy="9144"/>
          </a:xfrm>
          <a:custGeom>
            <a:avLst/>
            <a:gdLst/>
            <a:ahLst/>
            <a:cxnLst/>
            <a:rect l="0" t="0" r="r" b="b"/>
            <a:pathLst>
              <a:path w="1920240" h="9144" fill="none">
                <a:moveTo>
                  <a:pt x="0" y="0"/>
                </a:moveTo>
                <a:lnTo>
                  <a:pt x="1920240" y="0"/>
                </a:lnTo>
              </a:path>
            </a:pathLst>
          </a:custGeom>
          <a:noFill/>
          <a:ln w="12700">
            <a:solidFill>
              <a:srgbClr val="A6A6A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7" name="fig-d"/>
          <p:cNvSpPr/>
          <p:nvPr/>
        </p:nvSpPr>
        <p:spPr>
          <a:xfrm>
            <a:off x="5532120" y="3840480"/>
            <a:ext cx="320040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可靠性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8" name="fig-d"/>
          <p:cNvSpPr/>
          <p:nvPr/>
        </p:nvSpPr>
        <p:spPr>
          <a:xfrm>
            <a:off x="411480" y="4224528"/>
            <a:ext cx="320040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信息安全性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9" name="fig-d"/>
          <p:cNvSpPr/>
          <p:nvPr/>
        </p:nvSpPr>
        <p:spPr>
          <a:xfrm>
            <a:off x="3611880" y="4389120"/>
            <a:ext cx="1920240" cy="9144"/>
          </a:xfrm>
          <a:custGeom>
            <a:avLst/>
            <a:gdLst/>
            <a:ahLst/>
            <a:cxnLst/>
            <a:rect l="0" t="0" r="r" b="b"/>
            <a:pathLst>
              <a:path w="1920240" h="9144" fill="none">
                <a:moveTo>
                  <a:pt x="0" y="0"/>
                </a:moveTo>
                <a:lnTo>
                  <a:pt x="1920240" y="0"/>
                </a:lnTo>
              </a:path>
            </a:pathLst>
          </a:custGeom>
          <a:noFill/>
          <a:ln w="12700">
            <a:solidFill>
              <a:srgbClr val="A6A6A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0" name="fig-d"/>
          <p:cNvSpPr/>
          <p:nvPr/>
        </p:nvSpPr>
        <p:spPr>
          <a:xfrm>
            <a:off x="5532120" y="4224528"/>
            <a:ext cx="320040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信息安全性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1" name="fig-d"/>
          <p:cNvSpPr/>
          <p:nvPr/>
        </p:nvSpPr>
        <p:spPr>
          <a:xfrm>
            <a:off x="411480" y="4608576"/>
            <a:ext cx="320040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可维护性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2" name="fig-d"/>
          <p:cNvSpPr/>
          <p:nvPr/>
        </p:nvSpPr>
        <p:spPr>
          <a:xfrm>
            <a:off x="3611880" y="4773168"/>
            <a:ext cx="1920240" cy="9144"/>
          </a:xfrm>
          <a:custGeom>
            <a:avLst/>
            <a:gdLst/>
            <a:ahLst/>
            <a:cxnLst/>
            <a:rect l="0" t="0" r="r" b="b"/>
            <a:pathLst>
              <a:path w="1920240" h="9144" fill="none">
                <a:moveTo>
                  <a:pt x="0" y="0"/>
                </a:moveTo>
                <a:lnTo>
                  <a:pt x="1920240" y="0"/>
                </a:lnTo>
              </a:path>
            </a:pathLst>
          </a:custGeom>
          <a:noFill/>
          <a:ln w="12700">
            <a:solidFill>
              <a:srgbClr val="A6A6A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3" name="fig-d"/>
          <p:cNvSpPr/>
          <p:nvPr/>
        </p:nvSpPr>
        <p:spPr>
          <a:xfrm>
            <a:off x="5532120" y="4608576"/>
            <a:ext cx="320040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可维护性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4" name="fig-d"/>
          <p:cNvSpPr/>
          <p:nvPr/>
        </p:nvSpPr>
        <p:spPr>
          <a:xfrm>
            <a:off x="411480" y="49926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可移植性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5" name="fig-d"/>
          <p:cNvSpPr/>
          <p:nvPr/>
        </p:nvSpPr>
        <p:spPr>
          <a:xfrm>
            <a:off x="3611880" y="5157216"/>
            <a:ext cx="1920240" cy="9144"/>
          </a:xfrm>
          <a:custGeom>
            <a:avLst/>
            <a:gdLst/>
            <a:ahLst/>
            <a:cxnLst/>
            <a:rect l="0" t="0" r="r" b="b"/>
            <a:pathLst>
              <a:path w="1920240" h="9144" fill="none">
                <a:moveTo>
                  <a:pt x="0" y="0"/>
                </a:moveTo>
                <a:lnTo>
                  <a:pt x="1920240" y="0"/>
                </a:lnTo>
              </a:path>
            </a:pathLst>
          </a:custGeom>
          <a:noFill/>
          <a:ln w="19050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6" name="fig-d"/>
          <p:cNvSpPr/>
          <p:nvPr/>
        </p:nvSpPr>
        <p:spPr>
          <a:xfrm>
            <a:off x="5532120" y="4992624"/>
            <a:ext cx="3200400" cy="329184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灵活性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7" name="fig-d"/>
          <p:cNvSpPr/>
          <p:nvPr/>
        </p:nvSpPr>
        <p:spPr>
          <a:xfrm>
            <a:off x="3749040" y="53949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新增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8" name="fig-d"/>
          <p:cNvSpPr/>
          <p:nvPr/>
        </p:nvSpPr>
        <p:spPr>
          <a:xfrm>
            <a:off x="5532120" y="5376672"/>
            <a:ext cx="3200400" cy="329184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安全性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9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标准规范体系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2023 版相对 2011 版有三项变化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360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变化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2011 版（GB/T 25000.10-2016）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2023 版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新增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无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安全性（Safety）：系统失效应倒向安全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更名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易用性（Usability）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交互能力（Interaction Capability）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更名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可移植性（Portability）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灵活性（Flexibility）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body"/>
          <p:cNvSpPr txBox="1"/>
          <p:nvPr/>
        </p:nvSpPr>
        <p:spPr>
          <a:xfrm>
            <a:off x="457200" y="5300000"/>
            <a:ext cx="8229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sz="2000" b="0">
                <a:latin typeface="微软雅黑"/>
                <a:ea typeface="微软雅黑"/>
              </a:rPr>
              <a:t>使用质量模型另见 ISO/IEC 25019。</a:t>
            </a:r>
          </a:p>
        </p:txBody>
      </p:sp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标准规范体系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流程规范与内容规范</a:t>
            </a:r>
          </a:p>
        </p:txBody>
      </p:sp>
      <p:sp>
        <p:nvSpPr>
          <p:cNvPr id="101" name="card-section"/>
          <p:cNvSpPr/>
          <p:nvPr/>
        </p:nvSpPr>
        <p:spPr>
          <a:xfrm>
            <a:off x="411480" y="1600200"/>
            <a:ext cx="2386584" cy="566928"/>
          </a:xfrm>
          <a:prstGeom prst="roundRect">
            <a:avLst>
              <a:gd name="adj" fmla="val 50000"/>
            </a:avLst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本节 15 分钟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11480" y="24231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01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234440" y="242316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流程规范管步骤，内容规范管产物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11480" y="320040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02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1234440" y="320040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标准可以按项目剪裁，剪裁要写明理由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411480" y="39776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03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1234440" y="397764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讨论：你遵守过的规范属于哪一类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流程规范与内容规范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流程规范规定按什么步骤做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500000"/>
            <a:ext cx="8229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sz="2000" b="0">
                <a:latin typeface="微软雅黑"/>
                <a:ea typeface="微软雅黑"/>
              </a:rPr>
              <a:t>实例：GB/T 8566-2022，以及能力成熟度模型集成（Capability Maturity Model Integration，CMMI）的五个等级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457200" y="2450000"/>
          <a:ext cx="8229600" cy="32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等级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名称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初始级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过程不可控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已管理级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项目过程可控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已定义级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组织内部过程已制度化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定量管理级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过程已测量和控制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优化级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关注持续的过程改进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流程规范与内容规范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内容规范规定产物写成什么样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360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文档类别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描述什么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文档示例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开发文档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软件开发过程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可行性研究报告、软件需求说明书、概要设计</a:t>
                      </a:r>
                      <a:br>
                        <a:rPr lang="zh-CN" sz="16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说明书、详细设计说明书、数据库设计说明书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用户文档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安装、配置、使用、</a:t>
                      </a:r>
                      <a:br>
                        <a:rPr lang="zh-CN" sz="16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维护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系统安装配置手册、用户操作手册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管理文档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开发过程的管理信息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项目开发计划、模块开发卷宗、开发进度月报、测试计划、测试分析报告、项目开发总结报告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body"/>
          <p:cNvSpPr txBox="1"/>
          <p:nvPr/>
        </p:nvSpPr>
        <p:spPr>
          <a:xfrm>
            <a:off x="457200" y="5100000"/>
            <a:ext cx="8229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sz="2000" b="0">
                <a:latin typeface="微软雅黑"/>
                <a:ea typeface="微软雅黑"/>
              </a:rPr>
              <a:t>GB/T 8567-2006《计算机软件文档编制规范》代替 GB/T 8567-88；另如阿里巴巴《Java 开发手册（黄山版）》规定命名、格式等写法。</a:t>
            </a:r>
          </a:p>
        </p:txBody>
      </p:sp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流程规范与内容规范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判定一份规范归哪一类，看它约束步骤还是产物</a:t>
            </a:r>
          </a:p>
        </p:txBody>
      </p:sp>
      <p:sp>
        <p:nvSpPr>
          <p:cNvPr id="101" name="fig-d"/>
          <p:cNvSpPr/>
          <p:nvPr/>
        </p:nvSpPr>
        <p:spPr>
          <a:xfrm>
            <a:off x="2057400" y="1536192"/>
            <a:ext cx="3291840" cy="4572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流程规范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5440680" y="1536192"/>
            <a:ext cx="3291840" cy="45720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内容规范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103120"/>
            <a:ext cx="1554480" cy="78638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约束对象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2057400" y="2103120"/>
            <a:ext cx="3291840" cy="786384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步骤与活动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5440680" y="2103120"/>
            <a:ext cx="3291840" cy="78638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产物的写法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411480" y="2999232"/>
            <a:ext cx="1554480" cy="78638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回答的问题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2057400" y="2999232"/>
            <a:ext cx="3291840" cy="786384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先做什么，再做什么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5440680" y="2999232"/>
            <a:ext cx="3291840" cy="78638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做出来的东西写成什么样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411480" y="3895344"/>
            <a:ext cx="1554480" cy="78638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实例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2057400" y="3895344"/>
            <a:ext cx="3291840" cy="786384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GB/T 8566-2022；CMMI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1" name="fig"/>
          <p:cNvSpPr/>
          <p:nvPr/>
        </p:nvSpPr>
        <p:spPr>
          <a:xfrm>
            <a:off x="5440680" y="3895344"/>
            <a:ext cx="3291840" cy="78638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GB/T 8567-2006；《Java 开发手册（黄山版）》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411480" y="4791456"/>
            <a:ext cx="1554480" cy="78638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可剪裁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3" name="fig"/>
          <p:cNvSpPr/>
          <p:nvPr/>
        </p:nvSpPr>
        <p:spPr>
          <a:xfrm>
            <a:off x="2057400" y="4791456"/>
            <a:ext cx="3291840" cy="786384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是，按项目取舍活动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4" name="fig"/>
          <p:cNvSpPr/>
          <p:nvPr/>
        </p:nvSpPr>
        <p:spPr>
          <a:xfrm>
            <a:off x="5440680" y="4791456"/>
            <a:ext cx="3291840" cy="78638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是，按项目取舍文档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流程规范与内容规范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课程设计报告只写需求、设计、测试三章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43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写不写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报告内容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对应的文档类型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理由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写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需求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软件需求说明书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要说明做什么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写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设计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概要设计说明书、详细设计说明书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要说明怎么做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写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测试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测试计划、测试分析报告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要证明做对了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不写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可行性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可行性研究报告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题目由教师给定，不论证</a:t>
                      </a:r>
                      <a:br>
                        <a:rPr lang="zh-CN" sz="16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是否立项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不写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进度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项目开发计划、开发进度月报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个人完成，周期固定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流程规范与内容规范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剪裁要写明留下、去掉与理由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390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剪裁说明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课程设计报告示例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留下什么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需求、设计、测试三章，仍按各自文档类型的写法</a:t>
                      </a:r>
                      <a:br>
                        <a:rPr lang="zh-CN" sz="2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编制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去掉什么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可行性研究报告、项目开发计划、开发进度月报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为何去掉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题目由教师给定；个人完成，周期固定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对照标准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标准允许按项目实际需要剪裁，不要求全部文档类型都编制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流程规范与内容规范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讨论你遵守过的规范属于哪一类？</a:t>
            </a:r>
          </a:p>
        </p:txBody>
      </p:sp>
      <p:sp>
        <p:nvSpPr>
          <p:cNvPr id="101" name="fig-d"/>
          <p:cNvSpPr/>
          <p:nvPr/>
        </p:nvSpPr>
        <p:spPr>
          <a:xfrm>
            <a:off x="685800" y="1874520"/>
            <a:ext cx="109728" cy="18288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960120" y="14173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6000" b="1">
                <a:solidFill>
                  <a:srgbClr val="A33B38"/>
                </a:solidFill>
                <a:latin typeface="微软雅黑"/>
                <a:ea typeface="微软雅黑"/>
              </a:rPr>
              <a:t>“</a:t>
            </a:r>
            <a:endParaRPr lang="zh-CN" sz="6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097280" y="2011680"/>
            <a:ext cx="7635240" cy="1691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262626"/>
                </a:solidFill>
                <a:latin typeface="微软雅黑"/>
                <a:ea typeface="微软雅黑"/>
              </a:rPr>
              <a:t>你在前后端课程中遵守过哪些规范？</a:t>
            </a:r>
            <a:br>
              <a:rPr lang="zh-CN" sz="2400">
                <a:latin typeface="微软雅黑"/>
                <a:ea typeface="微软雅黑"/>
              </a:rPr>
            </a:br>
            <a:r>
              <a:rPr lang="zh-CN" altLang="en-US" sz="2400" b="1">
                <a:solidFill>
                  <a:srgbClr val="262626"/>
                </a:solidFill>
                <a:latin typeface="微软雅黑"/>
                <a:ea typeface="微软雅黑"/>
              </a:rPr>
              <a:t>属于流程规范还是内容规范？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11480" y="4160520"/>
            <a:ext cx="832104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提示：看它约束的是步骤，还是产物的写法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流程规范与内容规范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质量模型与可维护性</a:t>
            </a:r>
          </a:p>
        </p:txBody>
      </p:sp>
      <p:sp>
        <p:nvSpPr>
          <p:cNvPr id="101" name="card-section"/>
          <p:cNvSpPr/>
          <p:nvPr/>
        </p:nvSpPr>
        <p:spPr>
          <a:xfrm>
            <a:off x="411480" y="1600200"/>
            <a:ext cx="2386584" cy="566928"/>
          </a:xfrm>
          <a:prstGeom prst="roundRect">
            <a:avLst>
              <a:gd name="adj" fmla="val 50000"/>
            </a:avLst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本节 20 分钟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11480" y="24231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01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234440" y="242316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产品质量模型与使用质量模型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11480" y="320040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02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1234440" y="320040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九个质量特性，可维护性是其中之一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411480" y="39776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03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1234440" y="397764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五个子特性的判定问题与可观察指标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411480" y="475488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04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1234440" y="475488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mall 基线中的可核对事实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0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质量模型与可维护性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产品质量看产品本身，使用质量看使用效果</a:t>
            </a:r>
          </a:p>
        </p:txBody>
      </p:sp>
      <p:sp>
        <p:nvSpPr>
          <p:cNvPr id="3" name="card"/>
          <p:cNvSpPr/>
          <p:nvPr/>
        </p:nvSpPr>
        <p:spPr>
          <a:xfrm>
            <a:off x="457200" y="1550000"/>
            <a:ext cx="4000000" cy="230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200" b="1">
                <a:solidFill>
                  <a:srgbClr val="A33B38"/>
                </a:solidFill>
                <a:latin typeface="微软雅黑"/>
                <a:ea typeface="微软雅黑"/>
              </a:rPr>
              <a:t>产品质量模型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ISO/IEC 25010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看产品本身的特性</a:t>
            </a:r>
          </a:p>
        </p:txBody>
      </p:sp>
      <p:sp>
        <p:nvSpPr>
          <p:cNvPr id="4" name="card"/>
          <p:cNvSpPr/>
          <p:nvPr/>
        </p:nvSpPr>
        <p:spPr>
          <a:xfrm>
            <a:off x="4686800" y="1550000"/>
            <a:ext cx="4000000" cy="230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200" b="1">
                <a:solidFill>
                  <a:srgbClr val="A33B38"/>
                </a:solidFill>
                <a:latin typeface="微软雅黑"/>
                <a:ea typeface="微软雅黑"/>
              </a:rPr>
              <a:t>使用质量模型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ISO/IEC 25019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看产品在使用中的效果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4160520"/>
            <a:ext cx="8321040" cy="685800"/>
          </a:xfrm>
          <a:prstGeom prst="rect">
            <a:avLst/>
          </a:prstGeom>
          <a:solidFill>
            <a:srgbClr val="A33B38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可维护性属于产品质量模型，用来比较、评价设计方案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质量模型与可维护性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可维护性是 25010:2023 九个特性之一</a:t>
            </a:r>
          </a:p>
        </p:txBody>
      </p:sp>
      <p:sp>
        <p:nvSpPr>
          <p:cNvPr id="3" name="card-1"/>
          <p:cNvSpPr/>
          <p:nvPr/>
        </p:nvSpPr>
        <p:spPr>
          <a:xfrm>
            <a:off x="457200" y="1520000"/>
            <a:ext cx="2650000" cy="135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200" b="1">
                <a:solidFill>
                  <a:srgbClr val="A33B38"/>
                </a:solidFill>
                <a:latin typeface="微软雅黑"/>
                <a:ea typeface="微软雅黑"/>
              </a:rPr>
              <a:t>功能适合性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Functional suitability</a:t>
            </a:r>
          </a:p>
        </p:txBody>
      </p:sp>
      <p:sp>
        <p:nvSpPr>
          <p:cNvPr id="4" name="card-2"/>
          <p:cNvSpPr/>
          <p:nvPr/>
        </p:nvSpPr>
        <p:spPr>
          <a:xfrm>
            <a:off x="3247200" y="1520000"/>
            <a:ext cx="2650000" cy="135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200" b="1">
                <a:solidFill>
                  <a:srgbClr val="A33B38"/>
                </a:solidFill>
                <a:latin typeface="微软雅黑"/>
                <a:ea typeface="微软雅黑"/>
              </a:rPr>
              <a:t>性能效率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Performance efficiency</a:t>
            </a:r>
          </a:p>
        </p:txBody>
      </p:sp>
      <p:sp>
        <p:nvSpPr>
          <p:cNvPr id="5" name="card-3"/>
          <p:cNvSpPr/>
          <p:nvPr/>
        </p:nvSpPr>
        <p:spPr>
          <a:xfrm>
            <a:off x="6037200" y="1520000"/>
            <a:ext cx="2650000" cy="135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200" b="1">
                <a:solidFill>
                  <a:srgbClr val="A33B38"/>
                </a:solidFill>
                <a:latin typeface="微软雅黑"/>
                <a:ea typeface="微软雅黑"/>
              </a:rPr>
              <a:t>兼容性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Compatibility</a:t>
            </a:r>
          </a:p>
        </p:txBody>
      </p:sp>
      <p:sp>
        <p:nvSpPr>
          <p:cNvPr id="6" name="card-4"/>
          <p:cNvSpPr/>
          <p:nvPr/>
        </p:nvSpPr>
        <p:spPr>
          <a:xfrm>
            <a:off x="457200" y="2990000"/>
            <a:ext cx="2650000" cy="135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200" b="1">
                <a:solidFill>
                  <a:srgbClr val="A33B38"/>
                </a:solidFill>
                <a:latin typeface="微软雅黑"/>
                <a:ea typeface="微软雅黑"/>
              </a:rPr>
              <a:t>交互能力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Interaction capability</a:t>
            </a:r>
          </a:p>
        </p:txBody>
      </p:sp>
      <p:sp>
        <p:nvSpPr>
          <p:cNvPr id="7" name="card-5"/>
          <p:cNvSpPr/>
          <p:nvPr/>
        </p:nvSpPr>
        <p:spPr>
          <a:xfrm>
            <a:off x="3247200" y="2990000"/>
            <a:ext cx="2650000" cy="135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200" b="1">
                <a:solidFill>
                  <a:srgbClr val="A33B38"/>
                </a:solidFill>
                <a:latin typeface="微软雅黑"/>
                <a:ea typeface="微软雅黑"/>
              </a:rPr>
              <a:t>可靠性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Reliability</a:t>
            </a:r>
          </a:p>
        </p:txBody>
      </p:sp>
      <p:sp>
        <p:nvSpPr>
          <p:cNvPr id="8" name="card-6"/>
          <p:cNvSpPr/>
          <p:nvPr/>
        </p:nvSpPr>
        <p:spPr>
          <a:xfrm>
            <a:off x="6037200" y="2990000"/>
            <a:ext cx="2650000" cy="135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200" b="1">
                <a:solidFill>
                  <a:srgbClr val="A33B38"/>
                </a:solidFill>
                <a:latin typeface="微软雅黑"/>
                <a:ea typeface="微软雅黑"/>
              </a:rPr>
              <a:t>信息安全性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Security</a:t>
            </a:r>
          </a:p>
        </p:txBody>
      </p:sp>
      <p:sp>
        <p:nvSpPr>
          <p:cNvPr id="9" name="card-7"/>
          <p:cNvSpPr/>
          <p:nvPr/>
        </p:nvSpPr>
        <p:spPr>
          <a:xfrm>
            <a:off x="457200" y="4460000"/>
            <a:ext cx="2650000" cy="1350000"/>
          </a:xfrm>
          <a:prstGeom prst="roundRect">
            <a:avLst>
              <a:gd name="adj" fmla="val 6000"/>
            </a:avLst>
          </a:prstGeom>
          <a:solidFill>
            <a:srgbClr val="F6DDDB"/>
          </a:solidFill>
          <a:ln w="12700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200" b="1">
                <a:solidFill>
                  <a:srgbClr val="A33B38"/>
                </a:solidFill>
                <a:latin typeface="微软雅黑"/>
                <a:ea typeface="微软雅黑"/>
              </a:rPr>
              <a:t>可维护性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Maintainability</a:t>
            </a:r>
          </a:p>
        </p:txBody>
      </p:sp>
      <p:sp>
        <p:nvSpPr>
          <p:cNvPr id="10" name="card-8"/>
          <p:cNvSpPr/>
          <p:nvPr/>
        </p:nvSpPr>
        <p:spPr>
          <a:xfrm>
            <a:off x="3247200" y="4460000"/>
            <a:ext cx="2650000" cy="135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200" b="1">
                <a:solidFill>
                  <a:srgbClr val="A33B38"/>
                </a:solidFill>
                <a:latin typeface="微软雅黑"/>
                <a:ea typeface="微软雅黑"/>
              </a:rPr>
              <a:t>灵活性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Flexibility</a:t>
            </a:r>
          </a:p>
        </p:txBody>
      </p:sp>
      <p:sp>
        <p:nvSpPr>
          <p:cNvPr id="11" name="card-9"/>
          <p:cNvSpPr/>
          <p:nvPr/>
        </p:nvSpPr>
        <p:spPr>
          <a:xfrm>
            <a:off x="6037200" y="4460000"/>
            <a:ext cx="2650000" cy="135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200" b="1">
                <a:solidFill>
                  <a:srgbClr val="A33B38"/>
                </a:solidFill>
                <a:latin typeface="微软雅黑"/>
                <a:ea typeface="微软雅黑"/>
              </a:rPr>
              <a:t>安全性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Safety</a:t>
            </a:r>
          </a:p>
        </p:txBody>
      </p:sp>
      <p:sp>
        <p:nvSpPr>
          <p:cNvPr id="12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质量模型与可维护性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可维护性五个子特性各有判定问题与指标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37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子特性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判定问题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可观察指标（课程选定）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原则</a:t>
                      </a:r>
                      <a:b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填入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模块化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一处改动会落在几个模块里？依赖是否单向？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改动涉及的模块数；是否出现循环依赖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T2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可复用性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这段代码能否不加修改地被别处</a:t>
                      </a:r>
                      <a:br>
                        <a:rPr lang="zh-CN" sz="16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使用？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被几个模块共同使用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T2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易分析性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读者能否从名称和结构看出它做</a:t>
                      </a:r>
                      <a:br>
                        <a:rPr lang="zh-CN" sz="16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什么、影响哪里？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方法行数；名称与行为是否</a:t>
                      </a:r>
                      <a:br>
                        <a:rPr lang="zh-CN" sz="16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一致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T3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易修改性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修改一条规则要改几处？会不会</a:t>
                      </a:r>
                      <a:br>
                        <a:rPr lang="zh-CN" sz="16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碰坏别处？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同一规则出现几处；一次改动涉及几个文件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T3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易测试性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不启动整个系统能否验证它？依赖能否替换？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测试覆盖率；依赖能否替换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T4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fn-note"/>
          <p:cNvSpPr txBox="1"/>
          <p:nvPr/>
        </p:nvSpPr>
        <p:spPr>
          <a:xfrm>
            <a:off x="457200" y="5349240"/>
            <a:ext cx="8229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sz="1600" b="0">
                <a:latin typeface="微软雅黑"/>
                <a:ea typeface="微软雅黑"/>
              </a:rPr>
              <a:t>指标为课程选定的可观察量，不是标准条文。T2、T3、T4 为后续各讲的课件编号，原则随讲解进度逐次填入。</a:t>
            </a:r>
          </a:p>
        </p:txBody>
      </p:sp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质量模型与可维护性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mall 基线中可以核对的五项事实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420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子特性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mall 基线中的观察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出处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模块化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根 pom 聚合的模块中，admin 与 portal 为两个独立模块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根 pom.xml 第 13—19 行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可复用性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mall-mbg 同时被 admin、portal 依赖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mall-admin、mall-portal 的 pom.xml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易分析性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generateOrder 方法体共 157 行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OmsPortalOrderServiceImpl.java 第 94—250 行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易修改性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divide(totalAmount, 3, HALF_EVEN) 出现两处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同文件 第 157、662 行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易测试性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同一个类内 15 个 @Autowired 字段注入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同文件 第 34—66 行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质量模型与可维护性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当场判断出 /cancelOrder 只投递延迟消息</a:t>
            </a:r>
          </a:p>
        </p:txBody>
      </p:sp>
      <p:sp>
        <p:nvSpPr>
          <p:cNvPr id="3" name="code"/>
          <p:cNvSpPr/>
          <p:nvPr/>
        </p:nvSpPr>
        <p:spPr>
          <a:xfrm>
            <a:off x="457200" y="1450000"/>
            <a:ext cx="8229600" cy="200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  <a:effectLst/>
        </p:spPr>
        <p:txBody>
          <a:bodyPr wrap="square" rtlCol="0" anchor="t"/>
          <a:lstStyle/>
          <a:p>
            <a:pPr marL="0" indent="0" algn="l">
              <a:buNone/>
            </a:pPr>
            <a:r>
              <a:rPr sz="1600" b="0">
                <a:solidFill>
                  <a:srgbClr val="262626"/>
                </a:solidFill>
                <a:latin typeface="Consolas"/>
                <a:ea typeface="微软雅黑"/>
              </a:rPr>
              <a:t>    @Operation(summary = "取消单个超时订单")</a:t>
            </a:r>
          </a:p>
          <a:p>
            <a:pPr marL="0" indent="0" algn="l">
              <a:buNone/>
            </a:pPr>
            <a:r>
              <a:rPr sz="1600" b="0">
                <a:solidFill>
                  <a:srgbClr val="262626"/>
                </a:solidFill>
                <a:latin typeface="Consolas"/>
                <a:ea typeface="微软雅黑"/>
              </a:rPr>
              <a:t>    @RequestMapping(value = "/cancelOrder", method = RequestMethod.POST)</a:t>
            </a:r>
          </a:p>
          <a:p>
            <a:pPr marL="0" indent="0" algn="l">
              <a:buNone/>
            </a:pPr>
            <a:r>
              <a:rPr sz="1600" b="0">
                <a:solidFill>
                  <a:srgbClr val="262626"/>
                </a:solidFill>
                <a:latin typeface="Consolas"/>
                <a:ea typeface="微软雅黑"/>
              </a:rPr>
              <a:t>    @ResponseBody</a:t>
            </a:r>
          </a:p>
          <a:p>
            <a:pPr marL="0" indent="0" algn="l">
              <a:buNone/>
            </a:pPr>
            <a:r>
              <a:rPr sz="1600" b="0">
                <a:solidFill>
                  <a:srgbClr val="262626"/>
                </a:solidFill>
                <a:latin typeface="Consolas"/>
                <a:ea typeface="微软雅黑"/>
              </a:rPr>
              <a:t>    public CommonResult cancelOrder(Long orderId) {</a:t>
            </a:r>
          </a:p>
          <a:p>
            <a:pPr marL="0" indent="0" algn="l">
              <a:buNone/>
            </a:pPr>
            <a:r>
              <a:rPr sz="1600" b="0">
                <a:solidFill>
                  <a:srgbClr val="262626"/>
                </a:solidFill>
                <a:latin typeface="Consolas"/>
                <a:ea typeface="微软雅黑"/>
              </a:rPr>
              <a:t>        portalOrderService.sendDelayMessageCancelOrder(orderId);</a:t>
            </a:r>
          </a:p>
          <a:p>
            <a:pPr marL="0" indent="0" algn="l">
              <a:buNone/>
            </a:pPr>
            <a:r>
              <a:rPr sz="1600" b="0">
                <a:solidFill>
                  <a:srgbClr val="262626"/>
                </a:solidFill>
                <a:latin typeface="Consolas"/>
                <a:ea typeface="微软雅黑"/>
              </a:rPr>
              <a:t>        return CommonResult.success(null);</a:t>
            </a:r>
          </a:p>
          <a:p>
            <a:pPr marL="0" indent="0" algn="l">
              <a:buNone/>
            </a:pPr>
            <a:r>
              <a:rPr sz="1600" b="0">
                <a:solidFill>
                  <a:srgbClr val="262626"/>
                </a:solidFill>
                <a:latin typeface="Consolas"/>
                <a:ea typeface="微软雅黑"/>
              </a:rPr>
              <a:t>    }</a:t>
            </a:r>
          </a:p>
        </p:txBody>
      </p:sp>
      <p:sp>
        <p:nvSpPr>
          <p:cNvPr id="5" name="fn"/>
          <p:cNvSpPr txBox="1"/>
          <p:nvPr/>
        </p:nvSpPr>
        <p:spPr>
          <a:xfrm>
            <a:off x="457200" y="5400000"/>
            <a:ext cx="822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0">
                <a:latin typeface="微软雅黑"/>
                <a:ea typeface="微软雅黑"/>
              </a:rPr>
              <a:t>出处：mall-portal/src/main/java/com/macro/mall/portal/controller/OmsPortalOrderController.java:64-70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3584448"/>
            <a:ext cx="1005840" cy="493776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名字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508760" y="3584448"/>
            <a:ext cx="7223760" cy="493776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方法名与注解写的是“取消单个超时订单”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4151376"/>
            <a:ext cx="1005840" cy="493776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行为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508760" y="4151376"/>
            <a:ext cx="7223760" cy="493776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方法体只调用 sendDelayMessageCancelOrder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11480" y="4754880"/>
            <a:ext cx="8321040" cy="548640"/>
          </a:xfrm>
          <a:prstGeom prst="rect">
            <a:avLst/>
          </a:prstGeom>
          <a:solidFill>
            <a:srgbClr val="A33B38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判定：名字与行为不一致，归易分析性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质量模型与可维护性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讨论名字与行为不一致的接口，代价是什么？</a:t>
            </a:r>
          </a:p>
        </p:txBody>
      </p:sp>
      <p:sp>
        <p:nvSpPr>
          <p:cNvPr id="101" name="fig-d"/>
          <p:cNvSpPr/>
          <p:nvPr/>
        </p:nvSpPr>
        <p:spPr>
          <a:xfrm>
            <a:off x="685800" y="1874520"/>
            <a:ext cx="109728" cy="18288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960120" y="14173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6000" b="1">
                <a:solidFill>
                  <a:srgbClr val="A33B38"/>
                </a:solidFill>
                <a:latin typeface="微软雅黑"/>
                <a:ea typeface="微软雅黑"/>
              </a:rPr>
              <a:t>“</a:t>
            </a:r>
            <a:endParaRPr lang="zh-CN" sz="6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097280" y="2011680"/>
            <a:ext cx="7635240" cy="1691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262626"/>
                </a:solidFill>
                <a:latin typeface="微软雅黑"/>
                <a:ea typeface="微软雅黑"/>
              </a:rPr>
              <a:t>一个名字与行为不一致的接口，会让后来的维护者付出</a:t>
            </a:r>
            <a:br>
              <a:rPr lang="zh-CN" sz="2400">
                <a:latin typeface="微软雅黑"/>
                <a:ea typeface="微软雅黑"/>
              </a:rPr>
            </a:br>
            <a:r>
              <a:rPr lang="zh-CN" altLang="en-US" sz="2400" b="1">
                <a:solidFill>
                  <a:srgbClr val="262626"/>
                </a:solidFill>
                <a:latin typeface="微软雅黑"/>
                <a:ea typeface="微软雅黑"/>
              </a:rPr>
              <a:t>什么代价？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11480" y="4160520"/>
            <a:ext cx="832104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提示：对照易分析性的判定问题与指标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质量模型与可维护性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需求如何转为设计方案</a:t>
            </a:r>
          </a:p>
        </p:txBody>
      </p:sp>
      <p:sp>
        <p:nvSpPr>
          <p:cNvPr id="101" name="card-section"/>
          <p:cNvSpPr/>
          <p:nvPr/>
        </p:nvSpPr>
        <p:spPr>
          <a:xfrm>
            <a:off x="411480" y="1600200"/>
            <a:ext cx="2386584" cy="566928"/>
          </a:xfrm>
          <a:prstGeom prst="roundRect">
            <a:avLst>
              <a:gd name="adj" fmla="val 50000"/>
            </a:avLst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本节 15 分钟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11480" y="24231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01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234440" y="242316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质量特性是非功能需求的语言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11480" y="320040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02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1234440" y="320040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同一需求的两种设计方案及其比较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411480" y="39776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03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1234440" y="397764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技术说明写成需求、优点、限制、不足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需求如何转为设计方案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质量特性是非功能需求的语言，设计是回应</a:t>
            </a:r>
          </a:p>
        </p:txBody>
      </p:sp>
      <p:sp>
        <p:nvSpPr>
          <p:cNvPr id="3" name="card-1"/>
          <p:cNvSpPr/>
          <p:nvPr/>
        </p:nvSpPr>
        <p:spPr>
          <a:xfrm>
            <a:off x="457200" y="1550000"/>
            <a:ext cx="1907400" cy="180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000" b="1">
                <a:solidFill>
                  <a:srgbClr val="A33B38"/>
                </a:solidFill>
                <a:latin typeface="微软雅黑"/>
                <a:ea typeface="微软雅黑"/>
              </a:rPr>
              <a:t>需求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功能性需求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非功能需求</a:t>
            </a:r>
          </a:p>
        </p:txBody>
      </p:sp>
      <p:sp>
        <p:nvSpPr>
          <p:cNvPr id="4" name="fig-arrow"/>
          <p:cNvSpPr/>
          <p:nvPr/>
        </p:nvSpPr>
        <p:spPr>
          <a:xfrm>
            <a:off x="2394600" y="2340000"/>
            <a:ext cx="140000" cy="220000"/>
          </a:xfrm>
          <a:prstGeom prst="rightArrow">
            <a:avLst/>
          </a:prstGeom>
          <a:solidFill>
            <a:srgbClr val="A3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/>
              <a:ea typeface="微软雅黑"/>
            </a:endParaRPr>
          </a:p>
        </p:txBody>
      </p:sp>
      <p:sp>
        <p:nvSpPr>
          <p:cNvPr id="5" name="card-2"/>
          <p:cNvSpPr/>
          <p:nvPr/>
        </p:nvSpPr>
        <p:spPr>
          <a:xfrm>
            <a:off x="2564600" y="1550000"/>
            <a:ext cx="1907400" cy="180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000" b="1">
                <a:solidFill>
                  <a:srgbClr val="A33B38"/>
                </a:solidFill>
                <a:latin typeface="微软雅黑"/>
                <a:ea typeface="微软雅黑"/>
              </a:rPr>
              <a:t>质量特性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可维护性等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及其子特性</a:t>
            </a:r>
          </a:p>
        </p:txBody>
      </p:sp>
      <p:sp>
        <p:nvSpPr>
          <p:cNvPr id="6" name="fig-arrow"/>
          <p:cNvSpPr/>
          <p:nvPr/>
        </p:nvSpPr>
        <p:spPr>
          <a:xfrm>
            <a:off x="4502000" y="2340000"/>
            <a:ext cx="140000" cy="220000"/>
          </a:xfrm>
          <a:prstGeom prst="rightArrow">
            <a:avLst/>
          </a:prstGeom>
          <a:solidFill>
            <a:srgbClr val="A3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/>
              <a:ea typeface="微软雅黑"/>
            </a:endParaRPr>
          </a:p>
        </p:txBody>
      </p:sp>
      <p:sp>
        <p:nvSpPr>
          <p:cNvPr id="7" name="card-3"/>
          <p:cNvSpPr/>
          <p:nvPr/>
        </p:nvSpPr>
        <p:spPr>
          <a:xfrm>
            <a:off x="4672000" y="1550000"/>
            <a:ext cx="1907400" cy="180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000" b="1">
                <a:solidFill>
                  <a:srgbClr val="A33B38"/>
                </a:solidFill>
                <a:latin typeface="微软雅黑"/>
                <a:ea typeface="微软雅黑"/>
              </a:rPr>
              <a:t>设计方案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对需求的回应</a:t>
            </a:r>
          </a:p>
        </p:txBody>
      </p:sp>
      <p:sp>
        <p:nvSpPr>
          <p:cNvPr id="8" name="fig-arrow"/>
          <p:cNvSpPr/>
          <p:nvPr/>
        </p:nvSpPr>
        <p:spPr>
          <a:xfrm>
            <a:off x="6609400" y="2340000"/>
            <a:ext cx="140000" cy="220000"/>
          </a:xfrm>
          <a:prstGeom prst="rightArrow">
            <a:avLst/>
          </a:prstGeom>
          <a:solidFill>
            <a:srgbClr val="A3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/>
              <a:ea typeface="微软雅黑"/>
            </a:endParaRPr>
          </a:p>
        </p:txBody>
      </p:sp>
      <p:sp>
        <p:nvSpPr>
          <p:cNvPr id="9" name="card-4"/>
          <p:cNvSpPr/>
          <p:nvPr/>
        </p:nvSpPr>
        <p:spPr>
          <a:xfrm>
            <a:off x="6779400" y="1550000"/>
            <a:ext cx="1907400" cy="180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000" b="1">
                <a:solidFill>
                  <a:srgbClr val="A33B38"/>
                </a:solidFill>
                <a:latin typeface="微软雅黑"/>
                <a:ea typeface="微软雅黑"/>
              </a:rPr>
              <a:t>检验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子特性的判定问题与指标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3657600"/>
            <a:ext cx="832104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mall 的设计事实：后台 admin 与前台 portal 是两个模块，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共同依赖 mall-mbg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572000" y="4544568"/>
            <a:ext cx="9144" cy="210312"/>
          </a:xfrm>
          <a:custGeom>
            <a:avLst/>
            <a:gdLst/>
            <a:ahLst/>
            <a:cxnLst/>
            <a:rect l="0" t="0" r="r" b="b"/>
            <a:pathLst>
              <a:path w="9144" h="210312" fill="none">
                <a:moveTo>
                  <a:pt x="0" y="0"/>
                </a:moveTo>
                <a:lnTo>
                  <a:pt x="0" y="210312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4773168"/>
            <a:ext cx="8321040" cy="603504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推断它回应的需求：两端可以分别修改，数据访问代码不重复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需求如何转为设计方案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同一需求的两种设计，用五个子特性比较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420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子特性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方案甲：读入、计算、输出写在</a:t>
                      </a:r>
                      <a:b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一个函数里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方案乙：计算独立为 summarize_grades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模块化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一个函数承担 3 项职责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计算与读入、输出分开，各 1 项职责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可复用性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含输出语句，换一个界面就不能用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命令行与网页界面都可调用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易分析性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要读完整个函数才能确认规则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函数名与返回值即规则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易修改性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及格线 60 出现 2 处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及格线 60 出现 1 处（常量）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易测试性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需要准备输入并捕获输出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直接传入列表，比较返回值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需求如何转为设计方案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方案乙的实现共 14 行，验收场景全部通过</a:t>
            </a:r>
          </a:p>
        </p:txBody>
      </p:sp>
      <p:sp>
        <p:nvSpPr>
          <p:cNvPr id="3" name="code-demo"/>
          <p:cNvSpPr/>
          <p:nvPr/>
        </p:nvSpPr>
        <p:spPr>
          <a:xfrm>
            <a:off x="457200" y="1500000"/>
            <a:ext cx="8229600" cy="360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marL="0" indent="0" algn="l">
              <a:buNone/>
            </a:pPr>
            <a:r>
              <a:rPr sz="1600" b="0">
                <a:solidFill>
                  <a:srgbClr val="262626"/>
                </a:solidFill>
                <a:latin typeface="Consolas"/>
                <a:ea typeface="微软雅黑"/>
              </a:rPr>
              <a:t> 1  PASS_SCORE = 60</a:t>
            </a:r>
          </a:p>
          <a:p>
            <a:pPr marL="0" indent="0" algn="l">
              <a:buNone/>
            </a:pPr>
            <a:r>
              <a:rPr sz="1600" b="0">
                <a:solidFill>
                  <a:srgbClr val="262626"/>
                </a:solidFill>
                <a:latin typeface="Consolas"/>
                <a:ea typeface="微软雅黑"/>
              </a:rPr>
              <a:t> 2  </a:t>
            </a:r>
          </a:p>
          <a:p>
            <a:pPr marL="0" indent="0" algn="l">
              <a:buNone/>
            </a:pPr>
            <a:r>
              <a:rPr sz="1600" b="0">
                <a:solidFill>
                  <a:srgbClr val="262626"/>
                </a:solidFill>
                <a:latin typeface="Consolas"/>
                <a:ea typeface="微软雅黑"/>
              </a:rPr>
              <a:t> 3  def summarize_grades(records):</a:t>
            </a:r>
          </a:p>
          <a:p>
            <a:pPr marL="0" indent="0" algn="l">
              <a:buNone/>
            </a:pPr>
            <a:r>
              <a:rPr sz="1600" b="0">
                <a:solidFill>
                  <a:srgbClr val="262626"/>
                </a:solidFill>
                <a:latin typeface="Consolas"/>
                <a:ea typeface="微软雅黑"/>
              </a:rPr>
              <a:t> 4      earned = total = weighted = 0</a:t>
            </a:r>
          </a:p>
          <a:p>
            <a:pPr marL="0" indent="0" algn="l">
              <a:buNone/>
            </a:pPr>
            <a:r>
              <a:rPr sz="1600" b="0">
                <a:solidFill>
                  <a:srgbClr val="262626"/>
                </a:solidFill>
                <a:latin typeface="Consolas"/>
                <a:ea typeface="微软雅黑"/>
              </a:rPr>
              <a:t> 5      for _name, credit, score in records:</a:t>
            </a:r>
          </a:p>
          <a:p>
            <a:pPr marL="0" indent="0" algn="l">
              <a:buNone/>
            </a:pPr>
            <a:r>
              <a:rPr sz="1600" b="0">
                <a:solidFill>
                  <a:srgbClr val="262626"/>
                </a:solidFill>
                <a:latin typeface="Consolas"/>
                <a:ea typeface="微软雅黑"/>
              </a:rPr>
              <a:t> 6          if credit &lt;= 0 or not 0 &lt;= score &lt;= 100:</a:t>
            </a:r>
          </a:p>
          <a:p>
            <a:pPr marL="0" indent="0" algn="l">
              <a:buNone/>
            </a:pPr>
            <a:r>
              <a:rPr sz="1600" b="0">
                <a:solidFill>
                  <a:srgbClr val="262626"/>
                </a:solidFill>
                <a:latin typeface="Consolas"/>
                <a:ea typeface="微软雅黑"/>
              </a:rPr>
              <a:t> 7              raise ValueError("学分或成绩超出范围")</a:t>
            </a:r>
          </a:p>
          <a:p>
            <a:pPr marL="0" indent="0" algn="l">
              <a:buNone/>
            </a:pPr>
            <a:r>
              <a:rPr sz="1600" b="0">
                <a:solidFill>
                  <a:srgbClr val="262626"/>
                </a:solidFill>
                <a:latin typeface="Consolas"/>
                <a:ea typeface="微软雅黑"/>
              </a:rPr>
              <a:t> 8          total += credit</a:t>
            </a:r>
          </a:p>
          <a:p>
            <a:pPr marL="0" indent="0" algn="l">
              <a:buNone/>
            </a:pPr>
            <a:r>
              <a:rPr sz="1600" b="0">
                <a:solidFill>
                  <a:srgbClr val="262626"/>
                </a:solidFill>
                <a:latin typeface="Consolas"/>
                <a:ea typeface="微软雅黑"/>
              </a:rPr>
              <a:t> 9          weighted += credit * score</a:t>
            </a:r>
          </a:p>
          <a:p>
            <a:pPr marL="0" indent="0" algn="l">
              <a:buNone/>
            </a:pPr>
            <a:r>
              <a:rPr sz="1600" b="0">
                <a:solidFill>
                  <a:srgbClr val="262626"/>
                </a:solidFill>
                <a:latin typeface="Consolas"/>
                <a:ea typeface="微软雅黑"/>
              </a:rPr>
              <a:t>10          if score &gt;= PASS_SCORE:</a:t>
            </a:r>
          </a:p>
          <a:p>
            <a:pPr marL="0" indent="0" algn="l">
              <a:buNone/>
            </a:pPr>
            <a:r>
              <a:rPr sz="1600" b="0">
                <a:solidFill>
                  <a:srgbClr val="262626"/>
                </a:solidFill>
                <a:latin typeface="Consolas"/>
                <a:ea typeface="微软雅黑"/>
              </a:rPr>
              <a:t>11              earned += credit</a:t>
            </a:r>
          </a:p>
          <a:p>
            <a:pPr marL="0" indent="0" algn="l">
              <a:buNone/>
            </a:pPr>
            <a:r>
              <a:rPr sz="1600" b="0">
                <a:solidFill>
                  <a:srgbClr val="262626"/>
                </a:solidFill>
                <a:latin typeface="Consolas"/>
                <a:ea typeface="微软雅黑"/>
              </a:rPr>
              <a:t>12      if total == 0:</a:t>
            </a:r>
          </a:p>
          <a:p>
            <a:pPr marL="0" indent="0" algn="l">
              <a:buNone/>
            </a:pPr>
            <a:r>
              <a:rPr sz="1600" b="0">
                <a:solidFill>
                  <a:srgbClr val="262626"/>
                </a:solidFill>
                <a:latin typeface="Consolas"/>
                <a:ea typeface="微软雅黑"/>
              </a:rPr>
              <a:t>13          return earned, None</a:t>
            </a:r>
          </a:p>
          <a:p>
            <a:pPr marL="0" indent="0" algn="l">
              <a:buNone/>
            </a:pPr>
            <a:r>
              <a:rPr sz="1600" b="0">
                <a:solidFill>
                  <a:srgbClr val="262626"/>
                </a:solidFill>
                <a:latin typeface="Consolas"/>
                <a:ea typeface="微软雅黑"/>
              </a:rPr>
              <a:t>14      return earned, round(weighted / total, 2)</a:t>
            </a:r>
          </a:p>
        </p:txBody>
      </p:sp>
      <p:sp>
        <p:nvSpPr>
          <p:cNvPr id="4" name="code-cmd"/>
          <p:cNvSpPr txBox="1"/>
          <p:nvPr/>
        </p:nvSpPr>
        <p:spPr>
          <a:xfrm>
            <a:off x="457200" y="5150000"/>
            <a:ext cx="8229600" cy="80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sz="1600" b="0">
                <a:latin typeface="微软雅黑"/>
                <a:ea typeface="微软雅黑"/>
              </a:rPr>
              <a:t>运行：[("A",3,80),("B",2,50)] → (3, 68.0)，即已获学分 3、平均分 68.00</a:t>
            </a:r>
          </a:p>
          <a:p>
            <a:pPr marL="0" indent="0">
              <a:spcBef>
                <a:spcPts val="600"/>
              </a:spcBef>
              <a:buNone/>
            </a:pPr>
            <a:r>
              <a:rPr sz="1600" b="0">
                <a:latin typeface="微软雅黑"/>
                <a:ea typeface="微软雅黑"/>
              </a:rPr>
              <a:t>空列表 → (0, None)；成绩为 −1 或 101、学分不大于 0 → ValueError</a:t>
            </a:r>
          </a:p>
        </p:txBody>
      </p:sp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需求如何转为设计方案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评价设计看子特性指标，不看组件数量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457200" y="4150000"/>
          <a:ext cx="8229600" cy="168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方案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承担计算的函数个数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子特性中指标更优的项数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甲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 个：读入、计算、输出同在一处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 项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乙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 个：计算函数与调用方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 项（均优于甲）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1" name="fig"/>
          <p:cNvSpPr/>
          <p:nvPr/>
        </p:nvSpPr>
        <p:spPr>
          <a:xfrm>
            <a:off x="411480" y="1508760"/>
            <a:ext cx="8321040" cy="640080"/>
          </a:xfrm>
          <a:prstGeom prst="rect">
            <a:avLst/>
          </a:prstGeom>
          <a:solidFill>
            <a:srgbClr val="A33B38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mall 模块多，不能说设计更好或更差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2267712"/>
            <a:ext cx="8321040" cy="65836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判断看需求和子特性指标，不看模块、服务或组件的个数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3017520"/>
            <a:ext cx="832104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下一讲（第二章 运行环境）以 mall 与 mall-swarm 的对照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继续讨论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需求如何转为设计方案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技术说明要写成需求、优点、限制、不足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380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mall-mbg 代码生成（MyBatis Generator）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回应的需求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单表增删改查代码量大且重复，手写易错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优点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按同一模板生成，风格一致，admin、portal 等模块共用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限制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属不得修改的部分，只使用其接口，不改动生成产物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不足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多表联查与业务查询仍须手写，portal 另设 dao 包</a:t>
                      </a:r>
                      <a:br>
                        <a:rPr lang="zh-CN" sz="2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补充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需求如何转为设计方案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AI for SE</a:t>
            </a:r>
          </a:p>
        </p:txBody>
      </p:sp>
      <p:sp>
        <p:nvSpPr>
          <p:cNvPr id="101" name="card-section"/>
          <p:cNvSpPr/>
          <p:nvPr/>
        </p:nvSpPr>
        <p:spPr>
          <a:xfrm>
            <a:off x="411480" y="1600200"/>
            <a:ext cx="2386584" cy="566928"/>
          </a:xfrm>
          <a:prstGeom prst="roundRect">
            <a:avLst>
              <a:gd name="adj" fmla="val 50000"/>
            </a:avLst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本节 20 分钟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11480" y="24231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01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234440" y="242316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提示词模式：可复用的提示写法（White 等 2023）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11480" y="320040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02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1234440" y="320040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AI 协作工作流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411480" y="39776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03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1234440" y="397764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AI 输出的核对内容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411480" y="475488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04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1234440" y="475488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示例：学生成绩统计函数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0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for SE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提示词模式是人与 AI 之间的规格说明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350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提示词模式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中文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作用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Persona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角色设定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让 AI 以指定角色与关注点回答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Few-shot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示例引导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用示例说明期望的输入与输出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Template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输出模板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规定回答的格式与顺序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Question Refinement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问题细化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先把宽泛的问题细化为可执行的问题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for SE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四种提示词模式在代码审查中的写法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410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模式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提示示例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Persona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你是一名资深 Python 工程师，重点检查代码正确性和</a:t>
                      </a:r>
                      <a:br>
                        <a:rPr lang="zh-CN" sz="16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可维护性。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Few-shot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示例：输入 def total(xs): return xs[0]；输出“问题：只返回</a:t>
                      </a:r>
                      <a:br>
                        <a:rPr lang="zh-CN" sz="16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首项。修复：使用 sum(xs)。”请按同样方式审查下面的代码。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Template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按以下格式回答：问题位置 → 问题原因 → 最小修复 → 验证</a:t>
                      </a:r>
                      <a:br>
                        <a:rPr lang="zh-CN" sz="16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方法。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Question Refinement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我想提高代码质量。请先将这个宽泛问题细化为一个可执行的</a:t>
                      </a:r>
                      <a:br>
                        <a:rPr lang="zh-CN" sz="16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问题，明确审查范围、质量目标和约束，再让我确认。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for SE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AI 协作工作流按四步进行，顺序不能倒过来</a:t>
            </a:r>
          </a:p>
        </p:txBody>
      </p:sp>
      <p:sp>
        <p:nvSpPr>
          <p:cNvPr id="3" name="card-1"/>
          <p:cNvSpPr/>
          <p:nvPr/>
        </p:nvSpPr>
        <p:spPr>
          <a:xfrm>
            <a:off x="457200" y="1700000"/>
            <a:ext cx="1944900" cy="290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000" b="1">
                <a:solidFill>
                  <a:srgbClr val="A33B38"/>
                </a:solidFill>
                <a:latin typeface="微软雅黑"/>
                <a:ea typeface="微软雅黑"/>
              </a:rPr>
              <a:t>1 任务分解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把任务拆成</a:t>
            </a:r>
            <a:br>
              <a:rPr lang="zh-CN" sz="2000">
                <a:latin typeface="微软雅黑"/>
                <a:ea typeface="微软雅黑"/>
              </a:rPr>
            </a:b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可验证的子</a:t>
            </a:r>
            <a:br>
              <a:rPr lang="zh-CN" sz="2000">
                <a:latin typeface="微软雅黑"/>
                <a:ea typeface="微软雅黑"/>
              </a:rPr>
            </a:b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任务</a:t>
            </a:r>
          </a:p>
        </p:txBody>
      </p:sp>
      <p:sp>
        <p:nvSpPr>
          <p:cNvPr id="4" name="fig-arrow"/>
          <p:cNvSpPr/>
          <p:nvPr/>
        </p:nvSpPr>
        <p:spPr>
          <a:xfrm>
            <a:off x="2432100" y="3040000"/>
            <a:ext cx="90000" cy="220000"/>
          </a:xfrm>
          <a:prstGeom prst="rightArrow">
            <a:avLst/>
          </a:prstGeom>
          <a:solidFill>
            <a:srgbClr val="A3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/>
              <a:ea typeface="微软雅黑"/>
            </a:endParaRPr>
          </a:p>
        </p:txBody>
      </p:sp>
      <p:sp>
        <p:nvSpPr>
          <p:cNvPr id="5" name="card-2"/>
          <p:cNvSpPr/>
          <p:nvPr/>
        </p:nvSpPr>
        <p:spPr>
          <a:xfrm>
            <a:off x="2552100" y="1700000"/>
            <a:ext cx="1944900" cy="290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000" b="1">
                <a:solidFill>
                  <a:srgbClr val="A33B38"/>
                </a:solidFill>
                <a:latin typeface="微软雅黑"/>
                <a:ea typeface="微软雅黑"/>
              </a:rPr>
              <a:t>2 上下文与</a:t>
            </a:r>
            <a:br>
              <a:rPr lang="zh-CN" sz="2000">
                <a:latin typeface="微软雅黑"/>
                <a:ea typeface="微软雅黑"/>
              </a:rPr>
            </a:br>
            <a:r>
              <a:rPr sz="2000" b="1">
                <a:solidFill>
                  <a:srgbClr val="A33B38"/>
                </a:solidFill>
                <a:latin typeface="微软雅黑"/>
                <a:ea typeface="微软雅黑"/>
              </a:rPr>
              <a:t>边界界定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写明范围与不做什么</a:t>
            </a:r>
          </a:p>
        </p:txBody>
      </p:sp>
      <p:sp>
        <p:nvSpPr>
          <p:cNvPr id="6" name="fig-arrow"/>
          <p:cNvSpPr/>
          <p:nvPr/>
        </p:nvSpPr>
        <p:spPr>
          <a:xfrm>
            <a:off x="4527000" y="3040000"/>
            <a:ext cx="90000" cy="220000"/>
          </a:xfrm>
          <a:prstGeom prst="rightArrow">
            <a:avLst/>
          </a:prstGeom>
          <a:solidFill>
            <a:srgbClr val="A3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/>
              <a:ea typeface="微软雅黑"/>
            </a:endParaRPr>
          </a:p>
        </p:txBody>
      </p:sp>
      <p:sp>
        <p:nvSpPr>
          <p:cNvPr id="7" name="card-3"/>
          <p:cNvSpPr/>
          <p:nvPr/>
        </p:nvSpPr>
        <p:spPr>
          <a:xfrm>
            <a:off x="4647000" y="1700000"/>
            <a:ext cx="1944900" cy="290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000" b="1">
                <a:solidFill>
                  <a:srgbClr val="A33B38"/>
                </a:solidFill>
                <a:latin typeface="微软雅黑"/>
                <a:ea typeface="微软雅黑"/>
              </a:rPr>
              <a:t>3 先写验收</a:t>
            </a:r>
            <a:br>
              <a:rPr lang="zh-CN" sz="2000">
                <a:latin typeface="微软雅黑"/>
                <a:ea typeface="微软雅黑"/>
              </a:rPr>
            </a:br>
            <a:r>
              <a:rPr sz="2000" b="1">
                <a:solidFill>
                  <a:srgbClr val="A33B38"/>
                </a:solidFill>
                <a:latin typeface="微软雅黑"/>
                <a:ea typeface="微软雅黑"/>
              </a:rPr>
              <a:t>准则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输入、预期</a:t>
            </a:r>
            <a:br>
              <a:rPr lang="zh-CN" sz="2000">
                <a:latin typeface="微软雅黑"/>
                <a:ea typeface="微软雅黑"/>
              </a:rPr>
            </a:b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输出、异常</a:t>
            </a:r>
          </a:p>
        </p:txBody>
      </p:sp>
      <p:sp>
        <p:nvSpPr>
          <p:cNvPr id="8" name="fig-arrow"/>
          <p:cNvSpPr/>
          <p:nvPr/>
        </p:nvSpPr>
        <p:spPr>
          <a:xfrm>
            <a:off x="6621900" y="3040000"/>
            <a:ext cx="90000" cy="220000"/>
          </a:xfrm>
          <a:prstGeom prst="rightArrow">
            <a:avLst/>
          </a:prstGeom>
          <a:solidFill>
            <a:srgbClr val="A3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/>
              <a:ea typeface="微软雅黑"/>
            </a:endParaRPr>
          </a:p>
        </p:txBody>
      </p:sp>
      <p:sp>
        <p:nvSpPr>
          <p:cNvPr id="9" name="card-4"/>
          <p:cNvSpPr/>
          <p:nvPr/>
        </p:nvSpPr>
        <p:spPr>
          <a:xfrm>
            <a:off x="6741900" y="1700000"/>
            <a:ext cx="1944900" cy="2900000"/>
          </a:xfrm>
          <a:prstGeom prst="roundRect">
            <a:avLst>
              <a:gd name="adj" fmla="val 6000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rtlCol="0" anchor="t"/>
          <a:lstStyle/>
          <a:p>
            <a:pPr marL="0" indent="0" algn="l">
              <a:buNone/>
            </a:pPr>
            <a:r>
              <a:rPr sz="2000" b="1">
                <a:solidFill>
                  <a:srgbClr val="A33B38"/>
                </a:solidFill>
                <a:latin typeface="微软雅黑"/>
                <a:ea typeface="微软雅黑"/>
              </a:rPr>
              <a:t>4 人工审查与修订记录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核对产出并</a:t>
            </a:r>
            <a:br>
              <a:rPr lang="zh-CN" sz="2000">
                <a:latin typeface="微软雅黑"/>
                <a:ea typeface="微软雅黑"/>
              </a:rPr>
            </a:br>
            <a:r>
              <a:rPr sz="2000" b="0">
                <a:solidFill>
                  <a:srgbClr val="262626"/>
                </a:solidFill>
                <a:latin typeface="微软雅黑"/>
                <a:ea typeface="微软雅黑"/>
              </a:rPr>
              <a:t>记录修订</a:t>
            </a:r>
          </a:p>
        </p:txBody>
      </p:sp>
      <p:sp>
        <p:nvSpPr>
          <p:cNvPr id="10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for SE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示例一 先分解任务，划定上下文与边界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260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子任务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产物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明确统计规则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需求说明与边界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写验收准则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输入、预期输出及异常情况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实现统计函数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函数代码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验证与人工审查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测试结果、修订记录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n-context"/>
          <p:cNvSpPr txBox="1"/>
          <p:nvPr/>
        </p:nvSpPr>
        <p:spPr>
          <a:xfrm>
            <a:off x="457200" y="4250000"/>
            <a:ext cx="8229600" cy="1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sz="1600" b="0">
                <a:latin typeface="微软雅黑"/>
                <a:ea typeface="微软雅黑"/>
              </a:rPr>
              <a:t>上下文与边界：使用 Python 实现 summarize_grades(records)。每条记录含课程名、</a:t>
            </a:r>
            <a:br>
              <a:rPr lang="zh-CN" sz="1600">
                <a:latin typeface="微软雅黑"/>
                <a:ea typeface="微软雅黑"/>
              </a:rPr>
            </a:br>
            <a:r>
              <a:rPr sz="1600" b="0">
                <a:latin typeface="微软雅黑"/>
                <a:ea typeface="微软雅黑"/>
              </a:rPr>
              <a:t>学分、成绩；成绩 0～100，学分大于 0，60 分及以上及格；返回已获学分与按学分加权的平均分（含不及格课程，保留两位小数）。只实现统计函数，不涉及界面、数据库、</a:t>
            </a:r>
            <a:br>
              <a:rPr lang="zh-CN" sz="1600">
                <a:latin typeface="微软雅黑"/>
                <a:ea typeface="微软雅黑"/>
              </a:rPr>
            </a:br>
            <a:r>
              <a:rPr sz="1600" b="0">
                <a:latin typeface="微软雅黑"/>
                <a:ea typeface="微软雅黑"/>
              </a:rPr>
              <a:t>文件读取与重修规则；每门课程只有一条记录。</a:t>
            </a:r>
          </a:p>
        </p:txBody>
      </p:sp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for SE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示例二 先写验收准则，再写代码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360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验收场景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预期结果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课程 A：3 学分、80 分；课程 B：2 </a:t>
                      </a:r>
                      <a:br>
                        <a:rPr lang="zh-CN" sz="2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学分、50 分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已获学分 3；加权平均分 68.00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一门课：2 学分、60 分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已获学分 2；平均分 60.00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空列表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已获学分 0；平均分 None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成绩为 −1 或 101，或学分不大于 0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抛出 ValueError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body"/>
          <p:cNvSpPr txBox="1"/>
          <p:nvPr/>
        </p:nvSpPr>
        <p:spPr>
          <a:xfrm>
            <a:off x="457200" y="4900000"/>
            <a:ext cx="82296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sz="2000" b="0">
                <a:latin typeface="微软雅黑"/>
                <a:ea typeface="微软雅黑"/>
              </a:rPr>
              <a:t>先依据这张表写测试，再实现函数并运行测试。</a:t>
            </a:r>
          </a:p>
        </p:txBody>
      </p:sp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for SE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示例三 人工审查发现首版违反验收准则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300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发现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修订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验证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首版返回已获学分 5，违反第一条准则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仅累计成绩不低于 60 的课程学分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第一条测试由失败转为</a:t>
                      </a:r>
                      <a:br>
                        <a:rPr lang="zh-CN" sz="1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通过，并运行其余测试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首版平均分仅统计及格课程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改为对全部课程加权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人工复算：</a:t>
                      </a:r>
                      <a:b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8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(3×80＋2×50)÷5＝68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body"/>
          <p:cNvSpPr txBox="1"/>
          <p:nvPr/>
        </p:nvSpPr>
        <p:spPr>
          <a:xfrm>
            <a:off x="457200" y="4500000"/>
            <a:ext cx="82296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buClr>
                <a:srgbClr val="A33B38"/>
              </a:buClr>
              <a:buSzPct val="80000"/>
              <a:buFont typeface="Wingdings" pitchFamily="2" charset="2"/>
              <a:buChar char="n"/>
            </a:pPr>
            <a:r>
              <a:rPr sz="2000" b="0">
                <a:latin typeface="微软雅黑"/>
                <a:ea typeface="微软雅黑"/>
              </a:rPr>
              <a:t>审查重点：不及格课程是否计入平均分、60 分是否算及格、空输入是否处理、测试是否确实运行</a:t>
            </a:r>
          </a:p>
        </p:txBody>
      </p:sp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for SE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四项核对内容决定 AI 输出的取舍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481328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序号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1051560" y="148132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核对内容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3931920" y="1481328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要做的事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75488" y="2057400"/>
            <a:ext cx="457200" cy="45720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1051560" y="1874520"/>
            <a:ext cx="2788920" cy="82296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核对引用是否存在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3931920" y="1874520"/>
            <a:ext cx="48006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找到原文件，确认文件、条款确实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存在，并检查原文是否支持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75488" y="3017520"/>
            <a:ext cx="457200" cy="45720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051560" y="2834640"/>
            <a:ext cx="2788920" cy="82296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核对运行时事实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3931920" y="2834640"/>
            <a:ext cx="48006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查看实际测试输出，运行关键用例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475488" y="3977640"/>
            <a:ext cx="457200" cy="45720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1" name="fig"/>
          <p:cNvSpPr/>
          <p:nvPr/>
        </p:nvSpPr>
        <p:spPr>
          <a:xfrm>
            <a:off x="1051560" y="3794760"/>
            <a:ext cx="2788920" cy="82296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区分原理与实现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2" name="fig"/>
          <p:cNvSpPr/>
          <p:nvPr/>
        </p:nvSpPr>
        <p:spPr>
          <a:xfrm>
            <a:off x="3931920" y="3794760"/>
            <a:ext cx="48006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原理正确，不代表实现正确，要检查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代码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3" name="fig-d"/>
          <p:cNvSpPr/>
          <p:nvPr/>
        </p:nvSpPr>
        <p:spPr>
          <a:xfrm>
            <a:off x="475488" y="4937760"/>
            <a:ext cx="457200" cy="45720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4" name="fig"/>
          <p:cNvSpPr/>
          <p:nvPr/>
        </p:nvSpPr>
        <p:spPr>
          <a:xfrm>
            <a:off x="1051560" y="4754880"/>
            <a:ext cx="2788920" cy="82296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拿原则与规范作依据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5" name="fig"/>
          <p:cNvSpPr/>
          <p:nvPr/>
        </p:nvSpPr>
        <p:spPr>
          <a:xfrm>
            <a:off x="3931920" y="4754880"/>
            <a:ext cx="48006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回到需求说明与验收准则核对结论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for SE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四项核对内容在成绩统计函数上的示例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430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核对内容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AI 的输出示例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核对方法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核对引用是否存在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“根据《课程成绩管理规范》第 8 </a:t>
                      </a:r>
                      <a:br>
                        <a:rPr lang="zh-CN" sz="16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条，不及格课程不计入平均分。”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找到原文件，确认条款存在且支持这句话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核对运行时事实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“全部测试通过，空列表会返回 None。”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查看实际输出，运行空列表</a:t>
                      </a:r>
                      <a:br>
                        <a:rPr lang="zh-CN" sz="16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用例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区分原理与实现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“加权平均分就是成绩乘学分后求和再除以总学分，所以代码正确。”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检查分母、不及格课程与总学分为零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拿原则与规范作</a:t>
                      </a:r>
                      <a:br>
                        <a:rPr lang="zh-CN" sz="16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依据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“通常平均分只算及格课程，建议</a:t>
                      </a:r>
                      <a:br>
                        <a:rPr lang="zh-CN" sz="16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这样改。”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回到验收准则：要求含不及格课程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for SE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《AI协作与产出验收规范》的使用顺序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46304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步骤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2011680" y="1463040"/>
            <a:ext cx="67208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做什么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1783080"/>
            <a:ext cx="1463040" cy="512064"/>
          </a:xfrm>
          <a:prstGeom prst="homePlat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明确需求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2011680" y="1783080"/>
            <a:ext cx="6720840" cy="5120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先明确需求并逐步细化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1143000" y="2304288"/>
            <a:ext cx="9144" cy="146304"/>
          </a:xfrm>
          <a:custGeom>
            <a:avLst/>
            <a:gdLst/>
            <a:ahLst/>
            <a:cxnLst/>
            <a:rect l="0" t="0" r="r" b="b"/>
            <a:pathLst>
              <a:path w="9144" h="146304" fill="none">
                <a:moveTo>
                  <a:pt x="0" y="0"/>
                </a:moveTo>
                <a:lnTo>
                  <a:pt x="0" y="146304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411480" y="2459736"/>
            <a:ext cx="1463040" cy="512064"/>
          </a:xfrm>
          <a:prstGeom prst="homePlat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写准则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2011680" y="2459736"/>
            <a:ext cx="6720840" cy="5120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写验收准则，再和 AI 一起做，顺序不能倒过来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1143000" y="2980944"/>
            <a:ext cx="9144" cy="146304"/>
          </a:xfrm>
          <a:custGeom>
            <a:avLst/>
            <a:gdLst/>
            <a:ahLst/>
            <a:cxnLst/>
            <a:rect l="0" t="0" r="r" b="b"/>
            <a:pathLst>
              <a:path w="9144" h="146304" fill="none">
                <a:moveTo>
                  <a:pt x="0" y="0"/>
                </a:moveTo>
                <a:lnTo>
                  <a:pt x="0" y="146304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411480" y="3136392"/>
            <a:ext cx="1463040" cy="512064"/>
          </a:xfrm>
          <a:prstGeom prst="homePlat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标注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2011680" y="3136392"/>
            <a:ext cx="6720840" cy="5120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在提交物中标注 AI 的使用范围和所用工具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1143000" y="3657600"/>
            <a:ext cx="9144" cy="146304"/>
          </a:xfrm>
          <a:custGeom>
            <a:avLst/>
            <a:gdLst/>
            <a:ahLst/>
            <a:cxnLst/>
            <a:rect l="0" t="0" r="r" b="b"/>
            <a:pathLst>
              <a:path w="9144" h="146304" fill="none">
                <a:moveTo>
                  <a:pt x="0" y="0"/>
                </a:moveTo>
                <a:lnTo>
                  <a:pt x="0" y="146304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411480" y="3813048"/>
            <a:ext cx="1463040" cy="512064"/>
          </a:xfrm>
          <a:prstGeom prst="homePlat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留记录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3" name="fig"/>
          <p:cNvSpPr/>
          <p:nvPr/>
        </p:nvSpPr>
        <p:spPr>
          <a:xfrm>
            <a:off x="2011680" y="3813048"/>
            <a:ext cx="6720840" cy="5120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验收准则、使用范围、所用工具与修订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4" name="fig-d"/>
          <p:cNvSpPr/>
          <p:nvPr/>
        </p:nvSpPr>
        <p:spPr>
          <a:xfrm>
            <a:off x="1143000" y="4334256"/>
            <a:ext cx="9144" cy="146304"/>
          </a:xfrm>
          <a:custGeom>
            <a:avLst/>
            <a:gdLst/>
            <a:ahLst/>
            <a:cxnLst/>
            <a:rect l="0" t="0" r="r" b="b"/>
            <a:pathLst>
              <a:path w="9144" h="146304" fill="none">
                <a:moveTo>
                  <a:pt x="0" y="0"/>
                </a:moveTo>
                <a:lnTo>
                  <a:pt x="0" y="146304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5" name="fig-d"/>
          <p:cNvSpPr/>
          <p:nvPr/>
        </p:nvSpPr>
        <p:spPr>
          <a:xfrm>
            <a:off x="411480" y="4489704"/>
            <a:ext cx="1463040" cy="512064"/>
          </a:xfrm>
          <a:prstGeom prst="homePlat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核对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6" name="fig"/>
          <p:cNvSpPr/>
          <p:nvPr/>
        </p:nvSpPr>
        <p:spPr>
          <a:xfrm>
            <a:off x="2011680" y="4489704"/>
            <a:ext cx="6720840" cy="5120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完成后逐项核对产出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7" name="fig-d"/>
          <p:cNvSpPr/>
          <p:nvPr/>
        </p:nvSpPr>
        <p:spPr>
          <a:xfrm>
            <a:off x="1143000" y="5010912"/>
            <a:ext cx="9144" cy="146304"/>
          </a:xfrm>
          <a:custGeom>
            <a:avLst/>
            <a:gdLst/>
            <a:ahLst/>
            <a:cxnLst/>
            <a:rect l="0" t="0" r="r" b="b"/>
            <a:pathLst>
              <a:path w="9144" h="146304" fill="none">
                <a:moveTo>
                  <a:pt x="0" y="0"/>
                </a:moveTo>
                <a:lnTo>
                  <a:pt x="0" y="146304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8" name="fig-d"/>
          <p:cNvSpPr/>
          <p:nvPr/>
        </p:nvSpPr>
        <p:spPr>
          <a:xfrm>
            <a:off x="411480" y="5166360"/>
            <a:ext cx="1463040" cy="512064"/>
          </a:xfrm>
          <a:prstGeom prst="homePlat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担责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9" name="fig"/>
          <p:cNvSpPr/>
          <p:nvPr/>
        </p:nvSpPr>
        <p:spPr>
          <a:xfrm>
            <a:off x="2011680" y="5166360"/>
            <a:ext cx="6720840" cy="512064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对产出的正确性和质量承担解释责任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20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for SE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讨论用AI写出的代码出了问题，责任在谁？</a:t>
            </a:r>
          </a:p>
        </p:txBody>
      </p:sp>
      <p:sp>
        <p:nvSpPr>
          <p:cNvPr id="101" name="fig-d"/>
          <p:cNvSpPr/>
          <p:nvPr/>
        </p:nvSpPr>
        <p:spPr>
          <a:xfrm>
            <a:off x="685800" y="1874520"/>
            <a:ext cx="109728" cy="18288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960120" y="14173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6000" b="1">
                <a:solidFill>
                  <a:srgbClr val="A33B38"/>
                </a:solidFill>
                <a:latin typeface="微软雅黑"/>
                <a:ea typeface="微软雅黑"/>
              </a:rPr>
              <a:t>“</a:t>
            </a:r>
            <a:endParaRPr lang="zh-CN" sz="6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097280" y="2011680"/>
            <a:ext cx="7635240" cy="1691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262626"/>
                </a:solidFill>
                <a:latin typeface="微软雅黑"/>
                <a:ea typeface="微软雅黑"/>
              </a:rPr>
              <a:t>用AI写出的代码出了问题，责任在谁？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11480" y="4160520"/>
            <a:ext cx="832104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提示：对照使用生成式 AI 的六条规定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for SE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问答题</a:t>
            </a:r>
          </a:p>
        </p:txBody>
      </p:sp>
      <p:sp>
        <p:nvSpPr>
          <p:cNvPr id="101" name="card-section"/>
          <p:cNvSpPr/>
          <p:nvPr/>
        </p:nvSpPr>
        <p:spPr>
          <a:xfrm>
            <a:off x="411480" y="160020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预习题五题，课前已完成</a:t>
            </a:r>
          </a:p>
        </p:txBody>
      </p:sp>
      <p:sp>
        <p:nvSpPr>
          <p:cNvPr id="102" name="fig-d"/>
          <p:cNvSpPr/>
          <p:nvPr/>
        </p:nvSpPr>
        <p:spPr>
          <a:xfrm>
            <a:off x="411480" y="24231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01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234440" y="242316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第 1—3 题：标准版本差、流程与内容规范、文档剪裁</a:t>
            </a:r>
          </a:p>
        </p:txBody>
      </p:sp>
      <p:sp>
        <p:nvSpPr>
          <p:cNvPr id="104" name="fig-d"/>
          <p:cNvSpPr/>
          <p:nvPr/>
        </p:nvSpPr>
        <p:spPr>
          <a:xfrm>
            <a:off x="411480" y="320040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02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1234440" y="320040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第 4—5 题：易测试性、提示词作规格说明</a:t>
            </a:r>
          </a:p>
        </p:txBody>
      </p:sp>
      <p:sp>
        <p:nvSpPr>
          <p:cNvPr id="106" name="fig-d"/>
          <p:cNvSpPr/>
          <p:nvPr/>
        </p:nvSpPr>
        <p:spPr>
          <a:xfrm>
            <a:off x="411480" y="39776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A33B38"/>
                </a:solidFill>
                <a:latin typeface="微软雅黑"/>
                <a:ea typeface="微软雅黑"/>
              </a:rPr>
              <a:t>03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1234440" y="3977640"/>
            <a:ext cx="74980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答案见各题页备注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问答题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预习题（1—3）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237744" y="1450000"/>
            <a:ext cx="8668512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sz="2000" b="0">
                <a:latin typeface="微软雅黑"/>
                <a:ea typeface="微软雅黑"/>
              </a:rPr>
              <a:t>1. 现行国家标准 GB/T 8566-2022 等同采用的是哪一版 ISO/IEC/IEEE 12207？</a:t>
            </a:r>
          </a:p>
          <a:p>
            <a:pPr marL="228600" indent="0">
              <a:spcBef>
                <a:spcPts val="0"/>
              </a:spcBef>
              <a:buNone/>
            </a:pPr>
            <a:r>
              <a:rPr sz="2000" b="0">
                <a:latin typeface="微软雅黑"/>
                <a:ea typeface="微软雅黑"/>
              </a:rPr>
              <a:t>A. 12207:2008；B. 12207:2017；C. 12207:2026</a:t>
            </a:r>
          </a:p>
          <a:p>
            <a:pPr marL="228600" indent="0">
              <a:spcBef>
                <a:spcPts val="0"/>
              </a:spcBef>
              <a:buNone/>
            </a:pPr>
            <a:r>
              <a:rPr sz="2000" b="0">
                <a:latin typeface="微软雅黑"/>
                <a:ea typeface="微软雅黑"/>
              </a:rPr>
              <a:t>D. 没有对应的国际标准</a:t>
            </a:r>
          </a:p>
          <a:p>
            <a:pPr marL="0" indent="0">
              <a:spcBef>
                <a:spcPts val="600"/>
              </a:spcBef>
              <a:buNone/>
            </a:pPr>
            <a:r>
              <a:rPr sz="2000" b="0">
                <a:latin typeface="微软雅黑"/>
                <a:ea typeface="微软雅黑"/>
              </a:rPr>
              <a:t>2. “需求、设计、编码、测试各活动做什么、按什么顺序做”与“设计</a:t>
            </a:r>
            <a:br>
              <a:rPr sz="2000" b="0"/>
            </a:br>
            <a:r>
              <a:rPr sz="2000" b="0">
                <a:latin typeface="微软雅黑"/>
                <a:ea typeface="微软雅黑"/>
              </a:rPr>
              <a:t>说明书应包含哪些章节”分别属于：</a:t>
            </a:r>
          </a:p>
          <a:p>
            <a:pPr marL="228600" indent="0">
              <a:spcBef>
                <a:spcPts val="0"/>
              </a:spcBef>
              <a:buNone/>
            </a:pPr>
            <a:r>
              <a:rPr sz="2000" b="0">
                <a:latin typeface="微软雅黑"/>
                <a:ea typeface="微软雅黑"/>
              </a:rPr>
              <a:t>A. 流程规范；内容规范；B. 内容规范；流程规范</a:t>
            </a:r>
          </a:p>
          <a:p>
            <a:pPr marL="228600" indent="0">
              <a:spcBef>
                <a:spcPts val="0"/>
              </a:spcBef>
              <a:buNone/>
            </a:pPr>
            <a:r>
              <a:rPr sz="2000" b="0">
                <a:latin typeface="微软雅黑"/>
                <a:ea typeface="微软雅黑"/>
              </a:rPr>
              <a:t>C. 都属于流程规范；D. 都属于内容规范</a:t>
            </a:r>
          </a:p>
          <a:p>
            <a:pPr marL="0" indent="0">
              <a:spcBef>
                <a:spcPts val="600"/>
              </a:spcBef>
              <a:buNone/>
            </a:pPr>
            <a:r>
              <a:rPr sz="2000" b="0">
                <a:latin typeface="微软雅黑"/>
                <a:ea typeface="微软雅黑"/>
              </a:rPr>
              <a:t>3. 一个三人、四周的内部工具项目，不打算编写 GB/T 8567 列出的全部</a:t>
            </a:r>
            <a:br>
              <a:rPr sz="2000" b="0"/>
            </a:br>
            <a:r>
              <a:rPr sz="2000" b="0">
                <a:latin typeface="微软雅黑"/>
                <a:ea typeface="微软雅黑"/>
              </a:rPr>
              <a:t>文档。较合理的做法是：</a:t>
            </a:r>
          </a:p>
          <a:p>
            <a:pPr marL="228600" indent="0">
              <a:spcBef>
                <a:spcPts val="0"/>
              </a:spcBef>
              <a:buNone/>
            </a:pPr>
            <a:r>
              <a:rPr sz="2000" b="0">
                <a:latin typeface="微软雅黑"/>
                <a:ea typeface="微软雅黑"/>
              </a:rPr>
              <a:t>A. 违反国家标准，不允许；B. 可以随意删减，不必说明</a:t>
            </a:r>
          </a:p>
          <a:p>
            <a:pPr marL="228600" indent="0">
              <a:spcBef>
                <a:spcPts val="0"/>
              </a:spcBef>
              <a:buNone/>
            </a:pPr>
            <a:r>
              <a:rPr sz="2000" b="0">
                <a:latin typeface="微软雅黑"/>
                <a:ea typeface="微软雅黑"/>
              </a:rPr>
              <a:t>C. 按项目规模剪裁，写明剪掉了哪些、为什么</a:t>
            </a:r>
          </a:p>
          <a:p>
            <a:pPr marL="228600" indent="0">
              <a:spcBef>
                <a:spcPts val="0"/>
              </a:spcBef>
              <a:buNone/>
            </a:pPr>
            <a:r>
              <a:rPr sz="2000" b="0">
                <a:latin typeface="微软雅黑"/>
                <a:ea typeface="微软雅黑"/>
              </a:rPr>
              <a:t>D. 改用国际标准，就不必写文档</a:t>
            </a:r>
          </a:p>
        </p:txBody>
      </p:sp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问答题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预习题（4—5）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237744" y="1450000"/>
            <a:ext cx="8668512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sz="2000" b="0">
                <a:latin typeface="微软雅黑"/>
                <a:ea typeface="微软雅黑"/>
              </a:rPr>
              <a:t>4. 一个计算成绩的类，单元测试必须先连上数据库和消息队列才能运行。这最直接说明哪个子特性不足？</a:t>
            </a:r>
          </a:p>
          <a:p>
            <a:pPr marL="228600" indent="0">
              <a:spcBef>
                <a:spcPts val="0"/>
              </a:spcBef>
              <a:buNone/>
            </a:pPr>
            <a:r>
              <a:rPr sz="2000" b="0">
                <a:latin typeface="微软雅黑"/>
                <a:ea typeface="微软雅黑"/>
              </a:rPr>
              <a:t>A. 模块化</a:t>
            </a:r>
          </a:p>
          <a:p>
            <a:pPr marL="228600" indent="0">
              <a:spcBef>
                <a:spcPts val="0"/>
              </a:spcBef>
              <a:buNone/>
            </a:pPr>
            <a:r>
              <a:rPr sz="2000" b="0">
                <a:latin typeface="微软雅黑"/>
                <a:ea typeface="微软雅黑"/>
              </a:rPr>
              <a:t>B. 可复用性</a:t>
            </a:r>
          </a:p>
          <a:p>
            <a:pPr marL="228600" indent="0">
              <a:spcBef>
                <a:spcPts val="0"/>
              </a:spcBef>
              <a:buNone/>
            </a:pPr>
            <a:r>
              <a:rPr sz="2000" b="0">
                <a:latin typeface="微软雅黑"/>
                <a:ea typeface="微软雅黑"/>
              </a:rPr>
              <a:t>C. 易分析性</a:t>
            </a:r>
          </a:p>
          <a:p>
            <a:pPr marL="228600" indent="0">
              <a:spcBef>
                <a:spcPts val="0"/>
              </a:spcBef>
              <a:buNone/>
            </a:pPr>
            <a:r>
              <a:rPr sz="2000" b="0">
                <a:latin typeface="微软雅黑"/>
                <a:ea typeface="微软雅黑"/>
              </a:rPr>
              <a:t>D. 易测试性</a:t>
            </a:r>
          </a:p>
          <a:p>
            <a:pPr marL="0" indent="0">
              <a:spcBef>
                <a:spcPts val="600"/>
              </a:spcBef>
              <a:buNone/>
            </a:pPr>
            <a:r>
              <a:rPr sz="2000" b="0">
                <a:latin typeface="微软雅黑"/>
                <a:ea typeface="微软雅黑"/>
              </a:rPr>
              <a:t>5. 在提示词中写明任务分解、上下文与边界、需求验收准则，这时提示词</a:t>
            </a:r>
            <a:br>
              <a:rPr sz="2000" b="0"/>
            </a:br>
            <a:r>
              <a:rPr sz="2000" b="0">
                <a:latin typeface="微软雅黑"/>
                <a:ea typeface="微软雅黑"/>
              </a:rPr>
              <a:t>起到的作用是：</a:t>
            </a:r>
          </a:p>
          <a:p>
            <a:pPr marL="228600" indent="0">
              <a:spcBef>
                <a:spcPts val="0"/>
              </a:spcBef>
              <a:buNone/>
            </a:pPr>
            <a:r>
              <a:rPr sz="2000" b="0">
                <a:latin typeface="微软雅黑"/>
                <a:ea typeface="微软雅黑"/>
              </a:rPr>
              <a:t>A. 提高模型的生成速度</a:t>
            </a:r>
          </a:p>
          <a:p>
            <a:pPr marL="228600" indent="0">
              <a:spcBef>
                <a:spcPts val="0"/>
              </a:spcBef>
              <a:buNone/>
            </a:pPr>
            <a:r>
              <a:rPr sz="2000" b="0">
                <a:latin typeface="微软雅黑"/>
                <a:ea typeface="微软雅黑"/>
              </a:rPr>
              <a:t>B. 代替人工审查</a:t>
            </a:r>
          </a:p>
          <a:p>
            <a:pPr marL="228600" indent="0">
              <a:spcBef>
                <a:spcPts val="0"/>
              </a:spcBef>
              <a:buNone/>
            </a:pPr>
            <a:r>
              <a:rPr sz="2000" b="0">
                <a:latin typeface="微软雅黑"/>
                <a:ea typeface="微软雅黑"/>
              </a:rPr>
              <a:t>C. 作为人与 AI 之间的规格说明</a:t>
            </a:r>
          </a:p>
          <a:p>
            <a:pPr marL="228600" indent="0">
              <a:spcBef>
                <a:spcPts val="0"/>
              </a:spcBef>
              <a:buNone/>
            </a:pPr>
            <a:r>
              <a:rPr sz="2000" b="0">
                <a:latin typeface="微软雅黑"/>
                <a:ea typeface="微软雅黑"/>
              </a:rPr>
              <a:t>D. 保证 AI 输出一定正确</a:t>
            </a:r>
          </a:p>
        </p:txBody>
      </p:sp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问答题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本次课要点与下次课预告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572768"/>
            <a:ext cx="914400" cy="8412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3200" b="1">
                <a:solidFill>
                  <a:srgbClr val="A33B38"/>
                </a:solidFill>
                <a:latin typeface="微软雅黑"/>
                <a:ea typeface="微软雅黑"/>
              </a:rPr>
              <a:t>01</a:t>
            </a:r>
            <a:endParaRPr lang="zh-CN" sz="3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325880" y="1572768"/>
            <a:ext cx="7406640" cy="8412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标准有层次与版本差：流程规范管步骤，内容规范管产物，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标准可按项目剪裁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578608"/>
            <a:ext cx="914400" cy="8412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3200" b="1">
                <a:solidFill>
                  <a:srgbClr val="A33B38"/>
                </a:solidFill>
                <a:latin typeface="微软雅黑"/>
                <a:ea typeface="微软雅黑"/>
              </a:rPr>
              <a:t>02</a:t>
            </a:r>
            <a:endParaRPr lang="zh-CN" sz="32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325880" y="2578608"/>
            <a:ext cx="7406640" cy="8412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可维护性的五个子特性：模块化、可复用性、易分析性、易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修改性、易测试性，各有判定问题与指标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584448"/>
            <a:ext cx="914400" cy="84124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3200" b="1">
                <a:solidFill>
                  <a:srgbClr val="A33B38"/>
                </a:solidFill>
                <a:latin typeface="微软雅黑"/>
                <a:ea typeface="微软雅黑"/>
              </a:rPr>
              <a:t>03</a:t>
            </a:r>
            <a:endParaRPr lang="zh-CN" sz="32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325880" y="3584448"/>
            <a:ext cx="7406640" cy="8412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与 AI 协作先写验收准则、留协作记录，再逐项核对产出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411480" y="4709160"/>
            <a:ext cx="8321040" cy="868680"/>
          </a:xfrm>
          <a:prstGeom prst="rect">
            <a:avLst/>
          </a:prstGeom>
          <a:solidFill>
            <a:srgbClr val="A33B38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下次课预告：实验 E1 开发环境与棕地仓库导读，实验要求见 E1 课件；T2 课前在学习通完成 T2 预习题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本章参考资料（1）标准与知识体系</a:t>
            </a:r>
          </a:p>
        </p:txBody>
      </p:sp>
      <p:sp>
        <p:nvSpPr>
          <p:cNvPr id="3" name="fn-doi"/>
          <p:cNvSpPr txBox="1"/>
          <p:nvPr/>
        </p:nvSpPr>
        <p:spPr>
          <a:xfrm>
            <a:off x="457200" y="5500000"/>
            <a:ext cx="8229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sz="1600" b="0">
                <a:latin typeface="微软雅黑"/>
                <a:ea typeface="微软雅黑"/>
              </a:rPr>
              <a:t>DOI：数字对象唯一标识符（Digital Object Identifier）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457200" y="1500000"/>
          <a:ext cx="8229600" cy="39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编号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题名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链接或 DOI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[15]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SWEBOK Guide V4.0 第 4 章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https://www.swebok.org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[16]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GB/T 25000.10-2016 系统与软件质量模型</a:t>
                      </a:r>
                      <a:br>
                        <a:rPr lang="zh-CN" sz="16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（承接 ISO/IEC 25010:2011）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标准号检索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[17]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GB/T 8566-2022 系统与软件工程 软件生存周期</a:t>
                      </a:r>
                      <a:br>
                        <a:rPr lang="zh-CN" sz="16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过程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标准号检索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[18]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GB/T 8567-2006 计算机软件文档编制规范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标准号检索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[19]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ISO/IEC 25010:2023 产品质量模型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标准号检索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[20]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ISO/IEC/IEEE 12207:2026 软件生存周期过程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标准号检索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本章参考资料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A33B38"/>
                </a:solidFill>
                <a:latin typeface="微软雅黑"/>
                <a:ea typeface="微软雅黑"/>
              </a:rPr>
              <a:t>本章参考资料（2）提示词与 AI 协作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500000"/>
          <a:ext cx="8229600" cy="430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编号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题名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链接或 DOI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[29]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White 等. A prompt pattern catalog to enhance</a:t>
                      </a:r>
                    </a:p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prompt engineering with ChatGPT, 2023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arXiv:2302.11382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[42]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Vanderbilt University.</a:t>
                      </a:r>
                    </a:p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Prompt Engineering for ChatGPT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coursera.org/learn/</a:t>
                      </a:r>
                    </a:p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prompt-engineering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[44]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Northeastern University CS4530.</a:t>
                      </a:r>
                    </a:p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Policy on Use of AI (Spring 2026)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neu-se.github.io/</a:t>
                      </a:r>
                    </a:p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CS4530-Spring-2026/policies/ai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[47]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课程组. AI协作与产出验收规范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课程讲义附录</a:t>
                      </a:r>
                    </a:p>
                  </a:txBody>
                  <a:tcPr marL="72000" marR="72000" marT="36000" marB="360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本章参考资料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SDC-2026">
      <a:dk1>
        <a:srgbClr val="262626"/>
      </a:dk1>
      <a:lt1>
        <a:srgbClr val="FFFFFF"/>
      </a:lt1>
      <a:dk2>
        <a:srgbClr val="A33B38"/>
      </a:dk2>
      <a:lt2>
        <a:srgbClr val="F6E8E6"/>
      </a:lt2>
      <a:accent1>
        <a:srgbClr val="A33B38"/>
      </a:accent1>
      <a:accent2>
        <a:srgbClr val="A33B38"/>
      </a:accent2>
      <a:accent3>
        <a:srgbClr val="595959"/>
      </a:accent3>
      <a:accent4>
        <a:srgbClr val="2E7D32"/>
      </a:accent4>
      <a:accent5>
        <a:srgbClr val="B26A00"/>
      </a:accent5>
      <a:accent6>
        <a:srgbClr val="D9D9D9"/>
      </a:accent6>
      <a:hlink>
        <a:srgbClr val="A33B38"/>
      </a:hlink>
      <a:folHlink>
        <a:srgbClr val="7F7F7F"/>
      </a:folHlink>
    </a:clrScheme>
    <a:fontScheme name="SDC-2026">
      <a:maj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07AB092-7F9E-AE4D-B6A4-1F20423E3032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2094519e-b05c-4f8c-aa14-50c612e1879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5182</Words>
  <Application>Microsoft Office PowerPoint</Application>
  <PresentationFormat>全屏显示(4:3)</PresentationFormat>
  <Paragraphs>1070</Paragraphs>
  <Slides>61</Slides>
  <Notes>61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1" baseType="lpstr">
      <vt:lpstr>黑体</vt:lpstr>
      <vt:lpstr>微软雅黑</vt:lpstr>
      <vt:lpstr>Arial</vt:lpstr>
      <vt:lpstr>Calibri</vt:lpstr>
      <vt:lpstr>Cambria</vt:lpstr>
      <vt:lpstr>Consolas</vt:lpstr>
      <vt:lpstr>Times New Roman</vt:lpstr>
      <vt:lpstr>Verdana</vt:lpstr>
      <vt:lpstr>Wingdings</vt:lpstr>
      <vt:lpstr>2_985平台</vt:lpstr>
      <vt:lpstr>软件设计与规范</vt:lpstr>
      <vt:lpstr>目录</vt:lpstr>
      <vt:lpstr>本次课目标：五项教学目标</vt:lpstr>
      <vt:lpstr>本次课目标：重点与难点</vt:lpstr>
      <vt:lpstr>课程导入</vt:lpstr>
      <vt:lpstr>本课程承上启下，以既有系统为载体</vt:lpstr>
      <vt:lpstr>本部分五章对应一次开发的五个环节</vt:lpstr>
      <vt:lpstr>棕地开发从既有系统出发，课程用 mall 作载体</vt:lpstr>
      <vt:lpstr>每次实验按预习、实操、讲解、演示四步进行</vt:lpstr>
      <vt:lpstr>总评由网络课堂 40% 与项目实践 60% 构成</vt:lpstr>
      <vt:lpstr>使用生成式 AI 须遵守六条规定</vt:lpstr>
      <vt:lpstr>提交说明按讲清楚、有依据、验证过组织</vt:lpstr>
      <vt:lpstr>标准规范体系</vt:lpstr>
      <vt:lpstr>口径不一致，同一组成绩得出不同的平均分</vt:lpstr>
      <vt:lpstr>标准是经协商一致制定、供重复使用的规则文件</vt:lpstr>
      <vt:lpstr>标准分国际、国家、行业、企业、项目五个层次</vt:lpstr>
      <vt:lpstr>国家标准按基础、开发、文档、管理分为四类</vt:lpstr>
      <vt:lpstr>本章对照七项标准与知识体系</vt:lpstr>
      <vt:lpstr>示例：应用要求系统 17 以上，手机是 16</vt:lpstr>
      <vt:lpstr>回到条文：国标仍采用 12207 的 2017 版</vt:lpstr>
      <vt:lpstr>回到条文：25010 由八个特性调整为九个特性</vt:lpstr>
      <vt:lpstr>2023 版相对 2011 版有三项变化</vt:lpstr>
      <vt:lpstr>流程规范与内容规范</vt:lpstr>
      <vt:lpstr>流程规范规定按什么步骤做</vt:lpstr>
      <vt:lpstr>内容规范规定产物写成什么样</vt:lpstr>
      <vt:lpstr>判定一份规范归哪一类，看它约束步骤还是产物</vt:lpstr>
      <vt:lpstr>示例：课程设计报告只写需求、设计、测试三章</vt:lpstr>
      <vt:lpstr>回到条文：剪裁要写明留下、去掉与理由</vt:lpstr>
      <vt:lpstr>讨论：你遵守过的规范属于哪一类？</vt:lpstr>
      <vt:lpstr>质量模型与可维护性</vt:lpstr>
      <vt:lpstr>产品质量看产品本身，使用质量看使用效果</vt:lpstr>
      <vt:lpstr>可维护性是 25010:2023 九个特性之一</vt:lpstr>
      <vt:lpstr>可维护性五个子特性各有判定问题与指标</vt:lpstr>
      <vt:lpstr>mall 基线中可以核对的五项事实</vt:lpstr>
      <vt:lpstr>讨论：名字与行为不一致的接口，代价是什么？</vt:lpstr>
      <vt:lpstr>需求如何转为设计方案</vt:lpstr>
      <vt:lpstr>质量特性是非功能需求的语言，设计是回应</vt:lpstr>
      <vt:lpstr>同一需求的两种设计，用五个子特性比较</vt:lpstr>
      <vt:lpstr>方案乙的实现共 14 行，验收场景全部通过</vt:lpstr>
      <vt:lpstr>技术说明要写成需求、优点、限制、不足</vt:lpstr>
      <vt:lpstr>评价设计看子特性指标，不看组件数量</vt:lpstr>
      <vt:lpstr>AI for SE</vt:lpstr>
      <vt:lpstr>提示词模式是人与 AI 之间的规格说明</vt:lpstr>
      <vt:lpstr>四种提示词模式在代码审查中的写法</vt:lpstr>
      <vt:lpstr>AI 协作工作流按四步进行，顺序不能倒过来</vt:lpstr>
      <vt:lpstr>示例一：先分解任务，并划定上下文与边界</vt:lpstr>
      <vt:lpstr>示例二：先写验收准则，再写代码</vt:lpstr>
      <vt:lpstr>示例三：人工审查发现首版违反验收准则</vt:lpstr>
      <vt:lpstr>四条判定原则决定 AI 输出的取舍</vt:lpstr>
      <vt:lpstr>四条判定原则在成绩统计函数上的核对示例</vt:lpstr>
      <vt:lpstr>《AI协作与产出验收规范》的使用顺序</vt:lpstr>
      <vt:lpstr>讨论：用 AI 写出的代码出了问题，责任在谁？</vt:lpstr>
      <vt:lpstr>问答题</vt:lpstr>
      <vt:lpstr>预习题（1—3）</vt:lpstr>
      <vt:lpstr>预习题（4—5）</vt:lpstr>
      <vt:lpstr>E1 实验要求</vt:lpstr>
      <vt:lpstr>E1 实验要求：六项输出成果</vt:lpstr>
      <vt:lpstr>E1 实验要求：提交要求与评分</vt:lpstr>
      <vt:lpstr>本次课要点与下次课预告</vt:lpstr>
      <vt:lpstr>本章参考资料（1）标准与知识体系</vt:lpstr>
      <vt:lpstr>本章参考资料（2）提示词与 AI 协作</vt:lpstr>
    </vt:vector>
  </TitlesOfParts>
  <Company>sei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</cp:lastModifiedBy>
  <cp:revision>1049</cp:revision>
  <cp:lastPrinted>2003-09-14T10:10:00Z</cp:lastPrinted>
  <dcterms:created xsi:type="dcterms:W3CDTF">2003-08-28T12:03:00Z</dcterms:created>
  <dcterms:modified xsi:type="dcterms:W3CDTF">2026-10-12T12:42:31Z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