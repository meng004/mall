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64"/>
  </p:notesMasterIdLst>
  <p:handoutMasterIdLst>
    <p:handoutMasterId r:id="rId65"/>
  </p:handoutMasterIdLst>
  <p:sldIdLst>
    <p:sldId id="256" r:id="rId2"/>
    <p:sldId id="292" r:id="rId3"/>
    <p:sldId id="293" r:id="rId5"/>
    <p:sldId id="294" r:id="rId4"/>
    <p:sldId id="295" r:id="rId6"/>
    <p:sldId id="296" r:id="rId7"/>
    <p:sldId id="297" r:id="rId8"/>
    <p:sldId id="298" r:id="rId9"/>
    <p:sldId id="5085" r:id="rId10"/>
    <p:sldId id="299" r:id="rId11"/>
    <p:sldId id="300" r:id="rId16"/>
    <p:sldId id="301" r:id="rId19"/>
    <p:sldId id="5095" r:id="rId12"/>
    <p:sldId id="5097" r:id="rId13"/>
    <p:sldId id="302" r:id="rId14"/>
    <p:sldId id="303" r:id="rId15"/>
    <p:sldId id="304" r:id="rId17"/>
    <p:sldId id="306" r:id="rId18"/>
    <p:sldId id="307" r:id="rId20"/>
    <p:sldId id="308" r:id="rId21"/>
    <p:sldId id="267" r:id="rId23"/>
    <p:sldId id="268" r:id="rId24"/>
    <p:sldId id="269" r:id="rId25"/>
    <p:sldId id="309" r:id="rId26"/>
    <p:sldId id="310" r:id="rId27"/>
    <p:sldId id="311" r:id="rId28"/>
    <p:sldId id="331" r:id="rId53"/>
    <p:sldId id="332" r:id="rId54"/>
    <p:sldId id="5086" r:id="rId22"/>
    <p:sldId id="312" r:id="rId29"/>
    <p:sldId id="5087" r:id="rId31"/>
    <p:sldId id="5088" r:id="rId32"/>
    <p:sldId id="314" r:id="rId35"/>
    <p:sldId id="315" r:id="rId36"/>
    <p:sldId id="313" r:id="rId30"/>
    <p:sldId id="5089" r:id="rId33"/>
    <p:sldId id="5090" r:id="rId34"/>
    <p:sldId id="316" r:id="rId37"/>
    <p:sldId id="317" r:id="rId38"/>
    <p:sldId id="318" r:id="rId39"/>
    <p:sldId id="324" r:id="rId42"/>
    <p:sldId id="322" r:id="rId40"/>
    <p:sldId id="325" r:id="rId43"/>
    <p:sldId id="323" r:id="rId41"/>
    <p:sldId id="326" r:id="rId44"/>
    <p:sldId id="5091" r:id="rId45"/>
    <p:sldId id="5092" r:id="rId46"/>
    <p:sldId id="327" r:id="rId47"/>
    <p:sldId id="5096" r:id="rId48"/>
    <p:sldId id="328" r:id="rId49"/>
    <p:sldId id="329" r:id="rId50"/>
    <p:sldId id="330" r:id="rId51"/>
    <p:sldId id="5082" r:id="rId52"/>
    <p:sldId id="333" r:id="rId55"/>
    <p:sldId id="5093" r:id="rId56"/>
    <p:sldId id="5094" r:id="rId57"/>
    <p:sldId id="334" r:id="rId58"/>
    <p:sldId id="289" r:id="rId59"/>
    <p:sldId id="290" r:id="rId60"/>
    <p:sldId id="339" r:id="rId61"/>
    <p:sldId id="340" r:id="rId62"/>
    <p:sldId id="341" r:id="rId63"/>
  </p:sldIdLst>
  <p:sldSz cx="9144000" cy="6858000" type="screen4x3"/>
  <p:notesSz cx="6761163" cy="9931400"/>
  <p:custDataLst>
    <p:tags r:id="rId66"/>
  </p:custDataLst>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60" userDrawn="1">
          <p15:clr>
            <a:srgbClr val="A4A3A4"/>
          </p15:clr>
        </p15:guide>
        <p15:guide id="2" pos="2882" userDrawn="1">
          <p15:clr>
            <a:srgbClr val="A4A3A4"/>
          </p15:clr>
        </p15:guide>
      </p15:sldGuideLst>
    </p:ext>
    <p:ext uri="{2D200454-40CA-4A62-9FC3-DE9A4176ACB9}">
      <p15:notesGuideLst xmlns:p15="http://schemas.microsoft.com/office/powerpoint/2012/main">
        <p15:guide id="1" orient="horz" pos="3129">
          <p15:clr>
            <a:srgbClr val="A4A3A4"/>
          </p15:clr>
        </p15:guide>
        <p15:guide id="2" pos="213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D4D"/>
    <a:srgbClr val="FF3300"/>
    <a:srgbClr val="CC0000"/>
    <a:srgbClr val="FFFFCC"/>
    <a:srgbClr val="FFCCFF"/>
    <a:srgbClr val="FFFFFF"/>
    <a:srgbClr val="3399FF"/>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2D5ABB26-0587-4C30-8999-92F81FD0307C}"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5647" autoAdjust="0"/>
    <p:restoredTop sz="86442" autoAdjust="0"/>
  </p:normalViewPr>
  <p:slideViewPr>
    <p:cSldViewPr showGuides="1">
      <p:cViewPr>
        <p:scale>
          <a:sx n="87" d="100"/>
          <a:sy n="87" d="100"/>
        </p:scale>
        <p:origin x="2000" y="552"/>
      </p:cViewPr>
      <p:guideLst>
        <p:guide orient="horz" pos="2160"/>
        <p:guide pos="2882"/>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22" d="100"/>
        <a:sy n="122" d="100"/>
      </p:scale>
      <p:origin x="0" y="0"/>
    </p:cViewPr>
  </p:sorterViewPr>
  <p:notesViewPr>
    <p:cSldViewPr>
      <p:cViewPr>
        <p:scale>
          <a:sx n="100" d="100"/>
          <a:sy n="100" d="100"/>
        </p:scale>
        <p:origin x="1662" y="-1344"/>
      </p:cViewPr>
      <p:guideLst>
        <p:guide orient="horz" pos="3129"/>
        <p:guide pos="213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1.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2.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9.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30.xml"/><Relationship Id="rId30" Type="http://schemas.openxmlformats.org/officeDocument/2006/relationships/slide" Target="slides/slide35.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2.xml"/><Relationship Id="rId41" Type="http://schemas.openxmlformats.org/officeDocument/2006/relationships/slide" Target="slides/slide44.xml"/><Relationship Id="rId42" Type="http://schemas.openxmlformats.org/officeDocument/2006/relationships/slide" Target="slides/slide41.xml"/><Relationship Id="rId43" Type="http://schemas.openxmlformats.org/officeDocument/2006/relationships/slide" Target="slides/slide43.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27.xml"/><Relationship Id="rId54" Type="http://schemas.openxmlformats.org/officeDocument/2006/relationships/slide" Target="slides/slide28.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handoutMaster" Target="handoutMasters/handoutMaster1.xml"/><Relationship Id="rId66" Type="http://schemas.openxmlformats.org/officeDocument/2006/relationships/tags" Target="tags/tag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2034" name="Rectangle 2"/>
          <p:cNvSpPr>
            <a:spLocks noGrp="1" noChangeArrowheads="1"/>
          </p:cNvSpPr>
          <p:nvPr>
            <p:ph type="hdr" sz="quarter"/>
          </p:nvPr>
        </p:nvSpPr>
        <p:spPr bwMode="auto">
          <a:xfrm>
            <a:off x="0" y="0"/>
            <a:ext cx="2897188" cy="522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1137" tIns="50568" rIns="101137" bIns="50568" numCol="1" anchor="t" anchorCtr="0" compatLnSpc="1"/>
          <a:lstStyle>
            <a:lvl1pPr defTabSz="1011555" eaLnBrk="1" hangingPunct="1">
              <a:defRPr sz="1300" smtClean="0">
                <a:latin typeface="Times New Roman" panose="02020603050405020304" pitchFamily="18" charset="0"/>
              </a:defRPr>
            </a:lvl1pPr>
          </a:lstStyle>
          <a:p>
            <a:pPr>
              <a:defRPr/>
            </a:pPr>
            <a:endParaRPr lang="zh-CN" altLang="en-US"/>
          </a:p>
        </p:txBody>
      </p:sp>
      <p:sp>
        <p:nvSpPr>
          <p:cNvPr id="172035" name="Rectangle 3"/>
          <p:cNvSpPr>
            <a:spLocks noGrp="1" noChangeArrowheads="1"/>
          </p:cNvSpPr>
          <p:nvPr>
            <p:ph type="dt" sz="quarter" idx="1"/>
          </p:nvPr>
        </p:nvSpPr>
        <p:spPr bwMode="auto">
          <a:xfrm>
            <a:off x="3863975" y="0"/>
            <a:ext cx="2897188" cy="522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1137" tIns="50568" rIns="101137" bIns="50568" numCol="1" anchor="t" anchorCtr="0" compatLnSpc="1"/>
          <a:lstStyle>
            <a:lvl1pPr algn="r" defTabSz="1011555" eaLnBrk="1" hangingPunct="1">
              <a:defRPr sz="1300" smtClean="0">
                <a:latin typeface="Times New Roman" panose="02020603050405020304" pitchFamily="18" charset="0"/>
              </a:defRPr>
            </a:lvl1pPr>
          </a:lstStyle>
          <a:p>
            <a:pPr>
              <a:defRPr/>
            </a:pPr>
            <a:endParaRPr lang="en-US" altLang="zh-CN"/>
          </a:p>
        </p:txBody>
      </p:sp>
      <p:sp>
        <p:nvSpPr>
          <p:cNvPr id="172036" name="Rectangle 4"/>
          <p:cNvSpPr>
            <a:spLocks noGrp="1" noChangeArrowheads="1"/>
          </p:cNvSpPr>
          <p:nvPr>
            <p:ph type="ftr" sz="quarter" idx="2"/>
          </p:nvPr>
        </p:nvSpPr>
        <p:spPr bwMode="auto">
          <a:xfrm>
            <a:off x="0" y="9409113"/>
            <a:ext cx="2897188" cy="522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1137" tIns="50568" rIns="101137" bIns="50568" numCol="1" anchor="b" anchorCtr="0" compatLnSpc="1"/>
          <a:lstStyle>
            <a:lvl1pPr defTabSz="1011555" eaLnBrk="1" hangingPunct="1">
              <a:defRPr sz="1300" smtClean="0">
                <a:latin typeface="Times New Roman" panose="02020603050405020304" pitchFamily="18" charset="0"/>
              </a:defRPr>
            </a:lvl1pPr>
          </a:lstStyle>
          <a:p>
            <a:pPr>
              <a:defRPr/>
            </a:pPr>
            <a:endParaRPr lang="en-US" altLang="zh-CN"/>
          </a:p>
        </p:txBody>
      </p:sp>
      <p:sp>
        <p:nvSpPr>
          <p:cNvPr id="172037" name="Rectangle 5"/>
          <p:cNvSpPr>
            <a:spLocks noGrp="1" noChangeArrowheads="1"/>
          </p:cNvSpPr>
          <p:nvPr>
            <p:ph type="sldNum" sz="quarter" idx="3"/>
          </p:nvPr>
        </p:nvSpPr>
        <p:spPr bwMode="auto">
          <a:xfrm>
            <a:off x="3863975" y="9409113"/>
            <a:ext cx="2897188" cy="522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1137" tIns="50568" rIns="101137" bIns="50568" numCol="1" anchor="b" anchorCtr="0" compatLnSpc="1"/>
          <a:lstStyle>
            <a:lvl1pPr algn="r" defTabSz="1011555" eaLnBrk="1" hangingPunct="1">
              <a:defRPr sz="1300" smtClean="0">
                <a:latin typeface="Times New Roman" panose="02020603050405020304" pitchFamily="18" charset="0"/>
              </a:defRPr>
            </a:lvl1pPr>
          </a:lstStyle>
          <a:p>
            <a:pPr>
              <a:defRPr/>
            </a:pPr>
            <a:fld id="{F9BFF2AA-1B51-48D4-AF79-5A13FE5BDCE2}" type="slidenum">
              <a:rPr lang="zh-CN" altLang="en-US"/>
              <a:t>‹#›</a:t>
            </a:fld>
            <a:endParaRPr lang="en-US" altLang="zh-CN"/>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8" name="Rectangle 2"/>
          <p:cNvSpPr>
            <a:spLocks noGrp="1" noChangeArrowheads="1"/>
          </p:cNvSpPr>
          <p:nvPr>
            <p:ph type="hdr" sz="quarter"/>
          </p:nvPr>
        </p:nvSpPr>
        <p:spPr bwMode="auto">
          <a:xfrm>
            <a:off x="0" y="0"/>
            <a:ext cx="2930525" cy="49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352" tIns="47677" rIns="95352" bIns="47677" numCol="1" anchor="t" anchorCtr="0" compatLnSpc="1"/>
          <a:lstStyle>
            <a:lvl1pPr defTabSz="954405" eaLnBrk="1" hangingPunct="1">
              <a:defRPr sz="1200" smtClean="0"/>
            </a:lvl1pPr>
          </a:lstStyle>
          <a:p>
            <a:pPr>
              <a:defRPr/>
            </a:pPr>
            <a:endParaRPr lang="zh-CN" altLang="en-US"/>
          </a:p>
        </p:txBody>
      </p:sp>
      <p:sp>
        <p:nvSpPr>
          <p:cNvPr id="9219" name="Rectangle 3"/>
          <p:cNvSpPr>
            <a:spLocks noGrp="1" noChangeArrowheads="1"/>
          </p:cNvSpPr>
          <p:nvPr>
            <p:ph type="dt" idx="1"/>
          </p:nvPr>
        </p:nvSpPr>
        <p:spPr bwMode="auto">
          <a:xfrm>
            <a:off x="3827463" y="0"/>
            <a:ext cx="2932112" cy="49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352" tIns="47677" rIns="95352" bIns="47677" numCol="1" anchor="t" anchorCtr="0" compatLnSpc="1"/>
          <a:lstStyle>
            <a:lvl1pPr algn="r" defTabSz="954405" eaLnBrk="1" hangingPunct="1">
              <a:defRPr sz="1200" smtClean="0"/>
            </a:lvl1pPr>
          </a:lstStyle>
          <a:p>
            <a:pPr>
              <a:defRPr/>
            </a:pPr>
            <a:endParaRPr lang="en-US" altLang="zh-CN"/>
          </a:p>
        </p:txBody>
      </p:sp>
      <p:sp>
        <p:nvSpPr>
          <p:cNvPr id="3076" name="Rectangle 4"/>
          <p:cNvSpPr>
            <a:spLocks noGrp="1" noRot="1" noChangeAspect="1" noChangeArrowheads="1" noTextEdit="1"/>
          </p:cNvSpPr>
          <p:nvPr>
            <p:ph type="sldImg" idx="2"/>
          </p:nvPr>
        </p:nvSpPr>
        <p:spPr bwMode="auto">
          <a:xfrm>
            <a:off x="898525" y="744538"/>
            <a:ext cx="4967288" cy="3725862"/>
          </a:xfrm>
          <a:prstGeom prst="rect">
            <a:avLst/>
          </a:prstGeom>
          <a:noFill/>
          <a:ln w="9525">
            <a:solidFill>
              <a:srgbClr val="000000"/>
            </a:solidFill>
            <a:miter lim="800000"/>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9221" name="Rectangle 5"/>
          <p:cNvSpPr>
            <a:spLocks noGrp="1" noChangeArrowheads="1"/>
          </p:cNvSpPr>
          <p:nvPr>
            <p:ph type="body" sz="quarter" idx="3"/>
          </p:nvPr>
        </p:nvSpPr>
        <p:spPr bwMode="auto">
          <a:xfrm>
            <a:off x="674688" y="4719638"/>
            <a:ext cx="5411787" cy="4467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352" tIns="47677" rIns="95352" bIns="47677" numCol="1" anchor="t" anchorCtr="0" compatLnSpc="1"/>
          <a:lstStyle/>
          <a:p>
            <a:pPr lvl="0"/>
            <a:r>
              <a:rPr lang="en-US" altLang="zh-CN" noProof="0"/>
              <a:t>Click to edit Master text styles</a:t>
            </a:r>
          </a:p>
          <a:p>
            <a:pPr lvl="1"/>
            <a:r>
              <a:rPr lang="en-US" altLang="zh-CN" noProof="0"/>
              <a:t>Second level</a:t>
            </a:r>
          </a:p>
          <a:p>
            <a:pPr lvl="2"/>
            <a:r>
              <a:rPr lang="en-US" altLang="zh-CN" noProof="0"/>
              <a:t>Third level</a:t>
            </a:r>
          </a:p>
          <a:p>
            <a:pPr lvl="3"/>
            <a:r>
              <a:rPr lang="en-US" altLang="zh-CN" noProof="0"/>
              <a:t>Fourth level</a:t>
            </a:r>
          </a:p>
          <a:p>
            <a:pPr lvl="4"/>
            <a:r>
              <a:rPr lang="en-US" altLang="zh-CN" noProof="0"/>
              <a:t>Fifth level</a:t>
            </a:r>
          </a:p>
        </p:txBody>
      </p:sp>
      <p:sp>
        <p:nvSpPr>
          <p:cNvPr id="9222" name="Rectangle 6"/>
          <p:cNvSpPr>
            <a:spLocks noGrp="1" noChangeArrowheads="1"/>
          </p:cNvSpPr>
          <p:nvPr>
            <p:ph type="ftr" sz="quarter" idx="4"/>
          </p:nvPr>
        </p:nvSpPr>
        <p:spPr bwMode="auto">
          <a:xfrm>
            <a:off x="0" y="9431338"/>
            <a:ext cx="2930525" cy="49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352" tIns="47677" rIns="95352" bIns="47677" numCol="1" anchor="b" anchorCtr="0" compatLnSpc="1"/>
          <a:lstStyle>
            <a:lvl1pPr defTabSz="954405" eaLnBrk="1" hangingPunct="1">
              <a:defRPr sz="1200" smtClean="0"/>
            </a:lvl1pPr>
          </a:lstStyle>
          <a:p>
            <a:pPr>
              <a:defRPr/>
            </a:pPr>
            <a:endParaRPr lang="en-US" altLang="zh-CN"/>
          </a:p>
        </p:txBody>
      </p:sp>
      <p:sp>
        <p:nvSpPr>
          <p:cNvPr id="9223" name="Rectangle 7"/>
          <p:cNvSpPr>
            <a:spLocks noGrp="1" noChangeArrowheads="1"/>
          </p:cNvSpPr>
          <p:nvPr>
            <p:ph type="sldNum" sz="quarter" idx="5"/>
          </p:nvPr>
        </p:nvSpPr>
        <p:spPr bwMode="auto">
          <a:xfrm>
            <a:off x="3827463" y="9431338"/>
            <a:ext cx="2932112" cy="49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352" tIns="47677" rIns="95352" bIns="47677" numCol="1" anchor="b" anchorCtr="0" compatLnSpc="1"/>
          <a:lstStyle>
            <a:lvl1pPr algn="r" defTabSz="954405" eaLnBrk="1" hangingPunct="1">
              <a:defRPr sz="1200" smtClean="0"/>
            </a:lvl1pPr>
          </a:lstStyle>
          <a:p>
            <a:pPr>
              <a:defRPr/>
            </a:pPr>
            <a:fld id="{BF21029A-2C2D-4ABF-B6A0-347AF3B9548E}" type="slidenum">
              <a:rPr lang="zh-CN" altLang="en-US"/>
              <a:t>‹#›</a:t>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节：封面</a:t>
            </a:r>
          </a:p>
          <a:p>
            <a:r>
              <a:rPr lang="zh-CN" dirty="0"/>
              <a:t>依据：教案 T2、E1、E2 授课时间行（三班第 3 次课均为第 7 周）；大纲:148–152。</a:t>
            </a:r>
          </a:p>
          <a:p>
            <a:r>
              <a:rPr lang="zh-CN" dirty="0"/>
              <a:t>定义：这一讲讲软件跑在哪里，以及运行环境怎样约束部署与体系结构。</a:t>
            </a:r>
          </a:p>
          <a:p>
            <a:r>
              <a:rPr lang="zh-CN" dirty="0"/>
              <a:t>代价：环境没有对齐，后面的实验会耗在起不来上。</a:t>
            </a:r>
          </a:p>
          <a:p>
            <a:r>
              <a:rPr lang="zh-CN" dirty="0"/>
              <a:t>判定：开场先点明这是第 3 次课，讲运行环境；上接第 2 次课 E1 把 mall 跑起来，下接第 4 次课 E2 画它的物理视图。</a:t>
            </a:r>
          </a:p>
          <a:p>
            <a:r>
              <a:rPr lang="zh-CN" dirty="0"/>
              <a:t>权衡：三个班均在第 7 周，星期与节次不同，口头交代各班时间，课上只强调课次。</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节：目录</a:t>
            </a:r>
          </a:p>
          <a:p>
            <a:r>
              <a:rPr lang="zh-CN" dirty="0"/>
              <a:t>依据：教案 T2 教学过程设计七个环节；问答题与本章参考资料为骨架页。</a:t>
            </a:r>
          </a:p>
          <a:p>
            <a:r>
              <a:rPr lang="zh-CN" dirty="0"/>
              <a:t>定义：目录列出本次课各节名称，与各页备注“节：”行一致。</a:t>
            </a:r>
          </a:p>
          <a:p>
            <a:r>
              <a:rPr lang="zh-CN" dirty="0"/>
              <a:t>代价：目录与正文对不上，学生无法在课上定位。</a:t>
            </a:r>
          </a:p>
          <a:p>
            <a:r>
              <a:rPr lang="zh-CN" dirty="0"/>
              <a:t>判定：逐节核对目录名与正文各节。</a:t>
            </a:r>
          </a:p>
          <a:p>
            <a:r>
              <a:rPr lang="zh-CN" dirty="0"/>
              <a:t>权衡：各节时长见各节首页备注。</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节：本次课目标</a:t>
            </a:r>
          </a:p>
          <a:p>
            <a:r>
              <a:rPr lang="zh-CN" dirty="0"/>
              <a:t>依据：教案 T2“重点与难点”。</a:t>
            </a:r>
          </a:p>
          <a:p>
            <a:r>
              <a:rPr lang="zh-CN" dirty="0"/>
              <a:t>定义：重点与难点依据教案 T2“重点与难点”。</a:t>
            </a:r>
          </a:p>
          <a:p>
            <a:r>
              <a:rPr lang="zh-CN" dirty="0"/>
              <a:t>代价：重点不清，课堂会停在名词上；难点不清，实验会把环境问题当成代码缺陷。</a:t>
            </a:r>
          </a:p>
          <a:p>
            <a:r>
              <a:rPr lang="zh-CN" dirty="0"/>
              <a:t>判定：重点看能否说出各形态回应的需求与代价；难点看能否说明环境变化怎样改变物理视图。</a:t>
            </a:r>
          </a:p>
          <a:p>
            <a:r>
              <a:rPr lang="zh-CN" dirty="0"/>
              <a:t>权衡：时间不够时，先保住难点：环境是体系结构的约束来源。</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节：本次课目标</a:t>
            </a:r>
          </a:p>
          <a:p>
            <a:r>
              <a:rPr lang="zh-CN" dirty="0"/>
              <a:t>依据：教案 T2“教学目标与要求”四条。</a:t>
            </a:r>
          </a:p>
          <a:p>
            <a:r>
              <a:rPr lang="zh-CN" dirty="0"/>
              <a:t>定义：四条目标依据教案 T2“教学目标与要求”，对应了解、理解、掌握三个层次。</a:t>
            </a:r>
          </a:p>
          <a:p>
            <a:r>
              <a:rPr lang="zh-CN" dirty="0"/>
              <a:t>代价：少一条，后面讲部署与约束就没有同一套词。</a:t>
            </a:r>
          </a:p>
          <a:p>
            <a:r>
              <a:rPr lang="zh-CN" dirty="0"/>
              <a:t>判定：能否分别说出运行形态与云服务的三个层次、物理视图的约束来源、实验环境各组件的位置，以及怎样把既有系统跑起来。</a:t>
            </a:r>
          </a:p>
          <a:p>
            <a:r>
              <a:rPr lang="zh-CN" dirty="0"/>
              <a:t>权衡：时间不够时，先保住责任怎么分、哪些文件不能改。</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节：本次课目标</a:t>
            </a:r>
          </a:p>
          <a:p>
            <a:r>
              <a:rPr lang="zh-CN" dirty="0"/>
              <a:t>依据：学生操作手册.md:241–244（§6，@0a5eae2a）；大纲:159。</a:t>
            </a:r>
          </a:p>
          <a:p>
            <a:r>
              <a:rPr lang="zh-CN" dirty="0"/>
              <a:t>定义：衔接 E1：这些现象取自学生操作手册第 6 节原文，不是本班计数。</a:t>
            </a:r>
          </a:p>
          <a:p>
            <a:r>
              <a:rPr lang="zh-CN" dirty="0"/>
              <a:t>代价：把环境问题当作代码缺陷，会修改不应修改的文件。</a:t>
            </a:r>
          </a:p>
          <a:p>
            <a:r>
              <a:rPr lang="zh-CN" dirty="0"/>
              <a:t>判定：先按表中最短处理核对，再决定是否修改代码。模板命令运行选定模块及其依赖的测试；须根据各模块实际报告确认执行数量，不能以 0 测试作为成功核实。本页未声称已执行该命令。</a:t>
            </a:r>
          </a:p>
          <a:p>
            <a:r>
              <a:rPr lang="zh-CN" dirty="0"/>
              <a:t>权衡：本班其他现象由教师口头补充，不编造统计。</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本节 25 分钟</a:t>
            </a:r>
          </a:p>
          <a:p>
            <a:r>
              <a:rPr lang="zh-CN" dirty="0"/>
              <a:t>依据：教案 T2 知识点1、3，教学过程1；大纲:160、:248；2024 4-1 第 9 页：“物理视图主要考虑如何把软件映射到硬件上，解决拓扑结构、系统安装、通信等问题”；“进程视图关注系统的运行特征，可以视为一组独立执行的通信程序的逻辑网络”。</a:t>
            </a:r>
          </a:p>
          <a:p>
            <a:r>
              <a:rPr lang="zh-CN" dirty="0"/>
              <a:t>定义：开发环境产出构建结果，运行环境把这个结果跑起来；本节再依次讲资源由谁提供、应用怎样打包、部署单元怎样划分。</a:t>
            </a:r>
          </a:p>
          <a:p>
            <a:r>
              <a:rPr lang="zh-CN" dirty="0"/>
              <a:t>代价：混在一起，会把本机调试通过当成已经可以部署。</a:t>
            </a:r>
          </a:p>
          <a:p>
            <a:r>
              <a:rPr lang="zh-CN" dirty="0"/>
              <a:t>判定：问这个动作是在改代码，还是在跑已经构建的程序。</a:t>
            </a:r>
          </a:p>
          <a:p>
            <a:r>
              <a:rPr lang="zh-CN" dirty="0"/>
              <a:t>权衡：课程机器可以兼做两头，角色仍然要分开说。</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依据：教师确认（3）；https://learn.microsoft.com/en-us/azure/architecture/antipatterns/noisy-neighbor/noisy-neighbor "Because tenants use the same shared resources, the activity of one tenant can negatively affect another tenant's use of the system."；https://docs.docker.com/get-started/docker-concepts/the-basics/what-is-a-container/ "a VM is an entire operating system with its own kernel, hardware drivers, programs, and applications."；https://www.docker.com/resources/what-container/ "VMs can also be slow to boot."；产品名与"可运行不同操作系统"：2024 4-1 第 21、23 页。</a:t>
            </a:r>
          </a:p>
          <a:p>
            <a:r>
              <a:rPr lang="zh-CN" dirty="0"/>
              <a:t>定义：虚拟化用软件把一台物理机划成多台逻辑机，各自运行自己的操作系统。</a:t>
            </a:r>
          </a:p>
          <a:p>
            <a:r>
              <a:rPr lang="zh-CN" dirty="0"/>
              <a:t>代价：分不清逻辑机和物理机，会把资源争用当成应用自己的缺陷。</a:t>
            </a:r>
          </a:p>
          <a:p>
            <a:r>
              <a:rPr lang="zh-CN" dirty="0"/>
              <a:t>判定：看是不是多个操作系统在同一台物理机上互相隔离地运行。</a:t>
            </a:r>
          </a:p>
          <a:p>
            <a:r>
              <a:rPr lang="zh-CN" dirty="0"/>
              <a:t>权衡：隔离更强，镜像和调度也更重。产品名 VMware、Hyper-V、VirtualBox 取自 2024 第 4-1 讲第 23 页。</a:t>
            </a:r>
          </a:p>
          <a:p>
            <a:r>
              <a:rPr lang="zh-CN" altLang="en-US"/>
              <a:t>页上图按 2024 第 4-1 讲第 22 页重画：物理服务器经虚拟化划成虚拟机 1（Windows）、虚拟机 2（Linux）……虚拟机 N，分物理与逻辑两区。</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依据：NIST SP 800-145 §2（IaaS、PaaS、SaaS 三种服务模式）；https://learn.microsoft.com/en-us/azure/security/fundamentals/shared-responsibility "For all cloud deployment types, you own your data and identities."。</a:t>
            </a:r>
          </a:p>
          <a:p>
            <a:r>
              <a:rPr lang="zh-CN" dirty="0"/>
              <a:t>定义：三个层次的差别，是这一层以下的事交给谁管。划分依据是 NIST SP 800-145 的三种服务模式。</a:t>
            </a:r>
          </a:p>
          <a:p>
            <a:r>
              <a:rPr lang="zh-CN" dirty="0"/>
              <a:t>代价：层次说反了，会去管已经交给服务商的机器，或漏管仍归自己的应用。</a:t>
            </a:r>
          </a:p>
          <a:p>
            <a:r>
              <a:rPr lang="zh-CN" dirty="0"/>
              <a:t>判定：问操作系统、应用、配置这三样，哪几样还在自己手里。</a:t>
            </a:r>
          </a:p>
          <a:p>
            <a:r>
              <a:rPr lang="zh-CN" dirty="0"/>
              <a:t>权衡：交出去的越多，本机安装越少，配额、账单和故障界面越多。</a:t>
            </a:r>
          </a:p>
          <a:p>
            <a:r>
              <a:rPr lang="zh-CN" dirty="0"/>
              <a:t>责任分担图的依据：NIST SP 800-145：IaaS 使用方控制操作系统、存储与所部署的应用；PaaS 使用方控制所部署的应用及其配置；SaaS 使用方至多修改自己的配置。</a:t>
            </a:r>
          </a:p>
          <a:p>
            <a:r>
              <a:rPr lang="zh-CN" altLang="en-US"/>
              <a:t>页上图按 2024 第 4-1 讲第 24 页重画：IT Foundation 之上依次为 IaaS、PaaS、SaaS，层间箭头表示下层支撑上层，右侧为原图的基础资源云、开发云、应用云；原图各层里的产品例子（搜索、邮件、Servers 等）不画，层内放本页原句（教师 10-20 定）。</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dirty="0"/>
              <a:t>节：运行环境</a:t>
            </a:r>
          </a:p>
          <a:p>
            <a:r>
              <a:rPr lang="zh-CN" dirty="0"/>
              <a:t>依据：NIST SP 800-145 §2；“账号、权限与数据使用”一行：https://learn.microsoft.com/en-us/azure/security/fundamentals/shared-responsibility "Regardless of the type of deployment, you always retain the following responsibilities: Data … Endpoints … Accounts … Access management"。</a:t>
            </a:r>
          </a:p>
          <a:p>
            <a:r>
              <a:rPr lang="zh-CN" dirty="0"/>
              <a:t>本页除“账号、权限与数据使用”一行外依据 NIST SP 800-145 的服务模式与控制边界作教学比较；不代替具体云服务合同。“系统”指操作系统。基础设施即服务由使用方管理系统、平台和应用；平台即服务由使用方部署应用，提供方管理平台；软件即服务由提供方运行应用，使用方只能在允许范围内配置。托管数据不免除使用方对账号、权限和数据使用的责任。来源见前页和本页首行。</a:t>
            </a:r>
          </a:p>
          <a:p>
            <a:r>
              <a:rPr lang="zh-CN" dirty="0"/>
              <a:t>定义：云服务三种模式按“哪些职责交给提供方”区分：基础设施即服务由使用方管理系统、平台和应用；平台即服务由提供方管理平台，使用方部署应用；软件即服务由提供方运行应用，使用方只能在允许范围内配置。</a:t>
            </a:r>
          </a:p>
          <a:p>
            <a:r>
              <a:rPr lang="zh-CN" dirty="0"/>
              <a:t>代价：只记名称不看责任边界，会误以为托管后账号、权限与数据使用也交给了提供方。</a:t>
            </a:r>
          </a:p>
          <a:p>
            <a:r>
              <a:rPr lang="zh-CN" dirty="0"/>
              <a:t>判定：逐行看表中职责落在哪一方；账号、权限与数据使用在三种模式下都由使用方负责。</a:t>
            </a:r>
          </a:p>
          <a:p>
            <a:r>
              <a:rPr lang="zh-CN" dirty="0"/>
              <a:t>权衡：本页依据 NIST SP 800-145 作教学比较，不代替具体云服务合同。</a:t>
            </a:r>
          </a:p>
        </p:txBody>
      </p:sp>
      <p:sp>
        <p:nvSpPr>
          <p:cNvPr id="4" name="灯片编号占位符 3"/>
          <p:cNvSpPr>
            <a:spLocks noGrp="1"/>
          </p:cNvSpPr>
          <p:nvPr>
            <p:ph type="sldNum" sz="quarter" idx="5"/>
          </p:nvPr>
        </p:nvSpPr>
        <p:spPr/>
        <p:txBody>
          <a:bodyPr/>
          <a:lstStyle/>
          <a:p>
            <a:pPr>
              <a:defRPr/>
            </a:pPr>
            <a:fld id="{BF21029A-2C2D-4ABF-B6A0-347AF3B9548E}" type="slidenum">
              <a:rPr lang="zh-CN" altLang="en-US" smtClean="0"/>
              <a:t>9</a:t>
            </a:fld>
            <a:endParaRPr lang="en-US" altLang="zh-CN"/>
          </a:p>
        </p:txBody>
      </p:sp>
    </p:spTree>
    <p:extLst>
      <p:ext uri="{BB962C8B-B14F-4D97-AF65-F5344CB8AC3E}">
        <p14:creationId xmlns:p14="http://schemas.microsoft.com/office/powerpoint/2010/main" val="22912593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依据：2024 4-1 第 24 页备注；NIST SP 800-145 "Capabilities are available over the network"；https://docs.aws.amazon.com/lambda/latest/dg/gettingstarted-limits.html "Service quotas exist in all AWS services and consist of hard limits, which you cannot change, and soft limits, which you can request increases for."；https://learn.microsoft.com/en-us/dotnet/architecture/cloud-native/definition "communicating directly with these APIs will tightly couple your code to that specific backing service"；NIST SP 800-145 服务模式。</a:t>
            </a:r>
          </a:p>
          <a:p>
            <a:r>
              <a:rPr lang="zh-CN" dirty="0"/>
              <a:t>定义：云服务把基础设施、平台或软件按用量租给使用方。</a:t>
            </a:r>
          </a:p>
          <a:p>
            <a:r>
              <a:rPr lang="zh-CN" dirty="0"/>
              <a:t>代价：只说“减少了工作”，会漏掉配额、账单和故障时找谁。</a:t>
            </a:r>
          </a:p>
          <a:p>
            <a:r>
              <a:rPr lang="zh-CN" dirty="0"/>
              <a:t>判定：回答要各举少了的事和多了的事，并对得上这一层交给别人的设施。</a:t>
            </a:r>
          </a:p>
          <a:p>
            <a:r>
              <a:rPr lang="zh-CN" dirty="0"/>
              <a:t>权衡：安装少了；配额、账单和故障责任判断多了。</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altLang="en-US"/>
              <a:t>节：运行环境</a:t>
            </a:r>
          </a:p>
          <a:p>
            <a:r>
              <a:rPr lang="zh-CN" altLang="en-US"/>
              <a:t>依据：2024 第 4-1 讲第 29 页（单体架构），图按原结构重画；单体核心原为 RESTAURANT MANAGEMENT、ORDER MANAGEMENT、DELIVERY MANAGEMENT、PAYMENTS、NOTIFICATION、BILLING，译为中文。</a:t>
            </a:r>
          </a:p>
          <a:p>
            <a:r>
              <a:rPr lang="zh-CN" altLang="en-US"/>
              <a:t>定义：单体把订单、配送、支付等模块放在一个核心里，通过适配器连接外部。</a:t>
            </a:r>
          </a:p>
          <a:p>
            <a:r>
              <a:rPr lang="zh-CN" altLang="en-US"/>
              <a:t>代价：只看名字不看结构，会把单体当成“没有设计”。</a:t>
            </a:r>
          </a:p>
          <a:p>
            <a:r>
              <a:rPr lang="zh-CN" altLang="en-US"/>
              <a:t>判定：看业务模块是否在同一个部署单元里。</a:t>
            </a:r>
          </a:p>
          <a:p>
            <a:r>
              <a:rPr lang="zh-CN" altLang="en-US"/>
              <a:t>权衡：下一页先看 SOA 的结构，再按需求、限制、优点、不足对照两者；本页只给单体的结构。</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4EC99-923F-20A8-BAA7-C65092B02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F81560-E2C9-871D-3926-AAF6E145C56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31EE14D-BC01-88B2-56DD-3B9FB6EF8E5C}"/>
              </a:ext>
            </a:extLst>
          </p:cNvPr>
          <p:cNvSpPr>
            <a:spLocks noGrp="1"/>
          </p:cNvSpPr>
          <p:nvPr>
            <p:ph type="body" sz="quarter" idx="3"/>
          </p:nvPr>
        </p:nvSpPr>
        <p:spPr/>
        <p:txBody>
          <a:bodyPr/>
          <a:lstStyle/>
          <a:p>
            <a:r>
              <a:rPr lang="zh-CN" altLang="en-US"/>
              <a:t>节：运行环境</a:t>
            </a:r>
          </a:p>
          <a:p>
            <a:r>
              <a:rPr lang="zh-CN" altLang="en-US"/>
              <a:t>依据：2024 第 4-1 讲第 30 页（SOA 面向服务的架构），图按原结构重画。</a:t>
            </a:r>
          </a:p>
          <a:p>
            <a:r>
              <a:rPr lang="zh-CN" altLang="en-US"/>
              <a:t>定义：SOA 让各类应用经企业服务总线（ESB）接入，总线提供服务模型、安全、传输、消息等公共能力。</a:t>
            </a:r>
          </a:p>
          <a:p>
            <a:r>
              <a:rPr lang="zh-CN" altLang="en-US"/>
              <a:t>代价：只看名字不看结构，会把 SOA 的总线当成可有可无的中间件。</a:t>
            </a:r>
          </a:p>
          <a:p>
            <a:r>
              <a:rPr lang="zh-CN" altLang="en-US"/>
              <a:t>判定：看系统之间是直接调用，还是经过总线约定接口。</a:t>
            </a:r>
          </a:p>
          <a:p>
            <a:r>
              <a:rPr lang="zh-CN" altLang="en-US"/>
              <a:t>权衡：下一页按需求、限制、优点、不足对照单体与 SOA；本页只给结构，不比较优劣。</a:t>
            </a:r>
          </a:p>
        </p:txBody>
      </p:sp>
      <p:sp>
        <p:nvSpPr>
          <p:cNvPr id="4" name="Slide Number Placeholder 3">
            <a:extLst>
              <a:ext uri="{FF2B5EF4-FFF2-40B4-BE49-F238E27FC236}">
                <a16:creationId xmlns:a16="http://schemas.microsoft.com/office/drawing/2014/main" id="{B11136AC-A840-9B51-5C9C-04BF3864B58A}"/>
              </a:ext>
            </a:extLst>
          </p:cNvPr>
          <p:cNvSpPr>
            <a:spLocks noGrp="1"/>
          </p:cNvSpPr>
          <p:nvPr>
            <p:ph type="sldNum" sz="quarter" idx="5"/>
          </p:nvPr>
        </p:nvSpPr>
        <p:spPr/>
      </p:sp>
    </p:spTree>
    <p:extLst>
      <p:ext uri="{BB962C8B-B14F-4D97-AF65-F5344CB8AC3E}">
        <p14:creationId xmlns:p14="http://schemas.microsoft.com/office/powerpoint/2010/main" val="8562153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依据：https://learn.microsoft.com/en-us/dotnet/architecture/cloud-native/definition "the monolith is composed of a layered architecture, which executes in a single process."；https://learn.microsoft.com/en-us/dotnet/architecture/modern-web-apps-azure/common-web-application-architectures "This approach is the simplest deployment model and serves many internal and smaller public applications very well."；https://aws.amazon.com/what-is/service-oriented-architecture/ "The service contract defines the nature of the service and its associated terms and conditions"；https://learn.microsoft.com/en-us/azure/architecture/guide/architecture-styles/microservices "if you find a bug in one part of the application, it can block the entire release process."。</a:t>
            </a:r>
          </a:p>
          <a:p>
            <a:r>
              <a:rPr lang="zh-CN" dirty="0"/>
              <a:t>定义：单体是一个部署单元；SOA 按服务划分，服务之间约定接口。</a:t>
            </a:r>
          </a:p>
          <a:p>
            <a:r>
              <a:rPr lang="zh-CN" dirty="0"/>
              <a:t>代价：把名字当成先进，会在还没有边界时先拆进程。</a:t>
            </a:r>
          </a:p>
          <a:p>
            <a:r>
              <a:rPr lang="zh-CN" dirty="0"/>
              <a:t>判定：问一次发布动的是一个进程，还是多个服务；问当前规模是否真的需要独立发布。</a:t>
            </a:r>
          </a:p>
          <a:p>
            <a:r>
              <a:rPr lang="zh-CN" dirty="0"/>
              <a:t>权衡：单体简单但整体发布；SOA 复用业务能力，但调用跨网络。</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依据：https://learn.microsoft.com/en-us/azure/architecture/guide/architecture-styles/microservices "Services can be scaled independently."、"Data isolation"、"Fault isolation"、"Make sure that you consider challenges like service discovery, data consistency, transaction management, and interservice communication"；大纲:160。</a:t>
            </a:r>
          </a:p>
          <a:p>
            <a:r>
              <a:rPr lang="zh-CN" dirty="0"/>
              <a:t>定义：微服务把服务各自部署，通常放入容器，由编排系统调度与迁移。</a:t>
            </a:r>
          </a:p>
          <a:p>
            <a:r>
              <a:rPr lang="zh-CN" dirty="0"/>
              <a:t>代价：把微服务当成必经路线，会在需求不足时只付出代价、得不到收益。</a:t>
            </a:r>
          </a:p>
          <a:p>
            <a:r>
              <a:rPr lang="zh-CN" dirty="0"/>
              <a:t>判定：问有没有独立伸缩、独立发布和团队并行的真实需求。</a:t>
            </a:r>
          </a:p>
          <a:p>
            <a:r>
              <a:rPr lang="zh-CN" dirty="0"/>
              <a:t>权衡：单元越小，独立发布越容易，网络和失败点越多。</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依据：https://docs.docker.com/get-started/docker-concepts/the-basics/what-is-a-container/ "Each container has everything it needs to function with no reliance on any pre-installed dependencies"；https://learn.microsoft.com/en-us/dotnet/architecture/cloud-native/definition "The code, its dependencies, and runtime are packaged into a binary called a container image."；https://learn.microsoft.com/en-us/virtualization/windowscontainers/manage-containers/hyperv-container "When running in this mode, containers share the same kernel with the host as well as each other."；资料/02-实验方案.md E1 预习题3。</a:t>
            </a:r>
          </a:p>
          <a:p>
            <a:r>
              <a:rPr lang="zh-CN" dirty="0"/>
              <a:t>定义：容器化是把应用和依赖打成一份镜像，换机器仍按同一方式启动。</a:t>
            </a:r>
          </a:p>
          <a:p>
            <a:r>
              <a:rPr lang="zh-CN" dirty="0"/>
              <a:t>代价：只在本机装依赖，换环境就会缺库、缺配置。</a:t>
            </a:r>
          </a:p>
          <a:p>
            <a:r>
              <a:rPr lang="zh-CN" dirty="0"/>
              <a:t>判定：问换一台机器之后，启动命令和依赖是否还要重装一遍。</a:t>
            </a:r>
          </a:p>
          <a:p>
            <a:r>
              <a:rPr lang="zh-CN" dirty="0"/>
              <a:t>权衡：比虚拟机轻；容器共享宿主内核，虚拟机提供硬件级隔离。</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37898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依据：https://learn.microsoft.com/en-us/azure/architecture/patterns/sidecar "Applications and services often require related functionality, like monitoring, logging, configuration, and networking services."、"Each application instance gets its own sidecar instance that shares its life cycle."、"Sidecars add overhead, especially latency"；2024 4-1 第 32 页。</a:t>
            </a:r>
          </a:p>
          <a:p>
            <a:r>
              <a:rPr lang="zh-CN" dirty="0"/>
              <a:t>定义：边车与主程序成对部署，处理日志、网络代理、证书、配置同步、监控等通用工作。代价：把边车当成业务服务，会混淆业务代码与代理的职责。判定：区分业务规则与每个服务重复需要的通用工作。权衡：横切功能与业务代码分离，但每增加一个边车就增加一个需要部署的进程。名称来自2024第4-1讲第32页。</a:t>
            </a:r>
          </a:p>
          <a:p>
            <a:r>
              <a:rPr lang="zh-CN" altLang="en-US"/>
              <a:t>页上图按 2024 第 4-1 讲第 32 页重画：六组 Sidecar Proxy 与 Microservice 成对，代理之间以 HTTP、gRPC 相连，外框 Cloud。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依据：https://docs.aws.amazon.com/lambda/latest/dg/welcome.html "Lambda manages execution environments, scaling, routing, and fault tolerance."；https://docs.aws.amazon.com/lambda/latest/dg/lambda-runtime-environment.html "it adds latency to your overall invocation duration."；https://docs.aws.amazon.com/lambda/latest/dg/with-s3-tutorial.html "a Lambda Event Function that resizes images added to an Amazon S3 bucket."；https://aws.amazon.com/lambda/faqs/ "reporting real-time metrics through Amazon CloudWatch"；NIST SP 800-145 没有定义这一层。</a:t>
            </a:r>
          </a:p>
          <a:p>
            <a:r>
              <a:rPr lang="zh-CN" dirty="0"/>
              <a:t>定义：无服务由开发者编写函数，云平台在事件触发时调度并伸缩执行实例，团队不长期管理服务器。代价：主机运维由平台承担，配置、配额与调用结果仍须监控。判定：执行实例是否由平台调度与伸缩，而非团队自行管理服务器。权衡：减少主机管理，但仍须关注配额、冷启动和调用结果。名称来自2024第4-1讲第33页；NIST SP 800-145没有定义这一层。</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依据：大纲:160；教师确认（7）；https://learn.microsoft.com/en-us/azure/architecture/guide/architecture-styles/microservices "In many traditional applications, if you find a bug in one part of the application, it can block the entire release process."、"Services can be scaled independently."；https://learn.microsoft.com/en-us/azure/architecture/guide/architecture-styles/ "Decomposing an application into separate services might increase communication overhead."；https://aws.amazon.com/what-is/service-oriented-architecture/ "Developers use SOA to reuse services in different systems"；https://learn.microsoft.com/en-us/azure/architecture/patterns/sidecar "Sidecars add overhead, especially latency"；Lambda 配额页 "Service quotas exist in all AWS services"；形态名称：2024 4-1 第 28–33 页。</a:t>
            </a:r>
          </a:p>
          <a:p>
            <a:r>
              <a:rPr lang="zh-CN" dirty="0"/>
              <a:t>定义：五种形态按它回应的需求与带来的代价来理解，并与软件规模的发展和质量特性相联系。</a:t>
            </a:r>
          </a:p>
          <a:p>
            <a:r>
              <a:rPr lang="zh-CN" dirty="0"/>
              <a:t>代价：把名字当成先进，会在还没有边界时先拆进程。</a:t>
            </a:r>
          </a:p>
          <a:p>
            <a:r>
              <a:rPr lang="zh-CN" dirty="0"/>
              <a:t>判定：问一次发布动的是一个进程，还是多个可以分开部署的服务；问换形态回应的是哪条需求。</a:t>
            </a:r>
          </a:p>
          <a:p>
            <a:r>
              <a:rPr lang="zh-CN" dirty="0"/>
              <a:t>权衡：单元越小，独立发布越容易，网络和失败点越多。名称来自 2024 第 4-1 讲第 28–33 页。</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a:t>
            </a:r>
          </a:p>
          <a:p>
            <a:r>
              <a:rPr lang="zh-CN" dirty="0"/>
              <a:t>依据：大纲:160 "奶茶连锁——由单店到连锁并设中央厨房，形态由经营规模与出餐速度决定，并非越多越好"。</a:t>
            </a:r>
          </a:p>
          <a:p>
            <a:r>
              <a:rPr lang="zh-CN" dirty="0"/>
              <a:t>难点：运行环境作为体系结构的约束来源。</a:t>
            </a:r>
          </a:p>
          <a:p>
            <a:r>
              <a:rPr lang="zh-CN" dirty="0"/>
              <a:t>这是教学假设情境，不是经营实测。单店可就地完成备料与制作；增加门店后可继续各店制作，也可集中备料。中央厨房回应批量备料与配方一致性，代价是配送依赖与共同故障点。不能仅凭门店数量判断哪种安排更好。下一页回到 mall 与 mall-swarm：节点、网络和公共服务随需求与约束变化。</a:t>
            </a:r>
          </a:p>
          <a:p>
            <a:r>
              <a:rPr lang="zh-CN" dirty="0"/>
              <a:t>定义：奶茶连锁是教学假设情境：单店就地备料与制作；多店各自制作或集中备料；中央厨房对应拆出共用服务。</a:t>
            </a:r>
          </a:p>
          <a:p>
            <a:r>
              <a:rPr lang="zh-CN" dirty="0"/>
              <a:t>代价：中央厨房带来配送依赖与共同故障点。</a:t>
            </a:r>
          </a:p>
          <a:p>
            <a:r>
              <a:rPr lang="zh-CN" dirty="0"/>
              <a:t>判定：看备料规模、配送能力与出餐要求；不能仅凭门店数量判断哪种安排更好。</a:t>
            </a:r>
          </a:p>
          <a:p>
            <a:r>
              <a:rPr lang="zh-CN" dirty="0"/>
              <a:t>权衡：中央厨房换来批量备料与配方一致性；形态并非越多越好。</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节：运行环境与体系结构</a:t>
            </a:r>
          </a:p>
          <a:p>
            <a:r>
              <a:rPr lang="zh-CN" dirty="0"/>
              <a:t>本节 15 分钟</a:t>
            </a:r>
          </a:p>
          <a:p>
            <a:r>
              <a:rPr lang="zh-CN" dirty="0"/>
              <a:t>依据：2024 4-1 第 8、9 页；教案 T2 知识点2、互动设计1；Le 等 2015（DOI 10.1109/MSR.2015.29）。</a:t>
            </a:r>
          </a:p>
          <a:p>
            <a:r>
              <a:rPr lang="zh-CN" dirty="0"/>
              <a:t>定义：运行环境是物理视图的约束来源，物理视图应依据机器、网络与进程边界绘制。代价：环境变化后仍沿用旧物理视图，可能混淆跨机器调用与本机调用。判定：区分图中表达的职责、模块、进程、节点与网络。权衡：Le等2015（MSR 2015，pp.235–245）研究开源软件系统中的体系结构变更，全文只在第七节末提到一次 4+1 视图模型，没有比较各视图的变化；该问题留作讨论。</a:t>
            </a:r>
          </a:p>
          <a:p>
            <a:r>
              <a:rPr lang="zh-CN" altLang="en-US"/>
              <a:t>页上图按 2024 第 4-1 讲第 7 页重画：逻辑视图→开发视图、逻辑视图→进程视图、开发视图→物理视图、进程视图→物理视图，中间为场景；四角标注取自原图。物理视图标红，对应本页标题。</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本节 20 分钟</a:t>
            </a:r>
          </a:p>
          <a:p>
            <a:r>
              <a:rPr lang="zh-CN" dirty="0"/>
              <a:t>依据：基线 baseline-dcaa93b3 根 pom.xml、mall-portal/pom.xml、mall-portal/src/main/resources/application.yml；SDC/environment/compose.yml（@c247ba6a）。</a:t>
            </a:r>
          </a:p>
          <a:p>
            <a:r>
              <a:rPr lang="zh-CN" dirty="0"/>
              <a:t>实例：mall 的应用 jar、Java 运行环境与中间件分别配置；admin、portal、search 是不同应用，不能把仓库理解为单一进程。定义：构建产物与执行环境共同构成运行条件。代价：混淆构建和部署会漏查服务依赖及连接配置。判定：对照基线 pom.xml、mall-portal/pom.xml、mall-portal/src/main/resources/application.yml 与课堂 Compose 的组件和端口；实际地址以本机部署及日志为准。权衡：先用配置表达部署差异，有源码和运行证据后才判断是否修改业务代码。本页只解释已导出基线与课堂方案，不声称本轮完成应用运行。</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991561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节：运行环境与体系结构</a:t>
            </a:r>
          </a:p>
          <a:p>
            <a:r>
              <a:rPr lang="zh-CN" dirty="0"/>
              <a:t>依据：基线 `document/resource/re_mall_system_arch.jpg`（baseline-dcaa93b3）；LICENSE（Apache-2.0）。</a:t>
            </a:r>
          </a:p>
          <a:p>
            <a:r>
              <a:rPr lang="zh-CN" dirty="0"/>
              <a:t>定义：这是 mall 官方系统架构图的整图，先用来定位三个应用（管理、商城、商品搜索）和消息、数据库。</a:t>
            </a:r>
          </a:p>
          <a:p>
            <a:r>
              <a:rPr lang="zh-CN" dirty="0"/>
              <a:t>代价：只看缩略，会把图上的前端和其他存储漏掉。</a:t>
            </a:r>
          </a:p>
          <a:p>
            <a:r>
              <a:rPr lang="zh-CN" dirty="0"/>
              <a:t>判定：能在整图上指出应用、消息队列和数据库的大致位置。</a:t>
            </a:r>
          </a:p>
          <a:p>
            <a:r>
              <a:rPr lang="zh-CN" dirty="0"/>
              <a:t>权衡：整图投影时字小，细节留到对照页。出处是 macrozheng/mall 的系统架构图。</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节：运行环境与体系结构</a:t>
            </a:r>
          </a:p>
          <a:p>
            <a:r>
              <a:rPr lang="zh-CN" dirty="0"/>
              <a:t>依据：mall-swarm 04c442fe `mall_micro_service_arch.jpg`；LICENSE（Apache-2.0）。</a:t>
            </a:r>
          </a:p>
          <a:p>
            <a:r>
              <a:rPr lang="zh-CN" dirty="0"/>
              <a:t>定义：这是 mall-swarm 官方微服务架构图的整图，先用来定位，小字留到局部再读。</a:t>
            </a:r>
          </a:p>
          <a:p>
            <a:r>
              <a:rPr lang="zh-CN" dirty="0"/>
              <a:t>代价：只看缩略，会把注册中心和数据存储的位置记反。</a:t>
            </a:r>
          </a:p>
          <a:p>
            <a:r>
              <a:rPr lang="zh-CN" dirty="0"/>
              <a:t>判定：能说出下一页要放大的是注册与配置、网关、数据存储。</a:t>
            </a:r>
          </a:p>
          <a:p>
            <a:r>
              <a:rPr lang="zh-CN" dirty="0"/>
              <a:t>权衡：整图投影时字小，所以只作定位。出处是 macrozheng/mall-swarm 该提交的架构图。</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节：运行环境与体系结构</a:t>
            </a:r>
          </a:p>
          <a:p>
            <a:r>
              <a:rPr lang="zh-CN" dirty="0"/>
              <a:t>依据：mall-swarm 04c442fe `mall_micro_service_arch.jpg`（局部）。</a:t>
            </a:r>
          </a:p>
          <a:p>
            <a:r>
              <a:rPr lang="zh-CN" dirty="0"/>
              <a:t>定义：这三块摘自 mall-swarm 官方架构图，用来看注册、配置、网关和数据存储。</a:t>
            </a:r>
          </a:p>
          <a:p>
            <a:r>
              <a:rPr lang="zh-CN" dirty="0"/>
              <a:t>代价：把局部当成整图，会漏掉图上其余服务。</a:t>
            </a:r>
          </a:p>
          <a:p>
            <a:r>
              <a:rPr lang="zh-CN" dirty="0"/>
              <a:t>判定：能指出注册与配置、网关，以及数据存储里的数据库。</a:t>
            </a:r>
          </a:p>
          <a:p>
            <a:r>
              <a:rPr lang="zh-CN" dirty="0"/>
              <a:t>权衡：标注写在图下，不盖住原图文字。两套代码是同一业务域的两种实现形态，不是同一版本迁移前后。</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节：运行环境与体系结构</a:t>
            </a:r>
          </a:p>
          <a:p>
            <a:r>
              <a:rPr lang="zh-CN" dirty="0"/>
              <a:t>依据：mall-swarm 04c442fe `README.md`、mall-gateway/pom.xml:34、38、mall-auth/pom.xml:38、42；https://learn.microsoft.com/en-us/azure/architecture/guide/architecture-styles/microservices "The API gateway serves as the entry point for clients."；https://nacos.io/en/docs/latest/manual/user/sdk/runtime-guide/ "If the server is unavailable, the client may temporarily use local cache or a failover view."；教案 T2 知识点6。</a:t>
            </a:r>
          </a:p>
          <a:p>
            <a:r>
              <a:rPr lang="zh-CN" dirty="0"/>
              <a:t>定义：左边是 mall 的三个应用，右边是 mall-swarm 拆出的网关、认证与注册配置中心。</a:t>
            </a:r>
          </a:p>
          <a:p>
            <a:r>
              <a:rPr lang="zh-CN" dirty="0"/>
              <a:t>代价：讲成同一次迁移的前后，会让人以为必须先拆完才能做实验。</a:t>
            </a:r>
          </a:p>
          <a:p>
            <a:r>
              <a:rPr lang="zh-CN" dirty="0"/>
              <a:t>判定：对照四件事：网关、认证、注册与配置中心、服务拆分，各回答它解决什么问题、代价是什么。</a:t>
            </a:r>
          </a:p>
          <a:p>
            <a:r>
              <a:rPr lang="zh-CN" dirty="0"/>
              <a:t>权衡：两套代码是同一业务域的两种实现形态，不是同一版本迁移前后。mall-gateway 与 mall-auth 的 pom 依赖 nacos-discovery 与 nacos-config（提交 04c442fe：mall-gateway/pom.xml:34、38，mall-auth/pom.xml:38、42）。</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节：运行环境与体系结构</a:t>
            </a:r>
          </a:p>
          <a:p>
            <a:r>
              <a:rPr lang="zh-CN" dirty="0"/>
              <a:t>依据：mall-swarm 04c442fe 根 pom.xml:13–21（9 个模块：common、mbg、demo、admin、search、portal、monitor、gateway、auth）；筛选报告第 3、6 节（mall 7 个模块，命中重度中间件，mall 不触发该陷阱）；教案 T2 知识点6；大纲:161。</a:t>
            </a:r>
          </a:p>
          <a:p>
            <a:r>
              <a:rPr lang="zh-CN" dirty="0"/>
              <a:t>定义：技术形态由需求决定：组件多不等于设计好，组件少也不等于设计差。</a:t>
            </a:r>
          </a:p>
          <a:p>
            <a:r>
              <a:rPr lang="zh-CN" dirty="0"/>
              <a:t>代价：把拆分当成设计水平的标志，会在需求不足时只付出代价。</a:t>
            </a:r>
          </a:p>
          <a:p>
            <a:r>
              <a:rPr lang="zh-CN" dirty="0"/>
              <a:t>判定：对每一处拆分，能否指出它回应的需求；说不出，就只是增加了组件。</a:t>
            </a:r>
          </a:p>
          <a:p>
            <a:r>
              <a:rPr lang="zh-CN" dirty="0"/>
              <a:t>权衡：mall 在当前规模下不拆分服务是合理选择；规模与需求变了，再按取舍表重新判断。课后读物：读物/mall产品拆解.html 2.3，同一请求在两种形态里权限检查放在哪里。</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节：运行环境与体系结构</a:t>
            </a:r>
          </a:p>
          <a:p>
            <a:r>
              <a:rPr lang="zh-CN" dirty="0"/>
              <a:t>依据：大纲:161；教案 T2 互动设计1；大纲“运行环境与体系结构”：运行环境是物理视图的约束来源。</a:t>
            </a:r>
          </a:p>
          <a:p>
            <a:r>
              <a:rPr lang="zh-CN" dirty="0"/>
              <a:t>定义：讨论部署形态一变，四种视图里哪一张要重画得最多。</a:t>
            </a:r>
          </a:p>
          <a:p>
            <a:r>
              <a:rPr lang="zh-CN" dirty="0"/>
              <a:t>代价：答成“都变了”，就分不清该改模块图还是改部署图。</a:t>
            </a:r>
          </a:p>
          <a:p>
            <a:r>
              <a:rPr lang="zh-CN" dirty="0"/>
              <a:t>判定：回答要指出哪一张视图，并说出变的是进程、节点还是代码模块。</a:t>
            </a:r>
          </a:p>
          <a:p>
            <a:r>
              <a:rPr lang="zh-CN" dirty="0"/>
              <a:t>权衡：开发视图里的模块可以还在；物理视图上的节点和网络通常要重画。</a:t>
            </a:r>
          </a:p>
          <a:p>
            <a:r>
              <a:rPr lang="zh-CN" dirty="0"/>
              <a:t>参考要点：在本题设定下，通常是物理视图；部署单元从进程内调用变成可分开部署的服务。</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时长见本节首页（本节 20 分钟）</a:t>
            </a:r>
          </a:p>
          <a:p>
            <a:r>
              <a:rPr lang="zh-CN" dirty="0"/>
              <a:t>依据：大纲:162；基线 baseline-dcaa93b3 各模块 pom 依赖（portal：data-mongodb、data-redis、amqp；search：data-elasticsearch；admin：minio；Redis 来自 mall-common）。</a:t>
            </a:r>
          </a:p>
          <a:p>
            <a:r>
              <a:rPr lang="zh-CN" dirty="0"/>
              <a:t>定义：这些是实验环境里的中间件，各管一类数据或一次投递，各回应一条需求。</a:t>
            </a:r>
          </a:p>
          <a:p>
            <a:r>
              <a:rPr lang="zh-CN" dirty="0"/>
              <a:t>代价：边界画错，会到 MySQL 里找检索，或到搜索服务里找订单。</a:t>
            </a:r>
          </a:p>
          <a:p>
            <a:r>
              <a:rPr lang="zh-CN" dirty="0"/>
              <a:t>判定：问这条数据落在主库、缓存、消息、检索、文档还是对象存储。</a:t>
            </a:r>
          </a:p>
          <a:p>
            <a:r>
              <a:rPr lang="zh-CN" dirty="0"/>
              <a:t>权衡：每个组件都新增一份部署与运维；换成云服务后分担不同。</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依据：大纲:162；基线 pom；上游 document/docker/docker-compose-env.yml；SDC/environment/compose.yml（@c247ba6a）。</a:t>
            </a:r>
          </a:p>
          <a:p>
            <a:r>
              <a:rPr lang="zh-CN" dirty="0"/>
              <a:t>定义：MongoDB、对象存储与 Nginx 是另外三类位置：文档、文件、入口。</a:t>
            </a:r>
          </a:p>
          <a:p>
            <a:r>
              <a:rPr lang="zh-CN" dirty="0"/>
              <a:t>代价：把文件或文档放进主库，会让主库同时承担不适合它的负载。</a:t>
            </a:r>
          </a:p>
          <a:p>
            <a:r>
              <a:rPr lang="zh-CN" dirty="0"/>
              <a:t>判定：问这份数据是行记录、文档、文件，还是请求入口。</a:t>
            </a:r>
          </a:p>
          <a:p>
            <a:r>
              <a:rPr lang="zh-CN" dirty="0"/>
              <a:t>权衡：admin 的 pom 里还有阿里云 OSS，对象存储不只有 MinIO 一种实现；Nginx 只在上游环境里部署。</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大纲:162；https://dev.mysql.com/doc/refman/8.0/en/commit.html；https://dev.mysql.com/doc/refman/8.0/en/innodb-deadlocks.html；https://docs.spring.io/spring-framework/reference/data-access/transaction/declarative/annotations.html；https://redis.io/blog/cache-consistency-strategies/。</a:t>
            </a:r>
          </a:p>
          <a:p>
            <a:r>
              <a:rPr lang="zh-CN" dirty="0"/>
              <a:t>MySQL 与 Redis 在 mall 中的位置沿用前面的组件清单。本页比较通用机制及限制，不因使用 MySQL 就断言系统已具备跨服务一致性，也不因使用 Redis 就断言性能已经改善，实际效果须测量。事务范围须核对连接与调用；缓存更新、失效和失败处理须另查代码及运行输出。Redis 一致性说明：https://redis.io/blog/cache-consistency-strategies/ 。本页未声称本轮已完成运行验证。</a:t>
            </a:r>
          </a:p>
          <a:p>
            <a:r>
              <a:rPr lang="zh-CN" dirty="0"/>
              <a:t>定义：MySQL 保存业务记录，用事务组织关联写入；Redis 缓存适合复用的数据，减少主库重复读取。</a:t>
            </a:r>
          </a:p>
          <a:p>
            <a:r>
              <a:rPr lang="zh-CN" dirty="0"/>
              <a:t>代价：事务范围受连接及调用约束，死锁仍须处理；缓存可能读到尚未更新的数据。</a:t>
            </a:r>
          </a:p>
          <a:p>
            <a:r>
              <a:rPr lang="zh-CN" dirty="0"/>
              <a:t>判定：事务范围核对连接与调用；缓存更新、失效和失败处理另查代码及运行输出。</a:t>
            </a:r>
          </a:p>
          <a:p>
            <a:r>
              <a:rPr lang="zh-CN" dirty="0"/>
              <a:t>权衡：用了 MySQL 不等于已有跨服务一致性，用了 Redis 不等于性能已改善，实际效果须测量。</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590733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依据：基线 CancelOrderSender、CancelOrderReceiver、RabbitMqConfig.java:52–53；https://www.rabbitmq.com/docs/reliability；https://www.rabbitmq.com/docs/ttl；https://www.elastic.co/docs/reference/elasticsearch/rest-apis/refresh-parameter；https://www.elastic.co/docs/manage-data/data-store/index-basics；基线 EsProductServiceImpl.java:45–47。</a:t>
            </a:r>
          </a:p>
          <a:p>
            <a:r>
              <a:rPr lang="zh-CN" dirty="0"/>
              <a:t>基线消息到期后经死信路由进入取消队列，证据沿用 CancelOrderSender、CancelOrderReceiver 和 RabbitMqConfig。队列本身不证明端到端可靠性，持久化、重试、幂等须分别核验；E2-00 条件更新与共用补偿路径不得作为统一基线已有实现。RabbitMQ 官方依据：https://www.rabbitmq.com/docs/reliability 与 https://www.rabbitmq.com/docs/ttl 。Elasticsearch 索引可检索性受 refresh 影响，主库到索引的数据同步另受应用流程约束；不可把 refresh 周期当作主库同步时间。本页为机制及风险说明，不声称本轮运行过 mall-search 或消息链路。</a:t>
            </a:r>
          </a:p>
          <a:p>
            <a:r>
              <a:rPr lang="zh-CN" dirty="0"/>
              <a:t>定义：RabbitMQ 延迟队列到期后经死信路由把消息转入取消队列；Elasticsearch 用独立索引组织商品检索。</a:t>
            </a:r>
          </a:p>
          <a:p>
            <a:r>
              <a:rPr lang="zh-CN" dirty="0"/>
              <a:t>代价：消息须处理失败和重复消费；索引须与主库同步，可能暂时落后于主库。</a:t>
            </a:r>
          </a:p>
          <a:p>
            <a:r>
              <a:rPr lang="zh-CN" dirty="0"/>
              <a:t>判定：持久化、重试、幂等分别核验；不把 refresh 周期当作主库同步时间。</a:t>
            </a:r>
          </a:p>
          <a:p>
            <a:r>
              <a:rPr lang="zh-CN" dirty="0"/>
              <a:t>权衡：发送与取消执行分开、检索走索引，换来额外的验证责任；队列本身不证明端到端可靠。</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1391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依据：基线 mall-portal、mall-admin pom；MinioController.java:69–78；https://www.mongodb.com/docs/manual/data-modeling/；https://www.mongodb.com/docs/manual/core/backups/；https://www.mongodb.com/docs/manual/administration/security-checklist/；https://docs.min.io/enterprise/aistor-object-store/administration/iam/access/；https://docs.min.io/enterprise/aistor-object-store/administration/object-lifecycle-management/。</a:t>
            </a:r>
          </a:p>
          <a:p>
            <a:r>
              <a:rPr lang="zh-CN" dirty="0"/>
              <a:t>MongoDB 和 MinIO 的角色依据基线 mall-portal、mall-admin 的配置及既有组件定位页。文档库仍需设计数据结构，对象存储须维护对象与业务记录的关联并控制访问权限。课堂精简 Compose 不部署 MinIO，本页说明设计取舍，不代表本轮已完成服务运行验证。</a:t>
            </a:r>
          </a:p>
          <a:p>
            <a:r>
              <a:rPr lang="zh-CN" dirty="0"/>
              <a:t>定义：MongoDB 是 portal 使用的文档库，按文档组织相关数据；MinIO 是 admin 使用的对象存储，保存图片等文件。</a:t>
            </a:r>
          </a:p>
          <a:p>
            <a:r>
              <a:rPr lang="zh-CN" dirty="0"/>
              <a:t>代价：文档库仍须设计数据结构，并要有备份恢复与访问控制；对象须与业务记录关联并分配访问权限。</a:t>
            </a:r>
          </a:p>
          <a:p>
            <a:r>
              <a:rPr lang="zh-CN" dirty="0"/>
              <a:t>判定：在 mall-portal、mall-admin 的 pom 与 MinioController.java:69–78 核对各自的使用位置。</a:t>
            </a:r>
          </a:p>
          <a:p>
            <a:r>
              <a:rPr lang="zh-CN" dirty="0"/>
              <a:t>权衡：文件与主库记录分开保存，换来维护对象与记录关联的责任；课堂精简 Compose 不部署 MinIO。</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667800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依据：https://nginx.org/en/docs/beginners_guide.html；https://learn.microsoft.com/en-us/azure/architecture/microservices/design/gateway；https://learn.microsoft.com/en-us/azure/architecture/patterns/gateway-routing；上游 compose（nginx:1.22）。</a:t>
            </a:r>
          </a:p>
          <a:p>
            <a:r>
              <a:rPr lang="zh-CN" dirty="0"/>
              <a:t>Nginx 是上游部署中的请求入口与静态资源服务，课堂精简 Compose 未部署 Nginx。本页说明该设计角色的需求、方案、优点、限制和不足，不声称本轮已完成部署验证。路由与后端地址须按实际环境核对；是否增加冗余入口由可用性需求决定，组件数量不代表设计水平。</a:t>
            </a:r>
          </a:p>
          <a:p>
            <a:r>
              <a:rPr lang="zh-CN" dirty="0"/>
              <a:t>定义：Nginx 在上游部署中作请求入口与静态资源服务，由反向代理转发到后端应用。</a:t>
            </a:r>
          </a:p>
          <a:p>
            <a:r>
              <a:rPr lang="zh-CN" dirty="0"/>
              <a:t>代价：路由与后端地址须保持一致，入口故障可能影响访问。</a:t>
            </a:r>
          </a:p>
          <a:p>
            <a:r>
              <a:rPr lang="zh-CN" dirty="0"/>
              <a:t>判定：路由与后端地址按实际环境核对；课堂精简 Compose 未部署 Nginx。</a:t>
            </a:r>
          </a:p>
          <a:p>
            <a:r>
              <a:rPr lang="zh-CN" dirty="0"/>
              <a:t>权衡：是否增加冗余入口由可用性需求决定，组件数量不代表设计水平。</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137361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依据：基线 dcaa93b3150352e5044708d7211b5bed0af4509f（baseline-dcaa93b3）CancelOrderSender.java:23、25、29；E2-00：6cf9e39ee30d314c7262bc18e2b320da6f7dc505，Issue #42。</a:t>
            </a:r>
          </a:p>
          <a:p>
            <a:r>
              <a:rPr lang="zh-CN" dirty="0"/>
              <a:t>代码出处：统一基线 baseline-dcaa93b3，提交 dcaa93b3150352e5044708d7211b5bed0af4509f。Sender 第23、25、29行与 Receiver 第16、22、23行在E2-00提交6cf9e39ee30d314c7262bc18e2b320da6f7dc505中沿用，逐行核对一致。</a:t>
            </a:r>
          </a:p>
          <a:p>
            <a:r>
              <a:rPr lang="zh-CN" dirty="0"/>
              <a:t>所属后续教师示例：E2-00，分支exp/e2-00，Issue #42。集中取消的后续改动位于OmsPortalOrderServiceImpl.java:275-276，委托OrderCancellation；不要把这个后续版本当成统一基线。</a:t>
            </a:r>
          </a:p>
          <a:p>
            <a:r>
              <a:rPr lang="zh-CN" dirty="0"/>
              <a:t>判定：发送端 CancelOrderSender 只负责投递消息并设置过期时间（第 29 行），不直接取消订单。讲解时提问：订单若在消息到期前已支付，取消逻辑应在哪一端判断？参考要点：在接收端调用的 cancelOrder 中按订单状态判断，发送端不掌握状态。</a:t>
            </a:r>
          </a:p>
          <a:p>
            <a:r>
              <a:rPr lang="zh-CN" dirty="0"/>
              <a:t>定义：CancelOrderSender.sendMessage 把订单号投递到延迟队列，并给消息设置过期毫秒值。</a:t>
            </a:r>
          </a:p>
          <a:p>
            <a:r>
              <a:rPr lang="zh-CN" dirty="0"/>
              <a:t>代价：只看发送端，会误以为投递就是取消。</a:t>
            </a:r>
          </a:p>
          <a:p>
            <a:r>
              <a:rPr lang="zh-CN" dirty="0"/>
              <a:t>权衡：发送端不掌握订单状态，状态判断留在接收端调用的 cancelOrder 中。</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依据：基线 dcaa93b3150352e5044708d7211b5bed0af4509f CancelOrderReceiver.java:16–23；E2-00：6cf9e39ee30d314c7262bc18e2b320da6f7dc505，Issue #42。</a:t>
            </a:r>
          </a:p>
          <a:p>
            <a:r>
              <a:rPr lang="zh-CN" dirty="0"/>
              <a:t>代码出处：统一基线 baseline-dcaa93b3，提交 dcaa93b3150352e5044708d7211b5bed0af4509f。Sender 第23、25、29行与 Receiver 第16、22、23行在E2-00提交6cf9e39ee30d314c7262bc18e2b320da6f7dc505中沿用，逐行核对一致。</a:t>
            </a:r>
          </a:p>
          <a:p>
            <a:r>
              <a:rPr lang="zh-CN" dirty="0"/>
              <a:t>所属后续教师示例：E2-00，分支exp/e2-00，Issue #42。集中取消的后续改动位于OmsPortalOrderServiceImpl.java:275-276，委托OrderCancellation；不要把这个后续版本当成统一基线。</a:t>
            </a:r>
          </a:p>
          <a:p>
            <a:r>
              <a:rPr lang="zh-CN" dirty="0"/>
              <a:t>判定：接收端 CancelOrderReceiver 监听 mall.order.cancel 队列，收到消息后调用 cancelOrder（第 23 行）。到期触发不等于准点执行，也不单独证明端到端可靠；还需考虑消息持久化、失败重试与幂等。E2-00 以条件更新和共用补偿路径控制重复补偿。</a:t>
            </a:r>
          </a:p>
          <a:p>
            <a:r>
              <a:rPr lang="zh-CN" dirty="0"/>
              <a:t>定义：CancelOrderReceiver 监听 mall.order.cancel 队列，消息到期后调用 cancelOrder。</a:t>
            </a:r>
          </a:p>
          <a:p>
            <a:r>
              <a:rPr lang="zh-CN" dirty="0"/>
              <a:t>代价：到期触发不等于准点执行，也不单独证明端到端可靠。</a:t>
            </a:r>
          </a:p>
          <a:p>
            <a:r>
              <a:rPr lang="zh-CN" dirty="0"/>
              <a:t>权衡：异步取消把发送与执行分开，代价是须另行考虑持久化、失败重试与幂等；E2-00 的条件更新属后续示例，不是统一基线。</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依据：上游 document/docker/docker-compose-env.yml（基线 baseline-dcaa93b3）；SDC/environment/compose.yml（分支 exp/E2，提交 c247ba6a8721f64bdfa1f0d4c7bb0b219ff6a60c）。</a:t>
            </a:r>
          </a:p>
          <a:p>
            <a:r>
              <a:rPr lang="zh-CN" dirty="0"/>
              <a:t>定义：课堂 compose 只有四个服务；上游 compose 有九个服务，其余五项课堂不部署。</a:t>
            </a:r>
          </a:p>
          <a:p>
            <a:r>
              <a:rPr lang="zh-CN" dirty="0"/>
              <a:t>代价：把未部署的组件当成课堂已经启动，搜索和对象存储会连接失败。</a:t>
            </a:r>
          </a:p>
          <a:p>
            <a:r>
              <a:rPr lang="zh-CN" dirty="0"/>
              <a:t>判定：宿主端口只核 13306、16379、27018、5673 这四项。</a:t>
            </a:r>
          </a:p>
          <a:p>
            <a:r>
              <a:rPr lang="zh-CN" dirty="0"/>
              <a:t>权衡：RabbitMQ 管理端口在课堂文件里是 15673。口令写在该文件中，页上不抄口令。</a:t>
            </a:r>
          </a:p>
          <a:p>
            <a:r>
              <a:rPr lang="zh-CN" dirty="0"/>
              <a:t>出处：上游 document/docker/docker-compose-env.yml（基线 baseline-dcaa93b3）；课堂 SDC/environment/compose.yml（分支 exp/E2）。</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依据：基线 mall-portal/src/main/resources/application.yml:4–5、:17。</a:t>
            </a:r>
          </a:p>
          <a:p>
            <a:r>
              <a:rPr lang="zh-CN" dirty="0"/>
              <a:t>定义：profile 用来切换环境；密钥不该进仓库。</a:t>
            </a:r>
          </a:p>
          <a:p>
            <a:r>
              <a:rPr lang="zh-CN" dirty="0"/>
              <a:t>代价：把仓库里的 jwt.secret 当成可以公开的配置，令牌会跟着提交走。</a:t>
            </a:r>
          </a:p>
          <a:p>
            <a:r>
              <a:rPr lang="zh-CN" dirty="0"/>
              <a:t>判定：看 active 指向哪个 profile；密钥是在文件里，还是在环境变量里。</a:t>
            </a:r>
          </a:p>
          <a:p>
            <a:r>
              <a:rPr lang="zh-CN" dirty="0"/>
              <a:t>权衡：基线已经把 jwt.secret 写在第 17 行。这是反例，不照搬，也不把值投影出来。</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节：实验环境</a:t>
            </a:r>
          </a:p>
          <a:p>
            <a:r>
              <a:rPr lang="zh-CN" dirty="0"/>
              <a:t>依据：大纲:162（“讨论：中间件换成云服务后，团队少管了什么、多管了什么”）；教案 T2 互动设计2；NIST SP 800-145。</a:t>
            </a:r>
          </a:p>
          <a:p>
            <a:r>
              <a:rPr lang="zh-CN" dirty="0"/>
              <a:t>定义：讨论把中间件交给云之后，责任怎么搬家。</a:t>
            </a:r>
          </a:p>
          <a:p>
            <a:r>
              <a:rPr lang="zh-CN" dirty="0"/>
              <a:t>代价：只说“减少了工作”，会漏掉配额、账单和故障时找谁。</a:t>
            </a:r>
          </a:p>
          <a:p>
            <a:r>
              <a:rPr lang="zh-CN" dirty="0"/>
              <a:t>判定：回答要各举少了的事和多了的事，而且对得上这一层交给别人的设施。</a:t>
            </a:r>
          </a:p>
          <a:p>
            <a:r>
              <a:rPr lang="zh-CN" dirty="0"/>
              <a:t>权衡：安装少了；配置、配额和出了故障找谁多了。对照 NIST SP 800-145 的服务模式。</a:t>
            </a:r>
          </a:p>
          <a:p>
            <a:r>
              <a:rPr lang="zh-CN" dirty="0"/>
              <a:t>参考要点：少了安装；多了配额、账单和故障时找谁。</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节：实例项目</a:t>
            </a:r>
          </a:p>
          <a:p>
            <a:r>
              <a:rPr lang="zh-CN" dirty="0"/>
              <a:t>依据：基线 baseline-dcaa93b3 各模块 pom 的 mall-* 依赖；大纲:163。</a:t>
            </a:r>
          </a:p>
          <a:p>
            <a:r>
              <a:rPr lang="zh-CN" dirty="0"/>
              <a:t>定义：七个模块和依赖方向来自各模块 pom 的 artifactId。箭头从依赖方指向被依赖方。</a:t>
            </a:r>
          </a:p>
          <a:p>
            <a:r>
              <a:rPr lang="zh-CN" dirty="0"/>
              <a:t>代价：把 search 画成依赖 security，调用链会多出一条不存在的边。</a:t>
            </a:r>
          </a:p>
          <a:p>
            <a:r>
              <a:rPr lang="zh-CN" dirty="0"/>
              <a:t>判定：问这个模块的 pom 里有没有 mall-mbg、mall-security 或 mall-common。</a:t>
            </a:r>
          </a:p>
          <a:p>
            <a:r>
              <a:rPr lang="zh-CN" dirty="0"/>
              <a:t>权衡：订单领域在 admin 和 portal 各写一份，所以模块与边界一项得 10 分而不是 15 分。</a:t>
            </a:r>
          </a:p>
          <a:p>
            <a:r>
              <a:rPr lang="zh-CN" dirty="0"/>
              <a:t>核对：基线各模块 pom 的 mall-* 依赖。admin、portal：security、mbg；search、demo：mbg；security、mbg：common。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节：实例项目</a:t>
            </a:r>
          </a:p>
          <a:p>
            <a:r>
              <a:rPr lang="zh-CN" dirty="0"/>
              <a:t>依据：学生操作手册.md:23、:28（@9694291b）；基线 pom.xml:36、:226；https://maven.apache.org/ref/3.9.9/maven-embedder/cli.html "-pl … Comma-delimited list of specified reactor projects to build instead of all projects"；大纲:163。</a:t>
            </a:r>
          </a:p>
          <a:p>
            <a:r>
              <a:rPr lang="zh-CN" dirty="0"/>
              <a:t>回到mall受约束构建：已有基线把docker.host写死，课程机器未提供该宿主。先验证构建失败点，再以-Ddocker.skip=true跳过镜像插件，保留统一基线。</a:t>
            </a:r>
          </a:p>
          <a:p>
            <a:r>
              <a:rPr lang="zh-CN" dirty="0"/>
              <a:t>基线提交dcaa93b3150352e5044708d7211b5bed0af4509f，pom.xml:36为docker.host，226为package绑定。所给命令跳过测试，仅证明打包；不能作为测试通过的证据。启动中间件是运行应用的前提，不是Maven编译的前提。</a:t>
            </a:r>
          </a:p>
          <a:p>
            <a:r>
              <a:rPr lang="zh-CN" dirty="0"/>
              <a:t>定义：根 pom.xml 第 36 行写死 docker.host，镜像构建插件绑在 package 阶段（第 226 行）。</a:t>
            </a:r>
          </a:p>
          <a:p>
            <a:r>
              <a:rPr lang="zh-CN" dirty="0"/>
              <a:t>代价：课程机器未提供该宿主，不跳过插件则打包失败；改这一行又会改动统一基线。</a:t>
            </a:r>
          </a:p>
          <a:p>
            <a:r>
              <a:rPr lang="zh-CN" dirty="0"/>
              <a:t>判定：先验证构建失败点，再加 -Ddocker.skip=true 打包；所给命令跳过测试，只证明打包。</a:t>
            </a:r>
          </a:p>
          <a:p>
            <a:r>
              <a:rPr lang="zh-CN" dirty="0"/>
              <a:t>权衡：用命令行参数表达本机差异，保留统一基线；启动中间件是运行应用的前提，不是 Maven 编译的前提。</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节：实例项目</a:t>
            </a:r>
          </a:p>
          <a:p>
            <a:r>
              <a:rPr lang="zh-CN" dirty="0"/>
              <a:t>本节 20 分钟</a:t>
            </a:r>
          </a:p>
          <a:p>
            <a:r>
              <a:rPr lang="zh-CN" dirty="0"/>
              <a:t>依据：教案 T2 知识点4；大纲:163；学生操作手册.md:26（@0a5eae2a）：课程不开分支，只读取教师仓库，在本地工作区里看代码、让 AI 改代码、运行测试。</a:t>
            </a:r>
          </a:p>
          <a:p>
            <a:r>
              <a:rPr lang="zh-CN" dirty="0"/>
              <a:t>定义：全课程对着同一份上游提交 dcaa93b3（标签 baseline-dcaa93b3），不跟浮动分支。</a:t>
            </a:r>
          </a:p>
          <a:p>
            <a:r>
              <a:rPr lang="zh-CN" dirty="0"/>
              <a:t>代价：各自从不同提交出发，行号和课堂对不上。</a:t>
            </a:r>
          </a:p>
          <a:p>
            <a:r>
              <a:rPr lang="zh-CN" dirty="0"/>
              <a:t>判定：检出的是不是 baseline-dcaa93b3 或该实验的脚手架；有没有把示例分支并进来。</a:t>
            </a:r>
          </a:p>
          <a:p>
            <a:r>
              <a:rPr lang="zh-CN" dirty="0"/>
              <a:t>权衡：示例分支可以看，不合并；课程不开分支，只读取教师仓库，在本地工作区工作。</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节：实例项目</a:t>
            </a:r>
          </a:p>
          <a:p>
            <a:r>
              <a:rPr lang="zh-CN" dirty="0"/>
              <a:t>依据：资料/附录-AI协作与产出验收规范.md §7.1；筛选报告第 3 节“不可变约束”；大纲:163。</a:t>
            </a:r>
          </a:p>
          <a:p>
            <a:r>
              <a:rPr lang="zh-CN" dirty="0"/>
              <a:t>定义：这三处是本课程不得修改的部分，来源是筛选报告表中“不可变约束”一列。</a:t>
            </a:r>
          </a:p>
          <a:p>
            <a:r>
              <a:rPr lang="zh-CN" dirty="0"/>
              <a:t>代价：改了这三处，别的模块或调用方会同时出问题，且难以定位。</a:t>
            </a:r>
          </a:p>
          <a:p>
            <a:r>
              <a:rPr lang="zh-CN" dirty="0"/>
              <a:t>判定：打算改动的文件是否在 mall-mbg 生成目录、表结构脚本或带 Schema 注解直接当接口的实体上。</a:t>
            </a:r>
          </a:p>
          <a:p>
            <a:r>
              <a:rPr lang="zh-CN" dirty="0"/>
              <a:t>权衡：确有必要时先写明理由，不在基线上改；AI 的修改触及这三处时，按验收规范驳回该部分。</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节：模块化原则</a:t>
            </a:r>
          </a:p>
          <a:p>
            <a:r>
              <a:rPr lang="zh-CN" dirty="0"/>
              <a:t>本节 15 分钟</a:t>
            </a:r>
          </a:p>
          <a:p>
            <a:r>
              <a:rPr lang="zh-CN" dirty="0"/>
              <a:t>依据：2024 5-1 第 4–5 页；基线 OmsPortalOrderServiceImpl.java:297–325（状态 308–309、库存 315、优惠券 318、积分 320–322）。</a:t>
            </a:r>
          </a:p>
          <a:p>
            <a:r>
              <a:rPr lang="zh-CN" dirty="0"/>
              <a:t>定义：抽象是把注意力放在某一层次而忽略低层细节；逐步求精是自顶向下逐步分解，直到能用程序语言描述。</a:t>
            </a:r>
          </a:p>
          <a:p>
            <a:r>
              <a:rPr lang="zh-CN" dirty="0"/>
              <a:t>代价：抽象层次不分，读代码时会同时面对订单规则与数据库细节。</a:t>
            </a:r>
          </a:p>
          <a:p>
            <a:r>
              <a:rPr lang="zh-CN" dirty="0"/>
              <a:t>判定：能否在一个方法里分出“做什么”与“怎么做”两层，并在细节层找到每一步对应的代码行。</a:t>
            </a:r>
          </a:p>
          <a:p>
            <a:r>
              <a:rPr lang="zh-CN" dirty="0"/>
              <a:t>权衡：层次分得过细会多出只转发的空壳；以读者能一次读完一层为度。</a:t>
            </a:r>
          </a:p>
          <a:p>
            <a:r>
              <a:t>注意：基线中“返还积分”这一步写在代码里但不生效——use_integration 在第 236 行才赋值，第 224 行已写库，库里为空，第 320 行的分支不触发。</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节：模块化原则</a:t>
            </a:r>
          </a:p>
          <a:p>
            <a:r>
              <a:rPr lang="zh-CN" dirty="0"/>
              <a:t>依据：2024 5-1 第 4–5 页；基线 OmsPortalOrderServiceImpl.java:297–325。</a:t>
            </a:r>
          </a:p>
          <a:p>
            <a:r>
              <a:rPr lang="zh-CN" dirty="0"/>
              <a:t>抽象在当前层次保留相关信息，逐步求精展开实现步骤；混杂业务目的和数据库细节会扩大阅读与修改范围。基线 OmsPortalOrderServiceImpl.java:297–325 展示取消订单的状态、库存、优惠券与积分操作，先识别业务意图再追踪实现。可独立理解或验证时才考虑提取步骤，避免增加只做转发的中间层。本页解释现有代码的层次，不声称已经提取方法或执行测试。来源：2024课件5-1第4–5页；baseline-dcaa93b3源码。</a:t>
            </a:r>
          </a:p>
          <a:p>
            <a:r>
              <a:rPr lang="zh-CN" dirty="0"/>
              <a:t>定义：抽象在当前层次保留相关信息，逐步求精展开实现步骤。</a:t>
            </a:r>
          </a:p>
          <a:p>
            <a:r>
              <a:rPr lang="zh-CN" dirty="0"/>
              <a:t>代价：混杂业务目的和数据库细节，会扩大阅读与修改范围。</a:t>
            </a:r>
          </a:p>
          <a:p>
            <a:r>
              <a:rPr lang="zh-CN" dirty="0"/>
              <a:t>判定：在 OmsPortalOrderServiceImpl.java:297–325 先识别取消订单的业务意图，再追踪状态、库存、优惠券与积分操作。</a:t>
            </a:r>
          </a:p>
          <a:p>
            <a:r>
              <a:rPr lang="zh-CN" dirty="0"/>
              <a:t>权衡：可独立理解或验证时才提取步骤，避免增加只做转发的中间层。</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830827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节：模块化原则</a:t>
            </a:r>
          </a:p>
          <a:p>
            <a:r>
              <a:rPr lang="zh-CN" dirty="0"/>
              <a:t>依据：2024 5-1 第 6–8 页；基线各模块 pom.xml。</a:t>
            </a:r>
          </a:p>
          <a:p>
            <a:r>
              <a:rPr lang="zh-CN" dirty="0"/>
              <a:t>模块是可独立命名和访问的软件部件，组合后实现系统功能。模块划分降低局部复杂度，但拆分过细会增加接口、理解与协调成本。基线 mall-mbg 提供生成的数据访问代码，mall-admin 与 mall-portal 使用相关接口，依赖关系可从各模块 pom.xml 与调用点核对。是否进一步拆分应依据职责、共同变化和实际修改范围判断，不以模块数量或文件长度判定设计质量。本页解释现有边界，未声称实施拆分或执行验证。来源：2024课件5-1第6–8页；baseline-dcaa93b3各模块构建配置与源码。</a:t>
            </a:r>
          </a:p>
          <a:p>
            <a:r>
              <a:rPr lang="zh-CN" dirty="0"/>
              <a:t>定义：模块是可独立命名和访问的软件部件，组合后实现系统功能。</a:t>
            </a:r>
          </a:p>
          <a:p>
            <a:r>
              <a:rPr lang="zh-CN" dirty="0"/>
              <a:t>代价：职责混杂扩大修改范围；拆分过细增加接口、理解与协调成本。</a:t>
            </a:r>
          </a:p>
          <a:p>
            <a:r>
              <a:rPr lang="zh-CN" dirty="0"/>
              <a:t>判定：从各模块 pom.xml 与调用点核对职责、公开接口和依赖方向，如 mall-mbg 提供生成的数据访问代码，admin、portal 使用。</a:t>
            </a:r>
          </a:p>
          <a:p>
            <a:r>
              <a:rPr lang="zh-CN" dirty="0"/>
              <a:t>权衡：按职责、共同变化和实际修改范围决定是否拆分，不以模块数量或文件长度判定设计质量。</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200765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节：模块化原则</a:t>
            </a:r>
          </a:p>
          <a:p>
            <a:r>
              <a:rPr lang="zh-CN" dirty="0"/>
              <a:t>依据：教案 T2 知识点5；2024 5-1 第 6、19 页；教师确认（8）；基线 CancelOrderSender.java:23–29；Parnas 1972 [22]（待原文）。</a:t>
            </a:r>
          </a:p>
          <a:p>
            <a:r>
              <a:rPr lang="zh-CN" dirty="0"/>
              <a:t>定义：按“藏起什么设计决定”划分模块；模块的使用者只需知道接口，不必看到内部。依据教案 T2 知识点5；2024 5-1 第 6 页；Parnas 1972 [22]（待原文核对页码与原句）。</a:t>
            </a:r>
          </a:p>
          <a:p>
            <a:r>
              <a:rPr lang="zh-CN" dirty="0"/>
              <a:t>代价：没藏住的决定一变，所有使用者都要跟着改。</a:t>
            </a:r>
          </a:p>
          <a:p>
            <a:r>
              <a:rPr lang="zh-CN" dirty="0"/>
              <a:t>判定：调用方是否出现了本该藏起的细节，实例：CancelOrderSender.java 第 23–29 行的交换机名、路由键、过期时间字段。</a:t>
            </a:r>
          </a:p>
          <a:p>
            <a:r>
              <a:rPr lang="zh-CN" dirty="0"/>
              <a:t>权衡：接口一般要求简洁，过宽的接口等于没有隐藏，一个接口不宜声明过多无关的方法；接口要稳定，一旦接口改变，引用接口的实现都要修改，会导致修改的传播，放大工作量，增加错误的可能性。</a:t>
            </a:r>
          </a:p>
          <a:p>
            <a:r>
              <a:rPr lang="zh-CN" dirty="0"/>
              <a:t>实例核对：CancelOrderSender.java 第 23–29 行，对外只有 sendMessage(orderId, delayTimes)，交换机、路由键与消息过期时间的设置都在方法内。</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altLang="en-US"/>
              <a:t>节：模块化原则</a:t>
            </a:r>
          </a:p>
          <a:p>
            <a:r>
              <a:rPr lang="zh-CN" altLang="en-US"/>
              <a:t>定义：信息隐藏按“藏起什么设计决定”划分模块。关单时要还锁定库存、优惠券和积分，这是一项会变的决定；现在它在门户写了两份（cancelOrder 第 313–323 行、cancelTimeOutOrder 第 283–291 行，逐行对应），后台 close（OmsOrderServiceImpl 第 60–78 行）只改状态、不做补偿。</a:t>
            </a:r>
          </a:p>
          <a:p>
            <a:r>
              <a:rPr lang="zh-CN" altLang="en-US"/>
              <a:t>代价：以后多一种补偿，要在两处一起改，容易漏；后台关掉一张待付款单，锁定库存不会释放。</a:t>
            </a:r>
          </a:p>
          <a:p>
            <a:r>
              <a:rPr lang="zh-CN" altLang="en-US"/>
              <a:t>判定：问这个决定现在在几个地方、几个模块里，删掉其中一处后复杂度是集中还是只是挪动。</a:t>
            </a:r>
          </a:p>
          <a:p>
            <a:r>
              <a:rPr lang="zh-CN" altLang="en-US"/>
              <a:t>权衡：基线中退积分这一步不生效：use_integration 在第 236 行才赋值，第 224 行已经写库，库里为空，第 288、320 行的退积分分支不会触发。这是实验 E2 的教师示例 E2-00（Issue #42）：三个入口共用一个 OrderCancellation，补偿只写一份；本讲只讨论该藏在哪里，改代码在 E2。</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节：模块化原则</a:t>
            </a:r>
          </a:p>
          <a:p>
            <a:r>
              <a:rPr lang="zh-CN" dirty="0"/>
              <a:t>依据：2024 5-1 第 8、19 页；教师确认（9）；T1-标准与规范-v2.pptx 第 33 页；https://learn.microsoft.com/en-us/azure/well-architected/reliability/simplify "Use the appropriate level of abstraction and granularity for your components and services. Avoid overengineering or under-engineering your solution."；"Minimize the need to duplicate code across different functions"。</a:t>
            </a:r>
          </a:p>
          <a:p>
            <a:r>
              <a:rPr lang="zh-CN" dirty="0"/>
              <a:t>定义：内聚是一个模块内部各成分结合的紧密程度；耦合是模块之间关联的程度，取决于接口复杂度、调用位置与传送的数据量。</a:t>
            </a:r>
          </a:p>
          <a:p>
            <a:r>
              <a:rPr lang="zh-CN" dirty="0"/>
              <a:t>代价：内聚低、耦合高的模块，一处改动会牵动多个模块。</a:t>
            </a:r>
          </a:p>
          <a:p>
            <a:r>
              <a:rPr lang="zh-CN" dirty="0"/>
              <a:t>判定：看 pom 依赖是否单向、一次改动涉及几个模块、同一规则出现几处。</a:t>
            </a:r>
          </a:p>
          <a:p>
            <a:r>
              <a:rPr lang="zh-CN" dirty="0"/>
              <a:t>权衡：追求高内聚、低耦合；与其他原则冲突时遵循“适度抽象”和“减少重复”。</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节：模块化原则</a:t>
            </a:r>
          </a:p>
          <a:p>
            <a:r>
              <a:rPr lang="zh-CN" dirty="0"/>
              <a:t>依据：基线 baseline-dcaa93b3 各模块 pom.xml。</a:t>
            </a:r>
          </a:p>
          <a:p>
            <a:r>
              <a:rPr lang="zh-CN" dirty="0"/>
              <a:t>仅凭依赖模块较少不能直接证明低耦合；图中可以观察依赖种类和方向，还需检查接口、调用关系以及改动影响范围。基线各模块pom.xml已核，search/demo依赖mbg，security/mbg依赖common；admin/portal依赖security/mbg。</a:t>
            </a:r>
          </a:p>
          <a:p>
            <a:r>
              <a:rPr lang="zh-CN" dirty="0"/>
              <a:t>定义：依赖方向图展示七个模块谁依赖谁：admin、portal 依赖 security 与 mbg，search、demo 依赖 mbg，security、mbg 依赖 common。</a:t>
            </a:r>
          </a:p>
          <a:p>
            <a:r>
              <a:rPr lang="zh-CN" dirty="0"/>
              <a:t>代价：只凭依赖模块少就断言低耦合，会漏掉接口与调用层面的耦合。</a:t>
            </a:r>
          </a:p>
          <a:p>
            <a:r>
              <a:rPr lang="zh-CN" dirty="0"/>
              <a:t>判定：先看依赖种类和方向，再检查接口、调用关系以及改动影响范围。</a:t>
            </a:r>
          </a:p>
          <a:p>
            <a:r>
              <a:rPr lang="zh-CN" dirty="0"/>
              <a:t>权衡：依赖图便于快速定位，但不能代替对跨模块调用与重复规则的核对。</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节：模块化原则</a:t>
            </a:r>
          </a:p>
          <a:p>
            <a:r>
              <a:rPr lang="zh-CN" dirty="0"/>
              <a:t>依据：T1-标准与规范-v2.pptx 第 33 页；基线各 pom（mall-mbg 被 admin、portal、search、demo 依赖）。</a:t>
            </a:r>
          </a:p>
          <a:p>
            <a:r>
              <a:rPr lang="zh-CN" dirty="0"/>
              <a:t>定义：与 T1 的可维护性表格一致：五个子特性是模块化、可复用性、易分析性、易修改性、易测试性。本讲填入前两行对应的设计原则。</a:t>
            </a:r>
          </a:p>
          <a:p>
            <a:r>
              <a:rPr lang="zh-CN" dirty="0"/>
              <a:t>代价：原则不落到子特性上，评价设计时仍然只有感觉。</a:t>
            </a:r>
          </a:p>
          <a:p>
            <a:r>
              <a:rPr lang="zh-CN" dirty="0"/>
              <a:t>判定：模块化看改动涉及几个模块、依赖是否单向；可复用性看同一模块被几个应用共用。</a:t>
            </a:r>
          </a:p>
          <a:p>
            <a:r>
              <a:rPr lang="zh-CN" dirty="0"/>
              <a:t>权衡：指标为课程选定的可观察量，不是标准条文。后续各讲逐次填入其余三行。</a:t>
            </a:r>
          </a:p>
          <a:p>
            <a:r>
              <a:rPr lang="zh-CN" dirty="0"/>
              <a:t>核对：mall-mbg 被 admin、portal、search、demo 四个应用依赖（基线各 pom）。</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节：模块化原则</a:t>
            </a:r>
          </a:p>
          <a:p>
            <a:r>
              <a:rPr lang="zh-CN" dirty="0"/>
              <a:t>依据：T1-标准与规范-v2.pptx 第 33 页。</a:t>
            </a:r>
          </a:p>
          <a:p>
            <a:r>
              <a:rPr lang="zh-CN" dirty="0"/>
              <a:t>承接前页，补全可维护性五个子特性中的易分析性、易修改性、易测试性。设计原则按教学进度填入；本讲尚未讲授的原则不先行填入。指标是课程选定的可观察量，不能写成国家标准规定的门槛。</a:t>
            </a:r>
          </a:p>
          <a:p>
            <a:r>
              <a:rPr lang="zh-CN" dirty="0"/>
              <a:t>定义：易分析性、易修改性、易测试性各用一个判定问题和课程选定的可观察指标来判定。</a:t>
            </a:r>
          </a:p>
          <a:p>
            <a:r>
              <a:rPr lang="zh-CN" dirty="0"/>
              <a:t>代价：把课程选定的指标写成国家标准门槛，会误导判定。</a:t>
            </a:r>
          </a:p>
          <a:p>
            <a:r>
              <a:rPr lang="zh-CN" dirty="0"/>
              <a:t>判定：按表中问题收集对应指标，如同一规则出现几处、一次改动涉及几个文件。</a:t>
            </a:r>
          </a:p>
          <a:p>
            <a:r>
              <a:rPr lang="zh-CN" dirty="0"/>
              <a:t>权衡：设计原则按教学进度填入，本讲尚未讲授的原则不先行填入。</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节：需求如何转为设计方案</a:t>
            </a:r>
          </a:p>
          <a:p>
            <a:r>
              <a:rPr lang="zh-CN" dirty="0"/>
              <a:t>本节 10 分钟</a:t>
            </a:r>
          </a:p>
          <a:p>
            <a:r>
              <a:rPr lang="zh-CN" dirty="0"/>
              <a:t>依据：教案 T2 知识点6；大纲:165。</a:t>
            </a:r>
          </a:p>
          <a:p>
            <a:r>
              <a:rPr lang="zh-CN" dirty="0"/>
              <a:t>定义：非功能需求用质量特性表述，设计方案是对它的回应；技术选型要写成回应的需求、优点、限制、不足。</a:t>
            </a:r>
          </a:p>
          <a:p>
            <a:r>
              <a:rPr lang="zh-CN" dirty="0"/>
              <a:t>代价：只写“用了某技术”，没有需求就无法判断选得对不对。</a:t>
            </a:r>
          </a:p>
          <a:p>
            <a:r>
              <a:rPr lang="zh-CN" dirty="0"/>
              <a:t>判定：每个技术点能否写出它回应的需求，并同时写出限制与不足。</a:t>
            </a:r>
          </a:p>
          <a:p>
            <a:r>
              <a:rPr lang="zh-CN" dirty="0"/>
              <a:t>权衡：取舍不是选最先进的，而是选在当前需求下代价最小的。</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节：需求如何转为设计方案</a:t>
            </a:r>
          </a:p>
          <a:p>
            <a:r>
              <a:rPr lang="zh-CN" dirty="0"/>
              <a:t>依据：见第 24 页依据行（微服务指南、Nacos 原句）；https://learn.microsoft.com/en-us/azure/architecture/patterns/gateway-offloading "Avoid single points of failure by running multiple instances of your gateway."；https://learn.microsoft.com/en-us/azure/architecture/patterns/federated-identity "Authentication can be a single point of failure."。</a:t>
            </a:r>
          </a:p>
          <a:p>
            <a:r>
              <a:rPr lang="zh-CN" dirty="0"/>
              <a:t>定义：以 mall 与 mall-swarm 的对照为例，写出三个组件回应的需求、优点、限制与不足。</a:t>
            </a:r>
          </a:p>
          <a:p>
            <a:r>
              <a:rPr lang="zh-CN" dirty="0"/>
              <a:t>代价：把组件当成“更先进”，会忽略它带来的新依赖。</a:t>
            </a:r>
          </a:p>
          <a:p>
            <a:r>
              <a:rPr lang="zh-CN" dirty="0"/>
              <a:t>判定：每一格的依据见本页首行。</a:t>
            </a:r>
          </a:p>
          <a:p>
            <a:r>
              <a:rPr lang="zh-CN" dirty="0"/>
              <a:t>权衡：mall 当前规模下没有这三个组件，不等于缺了设计。</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节：小结与布置</a:t>
            </a:r>
          </a:p>
          <a:p>
            <a:r>
              <a:rPr lang="zh-CN" dirty="0"/>
              <a:t>本节 10 分钟</a:t>
            </a:r>
          </a:p>
          <a:p>
            <a:r>
              <a:rPr lang="zh-CN" dirty="0"/>
              <a:t>依据：教案 T2 知识点7；大纲:166；基线 pom.xml:36、:226；资料/附录-AI协作与产出验收规范.md:77–80。</a:t>
            </a:r>
          </a:p>
          <a:p>
            <a:r>
              <a:rPr lang="zh-CN" dirty="0"/>
              <a:t>按课程已学的四项核对内容核对建议：核对引用是否存在、核对运行时事实、区分原理与实现、拿原则与规范作依据。证据为基线 pom.xml:36、226：docker.host 确实存在，镜像插件绑定 package 阶段。保留对日志的诊断，拒绝将个人地址改入统一基线；用 -Ddocker.skip=true 表达本机跳过镜像构建的选择。保存完整命令、实际日志及采纳或拒绝理由，比较处理前后的构建结果。跳过插件并不证明业务测试通过。本页是排障示例，不声称本轮已经执行这些命令。</a:t>
            </a:r>
          </a:p>
          <a:p>
            <a:r>
              <a:rPr lang="zh-CN" dirty="0"/>
              <a:t>定义：排障示例：mvn package 失败，AI 建议把 pom.xml 第 36 行的 docker.host 改成本机地址。</a:t>
            </a:r>
          </a:p>
          <a:p>
            <a:r>
              <a:rPr lang="zh-CN" dirty="0"/>
              <a:t>代价：照做会让个人地址进入提交，改动统一基线。</a:t>
            </a:r>
          </a:p>
          <a:p>
            <a:r>
              <a:rPr lang="zh-CN" dirty="0"/>
              <a:t>判定：按四项核对内容核对：基线 pom.xml:36、226 确有 docker.host，镜像插件绑定 package 阶段。</a:t>
            </a:r>
          </a:p>
          <a:p>
            <a:r>
              <a:rPr lang="zh-CN" dirty="0"/>
              <a:t>权衡：保留对日志的诊断，拒绝改基线文件，用 -Ddocker.skip=true 表达本机跳过镜像构建；跳过插件不证明业务测试通过。</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节：小结与布置</a:t>
            </a:r>
          </a:p>
          <a:p>
            <a:r>
              <a:rPr lang="zh-CN" dirty="0"/>
              <a:t>依据：教案 T2 知识点7；资料/附录-AI协作与产出验收规范.md §6、§7；基线 pom.xml:36、:226。</a:t>
            </a:r>
          </a:p>
          <a:p>
            <a:r>
              <a:rPr lang="zh-CN" dirty="0"/>
              <a:t>本页以 mall 镜像插件失败示例展示 AI 协作的完整过程。先写验收准则：定位失败阶段、保留统一基线、使用实际输出判断处理结果。标注使用范围：AI 解释日志并提出建议，人工决定采纳范围并承担核对责任。留协作记录：工具、建议、采纳或拒绝理由、实际执行命令和日志。最后按课程的四项核对内容核对，分清已验证结论与未完成检查，再提交结果。打包成功不证明业务测试通过。这里列出应保存的记录内容，不编造本轮执行日志。来源：课程AI协作与产出验收规范、基线 pom.xml:36、226。</a:t>
            </a:r>
          </a:p>
          <a:p>
            <a:r>
              <a:rPr lang="zh-CN" dirty="0"/>
              <a:t>定义：AI 协作排障分四步：先写验收准则、标注使用范围、留协作记录、逐项核对。</a:t>
            </a:r>
          </a:p>
          <a:p>
            <a:r>
              <a:rPr lang="zh-CN" dirty="0"/>
              <a:t>代价：不留记录，就说不清哪条建议被采纳、依据是什么。</a:t>
            </a:r>
          </a:p>
          <a:p>
            <a:r>
              <a:rPr lang="zh-CN" dirty="0"/>
              <a:t>判定：协作记录须包含工具、建议、采纳或拒绝理由、实际执行命令和日志。</a:t>
            </a:r>
          </a:p>
          <a:p>
            <a:r>
              <a:rPr lang="zh-CN" dirty="0"/>
              <a:t>权衡：AI 解释日志并提出建议，人工决定采纳范围并承担核对责任；打包成功不证明业务测试通过。</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216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节：小结与布置</a:t>
            </a:r>
          </a:p>
          <a:p>
            <a:r>
              <a:rPr lang="zh-CN" dirty="0"/>
              <a:t>依据：资料/附录-AI协作与产出验收规范.md:77–80（四项核对内容）；基线 pom.xml:36、:226。</a:t>
            </a:r>
          </a:p>
          <a:p>
            <a:r>
              <a:rPr lang="zh-CN" dirty="0"/>
              <a:t>本页沿用T1四项核对内容的名称，并应用于修改 docker.host 的建议。核对引用是否存在：查看基线 pom.xml:36、226，确认配置项与插件绑定阶段。核对运行时事实：依据实际失败日志、执行命令和输出，不把建议当作运行结果。区分原理与实现：跳过镜像插件只避开相关构建步骤，不能证明业务功能正确。拿原则与规范作依据：保留统一基线，优先用参数表达本机差异。采纳可核对的诊断，拒绝直接把个人地址改入基线；执行结果须另行验证。本轮没有运行上述构建命令。来源：课程AI协作与产出验收规范；baseline-dcaa93b3 pom.xml。</a:t>
            </a:r>
          </a:p>
          <a:p>
            <a:r>
              <a:rPr lang="zh-CN" dirty="0"/>
              <a:t>定义：四项核对内容是核对引用是否存在、核对运行时事实、区分原理与实现、拿原则与规范作依据。</a:t>
            </a:r>
          </a:p>
          <a:p>
            <a:r>
              <a:rPr lang="zh-CN" dirty="0"/>
              <a:t>代价：把建议当作运行结果，会把未验证的结论写进提交。</a:t>
            </a:r>
          </a:p>
          <a:p>
            <a:r>
              <a:rPr lang="zh-CN" dirty="0"/>
              <a:t>判定：逐项对照：pom.xml:36、226；失败日志与实际命令；跳过插件不证明业务正确；保留统一基线。</a:t>
            </a:r>
          </a:p>
          <a:p>
            <a:r>
              <a:rPr lang="zh-CN" dirty="0"/>
              <a:t>权衡：采纳可核对的诊断，拒绝直接把个人地址改入基线；执行结果须另行验证。</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609639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节：小结与布置</a:t>
            </a:r>
          </a:p>
          <a:p>
            <a:r>
              <a:rPr lang="zh-CN" dirty="0"/>
              <a:t>依据：T1-标准与规范-v2.pptx 第 33 页；教案 T2 知识点7；基线 pom.xml:36。</a:t>
            </a:r>
          </a:p>
          <a:p>
            <a:r>
              <a:rPr lang="zh-CN" dirty="0"/>
              <a:t>定义：用可维护性五个子特性评价本讲示例的改动：以命令行参数 -Ddocker.skip=true 代替修改 pom.xml 第 36 行。</a:t>
            </a:r>
          </a:p>
          <a:p>
            <a:r>
              <a:rPr lang="zh-CN" dirty="0"/>
              <a:t>代价：只看“构建通过”，会漏掉改动对后续维护的影响。</a:t>
            </a:r>
          </a:p>
          <a:p>
            <a:r>
              <a:rPr lang="zh-CN" dirty="0"/>
              <a:t>判定：每一行都能给出可观察的事实，而不是形容词。</a:t>
            </a:r>
          </a:p>
          <a:p>
            <a:r>
              <a:rPr lang="zh-CN" dirty="0"/>
              <a:t>权衡：指标为课程选定的可观察量。后续各讲小结沿用同一张表。</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节：问答题</a:t>
            </a:r>
          </a:p>
          <a:p>
            <a:r>
              <a:t>依据：教案 T2“复习思考及作业”预习题 1）至 3）。</a:t>
            </a:r>
          </a:p>
          <a:p>
            <a:r>
              <a:t>题干、选项和答案依据当前教案T2复习思考及作业。答案：1A 2C 3A</a:t>
            </a:r>
          </a:p>
          <a:p>
            <a:r>
              <a:t>自己装中间件与应用属于 IaaS；生成代码属于不得修改的部分；容器化解决环境一致与伸缩、恢复。</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节：问答题</a:t>
            </a:r>
          </a:p>
          <a:p>
            <a:r>
              <a:t>依据：教案 T2“复习思考及作业”预习题 4）、5）。</a:t>
            </a:r>
          </a:p>
          <a:p>
            <a:r>
              <a:t>题干、选项和答案依据当前教案T2复习思考及作业。答案：4B 5A</a:t>
            </a:r>
          </a:p>
          <a:p>
            <a:r>
              <a:t>构建方式写在 pom.xml 或 build.gradle；“关单要补偿什么”是一项设计决定，应藏进一个模块，各取消入口共用（实验 E2 的教师示例）。</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节：结束页</a:t>
            </a:r>
          </a:p>
          <a:p>
            <a:r>
              <a:rPr lang="zh-CN" dirty="0"/>
              <a:t>依据：教案 T2、E2 课次；大纲:167。</a:t>
            </a:r>
          </a:p>
          <a:p>
            <a:r>
              <a:rPr lang="zh-CN" dirty="0"/>
              <a:t>定义：本次课要点三条与下次课预告。</a:t>
            </a:r>
          </a:p>
          <a:p>
            <a:r>
              <a:rPr lang="zh-CN" dirty="0"/>
              <a:t>代价：只说“单独致谢”，学生带不走要点。</a:t>
            </a:r>
          </a:p>
          <a:p>
            <a:r>
              <a:rPr lang="zh-CN" dirty="0"/>
              <a:t>判定：要点能否各用一句话复述。</a:t>
            </a:r>
          </a:p>
          <a:p>
            <a:r>
              <a:rPr lang="zh-CN" dirty="0"/>
              <a:t>权衡：下次课是实验课；T3 的预习题在 T3 课前完成。</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节：本章参考资料</a:t>
            </a:r>
          </a:p>
          <a:p>
            <a:r>
              <a:rPr lang="zh-CN" dirty="0"/>
              <a:t>依据：教学大纲 T2 本章参考资料 [21][22][27]；大纲:154；DOI 已核对（Crossref）。</a:t>
            </a:r>
          </a:p>
          <a:p>
            <a:r>
              <a:rPr lang="zh-CN" dirty="0"/>
              <a:t>定义：编号取自教学大纲“本章参考资料”，只列本次课用到的文献。</a:t>
            </a:r>
          </a:p>
          <a:p>
            <a:r>
              <a:rPr lang="zh-CN" dirty="0"/>
              <a:t>代价：不读 NIST SP 800-145，三个层次的责任边界只能停在转述。</a:t>
            </a:r>
          </a:p>
          <a:p>
            <a:r>
              <a:rPr lang="zh-CN" dirty="0"/>
              <a:t>判定：页上要能对上 NIST SP 800-145、Le 等 2015 和 mall-swarm。</a:t>
            </a:r>
          </a:p>
          <a:p>
            <a:r>
              <a:rPr lang="zh-CN" dirty="0"/>
              <a:t>权衡：[22] 与 [47] 为本讲实际用到的两项，已补入教学大纲第二章参考资料。</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节：本章参考资料</a:t>
            </a:r>
          </a:p>
          <a:p>
            <a:r>
              <a:rPr lang="zh-CN" dirty="0"/>
              <a:t>依据：教学大纲 T2 本章参考资料 [43][45][46][47]；大纲:154；[43] 网址取自教学大纲（系列课程现迁至 agenticai-learning.org，该站现称 Agentic AI MOOC，页头 Fall 2025，建立在往届 LLM Agents MOOC 之上）。</a:t>
            </a:r>
          </a:p>
          <a:p>
            <a:r>
              <a:rPr lang="zh-CN" dirty="0"/>
              <a:t>定义：续列课程实例项目、微服务版本与验收规范。</a:t>
            </a:r>
          </a:p>
          <a:p>
            <a:r>
              <a:rPr lang="zh-CN" dirty="0"/>
              <a:t>代价：不看原项目，只凭课件理解 mall 与 mall-swarm 的差别，细节容易走样。</a:t>
            </a:r>
          </a:p>
          <a:p>
            <a:r>
              <a:rPr lang="zh-CN" dirty="0"/>
              <a:t>判定：页上要能对上 mall、mall-swarm 的仓库地址。</a:t>
            </a:r>
          </a:p>
          <a:p>
            <a:r>
              <a:rPr lang="zh-CN" dirty="0"/>
              <a:t>权衡：[47] 为本讲 AI 辅助排障一页用到的一项，已补入教学大纲第二章参考资料。</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10" name="sdc-logo"/>
          <p:cNvPicPr>
            <a:picLocks noChangeAspect="1"/>
          </p:cNvPicPr>
          <p:nvPr userDrawn="1"/>
        </p:nvPicPr>
        <p:blipFill>
          <a:blip r:embed="rId2"/>
          <a:stretch>
            <a:fillRect/>
          </a:stretch>
        </p:blipFill>
        <p:spPr>
          <a:xfrm>
            <a:off x="548640" y="411480"/>
            <a:ext cx="868680" cy="868680"/>
          </a:xfrm>
          <a:prstGeom prst="rect">
            <a:avLst/>
          </a:prstGeom>
        </p:spPr>
      </p:pic>
      <p:sp>
        <p:nvSpPr>
          <p:cNvPr id="2" name="标题 1"/>
          <p:cNvSpPr>
            <a:spLocks noGrp="1"/>
          </p:cNvSpPr>
          <p:nvPr>
            <p:ph type="ctrTitle"/>
          </p:nvPr>
        </p:nvSpPr>
        <p:spPr>
          <a:xfrm>
            <a:off x="685800" y="1600200"/>
            <a:ext cx="7772400" cy="640080"/>
          </a:xfrm>
        </p:spPr>
        <p:txBody>
          <a:bodyPr anchor="b"/>
          <a:lstStyle>
            <a:lvl1pPr marL="0" indent="0" algn="l">
              <a:buNone/>
              <a:defRPr sz="2000" b="1">
                <a:solidFill>
                  <a:srgbClr val="A33B38"/>
                </a:solidFill>
                <a:latin typeface="微软雅黑"/>
                <a:ea typeface="微软雅黑"/>
              </a:defRPr>
            </a:lvl1pPr>
          </a:lstStyle>
          <a:p>
            <a:r>
              <a:rPr lang="zh-CN" altLang="en-US"/>
              <a:t>单击此处编辑</a:t>
            </a:r>
          </a:p>
        </p:txBody>
      </p:sp>
      <p:sp>
        <p:nvSpPr>
          <p:cNvPr id="3" name="副标题 2"/>
          <p:cNvSpPr>
            <a:spLocks noGrp="1"/>
          </p:cNvSpPr>
          <p:nvPr>
            <p:ph type="subTitle" idx="1"/>
          </p:nvPr>
        </p:nvSpPr>
        <p:spPr>
          <a:xfrm>
            <a:off x="685800" y="2377440"/>
            <a:ext cx="7772400" cy="2926080"/>
          </a:xfrm>
        </p:spPr>
        <p:txBody>
          <a:bodyPr/>
          <a:lstStyle>
            <a:lvl1pPr marL="0" indent="0" algn="l">
              <a:buNone/>
              <a:defRPr sz="2000" b="0">
                <a:solidFill>
                  <a:srgbClr val="595959"/>
                </a:solidFill>
                <a:latin typeface="微软雅黑"/>
                <a:ea typeface="微软雅黑"/>
              </a:defRPr>
            </a:lvl1pPr>
          </a:lstStyle>
          <a:p>
            <a:r>
              <a:rPr lang="zh-CN" altLang="en-US"/>
              <a:t>单击此处编辑</a:t>
            </a:r>
          </a:p>
        </p:txBody>
      </p:sp>
      <p:sp>
        <p:nvSpPr>
          <p:cNvPr id="11" name="sdc-photo-band"/>
          <p:cNvSpPr/>
          <p:nvPr userDrawn="1"/>
        </p:nvSpPr>
        <p:spPr>
          <a:xfrm>
            <a:off x="0" y="5550408"/>
            <a:ext cx="9144000" cy="64008"/>
          </a:xfrm>
          <a:prstGeom prst="rect">
            <a:avLst/>
          </a:prstGeom>
          <a:solidFill>
            <a:srgbClr val="A33B38"/>
          </a:solidFill>
          <a:ln>
            <a:noFill/>
          </a:ln>
        </p:spPr>
        <p:txBody>
          <a:bodyPr wrap="square" lIns="91440" tIns="45720" rIns="91440" bIns="45720" anchor="t"/>
          <a:lstStyle/>
          <a:p>
            <a:endParaRPr lang="zh-CN"/>
          </a:p>
        </p:txBody>
      </p:sp>
      <p:pic>
        <p:nvPicPr>
          <p:cNvPr id="12" name="sdc-campus-l"/>
          <p:cNvPicPr>
            <a:picLocks noChangeAspect="1"/>
          </p:cNvPicPr>
          <p:nvPr userDrawn="1"/>
        </p:nvPicPr>
        <p:blipFill>
          <a:blip r:embed="rId3"/>
          <a:stretch>
            <a:fillRect/>
          </a:stretch>
        </p:blipFill>
        <p:spPr>
          <a:xfrm>
            <a:off x="0" y="5614416"/>
            <a:ext cx="4572000" cy="1243584"/>
          </a:xfrm>
          <a:prstGeom prst="rect">
            <a:avLst/>
          </a:prstGeom>
        </p:spPr>
      </p:pic>
      <p:pic>
        <p:nvPicPr>
          <p:cNvPr id="13" name="sdc-campus-r"/>
          <p:cNvPicPr>
            <a:picLocks noChangeAspect="1"/>
          </p:cNvPicPr>
          <p:nvPr userDrawn="1"/>
        </p:nvPicPr>
        <p:blipFill>
          <a:blip r:embed="rId4"/>
          <a:stretch>
            <a:fillRect/>
          </a:stretch>
        </p:blipFill>
        <p:spPr>
          <a:xfrm>
            <a:off x="4572000" y="5614416"/>
            <a:ext cx="4572000" cy="1243584"/>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sp>
        <p:nvSpPr>
          <p:cNvPr id="10" name="sdc-toc-band"/>
          <p:cNvSpPr/>
          <p:nvPr userDrawn="1"/>
        </p:nvSpPr>
        <p:spPr>
          <a:xfrm>
            <a:off x="0" y="0"/>
            <a:ext cx="2377440" cy="6858000"/>
          </a:xfrm>
          <a:prstGeom prst="rect">
            <a:avLst/>
          </a:prstGeom>
          <a:solidFill>
            <a:srgbClr val="A33B38"/>
          </a:solidFill>
          <a:ln>
            <a:noFill/>
          </a:ln>
        </p:spPr>
        <p:txBody>
          <a:bodyPr wrap="square" lIns="91440" tIns="45720" rIns="91440" bIns="45720" anchor="t"/>
          <a:lstStyle/>
          <a:p>
            <a:endParaRPr lang="zh-CN"/>
          </a:p>
        </p:txBody>
      </p:sp>
      <p:pic>
        <p:nvPicPr>
          <p:cNvPr id="11" name="sdc-logo"/>
          <p:cNvPicPr>
            <a:picLocks noChangeAspect="1"/>
          </p:cNvPicPr>
          <p:nvPr userDrawn="1"/>
        </p:nvPicPr>
        <p:blipFill>
          <a:blip r:embed="rId2"/>
          <a:stretch>
            <a:fillRect/>
          </a:stretch>
        </p:blipFill>
        <p:spPr>
          <a:xfrm>
            <a:off x="777240" y="5623560"/>
            <a:ext cx="822960" cy="822960"/>
          </a:xfrm>
          <a:prstGeom prst="rect">
            <a:avLst/>
          </a:prstGeom>
        </p:spPr>
      </p:pic>
      <p:sp>
        <p:nvSpPr>
          <p:cNvPr id="2" name="标题 1"/>
          <p:cNvSpPr>
            <a:spLocks noGrp="1"/>
          </p:cNvSpPr>
          <p:nvPr>
            <p:ph type="title"/>
          </p:nvPr>
        </p:nvSpPr>
        <p:spPr>
          <a:xfrm>
            <a:off x="274320" y="640080"/>
            <a:ext cx="1828800" cy="914400"/>
          </a:xfrm>
        </p:spPr>
        <p:txBody>
          <a:bodyPr anchor="t"/>
          <a:lstStyle>
            <a:lvl1pPr marL="0" indent="0" algn="l">
              <a:buNone/>
              <a:defRPr sz="3600" b="1">
                <a:solidFill>
                  <a:srgbClr val="FFFFFF"/>
                </a:solidFill>
                <a:latin typeface="微软雅黑"/>
                <a:ea typeface="微软雅黑"/>
              </a:defRPr>
            </a:lvl1pPr>
          </a:lstStyle>
          <a:p>
            <a:r>
              <a:rPr lang="zh-CN" altLang="en-US"/>
              <a:t>单击此处编辑</a:t>
            </a:r>
          </a:p>
        </p:txBody>
      </p:sp>
      <p:sp>
        <p:nvSpPr>
          <p:cNvPr id="3" name="文本占位符 2"/>
          <p:cNvSpPr>
            <a:spLocks noGrp="1"/>
          </p:cNvSpPr>
          <p:nvPr>
            <p:ph type="body" idx="1"/>
          </p:nvPr>
        </p:nvSpPr>
        <p:spPr>
          <a:xfrm>
            <a:off x="2834640" y="731520"/>
            <a:ext cx="5852160" cy="5120640"/>
          </a:xfrm>
        </p:spPr>
        <p:txBody>
          <a:bodyPr/>
          <a:lstStyle>
            <a:lvl1pPr marL="0" indent="0" algn="l">
              <a:buNone/>
              <a:defRPr sz="2200" b="0">
                <a:solidFill>
                  <a:srgbClr val="262626"/>
                </a:solidFill>
                <a:latin typeface="微软雅黑"/>
                <a:ea typeface="微软雅黑"/>
              </a:defRPr>
            </a:lvl1pPr>
          </a:lstStyle>
          <a:p>
            <a:r>
              <a:rPr lang="zh-CN" altLang="en-US"/>
              <a:t>单击此处编辑</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pic>
        <p:nvPicPr>
          <p:cNvPr id="10" name="sdc-logo"/>
          <p:cNvPicPr>
            <a:picLocks noChangeAspect="1"/>
          </p:cNvPicPr>
          <p:nvPr userDrawn="1"/>
        </p:nvPicPr>
        <p:blipFill>
          <a:blip r:embed="rId2"/>
          <a:stretch>
            <a:fillRect/>
          </a:stretch>
        </p:blipFill>
        <p:spPr>
          <a:xfrm>
            <a:off x="548640" y="411480"/>
            <a:ext cx="868680" cy="868680"/>
          </a:xfrm>
          <a:prstGeom prst="rect">
            <a:avLst/>
          </a:prstGeom>
        </p:spPr>
      </p:pic>
      <p:sp>
        <p:nvSpPr>
          <p:cNvPr id="2" name="标题 1"/>
          <p:cNvSpPr>
            <a:spLocks noGrp="1"/>
          </p:cNvSpPr>
          <p:nvPr>
            <p:ph type="title"/>
          </p:nvPr>
        </p:nvSpPr>
        <p:spPr>
          <a:xfrm>
            <a:off x="914400" y="2011680"/>
            <a:ext cx="7315200" cy="1005840"/>
          </a:xfrm>
        </p:spPr>
        <p:txBody>
          <a:bodyPr anchor="b"/>
          <a:lstStyle>
            <a:lvl1pPr marL="0" indent="0" algn="ctr">
              <a:buNone/>
              <a:defRPr sz="3600" b="1">
                <a:solidFill>
                  <a:srgbClr val="262626"/>
                </a:solidFill>
                <a:latin typeface="微软雅黑"/>
                <a:ea typeface="微软雅黑"/>
              </a:defRPr>
            </a:lvl1pPr>
          </a:lstStyle>
          <a:p>
            <a:r>
              <a:rPr lang="zh-CN" altLang="en-US"/>
              <a:t>单击此处编辑</a:t>
            </a:r>
          </a:p>
        </p:txBody>
      </p:sp>
      <p:sp>
        <p:nvSpPr>
          <p:cNvPr id="3" name="文本占位符 2"/>
          <p:cNvSpPr>
            <a:spLocks noGrp="1"/>
          </p:cNvSpPr>
          <p:nvPr>
            <p:ph type="body" idx="1"/>
          </p:nvPr>
        </p:nvSpPr>
        <p:spPr>
          <a:xfrm>
            <a:off x="914400" y="3154680"/>
            <a:ext cx="7315200" cy="1280160"/>
          </a:xfrm>
        </p:spPr>
        <p:txBody>
          <a:bodyPr/>
          <a:lstStyle>
            <a:lvl1pPr marL="0" indent="0" algn="ctr">
              <a:buNone/>
              <a:defRPr sz="2000" b="0">
                <a:solidFill>
                  <a:srgbClr val="595959"/>
                </a:solidFill>
                <a:latin typeface="微软雅黑"/>
                <a:ea typeface="微软雅黑"/>
              </a:defRPr>
            </a:lvl1pPr>
          </a:lstStyle>
          <a:p>
            <a:r>
              <a:rPr lang="zh-CN" altLang="en-US"/>
              <a:t>单击此处编辑</a:t>
            </a:r>
          </a:p>
        </p:txBody>
      </p:sp>
      <p:sp>
        <p:nvSpPr>
          <p:cNvPr id="11" name="sdc-photo-band"/>
          <p:cNvSpPr/>
          <p:nvPr userDrawn="1"/>
        </p:nvSpPr>
        <p:spPr>
          <a:xfrm>
            <a:off x="0" y="5550408"/>
            <a:ext cx="9144000" cy="64008"/>
          </a:xfrm>
          <a:prstGeom prst="rect">
            <a:avLst/>
          </a:prstGeom>
          <a:solidFill>
            <a:srgbClr val="A33B38"/>
          </a:solidFill>
          <a:ln>
            <a:noFill/>
          </a:ln>
        </p:spPr>
        <p:txBody>
          <a:bodyPr wrap="square" lIns="91440" tIns="45720" rIns="91440" bIns="45720" anchor="t"/>
          <a:lstStyle/>
          <a:p>
            <a:endParaRPr lang="zh-CN"/>
          </a:p>
        </p:txBody>
      </p:sp>
      <p:pic>
        <p:nvPicPr>
          <p:cNvPr id="12" name="sdc-campus-l"/>
          <p:cNvPicPr>
            <a:picLocks noChangeAspect="1"/>
          </p:cNvPicPr>
          <p:nvPr userDrawn="1"/>
        </p:nvPicPr>
        <p:blipFill>
          <a:blip r:embed="rId3"/>
          <a:stretch>
            <a:fillRect/>
          </a:stretch>
        </p:blipFill>
        <p:spPr>
          <a:xfrm>
            <a:off x="0" y="5614416"/>
            <a:ext cx="4572000" cy="1243584"/>
          </a:xfrm>
          <a:prstGeom prst="rect">
            <a:avLst/>
          </a:prstGeom>
        </p:spPr>
      </p:pic>
      <p:pic>
        <p:nvPicPr>
          <p:cNvPr id="13" name="sdc-campus-r"/>
          <p:cNvPicPr>
            <a:picLocks noChangeAspect="1"/>
          </p:cNvPicPr>
          <p:nvPr userDrawn="1"/>
        </p:nvPicPr>
        <p:blipFill>
          <a:blip r:embed="rId4"/>
          <a:stretch>
            <a:fillRect/>
          </a:stretch>
        </p:blipFill>
        <p:spPr>
          <a:xfrm>
            <a:off x="4572000" y="5614416"/>
            <a:ext cx="4572000" cy="1243584"/>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a:t>
            </a:r>
          </a:p>
        </p:txBody>
      </p:sp>
      <p:sp>
        <p:nvSpPr>
          <p:cNvPr id="3" name="内容占位符 2"/>
          <p:cNvSpPr>
            <a:spLocks noGrp="1"/>
          </p:cNvSpPr>
          <p:nvPr>
            <p:ph type="body" idx="1"/>
          </p:nvPr>
        </p:nvSpPr>
        <p:spPr/>
        <p:txBody>
          <a:bodyPr/>
          <a:lstStyle/>
          <a:p>
            <a:r>
              <a:rPr lang="zh-CN" altLang="en-US"/>
              <a:t>单击此处编辑</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576072" y="301752"/>
            <a:ext cx="8001000" cy="960120"/>
          </a:xfrm>
        </p:spPr>
        <p:txBody>
          <a:bodyPr anchor="b"/>
          <a:lstStyle/>
          <a:p>
            <a:r>
              <a:rPr lang="zh-CN" altLang="en-US"/>
              <a:t>单击此处编辑</a:t>
            </a:r>
          </a:p>
        </p:txBody>
      </p:sp>
      <p:sp>
        <p:nvSpPr>
          <p:cNvPr id="3" name="Text Placeholder"/>
          <p:cNvSpPr>
            <a:spLocks noGrp="1"/>
          </p:cNvSpPr>
          <p:nvPr>
            <p:ph type="body" idx="1"/>
          </p:nvPr>
        </p:nvSpPr>
        <p:spPr>
          <a:xfrm>
            <a:off x="576072" y="1600200"/>
            <a:ext cx="8001000" cy="4389120"/>
          </a:xfrm>
        </p:spPr>
        <p:txBody>
          <a:bodyPr/>
          <a:lstStyle/>
          <a:p>
            <a:r>
              <a:rPr lang="zh-CN" altLang="en-US"/>
              <a:t>单击此处编辑</a:t>
            </a:r>
          </a:p>
        </p:txBody>
      </p:sp>
      <p:sp>
        <p:nvSpPr>
          <p:cNvPr id="4" name="sdc-title-bar"/>
          <p:cNvSpPr/>
          <p:nvPr userDrawn="1"/>
        </p:nvSpPr>
        <p:spPr>
          <a:xfrm>
            <a:off x="612648" y="1298448"/>
            <a:ext cx="1463040" cy="64008"/>
          </a:xfrm>
          <a:prstGeom prst="rect">
            <a:avLst/>
          </a:prstGeom>
          <a:solidFill>
            <a:srgbClr val="A33B38"/>
          </a:solidFill>
          <a:ln>
            <a:noFill/>
          </a:ln>
        </p:spPr>
        <p:txBody>
          <a:bodyPr wrap="square" lIns="91440" tIns="45720" rIns="91440" bIns="45720" anchor="t"/>
          <a:lstStyle/>
          <a:p>
            <a:endParaRPr lang="zh-CN"/>
          </a:p>
        </p:txBody>
      </p:sp>
      <p:cxnSp>
        <p:nvCxnSpPr>
          <p:cNvPr id="5" name="sdc-title-line"/>
          <p:cNvCxnSpPr/>
          <p:nvPr userDrawn="1"/>
        </p:nvCxnSpPr>
        <p:spPr>
          <a:xfrm>
            <a:off x="2075688" y="1330452"/>
            <a:ext cx="6492240" cy="0"/>
          </a:xfrm>
          <a:prstGeom prst="line">
            <a:avLst/>
          </a:prstGeom>
          <a:ln w="12700">
            <a:solidFill>
              <a:srgbClr val="E3C4C2"/>
            </a:solidFill>
          </a:ln>
        </p:spPr>
      </p:cxnSp>
      <p:cxnSp>
        <p:nvCxnSpPr>
          <p:cNvPr id="6" name="sdc-footer-line"/>
          <p:cNvCxnSpPr/>
          <p:nvPr userDrawn="1"/>
        </p:nvCxnSpPr>
        <p:spPr>
          <a:xfrm>
            <a:off x="457200" y="6355080"/>
            <a:ext cx="8229600" cy="0"/>
          </a:xfrm>
          <a:prstGeom prst="line">
            <a:avLst/>
          </a:prstGeom>
          <a:ln w="9525">
            <a:solidFill>
              <a:srgbClr val="D9D9D9"/>
            </a:solidFill>
          </a:ln>
        </p:spPr>
      </p:cxnSp>
      <p:pic>
        <p:nvPicPr>
          <p:cNvPr id="7" name="sdc-footer-logo"/>
          <p:cNvPicPr>
            <a:picLocks noChangeAspect="1"/>
          </p:cNvPicPr>
          <p:nvPr userDrawn="1"/>
        </p:nvPicPr>
        <p:blipFill>
          <a:blip r:embed="rId13"/>
          <a:stretch>
            <a:fillRect/>
          </a:stretch>
        </p:blipFill>
        <p:spPr>
          <a:xfrm>
            <a:off x="457200" y="6419088"/>
            <a:ext cx="329184" cy="329184"/>
          </a:xfrm>
          <a:prstGeom prst="rect">
            <a:avLst/>
          </a:prstGeom>
        </p:spPr>
      </p:pic>
      <p:sp>
        <p:nvSpPr>
          <p:cNvPr id="8" name="sdc-footer-college"/>
          <p:cNvSpPr/>
          <p:nvPr userDrawn="1"/>
        </p:nvSpPr>
        <p:spPr>
          <a:xfrm>
            <a:off x="841248" y="6400800"/>
            <a:ext cx="3657600" cy="365760"/>
          </a:xfrm>
          <a:prstGeom prst="rect">
            <a:avLst/>
          </a:prstGeom>
          <a:noFill/>
          <a:ln>
            <a:noFill/>
          </a:ln>
        </p:spPr>
        <p:txBody>
          <a:bodyPr wrap="square" lIns="0" tIns="0" rIns="0" bIns="0" anchor="ctr"/>
          <a:lstStyle/>
          <a:p>
            <a:pPr algn="l"/>
            <a:r>
              <a:rPr lang="zh-CN" altLang="en-US" sz="1100" b="0">
                <a:solidFill>
                  <a:srgbClr val="595959"/>
                </a:solidFill>
                <a:latin typeface="微软雅黑"/>
                <a:ea typeface="微软雅黑"/>
              </a:rPr>
              <a:t>计算机科学与技术学院</a:t>
            </a:r>
          </a:p>
        </p:txBody>
      </p:sp>
      <p:sp>
        <p:nvSpPr>
          <p:cNvPr id="9" name="sdc-page-number"/>
          <p:cNvSpPr/>
          <p:nvPr userDrawn="1"/>
        </p:nvSpPr>
        <p:spPr>
          <a:xfrm>
            <a:off x="6858000" y="6400800"/>
            <a:ext cx="1828800" cy="365760"/>
          </a:xfrm>
          <a:prstGeom prst="rect">
            <a:avLst/>
          </a:prstGeom>
          <a:noFill/>
          <a:ln>
            <a:noFill/>
          </a:ln>
        </p:spPr>
        <p:txBody>
          <a:bodyPr wrap="square" lIns="0" tIns="0" rIns="0" bIns="0" anchor="ctr"/>
          <a:lstStyle/>
          <a:p>
            <a:pPr algn="r"/>
            <a:fld id="{B6F15528-21DE-4FAA-801E-634DDDAF4B2B}" type="slidenum">
              <a:rPr lang="zh-CN" altLang="en-US" sz="1200">
                <a:solidFill>
                  <a:srgbClr val="595959"/>
                </a:solidFill>
                <a:latin typeface="微软雅黑"/>
                <a:ea typeface="微软雅黑"/>
              </a:rPr>
              <a:t>‹#›</a:t>
            </a:fld>
            <a:endParaRPr lang="zh-CN" altLang="en-US" sz="1200">
              <a:solidFill>
                <a:srgbClr val="595959"/>
              </a:solidFill>
              <a:latin typeface="微软雅黑"/>
              <a:ea typeface="微软雅黑"/>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eaLnBrk="1" hangingPunct="1">
        <a:lnSpc>
          <a:spcPct val="90000"/>
        </a:lnSpc>
        <a:defRPr sz="2800" b="1" kern="1200">
          <a:solidFill>
            <a:srgbClr val="A33B38"/>
          </a:solidFill>
          <a:latin typeface="微软雅黑"/>
          <a:ea typeface="微软雅黑"/>
          <a:cs typeface="微软雅黑"/>
        </a:defRPr>
      </a:lvl1pPr>
    </p:titleStyle>
    <p:bodyStyle>
      <a:lvl1pPr marL="292608" indent="-292608" algn="l" eaLnBrk="1" hangingPunct="1">
        <a:lnSpc>
          <a:spcPct val="110000"/>
        </a:lnSpc>
        <a:spcBef>
          <a:spcPts val="600"/>
        </a:spcBef>
        <a:buClr>
          <a:srgbClr val="A33B38"/>
        </a:buClr>
        <a:buSzPct val="80000"/>
        <a:buFont typeface="Wingdings"/>
        <a:buChar char="n"/>
        <a:defRPr sz="2200" b="0" kern="1200">
          <a:solidFill>
            <a:srgbClr val="262626"/>
          </a:solidFill>
          <a:latin typeface="微软雅黑"/>
          <a:ea typeface="微软雅黑"/>
          <a:cs typeface="微软雅黑"/>
        </a:defRPr>
      </a:lvl1pPr>
      <a:lvl2pPr marL="640080" indent="-256032" algn="l" eaLnBrk="1" hangingPunct="1">
        <a:lnSpc>
          <a:spcPct val="110000"/>
        </a:lnSpc>
        <a:spcBef>
          <a:spcPts val="600"/>
        </a:spcBef>
        <a:buClr>
          <a:srgbClr val="7F7F7F"/>
        </a:buClr>
        <a:buSzPct val="80000"/>
        <a:buFont typeface="Wingdings"/>
        <a:buChar char="§"/>
        <a:defRPr sz="2000" b="0" kern="1200">
          <a:solidFill>
            <a:srgbClr val="262626"/>
          </a:solidFill>
          <a:latin typeface="微软雅黑"/>
          <a:ea typeface="微软雅黑"/>
          <a:cs typeface="微软雅黑"/>
        </a:defRPr>
      </a:lvl2pPr>
      <a:lvl3pPr marL="960120" indent="-228600" algn="l" eaLnBrk="1" hangingPunct="1">
        <a:lnSpc>
          <a:spcPct val="110000"/>
        </a:lnSpc>
        <a:spcBef>
          <a:spcPts val="600"/>
        </a:spcBef>
        <a:buClr>
          <a:srgbClr val="7F7F7F"/>
        </a:buClr>
        <a:buSzPct val="80000"/>
        <a:buFont typeface="Wingdings"/>
        <a:buChar char="§"/>
        <a:defRPr sz="1800" b="0" kern="1200">
          <a:solidFill>
            <a:srgbClr val="262626"/>
          </a:solidFill>
          <a:latin typeface="微软雅黑"/>
          <a:ea typeface="微软雅黑"/>
          <a:cs typeface="微软雅黑"/>
        </a:defRPr>
      </a:lvl3pPr>
    </p:bodyStyle>
    <p:otherStyle>
      <a:lvl1pPr algn="l">
        <a:defRPr sz="1800" kern="1200">
          <a:solidFill>
            <a:schemeClr val="tx1"/>
          </a:solidFill>
          <a:latin typeface="+mn-lt"/>
          <a:ea typeface="+mn-ea"/>
          <a:cs typeface="+mn-cs"/>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wrap="square" lIns="54864" tIns="18288" rIns="54864" bIns="18288"/>
          <a:lstStyle/>
          <a:p>
            <a:pPr algn="l" eaLnBrk="1" hangingPunct="1">
              <a:lnSpc>
                <a:spcPct val="100000"/>
              </a:lnSpc>
              <a:spcBef>
                <a:spcPts val="600"/>
              </a:spcBef>
              <a:spcAft>
                <a:spcPts val="200"/>
              </a:spcAft>
            </a:pPr>
            <a:r>
              <a:rPr lang="zh-CN" altLang="en-US" sz="2000" b="1">
                <a:solidFill>
                  <a:srgbClr val="A33B38"/>
                </a:solidFill>
                <a:latin typeface="微软雅黑"/>
                <a:ea typeface="微软雅黑"/>
                <a:cs typeface="微软雅黑"/>
              </a:rPr>
              <a:t>软件设计与规范</a:t>
            </a:r>
          </a:p>
        </p:txBody>
      </p:sp>
      <p:sp>
        <p:nvSpPr>
          <p:cNvPr id="3" name="body"/>
          <p:cNvSpPr>
            <a:spLocks noGrp="1"/>
          </p:cNvSpPr>
          <p:nvPr>
            <p:ph type="subTitle" idx="1"/>
          </p:nvPr>
        </p:nvSpPr>
        <p:spPr/>
        <p:txBody>
          <a:bodyPr wrap="square" lIns="54864" tIns="18288" rIns="54864" bIns="18288"/>
          <a:lstStyle/>
          <a:p>
            <a:pPr algn="l" eaLnBrk="1" hangingPunct="1">
              <a:lnSpc>
                <a:spcPct val="100000"/>
              </a:lnSpc>
              <a:spcBef>
                <a:spcPts val="600"/>
              </a:spcBef>
              <a:spcAft>
                <a:spcPts val="200"/>
              </a:spcAft>
            </a:pPr>
            <a:r>
              <a:rPr lang="zh-CN" altLang="en-US" sz="2800" b="1">
                <a:solidFill>
                  <a:srgbClr val="262626"/>
                </a:solidFill>
                <a:latin typeface="微软雅黑"/>
                <a:ea typeface="微软雅黑"/>
                <a:cs typeface="微软雅黑"/>
              </a:rPr>
              <a:t>第 3 次课｜运行环境</a:t>
            </a:r>
          </a:p>
          <a:p>
            <a:pPr algn="l" eaLnBrk="1" hangingPunct="1">
              <a:lnSpc>
                <a:spcPct val="100000"/>
              </a:lnSpc>
              <a:spcBef>
                <a:spcPts val="2400"/>
              </a:spcBef>
              <a:spcAft>
                <a:spcPts val="200"/>
              </a:spcAft>
            </a:pPr>
            <a:r>
              <a:rPr lang="zh-CN" altLang="en-US" sz="2000" b="0">
                <a:solidFill>
                  <a:srgbClr val="595959"/>
                </a:solidFill>
                <a:latin typeface="微软雅黑"/>
                <a:ea typeface="微软雅黑"/>
                <a:cs typeface="微软雅黑"/>
              </a:rPr>
              <a:t>李萌</a:t>
            </a:r>
          </a:p>
          <a:p>
            <a:pPr algn="l" eaLnBrk="1" hangingPunct="1">
              <a:lnSpc>
                <a:spcPct val="100000"/>
              </a:lnSpc>
              <a:spcBef>
                <a:spcPts val="600"/>
              </a:spcBef>
              <a:spcAft>
                <a:spcPts val="200"/>
              </a:spcAft>
            </a:pPr>
            <a:r>
              <a:rPr lang="zh-CN" altLang="en-US" sz="2000" b="0">
                <a:solidFill>
                  <a:srgbClr val="595959"/>
                </a:solidFill>
                <a:latin typeface="微软雅黑"/>
                <a:ea typeface="微软雅黑"/>
                <a:cs typeface="微软雅黑"/>
              </a:rPr>
              <a:t>计算机科学与技术学院</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FFFFFF"/>
                </a:solidFill>
                <a:latin typeface="微软雅黑"/>
                <a:ea typeface="微软雅黑"/>
                <a:cs typeface="微软雅黑"/>
              </a:rPr>
              <a:t>目录</a:t>
            </a:r>
          </a:p>
        </p:txBody>
      </p:sp>
      <p:sp>
        <p:nvSpPr>
          <p:cNvPr id="40" name="body"/>
          <p:cNvSpPr>
            <a:spLocks noGrp="1"/>
          </p:cNvSpPr>
          <p:nvPr>
            <p:ph type="body" idx="1"/>
          </p:nvPr>
        </p:nvSpPr>
        <p:spPr/>
        <p:txBody>
          <a:bodyPr/>
          <a:lstStyle/>
          <a:p>
            <a:pPr marL="0" indent="0">
              <a:lnSpc>
                <a:spcPct val="100000"/>
              </a:lnSpc>
              <a:spcBef>
                <a:spcPts val="1000"/>
              </a:spcBef>
              <a:buNone/>
            </a:pPr>
            <a:r>
              <a:rPr lang="en-US" altLang="zh-CN" sz="2800" b="1">
                <a:solidFill>
                  <a:srgbClr val="A33B38"/>
                </a:solidFill>
                <a:latin typeface="微软雅黑"/>
                <a:ea typeface="微软雅黑"/>
              </a:rPr>
              <a:t>01</a:t>
            </a:r>
            <a:r>
              <a:rPr lang="zh-CN" altLang="en-US" sz="2000">
                <a:solidFill>
                  <a:srgbClr val="262626"/>
                </a:solidFill>
                <a:latin typeface="微软雅黑"/>
                <a:ea typeface="微软雅黑"/>
              </a:rPr>
              <a:t>    运行环境</a:t>
            </a:r>
          </a:p>
          <a:p>
            <a:pPr marL="0" indent="0">
              <a:lnSpc>
                <a:spcPct val="100000"/>
              </a:lnSpc>
              <a:spcBef>
                <a:spcPts val="1000"/>
              </a:spcBef>
              <a:buNone/>
            </a:pPr>
            <a:r>
              <a:rPr lang="en-US" altLang="zh-CN" sz="2800" b="1">
                <a:solidFill>
                  <a:srgbClr val="A33B38"/>
                </a:solidFill>
                <a:latin typeface="微软雅黑"/>
                <a:ea typeface="微软雅黑"/>
              </a:rPr>
              <a:t>02</a:t>
            </a:r>
            <a:r>
              <a:rPr lang="zh-CN" altLang="en-US" sz="2000">
                <a:solidFill>
                  <a:srgbClr val="262626"/>
                </a:solidFill>
                <a:latin typeface="微软雅黑"/>
                <a:ea typeface="微软雅黑"/>
              </a:rPr>
              <a:t>    运行环境与体系结构</a:t>
            </a:r>
          </a:p>
          <a:p>
            <a:pPr marL="0" indent="0">
              <a:lnSpc>
                <a:spcPct val="100000"/>
              </a:lnSpc>
              <a:spcBef>
                <a:spcPts val="1000"/>
              </a:spcBef>
              <a:buNone/>
            </a:pPr>
            <a:r>
              <a:rPr lang="en-US" altLang="zh-CN" sz="2800" b="1">
                <a:solidFill>
                  <a:srgbClr val="A33B38"/>
                </a:solidFill>
                <a:latin typeface="微软雅黑"/>
                <a:ea typeface="微软雅黑"/>
              </a:rPr>
              <a:t>03</a:t>
            </a:r>
            <a:r>
              <a:rPr lang="zh-CN" altLang="en-US" sz="2000">
                <a:solidFill>
                  <a:srgbClr val="262626"/>
                </a:solidFill>
                <a:latin typeface="微软雅黑"/>
                <a:ea typeface="微软雅黑"/>
              </a:rPr>
              <a:t>    需求如何转为设计方案</a:t>
            </a:r>
          </a:p>
          <a:p>
            <a:pPr marL="0" indent="0">
              <a:lnSpc>
                <a:spcPct val="100000"/>
              </a:lnSpc>
              <a:spcBef>
                <a:spcPts val="1000"/>
              </a:spcBef>
              <a:buNone/>
            </a:pPr>
            <a:r>
              <a:rPr lang="en-US" altLang="zh-CN" sz="2800" b="1">
                <a:solidFill>
                  <a:srgbClr val="A33B38"/>
                </a:solidFill>
                <a:latin typeface="微软雅黑"/>
                <a:ea typeface="微软雅黑"/>
              </a:rPr>
              <a:t>04</a:t>
            </a:r>
            <a:r>
              <a:rPr lang="zh-CN" altLang="en-US" sz="2000">
                <a:solidFill>
                  <a:srgbClr val="262626"/>
                </a:solidFill>
                <a:latin typeface="微软雅黑"/>
                <a:ea typeface="微软雅黑"/>
              </a:rPr>
              <a:t>    实验环境</a:t>
            </a:r>
          </a:p>
          <a:p>
            <a:pPr marL="0" indent="0">
              <a:lnSpc>
                <a:spcPct val="100000"/>
              </a:lnSpc>
              <a:spcBef>
                <a:spcPts val="1000"/>
              </a:spcBef>
              <a:buNone/>
            </a:pPr>
            <a:r>
              <a:rPr lang="en-US" altLang="zh-CN" sz="2800" b="1">
                <a:solidFill>
                  <a:srgbClr val="A33B38"/>
                </a:solidFill>
                <a:latin typeface="微软雅黑"/>
                <a:ea typeface="微软雅黑"/>
              </a:rPr>
              <a:t>05</a:t>
            </a:r>
            <a:r>
              <a:rPr lang="zh-CN" altLang="en-US" sz="2000">
                <a:solidFill>
                  <a:srgbClr val="262626"/>
                </a:solidFill>
                <a:latin typeface="微软雅黑"/>
                <a:ea typeface="微软雅黑"/>
              </a:rPr>
              <a:t>    实例项目</a:t>
            </a:r>
          </a:p>
          <a:p>
            <a:pPr marL="0" indent="0">
              <a:lnSpc>
                <a:spcPct val="100000"/>
              </a:lnSpc>
              <a:spcBef>
                <a:spcPts val="1000"/>
              </a:spcBef>
              <a:buNone/>
            </a:pPr>
            <a:r>
              <a:rPr lang="en-US" altLang="zh-CN" sz="2800" b="1">
                <a:solidFill>
                  <a:srgbClr val="A33B38"/>
                </a:solidFill>
                <a:latin typeface="微软雅黑"/>
                <a:ea typeface="微软雅黑"/>
              </a:rPr>
              <a:t>06</a:t>
            </a:r>
            <a:r>
              <a:rPr lang="zh-CN" altLang="en-US" sz="2000">
                <a:solidFill>
                  <a:srgbClr val="262626"/>
                </a:solidFill>
                <a:latin typeface="微软雅黑"/>
                <a:ea typeface="微软雅黑"/>
              </a:rPr>
              <a:t>    模块化原则</a:t>
            </a:r>
          </a:p>
          <a:p>
            <a:pPr marL="0" indent="0">
              <a:lnSpc>
                <a:spcPct val="100000"/>
              </a:lnSpc>
              <a:spcBef>
                <a:spcPts val="1000"/>
              </a:spcBef>
              <a:buNone/>
            </a:pPr>
            <a:r>
              <a:rPr lang="en-US" altLang="zh-CN" sz="2800" b="1">
                <a:solidFill>
                  <a:srgbClr val="A33B38"/>
                </a:solidFill>
                <a:latin typeface="微软雅黑"/>
                <a:ea typeface="微软雅黑"/>
              </a:rPr>
              <a:t>07</a:t>
            </a:r>
            <a:r>
              <a:rPr lang="zh-CN" altLang="en-US" sz="2000">
                <a:solidFill>
                  <a:srgbClr val="262626"/>
                </a:solidFill>
                <a:latin typeface="微软雅黑"/>
                <a:ea typeface="微软雅黑"/>
              </a:rPr>
              <a:t>    小结与布置</a:t>
            </a:r>
          </a:p>
          <a:p>
            <a:pPr marL="0" indent="0">
              <a:lnSpc>
                <a:spcPct val="100000"/>
              </a:lnSpc>
              <a:spcBef>
                <a:spcPts val="1000"/>
              </a:spcBef>
              <a:buNone/>
            </a:pPr>
            <a:r>
              <a:rPr lang="en-US" altLang="zh-CN" sz="2800" b="1">
                <a:solidFill>
                  <a:srgbClr val="A33B38"/>
                </a:solidFill>
                <a:latin typeface="微软雅黑"/>
                <a:ea typeface="微软雅黑"/>
              </a:rPr>
              <a:t>08</a:t>
            </a:r>
            <a:r>
              <a:rPr lang="zh-CN" altLang="en-US" sz="2000">
                <a:solidFill>
                  <a:srgbClr val="262626"/>
                </a:solidFill>
                <a:latin typeface="微软雅黑"/>
                <a:ea typeface="微软雅黑"/>
              </a:rPr>
              <a:t>    问答题</a:t>
            </a:r>
          </a:p>
          <a:p>
            <a:pPr marL="0" indent="0">
              <a:lnSpc>
                <a:spcPct val="100000"/>
              </a:lnSpc>
              <a:spcBef>
                <a:spcPts val="1000"/>
              </a:spcBef>
              <a:buNone/>
            </a:pPr>
            <a:r>
              <a:rPr lang="en-US" altLang="zh-CN" sz="2800" b="1">
                <a:solidFill>
                  <a:srgbClr val="A33B38"/>
                </a:solidFill>
                <a:latin typeface="微软雅黑"/>
                <a:ea typeface="微软雅黑"/>
              </a:rPr>
              <a:t>09</a:t>
            </a:r>
            <a:r>
              <a:rPr lang="zh-CN" altLang="en-US" sz="2000">
                <a:solidFill>
                  <a:srgbClr val="262626"/>
                </a:solidFill>
                <a:latin typeface="微软雅黑"/>
                <a:ea typeface="微软雅黑"/>
              </a:rPr>
              <a:t>    本章参考资料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本次课目标是了解环境并运行既有系统</a:t>
            </a:r>
          </a:p>
        </p:txBody>
      </p:sp>
      <p:sp>
        <p:nvSpPr>
          <p:cNvPr id="101" name="fig-d"/>
          <p:cNvSpPr/>
          <p:nvPr/>
        </p:nvSpPr>
        <p:spPr>
          <a:xfrm>
            <a:off x="411480" y="1536192"/>
            <a:ext cx="1188720" cy="969264"/>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了解</a:t>
            </a:r>
            <a:endParaRPr lang="zh-CN" sz="1800">
              <a:latin typeface="微软雅黑"/>
              <a:ea typeface="微软雅黑"/>
            </a:endParaRPr>
          </a:p>
        </p:txBody>
      </p:sp>
      <p:sp>
        <p:nvSpPr>
          <p:cNvPr id="102" name="fig"/>
          <p:cNvSpPr/>
          <p:nvPr/>
        </p:nvSpPr>
        <p:spPr>
          <a:xfrm>
            <a:off x="1691640" y="1536192"/>
            <a:ext cx="7040880" cy="969264"/>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了解软件运行环境的主要形态与云服务的三个层次：</a:t>
            </a:r>
            <a:br>
              <a:rPr lang="zh-CN" sz="2000">
                <a:latin typeface="微软雅黑"/>
                <a:ea typeface="微软雅黑"/>
              </a:rPr>
            </a:br>
            <a:r>
              <a:rPr lang="zh-CN" altLang="en-US" sz="2000" b="0">
                <a:solidFill>
                  <a:srgbClr val="262626"/>
                </a:solidFill>
                <a:latin typeface="微软雅黑"/>
                <a:ea typeface="微软雅黑"/>
              </a:rPr>
              <a:t>基础设施即服务、平台即服务、软件即服务</a:t>
            </a:r>
            <a:endParaRPr lang="zh-CN" sz="2000">
              <a:latin typeface="微软雅黑"/>
              <a:ea typeface="微软雅黑"/>
            </a:endParaRPr>
          </a:p>
        </p:txBody>
      </p:sp>
      <p:sp>
        <p:nvSpPr>
          <p:cNvPr id="103" name="fig-d"/>
          <p:cNvSpPr/>
          <p:nvPr/>
        </p:nvSpPr>
        <p:spPr>
          <a:xfrm>
            <a:off x="411480" y="2615184"/>
            <a:ext cx="1188720" cy="969264"/>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理解</a:t>
            </a:r>
            <a:endParaRPr lang="zh-CN" sz="1800">
              <a:latin typeface="微软雅黑"/>
              <a:ea typeface="微软雅黑"/>
            </a:endParaRPr>
          </a:p>
        </p:txBody>
      </p:sp>
      <p:sp>
        <p:nvSpPr>
          <p:cNvPr id="104" name="fig"/>
          <p:cNvSpPr/>
          <p:nvPr/>
        </p:nvSpPr>
        <p:spPr>
          <a:xfrm>
            <a:off x="1691640" y="2615184"/>
            <a:ext cx="7040880" cy="969264"/>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理解运行环境与体系结构的关系：运行环境是物理视图的约束来源</a:t>
            </a:r>
            <a:endParaRPr lang="zh-CN" sz="2000">
              <a:latin typeface="微软雅黑"/>
              <a:ea typeface="微软雅黑"/>
            </a:endParaRPr>
          </a:p>
        </p:txBody>
      </p:sp>
      <p:sp>
        <p:nvSpPr>
          <p:cNvPr id="105" name="fig-d"/>
          <p:cNvSpPr/>
          <p:nvPr/>
        </p:nvSpPr>
        <p:spPr>
          <a:xfrm>
            <a:off x="411480" y="3694176"/>
            <a:ext cx="1188720" cy="969264"/>
          </a:xfrm>
          <a:prstGeom prst="rect">
            <a:avLst/>
          </a:prstGeom>
          <a:solidFill>
            <a:srgbClr val="595959"/>
          </a:solidFill>
          <a:ln w="12700">
            <a:solidFill>
              <a:srgbClr val="595959"/>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理解</a:t>
            </a:r>
            <a:endParaRPr lang="zh-CN" sz="1800">
              <a:latin typeface="微软雅黑"/>
              <a:ea typeface="微软雅黑"/>
            </a:endParaRPr>
          </a:p>
        </p:txBody>
      </p:sp>
      <p:sp>
        <p:nvSpPr>
          <p:cNvPr id="106" name="fig"/>
          <p:cNvSpPr/>
          <p:nvPr/>
        </p:nvSpPr>
        <p:spPr>
          <a:xfrm>
            <a:off x="1691640" y="3694176"/>
            <a:ext cx="7040880" cy="969264"/>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理解实验环境各组成部分在系统中的位置与边界</a:t>
            </a:r>
            <a:endParaRPr lang="zh-CN" sz="2000">
              <a:latin typeface="微软雅黑"/>
              <a:ea typeface="微软雅黑"/>
            </a:endParaRPr>
          </a:p>
        </p:txBody>
      </p:sp>
      <p:sp>
        <p:nvSpPr>
          <p:cNvPr id="107" name="fig-d"/>
          <p:cNvSpPr/>
          <p:nvPr/>
        </p:nvSpPr>
        <p:spPr>
          <a:xfrm>
            <a:off x="411480" y="4773168"/>
            <a:ext cx="1188720" cy="969264"/>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掌握</a:t>
            </a:r>
            <a:endParaRPr lang="zh-CN" sz="1800">
              <a:latin typeface="微软雅黑"/>
              <a:ea typeface="微软雅黑"/>
            </a:endParaRPr>
          </a:p>
        </p:txBody>
      </p:sp>
      <p:sp>
        <p:nvSpPr>
          <p:cNvPr id="108" name="fig"/>
          <p:cNvSpPr/>
          <p:nvPr/>
        </p:nvSpPr>
        <p:spPr>
          <a:xfrm>
            <a:off x="1691640" y="4773168"/>
            <a:ext cx="7040880" cy="969264"/>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掌握实例项目的选取原则与使用约定，能在给定环境中搭建、编译并运行既有系统</a:t>
            </a:r>
            <a:endParaRPr lang="zh-CN" sz="2000">
              <a:latin typeface="微软雅黑"/>
              <a:ea typeface="微软雅黑"/>
            </a:endParaRPr>
          </a:p>
        </p:txBody>
      </p:sp>
      <p:sp>
        <p:nvSpPr>
          <p:cNvPr id="10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本次课目标</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重点与难点</a:t>
            </a:r>
          </a:p>
        </p:txBody>
      </p:sp>
      <p:graphicFrame>
        <p:nvGraphicFramePr>
          <p:cNvPr id="3" name="table"/>
          <p:cNvGraphicFramePr>
            <a:graphicFrameLocks noGrp="1"/>
          </p:cNvGraphicFramePr>
          <p:nvPr/>
        </p:nvGraphicFramePr>
        <p:xfrm>
          <a:off x="368300" y="1587500"/>
          <a:ext cx="8407400" cy="4127499"/>
        </p:xfrm>
        <a:graphic>
          <a:graphicData uri="http://schemas.openxmlformats.org/drawingml/2006/table">
            <a:tbl>
              <a:tblPr>
                <a:tableStyleId>{2D5ABB26-0587-4C30-8999-92F81FD0307C}</a:tableStyleId>
              </a:tblPr>
              <a:tblGrid>
                <a:gridCol w="1143000">
                  <a:extLst>
                    <a:ext uri="{9D8B030D-6E8A-4147-A177-3AD203B41FA5}">
                      <a16:colId xmlns:a16="http://schemas.microsoft.com/office/drawing/2014/main" val="20000"/>
                    </a:ext>
                  </a:extLst>
                </a:gridCol>
                <a:gridCol w="7264400">
                  <a:extLst>
                    <a:ext uri="{9D8B030D-6E8A-4147-A177-3AD203B41FA5}">
                      <a16:colId xmlns:a16="http://schemas.microsoft.com/office/drawing/2014/main" val="20001"/>
                    </a:ext>
                  </a:extLst>
                </a:gridCol>
              </a:tblGrid>
              <a:tr h="281001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重点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软件运行环境的主要形态，单体、分布式、容器化，云服务的层次；</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各运行形态的适用范围与工程用法；</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实验环境与实例项目；</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模块化与信息隐藏，内聚与耦合。</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131748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难点</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运行环境作为体系结构的约束来源；</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在受约束的环境里搭建并运行一个既有系统。</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本次课目标</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先衔接 E1 常见环境问题（非本班统计）</a:t>
            </a:r>
          </a:p>
        </p:txBody>
      </p:sp>
      <p:graphicFrame>
        <p:nvGraphicFramePr>
          <p:cNvPr id="3" name="table"/>
          <p:cNvGraphicFramePr>
            <a:graphicFrameLocks noGrp="1"/>
          </p:cNvGraphicFramePr>
          <p:nvPr>
            <p:extLst>
              <p:ext uri="{D42A27DB-BD31-4B8C-83A1-F6EECF244321}">
                <p14:modId xmlns:p14="http://schemas.microsoft.com/office/powerpoint/2010/main" val="4250295145"/>
              </p:ext>
            </p:extLst>
          </p:nvPr>
        </p:nvGraphicFramePr>
        <p:xfrm>
          <a:off x="365760" y="1481328"/>
          <a:ext cx="8412480" cy="3529584"/>
        </p:xfrm>
        <a:graphic>
          <a:graphicData uri="http://schemas.openxmlformats.org/drawingml/2006/table">
            <a:tbl>
              <a:tblPr>
                <a:tableStyleId>{2D5ABB26-0587-4C30-8999-92F81FD0307C}</a:tableStyleId>
              </a:tblPr>
              <a:tblGrid>
                <a:gridCol w="2697480">
                  <a:extLst>
                    <a:ext uri="{9D8B030D-6E8A-4147-A177-3AD203B41FA5}">
                      <a16:colId xmlns:a16="http://schemas.microsoft.com/office/drawing/2014/main" val="20000"/>
                    </a:ext>
                  </a:extLst>
                </a:gridCol>
                <a:gridCol w="5715000">
                  <a:extLst>
                    <a:ext uri="{9D8B030D-6E8A-4147-A177-3AD203B41FA5}">
                      <a16:colId xmlns:a16="http://schemas.microsoft.com/office/drawing/2014/main" val="20001"/>
                    </a:ext>
                  </a:extLst>
                </a:gridCol>
              </a:tblGrid>
              <a:tr h="44805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现象</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最短处理</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72237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编译版本错误</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看 mvn -version 是否Java17，再看IDEA Runner；不要重装整个工程</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72237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下载失败</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请助教处理网络/缓存，或换已准备好的课程机器；不是代码缺陷证据</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722376">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数据库/模型连接失败</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先做离线测试和分析，记录未完成部分，</a:t>
                      </a:r>
                      <a:br>
                        <a:rPr lang="zh-CN" altLang="en-US" sz="2000" b="0" dirty="0">
                          <a:solidFill>
                            <a:srgbClr val="262626"/>
                          </a:solidFill>
                          <a:latin typeface="微软雅黑"/>
                          <a:ea typeface="微软雅黑"/>
                        </a:rPr>
                      </a:br>
                      <a:r>
                        <a:rPr lang="zh-CN" altLang="en-US" sz="2000" b="0" dirty="0">
                          <a:solidFill>
                            <a:srgbClr val="262626"/>
                          </a:solidFill>
                          <a:latin typeface="微软雅黑"/>
                          <a:ea typeface="微软雅黑"/>
                          <a:cs typeface="微软雅黑"/>
                        </a:rPr>
                        <a:t>再补实际运行</a:t>
                      </a:r>
                      <a:br>
                        <a:rPr lang="en-US" altLang="zh-CN" sz="2000" b="0" dirty="0">
                          <a:solidFill>
                            <a:srgbClr val="262626"/>
                          </a:solidFill>
                          <a:latin typeface="微软雅黑"/>
                          <a:ea typeface="微软雅黑"/>
                          <a:cs typeface="微软雅黑"/>
                        </a:rPr>
                      </a:br>
                      <a:endParaRPr lang="en-US" altLang="zh-CN" sz="2000" b="0" dirty="0">
                        <a:solidFill>
                          <a:srgbClr val="262626"/>
                        </a:solidFill>
                        <a:latin typeface="微软雅黑"/>
                        <a:ea typeface="微软雅黑"/>
                        <a:cs typeface="微软雅黑"/>
                      </a:endParaRP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72237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找不到模块或类</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确认在 mall 根目录，测试类在被测模块的 src/test/java；用</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code-cmd"/>
          <p:cNvSpPr txBox="1"/>
          <p:nvPr/>
        </p:nvSpPr>
        <p:spPr>
          <a:xfrm>
            <a:off x="406400" y="5397500"/>
            <a:ext cx="8318500" cy="313932"/>
          </a:xfrm>
          <a:prstGeom prst="rect">
            <a:avLst/>
          </a:prstGeom>
          <a:solidFill>
            <a:srgbClr val="F4F4F4"/>
          </a:solidFill>
          <a:ln w="9525">
            <a:solidFill>
              <a:srgbClr val="D9D9D9"/>
            </a:solidFill>
          </a:ln>
        </p:spPr>
        <p:txBody>
          <a:bodyPr wrap="square" lIns="54864" tIns="18288" rIns="54864" bIns="18288">
            <a:spAutoFit/>
          </a:bodyPr>
          <a:lstStyle/>
          <a:p>
            <a:pPr algn="l" eaLnBrk="1" hangingPunct="1">
              <a:lnSpc>
                <a:spcPct val="100000"/>
              </a:lnSpc>
              <a:spcBef>
                <a:spcPts val="0"/>
              </a:spcBef>
              <a:spcAft>
                <a:spcPts val="0"/>
              </a:spcAft>
              <a:buNone/>
            </a:pPr>
            <a:r>
              <a:rPr lang="en-US" altLang="zh-CN" b="0" dirty="0" err="1">
                <a:latin typeface="Consolas"/>
                <a:ea typeface="微软雅黑"/>
                <a:cs typeface="Consolas"/>
              </a:rPr>
              <a:t>-pl &lt;模块&gt; -am -DskipTests=false -Dtest=&lt;测试类&gt; test</a:t>
            </a:r>
            <a:endParaRPr lang="zh-CN" altLang="en-US" b="0" dirty="0">
              <a:latin typeface="Consolas"/>
              <a:ea typeface="微软雅黑"/>
              <a:cs typeface="Consolas"/>
            </a:endParaRP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本次课目标</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运行环境的形态由需求和代价决定</a:t>
            </a:r>
          </a:p>
        </p:txBody>
      </p:sp>
      <p:sp>
        <p:nvSpPr>
          <p:cNvPr id="3" name="body"/>
          <p:cNvSpPr txBox="1"/>
          <p:nvPr/>
        </p:nvSpPr>
        <p:spPr>
          <a:xfrm>
            <a:off x="406400" y="1485900"/>
            <a:ext cx="8318500" cy="431800"/>
          </a:xfrm>
          <a:prstGeom prst="rect">
            <a:avLst/>
          </a:prstGeom>
          <a:noFill/>
        </p:spPr>
        <p:txBody>
          <a:bodyPr wrap="square" lIns="54864" tIns="18288" rIns="54864" bIns="18288">
            <a:spAutoFit/>
          </a:bodyPr>
          <a:lstStyle/>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000" b="0">
                <a:latin typeface="微软雅黑"/>
                <a:ea typeface="微软雅黑"/>
                <a:cs typeface="微软雅黑"/>
              </a:rPr>
              <a:t>本节顺序：资源由谁提供，应用怎样打包，部署单元怎样划分</a:t>
            </a:r>
          </a:p>
        </p:txBody>
      </p:sp>
      <p:sp>
        <p:nvSpPr>
          <p:cNvPr id="4" name="fig"/>
          <p:cNvSpPr/>
          <p:nvPr/>
        </p:nvSpPr>
        <p:spPr>
          <a:xfrm>
            <a:off x="368300" y="2286000"/>
            <a:ext cx="4114800" cy="6604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400" b="0">
                <a:solidFill>
                  <a:srgbClr val="262626"/>
                </a:solidFill>
                <a:latin typeface="微软雅黑"/>
                <a:ea typeface="微软雅黑"/>
                <a:cs typeface="微软雅黑"/>
              </a:rPr>
              <a:t>开发环境</a:t>
            </a:r>
          </a:p>
        </p:txBody>
      </p:sp>
      <p:sp>
        <p:nvSpPr>
          <p:cNvPr id="5" name="fig"/>
          <p:cNvSpPr/>
          <p:nvPr/>
        </p:nvSpPr>
        <p:spPr>
          <a:xfrm>
            <a:off x="4660900" y="2286000"/>
            <a:ext cx="4114800" cy="6604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400" b="0">
                <a:solidFill>
                  <a:srgbClr val="262626"/>
                </a:solidFill>
                <a:latin typeface="微软雅黑"/>
                <a:ea typeface="微软雅黑"/>
                <a:cs typeface="微软雅黑"/>
              </a:rPr>
              <a:t>运行环境</a:t>
            </a:r>
          </a:p>
        </p:txBody>
      </p:sp>
      <p:sp>
        <p:nvSpPr>
          <p:cNvPr id="6" name="fig"/>
          <p:cNvSpPr/>
          <p:nvPr/>
        </p:nvSpPr>
        <p:spPr>
          <a:xfrm>
            <a:off x="368300" y="3048000"/>
            <a:ext cx="4114800" cy="8382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改代码、编译、调试</a:t>
            </a:r>
          </a:p>
        </p:txBody>
      </p:sp>
      <p:sp>
        <p:nvSpPr>
          <p:cNvPr id="7" name="fig"/>
          <p:cNvSpPr/>
          <p:nvPr/>
        </p:nvSpPr>
        <p:spPr>
          <a:xfrm>
            <a:off x="4660900" y="3048000"/>
            <a:ext cx="4114800" cy="8382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运行已经构建的程序</a:t>
            </a:r>
          </a:p>
        </p:txBody>
      </p:sp>
      <p:sp>
        <p:nvSpPr>
          <p:cNvPr id="8" name="fig"/>
          <p:cNvSpPr/>
          <p:nvPr/>
        </p:nvSpPr>
        <p:spPr>
          <a:xfrm>
            <a:off x="368300" y="3987800"/>
            <a:ext cx="4114800" cy="8382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Java 17 与 Maven</a:t>
            </a:r>
          </a:p>
        </p:txBody>
      </p:sp>
      <p:sp>
        <p:nvSpPr>
          <p:cNvPr id="9" name="fig"/>
          <p:cNvSpPr/>
          <p:nvPr/>
        </p:nvSpPr>
        <p:spPr>
          <a:xfrm>
            <a:off x="4660900" y="3987800"/>
            <a:ext cx="4114800" cy="8382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进程、中间件与网络</a:t>
            </a:r>
          </a:p>
        </p:txBody>
      </p:sp>
      <p:sp>
        <p:nvSpPr>
          <p:cNvPr id="10" name="fig"/>
          <p:cNvSpPr/>
          <p:nvPr/>
        </p:nvSpPr>
        <p:spPr>
          <a:xfrm>
            <a:off x="368300" y="4927600"/>
            <a:ext cx="4114800" cy="8382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以编译和测试为事实</a:t>
            </a:r>
          </a:p>
        </p:txBody>
      </p:sp>
      <p:sp>
        <p:nvSpPr>
          <p:cNvPr id="11" name="fig"/>
          <p:cNvSpPr/>
          <p:nvPr/>
        </p:nvSpPr>
        <p:spPr>
          <a:xfrm>
            <a:off x="4660900" y="4927600"/>
            <a:ext cx="4114800" cy="8382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容器或另一台机器</a:t>
            </a:r>
          </a:p>
        </p:txBody>
      </p:sp>
      <p:sp>
        <p:nvSpPr>
          <p:cNvPr id="12"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虚拟化把一台物理机划成多台相互隔离的逻辑机</a:t>
            </a:r>
          </a:p>
        </p:txBody>
      </p:sp>
      <p:graphicFrame>
        <p:nvGraphicFramePr>
          <p:cNvPr id="3" name="table"/>
          <p:cNvGraphicFramePr>
            <a:graphicFrameLocks noGrp="1"/>
          </p:cNvGraphicFramePr>
          <p:nvPr/>
        </p:nvGraphicFramePr>
        <p:xfrm>
          <a:off x="365760" y="3182112"/>
          <a:ext cx="8403336" cy="2514600"/>
        </p:xfrm>
        <a:graphic>
          <a:graphicData uri="http://schemas.openxmlformats.org/drawingml/2006/table">
            <a:tbl>
              <a:tblPr>
                <a:tableStyleId>{2D5ABB26-0587-4C30-8999-92F81FD0307C}</a:tableStyleId>
              </a:tblPr>
              <a:tblGrid>
                <a:gridCol w="1673352">
                  <a:extLst>
                    <a:ext uri="{9D8B030D-6E8A-4147-A177-3AD203B41FA5}">
                      <a16:colId xmlns:a16="http://schemas.microsoft.com/office/drawing/2014/main" val="20000"/>
                    </a:ext>
                  </a:extLst>
                </a:gridCol>
                <a:gridCol w="6729984">
                  <a:extLst>
                    <a:ext uri="{9D8B030D-6E8A-4147-A177-3AD203B41FA5}">
                      <a16:colId xmlns:a16="http://schemas.microsoft.com/office/drawing/2014/main" val="20001"/>
                    </a:ext>
                  </a:extLst>
                </a:gridCol>
              </a:tblGrid>
              <a:tr h="5029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多个应用共用一台机器，并保持操作系统边界</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5029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用软件把物理资源抽象为逻辑资源，同时运行多台逻辑机</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5029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可运行不同操作系统，便于资源分配与复用</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5029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每台逻辑机带完整操作系统，占用空间大，启动慢</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5029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共享物理资源，资源争用仍会影响各逻辑机</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101" name="fig-d"/>
          <p:cNvSpPr/>
          <p:nvPr/>
        </p:nvSpPr>
        <p:spPr>
          <a:xfrm>
            <a:off x="411480" y="1481328"/>
            <a:ext cx="2103120" cy="1572768"/>
          </a:xfrm>
          <a:prstGeom prst="rect">
            <a:avLst/>
          </a:prstGeom>
          <a:noFill/>
          <a:ln w="12700">
            <a:solidFill>
              <a:srgbClr val="A6A6A6"/>
            </a:solidFill>
            <a:prstDash val="dash"/>
          </a:ln>
        </p:spPr>
        <p:txBody>
          <a:bodyPr wrap="square" lIns="73152" tIns="36576" rIns="73152" bIns="36576" anchor="ctr"/>
          <a:lstStyle/>
          <a:p>
            <a:endParaRPr lang="zh-CN">
              <a:latin typeface="微软雅黑"/>
              <a:ea typeface="微软雅黑"/>
            </a:endParaRPr>
          </a:p>
        </p:txBody>
      </p:sp>
      <p:sp>
        <p:nvSpPr>
          <p:cNvPr id="102" name="fig-d"/>
          <p:cNvSpPr/>
          <p:nvPr/>
        </p:nvSpPr>
        <p:spPr>
          <a:xfrm>
            <a:off x="502920" y="1508760"/>
            <a:ext cx="914400" cy="292608"/>
          </a:xfrm>
          <a:prstGeom prst="rect">
            <a:avLst/>
          </a:prstGeom>
          <a:noFill/>
          <a:ln>
            <a:noFill/>
          </a:ln>
        </p:spPr>
        <p:txBody>
          <a:bodyPr wrap="square" lIns="18288" tIns="9144" rIns="18288" bIns="9144" anchor="ctr"/>
          <a:lstStyle/>
          <a:p>
            <a:pPr algn="l">
              <a:lnSpc>
                <a:spcPct val="100000"/>
              </a:lnSpc>
              <a:buNone/>
            </a:pPr>
            <a:r>
              <a:rPr lang="zh-CN" altLang="en-US" sz="1600" b="1">
                <a:solidFill>
                  <a:srgbClr val="A33B38"/>
                </a:solidFill>
                <a:latin typeface="微软雅黑"/>
                <a:ea typeface="微软雅黑"/>
              </a:rPr>
              <a:t>物理</a:t>
            </a:r>
            <a:endParaRPr lang="zh-CN" sz="1600">
              <a:latin typeface="微软雅黑"/>
              <a:ea typeface="微软雅黑"/>
            </a:endParaRPr>
          </a:p>
        </p:txBody>
      </p:sp>
      <p:sp>
        <p:nvSpPr>
          <p:cNvPr id="103" name="fig-d"/>
          <p:cNvSpPr/>
          <p:nvPr/>
        </p:nvSpPr>
        <p:spPr>
          <a:xfrm>
            <a:off x="868680" y="1828800"/>
            <a:ext cx="1188720" cy="1097280"/>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600" b="1">
                <a:solidFill>
                  <a:srgbClr val="262626"/>
                </a:solidFill>
                <a:latin typeface="微软雅黑"/>
                <a:ea typeface="微软雅黑"/>
              </a:rPr>
              <a:t>服务器</a:t>
            </a:r>
            <a:endParaRPr lang="zh-CN" sz="1600">
              <a:latin typeface="微软雅黑"/>
              <a:ea typeface="微软雅黑"/>
            </a:endParaRPr>
          </a:p>
        </p:txBody>
      </p:sp>
      <p:sp>
        <p:nvSpPr>
          <p:cNvPr id="104" name="fig-d"/>
          <p:cNvSpPr/>
          <p:nvPr/>
        </p:nvSpPr>
        <p:spPr>
          <a:xfrm>
            <a:off x="2606040" y="2057400"/>
            <a:ext cx="1417320" cy="548640"/>
          </a:xfrm>
          <a:prstGeom prst="rightArrow">
            <a:avLst/>
          </a:prstGeom>
          <a:solidFill>
            <a:srgbClr val="A33B38"/>
          </a:solidFill>
          <a:ln w="12700">
            <a:solidFill>
              <a:srgbClr val="A33B38"/>
            </a:solidFill>
          </a:ln>
        </p:spPr>
        <p:txBody>
          <a:bodyPr wrap="square" lIns="18288" tIns="9144" rIns="18288" bIns="9144" anchor="ctr"/>
          <a:lstStyle/>
          <a:p>
            <a:pPr algn="ctr">
              <a:lnSpc>
                <a:spcPct val="100000"/>
              </a:lnSpc>
              <a:buNone/>
            </a:pPr>
            <a:r>
              <a:rPr lang="zh-CN" altLang="en-US" sz="1600" b="1">
                <a:solidFill>
                  <a:srgbClr val="FFFFFF"/>
                </a:solidFill>
                <a:latin typeface="微软雅黑"/>
                <a:ea typeface="微软雅黑"/>
              </a:rPr>
              <a:t>虚拟化</a:t>
            </a:r>
            <a:endParaRPr lang="zh-CN" sz="1600">
              <a:latin typeface="微软雅黑"/>
              <a:ea typeface="微软雅黑"/>
            </a:endParaRPr>
          </a:p>
        </p:txBody>
      </p:sp>
      <p:sp>
        <p:nvSpPr>
          <p:cNvPr id="105" name="fig-d"/>
          <p:cNvSpPr/>
          <p:nvPr/>
        </p:nvSpPr>
        <p:spPr>
          <a:xfrm>
            <a:off x="4114800" y="1481328"/>
            <a:ext cx="4617720" cy="1572768"/>
          </a:xfrm>
          <a:prstGeom prst="rect">
            <a:avLst/>
          </a:prstGeom>
          <a:noFill/>
          <a:ln w="12700">
            <a:solidFill>
              <a:srgbClr val="A6A6A6"/>
            </a:solidFill>
            <a:prstDash val="dash"/>
          </a:ln>
        </p:spPr>
        <p:txBody>
          <a:bodyPr wrap="square" lIns="73152" tIns="36576" rIns="73152" bIns="36576" anchor="ctr"/>
          <a:lstStyle/>
          <a:p>
            <a:endParaRPr lang="zh-CN">
              <a:latin typeface="微软雅黑"/>
              <a:ea typeface="微软雅黑"/>
            </a:endParaRPr>
          </a:p>
        </p:txBody>
      </p:sp>
      <p:sp>
        <p:nvSpPr>
          <p:cNvPr id="106" name="fig-d"/>
          <p:cNvSpPr/>
          <p:nvPr/>
        </p:nvSpPr>
        <p:spPr>
          <a:xfrm>
            <a:off x="4206240" y="1508760"/>
            <a:ext cx="914400" cy="292608"/>
          </a:xfrm>
          <a:prstGeom prst="rect">
            <a:avLst/>
          </a:prstGeom>
          <a:noFill/>
          <a:ln>
            <a:noFill/>
          </a:ln>
        </p:spPr>
        <p:txBody>
          <a:bodyPr wrap="square" lIns="18288" tIns="9144" rIns="18288" bIns="9144" anchor="ctr"/>
          <a:lstStyle/>
          <a:p>
            <a:pPr algn="l">
              <a:lnSpc>
                <a:spcPct val="100000"/>
              </a:lnSpc>
              <a:buNone/>
            </a:pPr>
            <a:r>
              <a:rPr lang="zh-CN" altLang="en-US" sz="1600" b="1">
                <a:solidFill>
                  <a:srgbClr val="A33B38"/>
                </a:solidFill>
                <a:latin typeface="微软雅黑"/>
                <a:ea typeface="微软雅黑"/>
              </a:rPr>
              <a:t>逻辑</a:t>
            </a:r>
            <a:endParaRPr lang="zh-CN" sz="1600">
              <a:latin typeface="微软雅黑"/>
              <a:ea typeface="微软雅黑"/>
            </a:endParaRPr>
          </a:p>
        </p:txBody>
      </p:sp>
      <p:sp>
        <p:nvSpPr>
          <p:cNvPr id="107" name="fig-d"/>
          <p:cNvSpPr/>
          <p:nvPr/>
        </p:nvSpPr>
        <p:spPr>
          <a:xfrm>
            <a:off x="5212080" y="1536192"/>
            <a:ext cx="1371600" cy="420624"/>
          </a:xfrm>
          <a:prstGeom prst="cube">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虚拟机 1</a:t>
            </a:r>
            <a:endParaRPr lang="zh-CN" sz="1600">
              <a:latin typeface="微软雅黑"/>
              <a:ea typeface="微软雅黑"/>
            </a:endParaRPr>
          </a:p>
        </p:txBody>
      </p:sp>
      <p:sp>
        <p:nvSpPr>
          <p:cNvPr id="108" name="fig-d"/>
          <p:cNvSpPr/>
          <p:nvPr/>
        </p:nvSpPr>
        <p:spPr>
          <a:xfrm>
            <a:off x="6720840" y="1600200"/>
            <a:ext cx="1463040" cy="292608"/>
          </a:xfrm>
          <a:prstGeom prst="rect">
            <a:avLst/>
          </a:prstGeom>
          <a:noFill/>
          <a:ln>
            <a:noFill/>
          </a:ln>
        </p:spPr>
        <p:txBody>
          <a:bodyPr wrap="square" lIns="18288" tIns="9144" rIns="18288" bIns="9144" anchor="ctr"/>
          <a:lstStyle/>
          <a:p>
            <a:pPr algn="l">
              <a:lnSpc>
                <a:spcPct val="100000"/>
              </a:lnSpc>
              <a:buNone/>
            </a:pPr>
            <a:r>
              <a:rPr lang="zh-CN" altLang="en-US" sz="1600" b="0">
                <a:solidFill>
                  <a:srgbClr val="262626"/>
                </a:solidFill>
                <a:latin typeface="微软雅黑"/>
                <a:ea typeface="微软雅黑"/>
              </a:rPr>
              <a:t>Windows</a:t>
            </a:r>
            <a:endParaRPr lang="zh-CN" sz="1600">
              <a:latin typeface="微软雅黑"/>
              <a:ea typeface="微软雅黑"/>
            </a:endParaRPr>
          </a:p>
        </p:txBody>
      </p:sp>
      <p:sp>
        <p:nvSpPr>
          <p:cNvPr id="109" name="fig-d"/>
          <p:cNvSpPr/>
          <p:nvPr/>
        </p:nvSpPr>
        <p:spPr>
          <a:xfrm>
            <a:off x="5212080" y="2029968"/>
            <a:ext cx="1371600" cy="420624"/>
          </a:xfrm>
          <a:prstGeom prst="cube">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虚拟机 2</a:t>
            </a:r>
            <a:endParaRPr lang="zh-CN" sz="1600">
              <a:latin typeface="微软雅黑"/>
              <a:ea typeface="微软雅黑"/>
            </a:endParaRPr>
          </a:p>
        </p:txBody>
      </p:sp>
      <p:sp>
        <p:nvSpPr>
          <p:cNvPr id="110" name="fig-d"/>
          <p:cNvSpPr/>
          <p:nvPr/>
        </p:nvSpPr>
        <p:spPr>
          <a:xfrm>
            <a:off x="6720840" y="2093976"/>
            <a:ext cx="1463040" cy="292608"/>
          </a:xfrm>
          <a:prstGeom prst="rect">
            <a:avLst/>
          </a:prstGeom>
          <a:noFill/>
          <a:ln>
            <a:noFill/>
          </a:ln>
        </p:spPr>
        <p:txBody>
          <a:bodyPr wrap="square" lIns="18288" tIns="9144" rIns="18288" bIns="9144" anchor="ctr"/>
          <a:lstStyle/>
          <a:p>
            <a:pPr algn="l">
              <a:lnSpc>
                <a:spcPct val="100000"/>
              </a:lnSpc>
              <a:buNone/>
            </a:pPr>
            <a:r>
              <a:rPr lang="zh-CN" altLang="en-US" sz="1600" b="0">
                <a:solidFill>
                  <a:srgbClr val="262626"/>
                </a:solidFill>
                <a:latin typeface="微软雅黑"/>
                <a:ea typeface="微软雅黑"/>
              </a:rPr>
              <a:t>Linux</a:t>
            </a:r>
            <a:endParaRPr lang="zh-CN" sz="1600">
              <a:latin typeface="微软雅黑"/>
              <a:ea typeface="微软雅黑"/>
            </a:endParaRPr>
          </a:p>
        </p:txBody>
      </p:sp>
      <p:sp>
        <p:nvSpPr>
          <p:cNvPr id="111" name="fig-d"/>
          <p:cNvSpPr/>
          <p:nvPr/>
        </p:nvSpPr>
        <p:spPr>
          <a:xfrm>
            <a:off x="5212080" y="2523744"/>
            <a:ext cx="1371600" cy="420624"/>
          </a:xfrm>
          <a:prstGeom prst="cube">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虚拟机 N</a:t>
            </a:r>
            <a:endParaRPr lang="zh-CN" sz="1600">
              <a:latin typeface="微软雅黑"/>
              <a:ea typeface="微软雅黑"/>
            </a:endParaRPr>
          </a:p>
        </p:txBody>
      </p:sp>
      <p:sp>
        <p:nvSpPr>
          <p:cNvPr id="112" name="fn-source"/>
          <p:cNvSpPr/>
          <p:nvPr/>
        </p:nvSpPr>
        <p:spPr>
          <a:xfrm>
            <a:off x="411480" y="5760720"/>
            <a:ext cx="8321040" cy="201168"/>
          </a:xfrm>
          <a:prstGeom prst="rect">
            <a:avLst/>
          </a:prstGeom>
          <a:noFill/>
          <a:ln>
            <a:noFill/>
          </a:ln>
        </p:spPr>
        <p:txBody>
          <a:bodyPr wrap="square" lIns="36576" tIns="18288" rIns="36576" bIns="18288" anchor="b"/>
          <a:lstStyle/>
          <a:p>
            <a:pPr algn="l">
              <a:lnSpc>
                <a:spcPct val="100000"/>
              </a:lnSpc>
              <a:buNone/>
            </a:pPr>
            <a:r>
              <a:rPr lang="zh-CN" altLang="en-US" sz="1200" b="0">
                <a:solidFill>
                  <a:srgbClr val="595959"/>
                </a:solidFill>
                <a:latin typeface="微软雅黑"/>
                <a:ea typeface="微软雅黑"/>
              </a:rPr>
              <a:t>图：按 2024 版第 4-1 讲第 22 页（虚拟化：一台物理服务器划成多台虚拟机）重画</a:t>
            </a:r>
            <a:endParaRPr lang="zh-CN" sz="1200">
              <a:latin typeface="微软雅黑"/>
              <a:ea typeface="微软雅黑"/>
            </a:endParaRPr>
          </a:p>
        </p:txBody>
      </p:sp>
      <p:sp>
        <p:nvSpPr>
          <p:cNvPr id="113"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云服务三层的差别在于哪些职责交给提供方</a:t>
            </a:r>
          </a:p>
        </p:txBody>
      </p:sp>
      <p:sp>
        <p:nvSpPr>
          <p:cNvPr id="101" name="body"/>
          <p:cNvSpPr/>
          <p:nvPr/>
        </p:nvSpPr>
        <p:spPr>
          <a:xfrm>
            <a:off x="411480" y="1463040"/>
            <a:ext cx="8321040" cy="731520"/>
          </a:xfrm>
          <a:prstGeom prst="rect">
            <a:avLst/>
          </a:prstGeom>
          <a:noFill/>
          <a:ln>
            <a:noFill/>
          </a:ln>
        </p:spPr>
        <p:txBody>
          <a:bodyPr wrap="square" lIns="36576" tIns="18288" rIns="36576" bIns="18288" anchor="t"/>
          <a:lstStyle/>
          <a:p>
            <a:pPr algn="l">
              <a:lnSpc>
                <a:spcPct val="100000"/>
              </a:lnSpc>
              <a:buNone/>
            </a:pPr>
            <a:r>
              <a:rPr lang="zh-CN" altLang="en-US" sz="2000" b="0">
                <a:solidFill>
                  <a:srgbClr val="262626"/>
                </a:solidFill>
                <a:latin typeface="微软雅黑"/>
                <a:ea typeface="微软雅黑"/>
              </a:rPr>
              <a:t>三种服务模式引自美国国家标准与技术研究院（National Institute of Standards and Technology，NIST）的 SP 800-145</a:t>
            </a:r>
            <a:endParaRPr lang="zh-CN" sz="2000">
              <a:latin typeface="微软雅黑"/>
              <a:ea typeface="微软雅黑"/>
            </a:endParaRPr>
          </a:p>
        </p:txBody>
      </p:sp>
      <p:sp>
        <p:nvSpPr>
          <p:cNvPr id="102" name="fig"/>
          <p:cNvSpPr/>
          <p:nvPr/>
        </p:nvSpPr>
        <p:spPr>
          <a:xfrm>
            <a:off x="411480" y="2240280"/>
            <a:ext cx="6583680" cy="731520"/>
          </a:xfrm>
          <a:prstGeom prst="rect">
            <a:avLst/>
          </a:prstGeom>
          <a:solidFill>
            <a:srgbClr val="F6E8E6"/>
          </a:solidFill>
          <a:ln w="12700">
            <a:solidFill>
              <a:srgbClr val="A33B38"/>
            </a:solidFill>
          </a:ln>
        </p:spPr>
        <p:txBody>
          <a:bodyPr wrap="square" lIns="45720" tIns="22860" rIns="45720" bIns="22860" anchor="ctr"/>
          <a:lstStyle/>
          <a:p>
            <a:pPr algn="l">
              <a:lnSpc>
                <a:spcPct val="100000"/>
              </a:lnSpc>
              <a:buNone/>
            </a:pPr>
            <a:r>
              <a:rPr lang="zh-CN" altLang="en-US" sz="2000" b="1">
                <a:solidFill>
                  <a:srgbClr val="A33B38"/>
                </a:solidFill>
                <a:latin typeface="微软雅黑"/>
                <a:ea typeface="微软雅黑"/>
              </a:rPr>
              <a:t>软件即服务（Software as a Service，SaaS）</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提供方运行应用，使用方负责账号、数据与可用配置</a:t>
            </a:r>
            <a:endParaRPr lang="zh-CN" sz="2000">
              <a:latin typeface="微软雅黑"/>
              <a:ea typeface="微软雅黑"/>
            </a:endParaRPr>
          </a:p>
        </p:txBody>
      </p:sp>
      <p:sp>
        <p:nvSpPr>
          <p:cNvPr id="103" name="fig-d"/>
          <p:cNvSpPr/>
          <p:nvPr/>
        </p:nvSpPr>
        <p:spPr>
          <a:xfrm>
            <a:off x="7086600" y="2240280"/>
            <a:ext cx="1691640" cy="731520"/>
          </a:xfrm>
          <a:prstGeom prst="cloud">
            <a:avLst/>
          </a:prstGeom>
          <a:solidFill>
            <a:srgbClr val="FFFFFF"/>
          </a:solidFill>
          <a:ln w="12700">
            <a:solidFill>
              <a:srgbClr val="A6A6A6"/>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应用云</a:t>
            </a:r>
            <a:endParaRPr lang="zh-CN" sz="1600">
              <a:latin typeface="微软雅黑"/>
              <a:ea typeface="微软雅黑"/>
            </a:endParaRPr>
          </a:p>
        </p:txBody>
      </p:sp>
      <p:sp>
        <p:nvSpPr>
          <p:cNvPr id="104" name="fig"/>
          <p:cNvSpPr/>
          <p:nvPr/>
        </p:nvSpPr>
        <p:spPr>
          <a:xfrm>
            <a:off x="411480" y="3154680"/>
            <a:ext cx="6583680" cy="731520"/>
          </a:xfrm>
          <a:prstGeom prst="rect">
            <a:avLst/>
          </a:prstGeom>
          <a:solidFill>
            <a:srgbClr val="F5F5F5"/>
          </a:solidFill>
          <a:ln w="12700">
            <a:solidFill>
              <a:srgbClr val="A6A6A6"/>
            </a:solidFill>
          </a:ln>
        </p:spPr>
        <p:txBody>
          <a:bodyPr wrap="square" lIns="45720" tIns="22860" rIns="45720" bIns="22860" anchor="ctr"/>
          <a:lstStyle/>
          <a:p>
            <a:pPr algn="l">
              <a:lnSpc>
                <a:spcPct val="100000"/>
              </a:lnSpc>
              <a:buNone/>
            </a:pPr>
            <a:r>
              <a:rPr lang="zh-CN" altLang="en-US" sz="2000" b="1">
                <a:solidFill>
                  <a:srgbClr val="262626"/>
                </a:solidFill>
                <a:latin typeface="微软雅黑"/>
                <a:ea typeface="微软雅黑"/>
              </a:rPr>
              <a:t>平台即服务（Platform as a Service，PaaS）</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提供方管到运行平台，使用方只管应用与数据</a:t>
            </a:r>
            <a:endParaRPr lang="zh-CN" sz="2000">
              <a:latin typeface="微软雅黑"/>
              <a:ea typeface="微软雅黑"/>
            </a:endParaRPr>
          </a:p>
        </p:txBody>
      </p:sp>
      <p:sp>
        <p:nvSpPr>
          <p:cNvPr id="105" name="fig-d"/>
          <p:cNvSpPr/>
          <p:nvPr/>
        </p:nvSpPr>
        <p:spPr>
          <a:xfrm>
            <a:off x="7086600" y="3154680"/>
            <a:ext cx="1691640" cy="731520"/>
          </a:xfrm>
          <a:prstGeom prst="cloud">
            <a:avLst/>
          </a:prstGeom>
          <a:solidFill>
            <a:srgbClr val="FFFFFF"/>
          </a:solidFill>
          <a:ln w="12700">
            <a:solidFill>
              <a:srgbClr val="A6A6A6"/>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开发云</a:t>
            </a:r>
            <a:endParaRPr lang="zh-CN" sz="1600">
              <a:latin typeface="微软雅黑"/>
              <a:ea typeface="微软雅黑"/>
            </a:endParaRPr>
          </a:p>
        </p:txBody>
      </p:sp>
      <p:sp>
        <p:nvSpPr>
          <p:cNvPr id="106" name="fig"/>
          <p:cNvSpPr/>
          <p:nvPr/>
        </p:nvSpPr>
        <p:spPr>
          <a:xfrm>
            <a:off x="411480" y="4069080"/>
            <a:ext cx="6583680" cy="731520"/>
          </a:xfrm>
          <a:prstGeom prst="rect">
            <a:avLst/>
          </a:prstGeom>
          <a:solidFill>
            <a:srgbClr val="F5F5F5"/>
          </a:solidFill>
          <a:ln w="12700">
            <a:solidFill>
              <a:srgbClr val="A6A6A6"/>
            </a:solidFill>
          </a:ln>
        </p:spPr>
        <p:txBody>
          <a:bodyPr wrap="square" lIns="45720" tIns="22860" rIns="45720" bIns="22860" anchor="ctr"/>
          <a:lstStyle/>
          <a:p>
            <a:pPr algn="l">
              <a:lnSpc>
                <a:spcPct val="100000"/>
              </a:lnSpc>
              <a:buNone/>
            </a:pPr>
            <a:r>
              <a:rPr lang="zh-CN" altLang="en-US" sz="2000" b="1">
                <a:solidFill>
                  <a:srgbClr val="262626"/>
                </a:solidFill>
                <a:latin typeface="微软雅黑"/>
                <a:ea typeface="微软雅黑"/>
              </a:rPr>
              <a:t>基础设施即服务（Infrastructure as a Service，IaaS）</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提供方管到虚拟化，使用方管操作系统以上</a:t>
            </a:r>
            <a:endParaRPr lang="zh-CN" sz="2000">
              <a:latin typeface="微软雅黑"/>
              <a:ea typeface="微软雅黑"/>
            </a:endParaRPr>
          </a:p>
        </p:txBody>
      </p:sp>
      <p:sp>
        <p:nvSpPr>
          <p:cNvPr id="107" name="fig-d"/>
          <p:cNvSpPr/>
          <p:nvPr/>
        </p:nvSpPr>
        <p:spPr>
          <a:xfrm>
            <a:off x="7086600" y="4069080"/>
            <a:ext cx="1691640" cy="731520"/>
          </a:xfrm>
          <a:prstGeom prst="cloud">
            <a:avLst/>
          </a:prstGeom>
          <a:solidFill>
            <a:srgbClr val="FFFFFF"/>
          </a:solidFill>
          <a:ln w="12700">
            <a:solidFill>
              <a:srgbClr val="A6A6A6"/>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基础资源云</a:t>
            </a:r>
            <a:endParaRPr lang="zh-CN" sz="1600">
              <a:latin typeface="微软雅黑"/>
              <a:ea typeface="微软雅黑"/>
            </a:endParaRPr>
          </a:p>
        </p:txBody>
      </p:sp>
      <p:sp>
        <p:nvSpPr>
          <p:cNvPr id="108" name="fig-d"/>
          <p:cNvSpPr/>
          <p:nvPr/>
        </p:nvSpPr>
        <p:spPr>
          <a:xfrm>
            <a:off x="3566160" y="2990088"/>
            <a:ext cx="274320" cy="155448"/>
          </a:xfrm>
          <a:prstGeom prst="upArrow">
            <a:avLst/>
          </a:prstGeom>
          <a:solidFill>
            <a:srgbClr val="A33B38"/>
          </a:solidFill>
          <a:ln w="12700">
            <a:solidFill>
              <a:srgbClr val="A33B38"/>
            </a:solidFill>
          </a:ln>
        </p:spPr>
        <p:txBody>
          <a:bodyPr wrap="square" lIns="73152" tIns="36576" rIns="73152" bIns="36576" anchor="ctr"/>
          <a:lstStyle/>
          <a:p>
            <a:endParaRPr lang="zh-CN">
              <a:latin typeface="微软雅黑"/>
              <a:ea typeface="微软雅黑"/>
            </a:endParaRPr>
          </a:p>
        </p:txBody>
      </p:sp>
      <p:sp>
        <p:nvSpPr>
          <p:cNvPr id="109" name="fig-d"/>
          <p:cNvSpPr/>
          <p:nvPr/>
        </p:nvSpPr>
        <p:spPr>
          <a:xfrm>
            <a:off x="3566160" y="3904488"/>
            <a:ext cx="274320" cy="155448"/>
          </a:xfrm>
          <a:prstGeom prst="upArrow">
            <a:avLst/>
          </a:prstGeom>
          <a:solidFill>
            <a:srgbClr val="A33B38"/>
          </a:solidFill>
          <a:ln w="12700">
            <a:solidFill>
              <a:srgbClr val="A33B38"/>
            </a:solidFill>
          </a:ln>
        </p:spPr>
        <p:txBody>
          <a:bodyPr wrap="square" lIns="73152" tIns="36576" rIns="73152" bIns="36576" anchor="ctr"/>
          <a:lstStyle/>
          <a:p>
            <a:endParaRPr lang="zh-CN">
              <a:latin typeface="微软雅黑"/>
              <a:ea typeface="微软雅黑"/>
            </a:endParaRPr>
          </a:p>
        </p:txBody>
      </p:sp>
      <p:sp>
        <p:nvSpPr>
          <p:cNvPr id="110" name="fig-d"/>
          <p:cNvSpPr/>
          <p:nvPr/>
        </p:nvSpPr>
        <p:spPr>
          <a:xfrm>
            <a:off x="3566160" y="4818888"/>
            <a:ext cx="274320" cy="155448"/>
          </a:xfrm>
          <a:prstGeom prst="upArrow">
            <a:avLst/>
          </a:prstGeom>
          <a:solidFill>
            <a:srgbClr val="A33B38"/>
          </a:solidFill>
          <a:ln w="12700">
            <a:solidFill>
              <a:srgbClr val="A33B38"/>
            </a:solidFill>
          </a:ln>
        </p:spPr>
        <p:txBody>
          <a:bodyPr wrap="square" lIns="73152" tIns="36576" rIns="73152" bIns="36576" anchor="ctr"/>
          <a:lstStyle/>
          <a:p>
            <a:endParaRPr lang="zh-CN">
              <a:latin typeface="微软雅黑"/>
              <a:ea typeface="微软雅黑"/>
            </a:endParaRPr>
          </a:p>
        </p:txBody>
      </p:sp>
      <p:sp>
        <p:nvSpPr>
          <p:cNvPr id="111" name="fig-d"/>
          <p:cNvSpPr/>
          <p:nvPr/>
        </p:nvSpPr>
        <p:spPr>
          <a:xfrm>
            <a:off x="411480" y="4983480"/>
            <a:ext cx="6583680" cy="384048"/>
          </a:xfrm>
          <a:prstGeom prst="rect">
            <a:avLst/>
          </a:prstGeom>
          <a:solidFill>
            <a:srgbClr val="595959"/>
          </a:solidFill>
          <a:ln w="12700">
            <a:solidFill>
              <a:srgbClr val="595959"/>
            </a:solidFill>
          </a:ln>
        </p:spPr>
        <p:txBody>
          <a:bodyPr wrap="square" lIns="18288" tIns="9144" rIns="18288" bIns="9144" anchor="ctr"/>
          <a:lstStyle/>
          <a:p>
            <a:pPr algn="ctr">
              <a:lnSpc>
                <a:spcPct val="100000"/>
              </a:lnSpc>
              <a:buNone/>
            </a:pPr>
            <a:r>
              <a:rPr lang="zh-CN" altLang="en-US" sz="1600" b="1">
                <a:solidFill>
                  <a:srgbClr val="FFFFFF"/>
                </a:solidFill>
                <a:latin typeface="微软雅黑"/>
                <a:ea typeface="微软雅黑"/>
              </a:rPr>
              <a:t>IT Foundation</a:t>
            </a:r>
            <a:endParaRPr lang="zh-CN" sz="1600">
              <a:latin typeface="微软雅黑"/>
              <a:ea typeface="微软雅黑"/>
            </a:endParaRPr>
          </a:p>
        </p:txBody>
      </p:sp>
      <p:sp>
        <p:nvSpPr>
          <p:cNvPr id="112" name="fn-source"/>
          <p:cNvSpPr/>
          <p:nvPr/>
        </p:nvSpPr>
        <p:spPr>
          <a:xfrm>
            <a:off x="411480" y="5760720"/>
            <a:ext cx="8321040" cy="201168"/>
          </a:xfrm>
          <a:prstGeom prst="rect">
            <a:avLst/>
          </a:prstGeom>
          <a:noFill/>
          <a:ln>
            <a:noFill/>
          </a:ln>
        </p:spPr>
        <p:txBody>
          <a:bodyPr wrap="square" lIns="36576" tIns="18288" rIns="36576" bIns="18288" anchor="b"/>
          <a:lstStyle/>
          <a:p>
            <a:pPr algn="l">
              <a:lnSpc>
                <a:spcPct val="100000"/>
              </a:lnSpc>
              <a:buNone/>
            </a:pPr>
            <a:r>
              <a:rPr lang="zh-CN" altLang="en-US" sz="1200" b="0">
                <a:solidFill>
                  <a:srgbClr val="595959"/>
                </a:solidFill>
                <a:latin typeface="微软雅黑"/>
                <a:ea typeface="微软雅黑"/>
              </a:rPr>
              <a:t>图：按 2024 版第 4-1 讲第 24 页（云计算三层）重画；原图各层里的产品例子不画</a:t>
            </a:r>
            <a:endParaRPr lang="zh-CN" sz="1200">
              <a:latin typeface="微软雅黑"/>
              <a:ea typeface="微软雅黑"/>
            </a:endParaRPr>
          </a:p>
        </p:txBody>
      </p:sp>
      <p:sp>
        <p:nvSpPr>
          <p:cNvPr id="113"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9DFDB5C-AA02-73C7-A60F-1705EFC83319}"/>
              </a:ext>
            </a:extLst>
          </p:cNvPr>
          <p:cNvSpPr>
            <a:spLocks noGrp="1"/>
          </p:cNvSpPr>
          <p:nvPr>
            <p:ph type="title"/>
          </p:nvPr>
        </p:nvSpPr>
        <p:spPr/>
        <p:txBody>
          <a:bodyPr/>
          <a:lstStyle/>
          <a:p>
            <a:pPr algn="l"/>
            <a:r>
              <a:rPr lang="zh-CN" altLang="en-US" sz="2800" b="1" dirty="0">
                <a:solidFill>
                  <a:srgbClr val="A33B38"/>
                </a:solidFill>
                <a:latin typeface="Microsoft YaHei UI" panose="020B0503020204020204" pitchFamily="34" charset="-122"/>
                <a:ea typeface="Microsoft YaHei UI" panose="020B0503020204020204" pitchFamily="34" charset="-122"/>
              </a:rPr>
              <a:t>云服务模式决定提供方与使用方的责任边界</a:t>
            </a:r>
          </a:p>
        </p:txBody>
      </p:sp>
      <p:graphicFrame>
        <p:nvGraphicFramePr>
          <p:cNvPr id="3" name="表格 2">
            <a:extLst>
              <a:ext uri="{FF2B5EF4-FFF2-40B4-BE49-F238E27FC236}">
                <a16:creationId xmlns:a16="http://schemas.microsoft.com/office/drawing/2014/main" id="{231F53EB-220D-FCC1-9E43-E79E1939AFEC}"/>
              </a:ext>
            </a:extLst>
          </p:cNvPr>
          <p:cNvGraphicFramePr>
            <a:graphicFrameLocks noGrp="1"/>
          </p:cNvGraphicFramePr>
          <p:nvPr>
            <p:extLst>
              <p:ext uri="{D42A27DB-BD31-4B8C-83A1-F6EECF244321}">
                <p14:modId xmlns:p14="http://schemas.microsoft.com/office/powerpoint/2010/main" val="2850714075"/>
              </p:ext>
            </p:extLst>
          </p:nvPr>
        </p:nvGraphicFramePr>
        <p:xfrm>
          <a:off x="381000" y="1427480"/>
          <a:ext cx="8382000" cy="4516122"/>
        </p:xfrm>
        <a:graphic>
          <a:graphicData uri="http://schemas.openxmlformats.org/drawingml/2006/table">
            <a:tbl>
              <a:tblPr firstRow="1" bandRow="1">
                <a:tableStyleId>{2D5ABB26-0587-4C30-8999-92F81FD0307C}</a:tableStyleId>
              </a:tblPr>
              <a:tblGrid>
                <a:gridCol w="2095500">
                  <a:extLst>
                    <a:ext uri="{9D8B030D-6E8A-4147-A177-3AD203B41FA5}">
                      <a16:colId xmlns:a16="http://schemas.microsoft.com/office/drawing/2014/main" val="2643357997"/>
                    </a:ext>
                  </a:extLst>
                </a:gridCol>
                <a:gridCol w="2095500">
                  <a:extLst>
                    <a:ext uri="{9D8B030D-6E8A-4147-A177-3AD203B41FA5}">
                      <a16:colId xmlns:a16="http://schemas.microsoft.com/office/drawing/2014/main" val="26013349"/>
                    </a:ext>
                  </a:extLst>
                </a:gridCol>
                <a:gridCol w="2095500">
                  <a:extLst>
                    <a:ext uri="{9D8B030D-6E8A-4147-A177-3AD203B41FA5}">
                      <a16:colId xmlns:a16="http://schemas.microsoft.com/office/drawing/2014/main" val="4140333054"/>
                    </a:ext>
                  </a:extLst>
                </a:gridCol>
                <a:gridCol w="2095500">
                  <a:extLst>
                    <a:ext uri="{9D8B030D-6E8A-4147-A177-3AD203B41FA5}">
                      <a16:colId xmlns:a16="http://schemas.microsoft.com/office/drawing/2014/main" val="1116770499"/>
                    </a:ext>
                  </a:extLst>
                </a:gridCol>
              </a:tblGrid>
              <a:tr h="752687">
                <a:tc>
                  <a:txBody>
                    <a:bodyPr/>
                    <a:lstStyle/>
                    <a:p>
                      <a:r>
                        <a:rPr lang="zh-CN" altLang="en-US" sz="2000" b="1">
                          <a:solidFill>
                            <a:srgbClr val="FFFFFF"/>
                          </a:solidFill>
                          <a:latin typeface="Microsoft YaHei" panose="020B0503020204020204" pitchFamily="34" charset="-122"/>
                          <a:ea typeface="Microsoft YaHei" panose="020B0503020204020204" pitchFamily="34" charset="-122"/>
                        </a:rPr>
                        <a:t>职责</a:t>
                      </a:r>
                      <a:endParaRPr lang="zh-CN" altLang="en-US" sz="2000" b="1" dirty="0">
                        <a:solidFill>
                          <a:srgbClr val="FFFFFF"/>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A33B38"/>
                    </a:solidFill>
                  </a:tcPr>
                </a:tc>
                <a:tc>
                  <a:txBody>
                    <a:bodyPr/>
                    <a:lstStyle/>
                    <a:p>
                      <a:r>
                        <a:rPr lang="zh-CN" altLang="en-US" sz="2000" b="1">
                          <a:solidFill>
                            <a:srgbClr val="FFFFFF"/>
                          </a:solidFill>
                          <a:latin typeface="Microsoft YaHei" panose="020B0503020204020204" pitchFamily="34" charset="-122"/>
                          <a:ea typeface="Microsoft YaHei" panose="020B0503020204020204" pitchFamily="34" charset="-122"/>
                        </a:rPr>
                        <a:t>基础设施即服务</a:t>
                      </a:r>
                      <a:endParaRPr lang="zh-CN" altLang="en-US" sz="2000" b="1" dirty="0">
                        <a:solidFill>
                          <a:srgbClr val="FFFFFF"/>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A33B38"/>
                    </a:solidFill>
                  </a:tcPr>
                </a:tc>
                <a:tc>
                  <a:txBody>
                    <a:bodyPr/>
                    <a:lstStyle/>
                    <a:p>
                      <a:r>
                        <a:rPr lang="zh-CN" altLang="en-US" sz="2000" b="1">
                          <a:solidFill>
                            <a:srgbClr val="FFFFFF"/>
                          </a:solidFill>
                          <a:latin typeface="Microsoft YaHei" panose="020B0503020204020204" pitchFamily="34" charset="-122"/>
                          <a:ea typeface="Microsoft YaHei" panose="020B0503020204020204" pitchFamily="34" charset="-122"/>
                        </a:rPr>
                        <a:t>平台即服务</a:t>
                      </a:r>
                      <a:endParaRPr lang="zh-CN" altLang="en-US" sz="2000" b="1" dirty="0">
                        <a:solidFill>
                          <a:srgbClr val="FFFFFF"/>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A33B38"/>
                    </a:solidFill>
                  </a:tcPr>
                </a:tc>
                <a:tc>
                  <a:txBody>
                    <a:bodyPr/>
                    <a:lstStyle/>
                    <a:p>
                      <a:r>
                        <a:rPr lang="zh-CN" altLang="en-US" sz="2000" b="1">
                          <a:solidFill>
                            <a:srgbClr val="FFFFFF"/>
                          </a:solidFill>
                          <a:latin typeface="Microsoft YaHei" panose="020B0503020204020204" pitchFamily="34" charset="-122"/>
                          <a:ea typeface="Microsoft YaHei" panose="020B0503020204020204" pitchFamily="34" charset="-122"/>
                        </a:rPr>
                        <a:t>软件即服务</a:t>
                      </a:r>
                      <a:endParaRPr lang="zh-CN" altLang="en-US" sz="2000" b="1" dirty="0">
                        <a:solidFill>
                          <a:srgbClr val="FFFFFF"/>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A33B38"/>
                    </a:solidFill>
                  </a:tcPr>
                </a:tc>
                <a:extLst>
                  <a:ext uri="{0D108BD9-81ED-4DB2-BD59-A6C34878D82A}">
                    <a16:rowId xmlns:a16="http://schemas.microsoft.com/office/drawing/2014/main" val="341066004"/>
                  </a:ext>
                </a:extLst>
              </a:tr>
              <a:tr h="752687">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设备与虚拟化</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提供方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提供方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提供方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561457627"/>
                  </a:ext>
                </a:extLst>
              </a:tr>
              <a:tr h="752687">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系统与运行平台</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FFFFF"/>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使用方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FFFFF"/>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提供方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FFFFF"/>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提供方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2526908829"/>
                  </a:ext>
                </a:extLst>
              </a:tr>
              <a:tr h="752687">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应用部署与运行</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使用方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dirty="0">
                          <a:solidFill>
                            <a:srgbClr val="262626"/>
                          </a:solidFill>
                          <a:latin typeface="Microsoft YaHei" panose="020B0503020204020204" pitchFamily="34" charset="-122"/>
                          <a:ea typeface="Microsoft YaHei" panose="020B0503020204020204" pitchFamily="34" charset="-122"/>
                        </a:rPr>
                        <a:t>使用方部署</a:t>
                      </a:r>
                      <a:br>
                        <a:rPr lang="en-US" altLang="zh-CN" sz="2000" dirty="0">
                          <a:solidFill>
                            <a:srgbClr val="262626"/>
                          </a:solidFill>
                          <a:latin typeface="Microsoft YaHei" panose="020B0503020204020204" pitchFamily="34" charset="-122"/>
                          <a:ea typeface="Microsoft YaHei" panose="020B0503020204020204" pitchFamily="34" charset="-122"/>
                        </a:rPr>
                      </a:br>
                      <a:r>
                        <a:rPr lang="zh-CN" altLang="en-US" sz="2000" dirty="0">
                          <a:solidFill>
                            <a:srgbClr val="262626"/>
                          </a:solidFill>
                          <a:latin typeface="Microsoft YaHei" panose="020B0503020204020204" pitchFamily="34" charset="-122"/>
                          <a:ea typeface="Microsoft YaHei" panose="020B0503020204020204" pitchFamily="34" charset="-122"/>
                        </a:rPr>
                        <a:t>提供方管理平台</a:t>
                      </a: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提供方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2993834774"/>
                  </a:ext>
                </a:extLst>
              </a:tr>
              <a:tr h="752687">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应用配置</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FFFFF"/>
                    </a:solidFill>
                  </a:tcPr>
                </a:tc>
                <a:tc>
                  <a:txBody>
                    <a:bodyPr/>
                    <a:lstStyle/>
                    <a:p>
                      <a:r>
                        <a:rPr lang="zh-CN" altLang="en-US" sz="2000">
                          <a:solidFill>
                            <a:srgbClr val="262626"/>
                          </a:solidFill>
                          <a:latin typeface="Microsoft YaHei" panose="020B0503020204020204" pitchFamily="34" charset="-122"/>
                          <a:ea typeface="Microsoft YaHei" panose="020B0503020204020204" pitchFamily="34" charset="-122"/>
                        </a:rPr>
                        <a:t>使用方</a:t>
                      </a:r>
                      <a:endParaRPr lang="zh-CN" altLang="en-US" sz="2000" dirty="0">
                        <a:solidFill>
                          <a:srgbClr val="262626"/>
                        </a:solidFill>
                        <a:latin typeface="Microsoft YaHei" panose="020B0503020204020204" pitchFamily="34" charset="-122"/>
                        <a:ea typeface="Microsoft YaHei" panose="020B0503020204020204" pitchFamily="34" charset="-122"/>
                      </a:endParaRPr>
                    </a:p>
                  </a:txBody>
                  <a:tcPr>
                    <a:lnL w="9525">
                      <a:noFill/>
                    </a:lnL>
                    <a:lnR w="9525">
                      <a:noFill/>
                    </a:lnR>
                    <a:lnT w="9525">
                      <a:solidFill>
                        <a:srgbClr val="D9D9D9"/>
                      </a:solidFill>
                    </a:lnT>
                    <a:lnB w="9525">
                      <a:solidFill>
                        <a:srgbClr val="D9D9D9"/>
                      </a:solidFill>
                    </a:lnB>
                    <a:solidFill>
                      <a:srgbClr val="FFFFFF"/>
                    </a:solidFill>
                  </a:tcPr>
                </a:tc>
                <a:tc>
                  <a:txBody>
                    <a:bodyPr/>
                    <a:lstStyle/>
                    <a:p>
                      <a:r>
                        <a:rPr lang="zh-CN" altLang="en-US" sz="2000" dirty="0">
                          <a:solidFill>
                            <a:srgbClr val="262626"/>
                          </a:solidFill>
                          <a:latin typeface="Microsoft YaHei" panose="020B0503020204020204" pitchFamily="34" charset="-122"/>
                          <a:ea typeface="Microsoft YaHei" panose="020B0503020204020204" pitchFamily="34" charset="-122"/>
                        </a:rPr>
                        <a:t>使用方配置</a:t>
                      </a:r>
                      <a:br>
                        <a:rPr lang="en-US" altLang="zh-CN" sz="2000" dirty="0">
                          <a:solidFill>
                            <a:srgbClr val="262626"/>
                          </a:solidFill>
                          <a:latin typeface="Microsoft YaHei" panose="020B0503020204020204" pitchFamily="34" charset="-122"/>
                          <a:ea typeface="Microsoft YaHei" panose="020B0503020204020204" pitchFamily="34" charset="-122"/>
                        </a:rPr>
                      </a:br>
                      <a:r>
                        <a:rPr lang="zh-CN" altLang="en-US" sz="2000" dirty="0">
                          <a:solidFill>
                            <a:srgbClr val="262626"/>
                          </a:solidFill>
                          <a:latin typeface="Microsoft YaHei" panose="020B0503020204020204" pitchFamily="34" charset="-122"/>
                          <a:ea typeface="Microsoft YaHei" panose="020B0503020204020204" pitchFamily="34" charset="-122"/>
                        </a:rPr>
                        <a:t>限平台范围</a:t>
                      </a:r>
                    </a:p>
                  </a:txBody>
                  <a:tcPr>
                    <a:lnL w="9525">
                      <a:noFill/>
                    </a:lnL>
                    <a:lnR w="9525">
                      <a:noFill/>
                    </a:lnR>
                    <a:lnT w="9525">
                      <a:solidFill>
                        <a:srgbClr val="D9D9D9"/>
                      </a:solidFill>
                    </a:lnT>
                    <a:lnB w="9525">
                      <a:solidFill>
                        <a:srgbClr val="D9D9D9"/>
                      </a:solidFill>
                    </a:lnB>
                    <a:solidFill>
                      <a:srgbClr val="FFFFFF"/>
                    </a:solidFill>
                  </a:tcPr>
                </a:tc>
                <a:tc>
                  <a:txBody>
                    <a:bodyPr/>
                    <a:lstStyle/>
                    <a:p>
                      <a:r>
                        <a:rPr lang="zh-CN" altLang="en-US" sz="2000" dirty="0">
                          <a:solidFill>
                            <a:srgbClr val="262626"/>
                          </a:solidFill>
                          <a:latin typeface="Microsoft YaHei" panose="020B0503020204020204" pitchFamily="34" charset="-122"/>
                          <a:ea typeface="Microsoft YaHei" panose="020B0503020204020204" pitchFamily="34" charset="-122"/>
                        </a:rPr>
                        <a:t>使用方配置</a:t>
                      </a:r>
                      <a:br>
                        <a:rPr lang="en-US" altLang="zh-CN" sz="2000" dirty="0">
                          <a:solidFill>
                            <a:srgbClr val="262626"/>
                          </a:solidFill>
                          <a:latin typeface="Microsoft YaHei" panose="020B0503020204020204" pitchFamily="34" charset="-122"/>
                          <a:ea typeface="Microsoft YaHei" panose="020B0503020204020204" pitchFamily="34" charset="-122"/>
                        </a:rPr>
                      </a:br>
                      <a:r>
                        <a:rPr lang="zh-CN" altLang="en-US" sz="2000" dirty="0">
                          <a:solidFill>
                            <a:srgbClr val="262626"/>
                          </a:solidFill>
                          <a:latin typeface="Microsoft YaHei" panose="020B0503020204020204" pitchFamily="34" charset="-122"/>
                          <a:ea typeface="Microsoft YaHei" panose="020B0503020204020204" pitchFamily="34" charset="-122"/>
                        </a:rPr>
                        <a:t>限允许范围</a:t>
                      </a:r>
                    </a:p>
                  </a:txBody>
                  <a:tcP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3249305904"/>
                  </a:ext>
                </a:extLst>
              </a:tr>
              <a:tr h="752687">
                <a:tc>
                  <a:txBody>
                    <a:bodyPr/>
                    <a:lstStyle/>
                    <a:p>
                      <a:r>
                        <a:rPr lang="zh-CN" altLang="en-US" sz="2000" dirty="0">
                          <a:solidFill>
                            <a:srgbClr val="262626"/>
                          </a:solidFill>
                          <a:latin typeface="Microsoft YaHei" panose="020B0503020204020204" pitchFamily="34" charset="-122"/>
                          <a:ea typeface="Microsoft YaHei" panose="020B0503020204020204" pitchFamily="34" charset="-122"/>
                        </a:rPr>
                        <a:t>账号、权限</a:t>
                      </a:r>
                      <a:br>
                        <a:rPr lang="en-US" altLang="zh-CN" sz="2000" dirty="0">
                          <a:solidFill>
                            <a:srgbClr val="262626"/>
                          </a:solidFill>
                          <a:latin typeface="Microsoft YaHei" panose="020B0503020204020204" pitchFamily="34" charset="-122"/>
                          <a:ea typeface="Microsoft YaHei" panose="020B0503020204020204" pitchFamily="34" charset="-122"/>
                        </a:rPr>
                      </a:br>
                      <a:r>
                        <a:rPr lang="zh-CN" altLang="en-US" sz="2000" dirty="0">
                          <a:solidFill>
                            <a:srgbClr val="262626"/>
                          </a:solidFill>
                          <a:latin typeface="Microsoft YaHei" panose="020B0503020204020204" pitchFamily="34" charset="-122"/>
                          <a:ea typeface="Microsoft YaHei" panose="020B0503020204020204" pitchFamily="34" charset="-122"/>
                        </a:rPr>
                        <a:t>与数据使用</a:t>
                      </a: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dirty="0">
                          <a:solidFill>
                            <a:srgbClr val="262626"/>
                          </a:solidFill>
                          <a:latin typeface="Microsoft YaHei" panose="020B0503020204020204" pitchFamily="34" charset="-122"/>
                          <a:ea typeface="Microsoft YaHei" panose="020B0503020204020204" pitchFamily="34" charset="-122"/>
                        </a:rPr>
                        <a:t>使用方仍须负责</a:t>
                      </a: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dirty="0">
                          <a:solidFill>
                            <a:srgbClr val="262626"/>
                          </a:solidFill>
                          <a:latin typeface="Microsoft YaHei" panose="020B0503020204020204" pitchFamily="34" charset="-122"/>
                          <a:ea typeface="Microsoft YaHei" panose="020B0503020204020204" pitchFamily="34" charset="-122"/>
                        </a:rPr>
                        <a:t>使用方仍须负责</a:t>
                      </a:r>
                    </a:p>
                  </a:txBody>
                  <a:tcPr>
                    <a:lnL w="9525">
                      <a:noFill/>
                    </a:lnL>
                    <a:lnR w="9525">
                      <a:noFill/>
                    </a:lnR>
                    <a:lnT w="9525">
                      <a:solidFill>
                        <a:srgbClr val="D9D9D9"/>
                      </a:solidFill>
                    </a:lnT>
                    <a:lnB w="9525">
                      <a:solidFill>
                        <a:srgbClr val="D9D9D9"/>
                      </a:solidFill>
                    </a:lnB>
                    <a:solidFill>
                      <a:srgbClr val="FBF3F2"/>
                    </a:solidFill>
                  </a:tcPr>
                </a:tc>
                <a:tc>
                  <a:txBody>
                    <a:bodyPr/>
                    <a:lstStyle/>
                    <a:p>
                      <a:r>
                        <a:rPr lang="zh-CN" altLang="en-US" sz="2000" dirty="0">
                          <a:solidFill>
                            <a:srgbClr val="262626"/>
                          </a:solidFill>
                          <a:latin typeface="Microsoft YaHei" panose="020B0503020204020204" pitchFamily="34" charset="-122"/>
                          <a:ea typeface="Microsoft YaHei" panose="020B0503020204020204" pitchFamily="34" charset="-122"/>
                        </a:rPr>
                        <a:t>使用方仍须负责</a:t>
                      </a:r>
                    </a:p>
                  </a:txBody>
                  <a:tcP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2459876685"/>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extLst>
      <p:ext uri="{BB962C8B-B14F-4D97-AF65-F5344CB8AC3E}">
        <p14:creationId xmlns:p14="http://schemas.microsoft.com/office/powerpoint/2010/main" val="15119208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基础设施交给云服务，弹性提高，依赖也增加</a:t>
            </a:r>
          </a:p>
        </p:txBody>
      </p:sp>
      <p:graphicFrame>
        <p:nvGraphicFramePr>
          <p:cNvPr id="3" name="table"/>
          <p:cNvGraphicFramePr>
            <a:graphicFrameLocks noGrp="1"/>
          </p:cNvGraphicFramePr>
          <p:nvPr/>
        </p:nvGraphicFramePr>
        <p:xfrm>
          <a:off x="368300" y="1485900"/>
          <a:ext cx="8407400" cy="4229100"/>
        </p:xfrm>
        <a:graphic>
          <a:graphicData uri="http://schemas.openxmlformats.org/drawingml/2006/table">
            <a:tbl>
              <a:tblPr>
                <a:tableStyleId>{2D5ABB26-0587-4C30-8999-92F81FD0307C}</a:tableStyleId>
              </a:tblPr>
              <a:tblGrid>
                <a:gridCol w="1676400">
                  <a:extLst>
                    <a:ext uri="{9D8B030D-6E8A-4147-A177-3AD203B41FA5}">
                      <a16:colId xmlns:a16="http://schemas.microsoft.com/office/drawing/2014/main" val="20000"/>
                    </a:ext>
                  </a:extLst>
                </a:gridCol>
                <a:gridCol w="6731000">
                  <a:extLst>
                    <a:ext uri="{9D8B030D-6E8A-4147-A177-3AD203B41FA5}">
                      <a16:colId xmlns:a16="http://schemas.microsoft.com/office/drawing/2014/main" val="20001"/>
                    </a:ext>
                  </a:extLst>
                </a:gridCol>
              </a:tblGrid>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资源要按需取得，不自建机房，也不自管机器</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按基础设施、平台或软件的服务边界分配责任</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弹性伸缩，本机的安装负担下降</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配额、计费由提供方决定</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依赖网络和提供方，迁移增加成本</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容器把应用与依赖打包，启动方式一致</a:t>
            </a:r>
          </a:p>
        </p:txBody>
      </p:sp>
      <p:graphicFrame>
        <p:nvGraphicFramePr>
          <p:cNvPr id="3" name="table"/>
          <p:cNvGraphicFramePr>
            <a:graphicFrameLocks noGrp="1"/>
          </p:cNvGraphicFramePr>
          <p:nvPr/>
        </p:nvGraphicFramePr>
        <p:xfrm>
          <a:off x="368300" y="1485900"/>
          <a:ext cx="8407400" cy="4229100"/>
        </p:xfrm>
        <a:graphic>
          <a:graphicData uri="http://schemas.openxmlformats.org/drawingml/2006/table">
            <a:tbl>
              <a:tblPr>
                <a:tableStyleId>{2D5ABB26-0587-4C30-8999-92F81FD0307C}</a:tableStyleId>
              </a:tblPr>
              <a:tblGrid>
                <a:gridCol w="1676400">
                  <a:extLst>
                    <a:ext uri="{9D8B030D-6E8A-4147-A177-3AD203B41FA5}">
                      <a16:colId xmlns:a16="http://schemas.microsoft.com/office/drawing/2014/main" val="20000"/>
                    </a:ext>
                  </a:extLst>
                </a:gridCol>
                <a:gridCol w="6731000">
                  <a:extLst>
                    <a:ext uri="{9D8B030D-6E8A-4147-A177-3AD203B41FA5}">
                      <a16:colId xmlns:a16="http://schemas.microsoft.com/office/drawing/2014/main" val="20001"/>
                    </a:ext>
                  </a:extLst>
                </a:gridCol>
              </a:tblGrid>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同一应用在不同机器上要以同一方式启动，依赖不缺</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把应用与依赖打成镜像，通过编排配置启动一组容器</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换机器启动方式一致，比虚拟机轻、启动快</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容器共享宿主内核；虚拟机提供硬件级隔离</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镜像、网络、数据卷与编排配置也要维护</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extLst>
      <p:ext uri="{BB962C8B-B14F-4D97-AF65-F5344CB8AC3E}">
        <p14:creationId xmlns:p14="http://schemas.microsoft.com/office/powerpoint/2010/main" val="14937564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每种运行形态回应一类需求，也有代价</a:t>
            </a:r>
          </a:p>
        </p:txBody>
      </p:sp>
      <p:sp>
        <p:nvSpPr>
          <p:cNvPr id="3" name="body"/>
          <p:cNvSpPr txBox="1"/>
          <p:nvPr/>
        </p:nvSpPr>
        <p:spPr>
          <a:xfrm>
            <a:off x="406400" y="1435100"/>
            <a:ext cx="8318500" cy="736600"/>
          </a:xfrm>
          <a:prstGeom prst="rect">
            <a:avLst/>
          </a:prstGeom>
          <a:noFill/>
        </p:spPr>
        <p:txBody>
          <a:bodyPr wrap="square" lIns="54864" tIns="18288" rIns="54864" bIns="18288">
            <a:spAutoFit/>
          </a:bodyPr>
          <a:lstStyle/>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000" b="0">
                <a:latin typeface="微软雅黑"/>
                <a:ea typeface="微软雅黑"/>
                <a:cs typeface="微软雅黑"/>
              </a:rPr>
              <a:t>面向服务的体系结构（Service-Oriented Architecture，SOA）</a:t>
            </a:r>
          </a:p>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000" b="0">
                <a:latin typeface="微软雅黑"/>
                <a:ea typeface="微软雅黑"/>
                <a:cs typeface="微软雅黑"/>
              </a:rPr>
              <a:t>下列形态各有适用条件</a:t>
            </a:r>
          </a:p>
        </p:txBody>
      </p:sp>
      <p:graphicFrame>
        <p:nvGraphicFramePr>
          <p:cNvPr id="4" name="table"/>
          <p:cNvGraphicFramePr>
            <a:graphicFrameLocks noGrp="1"/>
          </p:cNvGraphicFramePr>
          <p:nvPr/>
        </p:nvGraphicFramePr>
        <p:xfrm>
          <a:off x="368300" y="2336800"/>
          <a:ext cx="8407400" cy="3555743"/>
        </p:xfrm>
        <a:graphic>
          <a:graphicData uri="http://schemas.openxmlformats.org/drawingml/2006/table">
            <a:tbl>
              <a:tblPr>
                <a:tableStyleId>{2D5ABB26-0587-4C30-8999-92F81FD0307C}</a:tableStyleId>
              </a:tblPr>
              <a:tblGrid>
                <a:gridCol w="1066800">
                  <a:extLst>
                    <a:ext uri="{9D8B030D-6E8A-4147-A177-3AD203B41FA5}">
                      <a16:colId xmlns:a16="http://schemas.microsoft.com/office/drawing/2014/main" val="20000"/>
                    </a:ext>
                  </a:extLst>
                </a:gridCol>
                <a:gridCol w="4267200">
                  <a:extLst>
                    <a:ext uri="{9D8B030D-6E8A-4147-A177-3AD203B41FA5}">
                      <a16:colId xmlns:a16="http://schemas.microsoft.com/office/drawing/2014/main" val="20001"/>
                    </a:ext>
                  </a:extLst>
                </a:gridCol>
                <a:gridCol w="3073400">
                  <a:extLst>
                    <a:ext uri="{9D8B030D-6E8A-4147-A177-3AD203B41FA5}">
                      <a16:colId xmlns:a16="http://schemas.microsoft.com/office/drawing/2014/main" val="20002"/>
                    </a:ext>
                  </a:extLst>
                </a:gridCol>
              </a:tblGrid>
              <a:tr h="43459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形态</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代价</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43459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单体</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部署简单</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整体发布，局部难以扩容</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68723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SOA</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多系统复用业务能力</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调用跨网络</a:t>
                      </a:r>
                      <a:br>
                        <a:rPr lang="zh-CN" sz="2000">
                          <a:solidFill>
                            <a:srgbClr val="262626"/>
                          </a:solidFill>
                          <a:latin typeface="微软雅黑"/>
                          <a:ea typeface="微软雅黑"/>
                        </a:rPr>
                      </a:br>
                      <a:endParaRPr lang="zh-CN" sz="2000">
                        <a:solidFill>
                          <a:srgbClr val="262626"/>
                        </a:solidFill>
                        <a:latin typeface="微软雅黑"/>
                        <a:ea typeface="微软雅黑"/>
                      </a:endParaRP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68723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微服务</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独立伸缩与发布，团队并行</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网络失败点，一致性与</a:t>
                      </a:r>
                      <a:br>
                        <a:rPr lang="zh-CN" sz="2000">
                          <a:solidFill>
                            <a:srgbClr val="262626"/>
                          </a:solidFill>
                          <a:latin typeface="微软雅黑"/>
                          <a:ea typeface="微软雅黑"/>
                        </a:rPr>
                      </a:br>
                      <a:r>
                        <a:rPr lang="zh-CN" altLang="en-US" sz="2000" b="0">
                          <a:solidFill>
                            <a:srgbClr val="262626"/>
                          </a:solidFill>
                          <a:latin typeface="微软雅黑"/>
                          <a:ea typeface="微软雅黑"/>
                          <a:cs typeface="微软雅黑"/>
                        </a:rPr>
                        <a:t>运维更复杂</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62484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边车</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横切功能与业务代码分离</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每个服务增加一个进程</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需要部署</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r h="68723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无服务</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降低运维负担，按需伸缩</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冷启动，受配额限制</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5"/>
                  </a:ext>
                </a:extLst>
              </a:tr>
            </a:tbl>
          </a:graphicData>
        </a:graphic>
      </p:graphicFrame>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b="1">
                <a:solidFill>
                  <a:srgbClr val="A33B38"/>
                </a:solidFill>
                <a:latin typeface="微软雅黑"/>
                <a:ea typeface="微软雅黑"/>
              </a:rPr>
              <a:t>单体的</a:t>
            </a:r>
            <a:r>
              <a:rPr lang="zh-CN" altLang="en-US" b="1" dirty="0">
                <a:solidFill>
                  <a:srgbClr val="A33B38"/>
                </a:solidFill>
                <a:latin typeface="微软雅黑"/>
                <a:ea typeface="微软雅黑"/>
              </a:rPr>
              <a:t>结构</a:t>
            </a:r>
          </a:p>
        </p:txBody>
      </p:sp>
      <p:sp>
        <p:nvSpPr>
          <p:cNvPr id="101" name="fig-d"/>
          <p:cNvSpPr/>
          <p:nvPr/>
        </p:nvSpPr>
        <p:spPr>
          <a:xfrm>
            <a:off x="434134" y="2651760"/>
            <a:ext cx="457200" cy="1554480"/>
          </a:xfrm>
          <a:prstGeom prst="rect">
            <a:avLst/>
          </a:prstGeom>
          <a:solidFill>
            <a:srgbClr val="A33B38"/>
          </a:solidFill>
          <a:ln w="12700">
            <a:solidFill>
              <a:srgbClr val="A33B38"/>
            </a:solidFill>
          </a:ln>
        </p:spPr>
        <p:txBody>
          <a:bodyPr wrap="square" lIns="0" tIns="0" rIns="0" bIns="0" anchor="ctr"/>
          <a:lstStyle/>
          <a:p>
            <a:pPr algn="ctr">
              <a:lnSpc>
                <a:spcPct val="100000"/>
              </a:lnSpc>
              <a:buNone/>
            </a:pPr>
            <a:r>
              <a:rPr lang="zh-CN" altLang="en-US" sz="1600" b="1">
                <a:solidFill>
                  <a:srgbClr val="FFFFFF"/>
                </a:solidFill>
                <a:latin typeface="微软雅黑"/>
                <a:ea typeface="微软雅黑"/>
              </a:rPr>
              <a:t>单体</a:t>
            </a:r>
            <a:endParaRPr lang="zh-CN" sz="1600">
              <a:latin typeface="微软雅黑"/>
              <a:ea typeface="微软雅黑"/>
            </a:endParaRPr>
          </a:p>
        </p:txBody>
      </p:sp>
      <p:sp>
        <p:nvSpPr>
          <p:cNvPr id="103" name="fig-d"/>
          <p:cNvSpPr/>
          <p:nvPr/>
        </p:nvSpPr>
        <p:spPr>
          <a:xfrm>
            <a:off x="3405934" y="2651760"/>
            <a:ext cx="2468880" cy="1554480"/>
          </a:xfrm>
          <a:prstGeom prst="hexagon">
            <a:avLst/>
          </a:prstGeom>
          <a:solidFill>
            <a:srgbClr val="F3FAD9"/>
          </a:solidFill>
          <a:ln w="28575">
            <a:solidFill>
              <a:srgbClr val="5CB85C"/>
            </a:solidFill>
          </a:ln>
        </p:spPr>
        <p:txBody>
          <a:bodyPr wrap="square" lIns="18288" tIns="9144" rIns="18288" bIns="9144" anchor="ctr"/>
          <a:lstStyle/>
          <a:p>
            <a:pPr algn="ctr">
              <a:lnSpc>
                <a:spcPct val="100000"/>
              </a:lnSpc>
              <a:buNone/>
            </a:pPr>
            <a:r>
              <a:rPr lang="zh-CN" altLang="en-US" sz="1600" b="1">
                <a:solidFill>
                  <a:srgbClr val="262626"/>
                </a:solidFill>
                <a:latin typeface="微软雅黑"/>
                <a:ea typeface="微软雅黑"/>
              </a:rPr>
              <a:t>餐厅管理</a:t>
            </a:r>
            <a:endParaRPr lang="zh-CN" sz="1600">
              <a:latin typeface="微软雅黑"/>
              <a:ea typeface="微软雅黑"/>
            </a:endParaRPr>
          </a:p>
          <a:p>
            <a:pPr algn="ctr">
              <a:lnSpc>
                <a:spcPct val="100000"/>
              </a:lnSpc>
              <a:buNone/>
            </a:pPr>
            <a:r>
              <a:rPr lang="zh-CN" altLang="en-US" sz="1600" b="0">
                <a:solidFill>
                  <a:srgbClr val="262626"/>
                </a:solidFill>
                <a:latin typeface="微软雅黑"/>
                <a:ea typeface="微软雅黑"/>
              </a:rPr>
              <a:t>订单管理</a:t>
            </a:r>
            <a:endParaRPr lang="zh-CN" sz="1600">
              <a:latin typeface="微软雅黑"/>
              <a:ea typeface="微软雅黑"/>
            </a:endParaRPr>
          </a:p>
          <a:p>
            <a:pPr algn="ctr">
              <a:lnSpc>
                <a:spcPct val="100000"/>
              </a:lnSpc>
              <a:buNone/>
            </a:pPr>
            <a:r>
              <a:rPr lang="zh-CN" altLang="en-US" sz="1600" b="0">
                <a:solidFill>
                  <a:srgbClr val="262626"/>
                </a:solidFill>
                <a:latin typeface="微软雅黑"/>
                <a:ea typeface="微软雅黑"/>
              </a:rPr>
              <a:t>配送管理</a:t>
            </a:r>
            <a:endParaRPr lang="zh-CN" sz="1600">
              <a:latin typeface="微软雅黑"/>
              <a:ea typeface="微软雅黑"/>
            </a:endParaRPr>
          </a:p>
          <a:p>
            <a:pPr algn="ctr">
              <a:lnSpc>
                <a:spcPct val="100000"/>
              </a:lnSpc>
              <a:buNone/>
            </a:pPr>
            <a:r>
              <a:rPr lang="zh-CN" altLang="en-US" sz="1600" b="0">
                <a:solidFill>
                  <a:srgbClr val="262626"/>
                </a:solidFill>
                <a:latin typeface="微软雅黑"/>
                <a:ea typeface="微软雅黑"/>
              </a:rPr>
              <a:t>支付　通知　账单</a:t>
            </a:r>
            <a:endParaRPr lang="zh-CN" sz="1600">
              <a:latin typeface="微软雅黑"/>
              <a:ea typeface="微软雅黑"/>
            </a:endParaRPr>
          </a:p>
        </p:txBody>
      </p:sp>
      <p:sp>
        <p:nvSpPr>
          <p:cNvPr id="104" name="fig-d"/>
          <p:cNvSpPr/>
          <p:nvPr/>
        </p:nvSpPr>
        <p:spPr>
          <a:xfrm>
            <a:off x="2171494" y="2788920"/>
            <a:ext cx="1097280" cy="365760"/>
          </a:xfrm>
          <a:prstGeom prst="rect">
            <a:avLst/>
          </a:prstGeom>
          <a:solidFill>
            <a:srgbClr val="DDF4FA"/>
          </a:solidFill>
          <a:ln w="12700">
            <a:solidFill>
              <a:srgbClr val="31B0D5"/>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REST API</a:t>
            </a:r>
            <a:endParaRPr lang="zh-CN" sz="1600">
              <a:latin typeface="微软雅黑"/>
              <a:ea typeface="微软雅黑"/>
            </a:endParaRPr>
          </a:p>
        </p:txBody>
      </p:sp>
      <p:sp>
        <p:nvSpPr>
          <p:cNvPr id="105" name="fig-d"/>
          <p:cNvSpPr/>
          <p:nvPr/>
        </p:nvSpPr>
        <p:spPr>
          <a:xfrm>
            <a:off x="3268774" y="2971800"/>
            <a:ext cx="365760" cy="9144"/>
          </a:xfrm>
          <a:custGeom>
            <a:avLst/>
            <a:gdLst/>
            <a:ahLst/>
            <a:cxnLst/>
            <a:rect l="0" t="0" r="r" b="b"/>
            <a:pathLst>
              <a:path w="365760" h="9144" fill="none">
                <a:moveTo>
                  <a:pt x="0" y="0"/>
                </a:moveTo>
                <a:lnTo>
                  <a:pt x="365760" y="0"/>
                </a:lnTo>
              </a:path>
            </a:pathLst>
          </a:custGeom>
          <a:noFill/>
          <a:ln w="12700">
            <a:solidFill>
              <a:srgbClr val="262626"/>
            </a:solidFill>
          </a:ln>
        </p:spPr>
        <p:txBody>
          <a:bodyPr/>
          <a:lstStyle/>
          <a:p>
            <a:endParaRPr lang="zh-CN">
              <a:latin typeface="微软雅黑"/>
              <a:ea typeface="微软雅黑"/>
            </a:endParaRPr>
          </a:p>
        </p:txBody>
      </p:sp>
      <p:sp>
        <p:nvSpPr>
          <p:cNvPr id="106" name="fig-d"/>
          <p:cNvSpPr/>
          <p:nvPr/>
        </p:nvSpPr>
        <p:spPr>
          <a:xfrm>
            <a:off x="2171494" y="3703320"/>
            <a:ext cx="1097280" cy="365760"/>
          </a:xfrm>
          <a:prstGeom prst="rect">
            <a:avLst/>
          </a:prstGeom>
          <a:solidFill>
            <a:srgbClr val="DDF4FA"/>
          </a:solidFill>
          <a:ln w="12700">
            <a:solidFill>
              <a:srgbClr val="31B0D5"/>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Web UI</a:t>
            </a:r>
            <a:endParaRPr lang="zh-CN" sz="1600">
              <a:latin typeface="微软雅黑"/>
              <a:ea typeface="微软雅黑"/>
            </a:endParaRPr>
          </a:p>
        </p:txBody>
      </p:sp>
      <p:sp>
        <p:nvSpPr>
          <p:cNvPr id="107" name="fig-d"/>
          <p:cNvSpPr/>
          <p:nvPr/>
        </p:nvSpPr>
        <p:spPr>
          <a:xfrm>
            <a:off x="3268774" y="3886200"/>
            <a:ext cx="365760" cy="9144"/>
          </a:xfrm>
          <a:custGeom>
            <a:avLst/>
            <a:gdLst/>
            <a:ahLst/>
            <a:cxnLst/>
            <a:rect l="0" t="0" r="r" b="b"/>
            <a:pathLst>
              <a:path w="365760" h="9144" fill="none">
                <a:moveTo>
                  <a:pt x="0" y="0"/>
                </a:moveTo>
                <a:lnTo>
                  <a:pt x="365760" y="0"/>
                </a:lnTo>
              </a:path>
            </a:pathLst>
          </a:custGeom>
          <a:noFill/>
          <a:ln w="12700">
            <a:solidFill>
              <a:srgbClr val="262626"/>
            </a:solidFill>
          </a:ln>
        </p:spPr>
        <p:txBody>
          <a:bodyPr/>
          <a:lstStyle/>
          <a:p>
            <a:endParaRPr lang="zh-CN">
              <a:latin typeface="微软雅黑"/>
              <a:ea typeface="微软雅黑"/>
            </a:endParaRPr>
          </a:p>
        </p:txBody>
      </p:sp>
      <p:sp>
        <p:nvSpPr>
          <p:cNvPr id="108" name="fig-d"/>
          <p:cNvSpPr/>
          <p:nvPr/>
        </p:nvSpPr>
        <p:spPr>
          <a:xfrm>
            <a:off x="918766" y="2651760"/>
            <a:ext cx="1170432" cy="365760"/>
          </a:xfrm>
          <a:prstGeom prst="rect">
            <a:avLst/>
          </a:prstGeom>
          <a:solidFill>
            <a:srgbClr val="F8E1F8"/>
          </a:solidFill>
          <a:ln w="12700">
            <a:solidFill>
              <a:srgbClr val="D46ED4"/>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Courier</a:t>
            </a:r>
            <a:endParaRPr lang="zh-CN" sz="1600">
              <a:latin typeface="微软雅黑"/>
              <a:ea typeface="微软雅黑"/>
            </a:endParaRPr>
          </a:p>
        </p:txBody>
      </p:sp>
      <p:sp>
        <p:nvSpPr>
          <p:cNvPr id="109" name="fig-d"/>
          <p:cNvSpPr/>
          <p:nvPr/>
        </p:nvSpPr>
        <p:spPr>
          <a:xfrm>
            <a:off x="2089198" y="2834640"/>
            <a:ext cx="82296" cy="137160"/>
          </a:xfrm>
          <a:custGeom>
            <a:avLst/>
            <a:gdLst/>
            <a:ahLst/>
            <a:cxnLst/>
            <a:rect l="0" t="0" r="r" b="b"/>
            <a:pathLst>
              <a:path w="82296" h="137160" fill="none">
                <a:moveTo>
                  <a:pt x="0" y="0"/>
                </a:moveTo>
                <a:lnTo>
                  <a:pt x="82296" y="137160"/>
                </a:lnTo>
              </a:path>
            </a:pathLst>
          </a:custGeom>
          <a:noFill/>
          <a:ln w="12700">
            <a:solidFill>
              <a:srgbClr val="262626"/>
            </a:solidFill>
          </a:ln>
        </p:spPr>
        <p:txBody>
          <a:bodyPr/>
          <a:lstStyle/>
          <a:p>
            <a:endParaRPr lang="zh-CN">
              <a:latin typeface="微软雅黑"/>
              <a:ea typeface="微软雅黑"/>
            </a:endParaRPr>
          </a:p>
        </p:txBody>
      </p:sp>
      <p:sp>
        <p:nvSpPr>
          <p:cNvPr id="110" name="fig-d"/>
          <p:cNvSpPr/>
          <p:nvPr/>
        </p:nvSpPr>
        <p:spPr>
          <a:xfrm>
            <a:off x="918766" y="3090672"/>
            <a:ext cx="1170432" cy="365760"/>
          </a:xfrm>
          <a:prstGeom prst="rect">
            <a:avLst/>
          </a:prstGeom>
          <a:solidFill>
            <a:srgbClr val="F8E1F8"/>
          </a:solidFill>
          <a:ln w="12700">
            <a:solidFill>
              <a:srgbClr val="D46ED4"/>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Consumer</a:t>
            </a:r>
            <a:endParaRPr lang="zh-CN" sz="1600">
              <a:latin typeface="微软雅黑"/>
              <a:ea typeface="微软雅黑"/>
            </a:endParaRPr>
          </a:p>
        </p:txBody>
      </p:sp>
      <p:sp>
        <p:nvSpPr>
          <p:cNvPr id="111" name="fig-d"/>
          <p:cNvSpPr/>
          <p:nvPr/>
        </p:nvSpPr>
        <p:spPr>
          <a:xfrm>
            <a:off x="2089198" y="2971800"/>
            <a:ext cx="82296" cy="301752"/>
          </a:xfrm>
          <a:custGeom>
            <a:avLst/>
            <a:gdLst/>
            <a:ahLst/>
            <a:cxnLst/>
            <a:rect l="0" t="0" r="r" b="b"/>
            <a:pathLst>
              <a:path w="82296" h="301752" fill="none">
                <a:moveTo>
                  <a:pt x="0" y="301752"/>
                </a:moveTo>
                <a:lnTo>
                  <a:pt x="82296" y="0"/>
                </a:lnTo>
              </a:path>
            </a:pathLst>
          </a:custGeom>
          <a:noFill/>
          <a:ln w="12700">
            <a:solidFill>
              <a:srgbClr val="262626"/>
            </a:solidFill>
          </a:ln>
        </p:spPr>
        <p:txBody>
          <a:bodyPr/>
          <a:lstStyle/>
          <a:p>
            <a:endParaRPr lang="zh-CN">
              <a:latin typeface="微软雅黑"/>
              <a:ea typeface="微软雅黑"/>
            </a:endParaRPr>
          </a:p>
        </p:txBody>
      </p:sp>
      <p:sp>
        <p:nvSpPr>
          <p:cNvPr id="112" name="fig-d"/>
          <p:cNvSpPr/>
          <p:nvPr/>
        </p:nvSpPr>
        <p:spPr>
          <a:xfrm>
            <a:off x="918766" y="3703320"/>
            <a:ext cx="1170432" cy="365760"/>
          </a:xfrm>
          <a:prstGeom prst="rect">
            <a:avLst/>
          </a:prstGeom>
          <a:solidFill>
            <a:srgbClr val="F8E1F8"/>
          </a:solidFill>
          <a:ln w="12700">
            <a:solidFill>
              <a:srgbClr val="D46ED4"/>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Restaurant</a:t>
            </a:r>
            <a:endParaRPr lang="zh-CN" sz="1600">
              <a:latin typeface="微软雅黑"/>
              <a:ea typeface="微软雅黑"/>
            </a:endParaRPr>
          </a:p>
        </p:txBody>
      </p:sp>
      <p:sp>
        <p:nvSpPr>
          <p:cNvPr id="113" name="fig-d"/>
          <p:cNvSpPr/>
          <p:nvPr/>
        </p:nvSpPr>
        <p:spPr>
          <a:xfrm>
            <a:off x="2089198" y="3886200"/>
            <a:ext cx="82296" cy="9144"/>
          </a:xfrm>
          <a:custGeom>
            <a:avLst/>
            <a:gdLst/>
            <a:ahLst/>
            <a:cxnLst/>
            <a:rect l="0" t="0" r="r" b="b"/>
            <a:pathLst>
              <a:path w="82296" h="9144" fill="none">
                <a:moveTo>
                  <a:pt x="0" y="0"/>
                </a:moveTo>
                <a:lnTo>
                  <a:pt x="82296" y="0"/>
                </a:lnTo>
              </a:path>
            </a:pathLst>
          </a:custGeom>
          <a:noFill/>
          <a:ln w="12700">
            <a:solidFill>
              <a:srgbClr val="262626"/>
            </a:solidFill>
          </a:ln>
        </p:spPr>
        <p:txBody>
          <a:bodyPr/>
          <a:lstStyle/>
          <a:p>
            <a:endParaRPr lang="zh-CN">
              <a:latin typeface="微软雅黑"/>
              <a:ea typeface="微软雅黑"/>
            </a:endParaRPr>
          </a:p>
        </p:txBody>
      </p:sp>
      <p:sp>
        <p:nvSpPr>
          <p:cNvPr id="114" name="fig-d"/>
          <p:cNvSpPr/>
          <p:nvPr/>
        </p:nvSpPr>
        <p:spPr>
          <a:xfrm>
            <a:off x="5947966" y="2651760"/>
            <a:ext cx="1920240" cy="365760"/>
          </a:xfrm>
          <a:prstGeom prst="rect">
            <a:avLst/>
          </a:prstGeom>
          <a:solidFill>
            <a:srgbClr val="DDF4FA"/>
          </a:solidFill>
          <a:ln w="12700">
            <a:solidFill>
              <a:srgbClr val="31B0D5"/>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MySQL Adapter</a:t>
            </a:r>
            <a:endParaRPr lang="zh-CN" sz="1600">
              <a:latin typeface="微软雅黑"/>
              <a:ea typeface="微软雅黑"/>
            </a:endParaRPr>
          </a:p>
        </p:txBody>
      </p:sp>
      <p:sp>
        <p:nvSpPr>
          <p:cNvPr id="115" name="fig-d"/>
          <p:cNvSpPr/>
          <p:nvPr/>
        </p:nvSpPr>
        <p:spPr>
          <a:xfrm>
            <a:off x="5691934" y="2834640"/>
            <a:ext cx="256032" cy="9144"/>
          </a:xfrm>
          <a:custGeom>
            <a:avLst/>
            <a:gdLst/>
            <a:ahLst/>
            <a:cxnLst/>
            <a:rect l="0" t="0" r="r" b="b"/>
            <a:pathLst>
              <a:path w="256032" h="9144" fill="none">
                <a:moveTo>
                  <a:pt x="0" y="0"/>
                </a:moveTo>
                <a:lnTo>
                  <a:pt x="256032" y="0"/>
                </a:lnTo>
              </a:path>
            </a:pathLst>
          </a:custGeom>
          <a:noFill/>
          <a:ln w="12700">
            <a:solidFill>
              <a:srgbClr val="262626"/>
            </a:solidFill>
          </a:ln>
        </p:spPr>
        <p:txBody>
          <a:bodyPr/>
          <a:lstStyle/>
          <a:p>
            <a:endParaRPr lang="zh-CN">
              <a:latin typeface="微软雅黑"/>
              <a:ea typeface="微软雅黑"/>
            </a:endParaRPr>
          </a:p>
        </p:txBody>
      </p:sp>
      <p:sp>
        <p:nvSpPr>
          <p:cNvPr id="116" name="fig-d"/>
          <p:cNvSpPr/>
          <p:nvPr/>
        </p:nvSpPr>
        <p:spPr>
          <a:xfrm>
            <a:off x="5947966" y="3044952"/>
            <a:ext cx="1920240" cy="365760"/>
          </a:xfrm>
          <a:prstGeom prst="rect">
            <a:avLst/>
          </a:prstGeom>
          <a:solidFill>
            <a:srgbClr val="DDF4FA"/>
          </a:solidFill>
          <a:ln w="12700">
            <a:solidFill>
              <a:srgbClr val="31B0D5"/>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Twilio Adapter</a:t>
            </a:r>
            <a:endParaRPr lang="zh-CN" sz="1600">
              <a:latin typeface="微软雅黑"/>
              <a:ea typeface="微软雅黑"/>
            </a:endParaRPr>
          </a:p>
        </p:txBody>
      </p:sp>
      <p:sp>
        <p:nvSpPr>
          <p:cNvPr id="117" name="fig-d"/>
          <p:cNvSpPr/>
          <p:nvPr/>
        </p:nvSpPr>
        <p:spPr>
          <a:xfrm>
            <a:off x="5691934" y="3227832"/>
            <a:ext cx="256032" cy="9144"/>
          </a:xfrm>
          <a:custGeom>
            <a:avLst/>
            <a:gdLst/>
            <a:ahLst/>
            <a:cxnLst/>
            <a:rect l="0" t="0" r="r" b="b"/>
            <a:pathLst>
              <a:path w="256032" h="9144" fill="none">
                <a:moveTo>
                  <a:pt x="0" y="0"/>
                </a:moveTo>
                <a:lnTo>
                  <a:pt x="256032" y="0"/>
                </a:lnTo>
              </a:path>
            </a:pathLst>
          </a:custGeom>
          <a:noFill/>
          <a:ln w="12700">
            <a:solidFill>
              <a:srgbClr val="262626"/>
            </a:solidFill>
          </a:ln>
        </p:spPr>
        <p:txBody>
          <a:bodyPr/>
          <a:lstStyle/>
          <a:p>
            <a:endParaRPr lang="zh-CN">
              <a:latin typeface="微软雅黑"/>
              <a:ea typeface="微软雅黑"/>
            </a:endParaRPr>
          </a:p>
        </p:txBody>
      </p:sp>
      <p:sp>
        <p:nvSpPr>
          <p:cNvPr id="118" name="fig-d"/>
          <p:cNvSpPr/>
          <p:nvPr/>
        </p:nvSpPr>
        <p:spPr>
          <a:xfrm>
            <a:off x="5947966" y="3438144"/>
            <a:ext cx="1920240" cy="365760"/>
          </a:xfrm>
          <a:prstGeom prst="rect">
            <a:avLst/>
          </a:prstGeom>
          <a:solidFill>
            <a:srgbClr val="DDF4FA"/>
          </a:solidFill>
          <a:ln w="12700">
            <a:solidFill>
              <a:srgbClr val="31B0D5"/>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SendGrid Adapter</a:t>
            </a:r>
            <a:endParaRPr lang="zh-CN" sz="1600">
              <a:latin typeface="微软雅黑"/>
              <a:ea typeface="微软雅黑"/>
            </a:endParaRPr>
          </a:p>
        </p:txBody>
      </p:sp>
      <p:sp>
        <p:nvSpPr>
          <p:cNvPr id="119" name="fig-d"/>
          <p:cNvSpPr/>
          <p:nvPr/>
        </p:nvSpPr>
        <p:spPr>
          <a:xfrm>
            <a:off x="5691934" y="3621024"/>
            <a:ext cx="256032" cy="9144"/>
          </a:xfrm>
          <a:custGeom>
            <a:avLst/>
            <a:gdLst/>
            <a:ahLst/>
            <a:cxnLst/>
            <a:rect l="0" t="0" r="r" b="b"/>
            <a:pathLst>
              <a:path w="256032" h="9144" fill="none">
                <a:moveTo>
                  <a:pt x="0" y="0"/>
                </a:moveTo>
                <a:lnTo>
                  <a:pt x="256032" y="0"/>
                </a:lnTo>
              </a:path>
            </a:pathLst>
          </a:custGeom>
          <a:noFill/>
          <a:ln w="12700">
            <a:solidFill>
              <a:srgbClr val="262626"/>
            </a:solidFill>
          </a:ln>
        </p:spPr>
        <p:txBody>
          <a:bodyPr/>
          <a:lstStyle/>
          <a:p>
            <a:endParaRPr lang="zh-CN">
              <a:latin typeface="微软雅黑"/>
              <a:ea typeface="微软雅黑"/>
            </a:endParaRPr>
          </a:p>
        </p:txBody>
      </p:sp>
      <p:sp>
        <p:nvSpPr>
          <p:cNvPr id="120" name="fig-d"/>
          <p:cNvSpPr/>
          <p:nvPr/>
        </p:nvSpPr>
        <p:spPr>
          <a:xfrm>
            <a:off x="5947966" y="3831336"/>
            <a:ext cx="1920240" cy="365760"/>
          </a:xfrm>
          <a:prstGeom prst="rect">
            <a:avLst/>
          </a:prstGeom>
          <a:solidFill>
            <a:srgbClr val="DDF4FA"/>
          </a:solidFill>
          <a:ln w="12700">
            <a:solidFill>
              <a:srgbClr val="31B0D5"/>
            </a:solid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Stripe Adapter</a:t>
            </a:r>
            <a:endParaRPr lang="zh-CN" sz="1600">
              <a:latin typeface="微软雅黑"/>
              <a:ea typeface="微软雅黑"/>
            </a:endParaRPr>
          </a:p>
        </p:txBody>
      </p:sp>
      <p:sp>
        <p:nvSpPr>
          <p:cNvPr id="121" name="fig-d"/>
          <p:cNvSpPr/>
          <p:nvPr/>
        </p:nvSpPr>
        <p:spPr>
          <a:xfrm>
            <a:off x="5691934" y="4014216"/>
            <a:ext cx="256032" cy="9144"/>
          </a:xfrm>
          <a:custGeom>
            <a:avLst/>
            <a:gdLst/>
            <a:ahLst/>
            <a:cxnLst/>
            <a:rect l="0" t="0" r="r" b="b"/>
            <a:pathLst>
              <a:path w="256032" h="9144" fill="none">
                <a:moveTo>
                  <a:pt x="0" y="0"/>
                </a:moveTo>
                <a:lnTo>
                  <a:pt x="256032" y="0"/>
                </a:lnTo>
              </a:path>
            </a:pathLst>
          </a:custGeom>
          <a:noFill/>
          <a:ln w="12700">
            <a:solidFill>
              <a:srgbClr val="262626"/>
            </a:solidFill>
          </a:ln>
        </p:spPr>
        <p:txBody>
          <a:bodyPr/>
          <a:lstStyle/>
          <a:p>
            <a:endParaRPr lang="zh-CN">
              <a:latin typeface="微软雅黑"/>
              <a:ea typeface="微软雅黑"/>
            </a:endParaRPr>
          </a:p>
        </p:txBody>
      </p:sp>
      <p:sp>
        <p:nvSpPr>
          <p:cNvPr id="122" name="fig-d"/>
          <p:cNvSpPr/>
          <p:nvPr/>
        </p:nvSpPr>
        <p:spPr>
          <a:xfrm>
            <a:off x="7959646" y="2633472"/>
            <a:ext cx="841248" cy="402336"/>
          </a:xfrm>
          <a:prstGeom prst="can">
            <a:avLst/>
          </a:prstGeom>
          <a:solidFill>
            <a:srgbClr val="F8E1F8"/>
          </a:solidFill>
          <a:ln w="12700">
            <a:solidFill>
              <a:srgbClr val="D46ED4"/>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MySQL</a:t>
            </a:r>
            <a:endParaRPr lang="zh-CN" sz="1600">
              <a:latin typeface="微软雅黑"/>
              <a:ea typeface="微软雅黑"/>
            </a:endParaRPr>
          </a:p>
        </p:txBody>
      </p:sp>
      <p:sp>
        <p:nvSpPr>
          <p:cNvPr id="123" name="fig-d"/>
          <p:cNvSpPr/>
          <p:nvPr/>
        </p:nvSpPr>
        <p:spPr>
          <a:xfrm>
            <a:off x="7868206" y="2834640"/>
            <a:ext cx="91440" cy="9144"/>
          </a:xfrm>
          <a:custGeom>
            <a:avLst/>
            <a:gdLst/>
            <a:ahLst/>
            <a:cxnLst/>
            <a:rect l="0" t="0" r="r" b="b"/>
            <a:pathLst>
              <a:path w="91440" h="9144" fill="none">
                <a:moveTo>
                  <a:pt x="0" y="0"/>
                </a:moveTo>
                <a:lnTo>
                  <a:pt x="91440" y="0"/>
                </a:lnTo>
              </a:path>
            </a:pathLst>
          </a:custGeom>
          <a:noFill/>
          <a:ln w="12700">
            <a:solidFill>
              <a:srgbClr val="262626"/>
            </a:solidFill>
          </a:ln>
        </p:spPr>
        <p:txBody>
          <a:bodyPr/>
          <a:lstStyle/>
          <a:p>
            <a:endParaRPr lang="zh-CN">
              <a:latin typeface="微软雅黑"/>
              <a:ea typeface="微软雅黑"/>
            </a:endParaRPr>
          </a:p>
        </p:txBody>
      </p:sp>
      <p:sp>
        <p:nvSpPr>
          <p:cNvPr id="159" name="fn-source"/>
          <p:cNvSpPr/>
          <p:nvPr/>
        </p:nvSpPr>
        <p:spPr>
          <a:xfrm>
            <a:off x="411480" y="5760720"/>
            <a:ext cx="8321040" cy="201168"/>
          </a:xfrm>
          <a:prstGeom prst="rect">
            <a:avLst/>
          </a:prstGeom>
          <a:noFill/>
          <a:ln>
            <a:noFill/>
          </a:ln>
        </p:spPr>
        <p:txBody>
          <a:bodyPr wrap="square" lIns="36576" tIns="18288" rIns="36576" bIns="18288" anchor="b"/>
          <a:lstStyle/>
          <a:p>
            <a:pPr algn="l">
              <a:lnSpc>
                <a:spcPct val="100000"/>
              </a:lnSpc>
              <a:buNone/>
            </a:pPr>
            <a:r>
              <a:rPr lang="zh-CN" altLang="en-US" sz="1200" b="0">
                <a:solidFill>
                  <a:srgbClr val="595959"/>
                </a:solidFill>
                <a:latin typeface="微软雅黑"/>
                <a:ea typeface="微软雅黑"/>
              </a:rPr>
              <a:t>图：按 2024 版第 4-1 讲第 29 页（单体架构）重画；单体核心六个模块译为中文</a:t>
            </a:r>
            <a:endParaRPr lang="zh-CN" sz="1200">
              <a:latin typeface="微软雅黑"/>
              <a:ea typeface="微软雅黑"/>
            </a:endParaRPr>
          </a:p>
        </p:txBody>
      </p:sp>
      <p:sp>
        <p:nvSpPr>
          <p:cNvPr id="160"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6B0F6-BC42-1183-725D-2F6CAE8FDF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796299-3258-3573-54ED-FE0F8DABD50E}"/>
              </a:ext>
            </a:extLst>
          </p:cNvPr>
          <p:cNvSpPr>
            <a:spLocks noGrp="1"/>
          </p:cNvSpPr>
          <p:nvPr>
            <p:ph type="title"/>
          </p:nvPr>
        </p:nvSpPr>
        <p:spPr/>
        <p:txBody>
          <a:bodyPr/>
          <a:lstStyle/>
          <a:p>
            <a:r>
              <a:rPr lang="zh-CN" altLang="en-US" b="1" dirty="0">
                <a:solidFill>
                  <a:srgbClr val="A33B38"/>
                </a:solidFill>
                <a:latin typeface="微软雅黑"/>
                <a:ea typeface="微软雅黑"/>
              </a:rPr>
              <a:t>SOA 的结构</a:t>
            </a:r>
          </a:p>
        </p:txBody>
      </p:sp>
      <p:sp>
        <p:nvSpPr>
          <p:cNvPr id="102" name="fig-d">
            <a:extLst>
              <a:ext uri="{FF2B5EF4-FFF2-40B4-BE49-F238E27FC236}">
                <a16:creationId xmlns:a16="http://schemas.microsoft.com/office/drawing/2014/main" id="{1A6CAA9F-88AD-ED9D-9F47-5E4841580537}"/>
              </a:ext>
            </a:extLst>
          </p:cNvPr>
          <p:cNvSpPr/>
          <p:nvPr/>
        </p:nvSpPr>
        <p:spPr>
          <a:xfrm>
            <a:off x="403242" y="2770632"/>
            <a:ext cx="457200" cy="1207008"/>
          </a:xfrm>
          <a:prstGeom prst="rect">
            <a:avLst/>
          </a:prstGeom>
          <a:solidFill>
            <a:srgbClr val="A33B38"/>
          </a:solidFill>
          <a:ln w="12700">
            <a:solidFill>
              <a:srgbClr val="A33B38"/>
            </a:solidFill>
          </a:ln>
        </p:spPr>
        <p:txBody>
          <a:bodyPr wrap="square" lIns="0" tIns="0" rIns="0" bIns="0" anchor="ctr"/>
          <a:lstStyle/>
          <a:p>
            <a:pPr algn="ctr">
              <a:lnSpc>
                <a:spcPct val="100000"/>
              </a:lnSpc>
              <a:buNone/>
            </a:pPr>
            <a:r>
              <a:rPr lang="zh-CN" altLang="en-US" sz="1600" b="1">
                <a:solidFill>
                  <a:srgbClr val="FFFFFF"/>
                </a:solidFill>
                <a:latin typeface="微软雅黑"/>
                <a:ea typeface="微软雅黑"/>
              </a:rPr>
              <a:t>SOA</a:t>
            </a:r>
            <a:endParaRPr lang="zh-CN" sz="1600">
              <a:latin typeface="微软雅黑"/>
              <a:ea typeface="微软雅黑"/>
            </a:endParaRPr>
          </a:p>
        </p:txBody>
      </p:sp>
      <p:sp>
        <p:nvSpPr>
          <p:cNvPr id="124" name="fig-d">
            <a:extLst>
              <a:ext uri="{FF2B5EF4-FFF2-40B4-BE49-F238E27FC236}">
                <a16:creationId xmlns:a16="http://schemas.microsoft.com/office/drawing/2014/main" id="{F90FAB46-29C6-C041-14AB-A88F88E93EAA}"/>
              </a:ext>
            </a:extLst>
          </p:cNvPr>
          <p:cNvSpPr/>
          <p:nvPr/>
        </p:nvSpPr>
        <p:spPr>
          <a:xfrm>
            <a:off x="403242" y="2057400"/>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Business</a:t>
            </a:r>
            <a:br>
              <a:rPr lang="zh-CN" sz="1600">
                <a:latin typeface="微软雅黑"/>
                <a:ea typeface="微软雅黑"/>
              </a:rPr>
            </a:br>
            <a:r>
              <a:rPr lang="zh-CN" altLang="en-US" sz="1600" b="0">
                <a:solidFill>
                  <a:srgbClr val="262626"/>
                </a:solidFill>
                <a:latin typeface="微软雅黑"/>
                <a:ea typeface="微软雅黑"/>
              </a:rPr>
              <a:t>Applications</a:t>
            </a:r>
            <a:endParaRPr lang="zh-CN" sz="1600">
              <a:latin typeface="微软雅黑"/>
              <a:ea typeface="微软雅黑"/>
            </a:endParaRPr>
          </a:p>
        </p:txBody>
      </p:sp>
      <p:sp>
        <p:nvSpPr>
          <p:cNvPr id="125" name="fig-d">
            <a:extLst>
              <a:ext uri="{FF2B5EF4-FFF2-40B4-BE49-F238E27FC236}">
                <a16:creationId xmlns:a16="http://schemas.microsoft.com/office/drawing/2014/main" id="{7A4752EB-F0C0-8CCE-4CE3-B87C9854FC0A}"/>
              </a:ext>
            </a:extLst>
          </p:cNvPr>
          <p:cNvSpPr/>
          <p:nvPr/>
        </p:nvSpPr>
        <p:spPr>
          <a:xfrm>
            <a:off x="1089042" y="2660904"/>
            <a:ext cx="9144" cy="109728"/>
          </a:xfrm>
          <a:custGeom>
            <a:avLst/>
            <a:gdLst/>
            <a:ahLst/>
            <a:cxnLst/>
            <a:rect l="0" t="0" r="r" b="b"/>
            <a:pathLst>
              <a:path w="9144" h="109728" fill="none">
                <a:moveTo>
                  <a:pt x="0" y="0"/>
                </a:moveTo>
                <a:lnTo>
                  <a:pt x="0" y="109728"/>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26" name="fig-d">
            <a:extLst>
              <a:ext uri="{FF2B5EF4-FFF2-40B4-BE49-F238E27FC236}">
                <a16:creationId xmlns:a16="http://schemas.microsoft.com/office/drawing/2014/main" id="{F972E14D-C9A9-7374-8B13-3A98A0E7E528}"/>
              </a:ext>
            </a:extLst>
          </p:cNvPr>
          <p:cNvSpPr/>
          <p:nvPr/>
        </p:nvSpPr>
        <p:spPr>
          <a:xfrm>
            <a:off x="403242" y="4087368"/>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Web Portal</a:t>
            </a:r>
            <a:br>
              <a:rPr lang="zh-CN" sz="1600">
                <a:latin typeface="微软雅黑"/>
                <a:ea typeface="微软雅黑"/>
              </a:rPr>
            </a:br>
            <a:r>
              <a:rPr lang="zh-CN" altLang="en-US" sz="1600" b="0">
                <a:solidFill>
                  <a:srgbClr val="262626"/>
                </a:solidFill>
                <a:latin typeface="微软雅黑"/>
                <a:ea typeface="微软雅黑"/>
              </a:rPr>
              <a:t>REST</a:t>
            </a:r>
            <a:endParaRPr lang="zh-CN" sz="1600">
              <a:latin typeface="微软雅黑"/>
              <a:ea typeface="微软雅黑"/>
            </a:endParaRPr>
          </a:p>
        </p:txBody>
      </p:sp>
      <p:sp>
        <p:nvSpPr>
          <p:cNvPr id="127" name="fig-d">
            <a:extLst>
              <a:ext uri="{FF2B5EF4-FFF2-40B4-BE49-F238E27FC236}">
                <a16:creationId xmlns:a16="http://schemas.microsoft.com/office/drawing/2014/main" id="{F2452665-AFCD-4C35-7D50-72E614643B15}"/>
              </a:ext>
            </a:extLst>
          </p:cNvPr>
          <p:cNvSpPr/>
          <p:nvPr/>
        </p:nvSpPr>
        <p:spPr>
          <a:xfrm>
            <a:off x="1089042" y="3977640"/>
            <a:ext cx="9144" cy="109728"/>
          </a:xfrm>
          <a:custGeom>
            <a:avLst/>
            <a:gdLst/>
            <a:ahLst/>
            <a:cxnLst/>
            <a:rect l="0" t="0" r="r" b="b"/>
            <a:pathLst>
              <a:path w="9144" h="109728" fill="none">
                <a:moveTo>
                  <a:pt x="0" y="109728"/>
                </a:moveTo>
                <a:lnTo>
                  <a:pt x="0" y="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28" name="fig-d">
            <a:extLst>
              <a:ext uri="{FF2B5EF4-FFF2-40B4-BE49-F238E27FC236}">
                <a16:creationId xmlns:a16="http://schemas.microsoft.com/office/drawing/2014/main" id="{7FA26CF5-72B6-DA95-A21A-764738D89CAA}"/>
              </a:ext>
            </a:extLst>
          </p:cNvPr>
          <p:cNvSpPr/>
          <p:nvPr/>
        </p:nvSpPr>
        <p:spPr>
          <a:xfrm>
            <a:off x="1802274" y="2057400"/>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Data</a:t>
            </a:r>
            <a:br>
              <a:rPr lang="zh-CN" sz="1600">
                <a:latin typeface="微软雅黑"/>
                <a:ea typeface="微软雅黑"/>
              </a:rPr>
            </a:br>
            <a:r>
              <a:rPr lang="zh-CN" altLang="en-US" sz="1600" b="0">
                <a:solidFill>
                  <a:srgbClr val="262626"/>
                </a:solidFill>
                <a:latin typeface="微软雅黑"/>
                <a:ea typeface="微软雅黑"/>
              </a:rPr>
              <a:t>Sources</a:t>
            </a:r>
            <a:endParaRPr lang="zh-CN" sz="1600">
              <a:latin typeface="微软雅黑"/>
              <a:ea typeface="微软雅黑"/>
            </a:endParaRPr>
          </a:p>
        </p:txBody>
      </p:sp>
      <p:sp>
        <p:nvSpPr>
          <p:cNvPr id="129" name="fig-d">
            <a:extLst>
              <a:ext uri="{FF2B5EF4-FFF2-40B4-BE49-F238E27FC236}">
                <a16:creationId xmlns:a16="http://schemas.microsoft.com/office/drawing/2014/main" id="{092E18FC-2D97-770D-15EB-3409304CC25D}"/>
              </a:ext>
            </a:extLst>
          </p:cNvPr>
          <p:cNvSpPr/>
          <p:nvPr/>
        </p:nvSpPr>
        <p:spPr>
          <a:xfrm>
            <a:off x="2488074" y="2660904"/>
            <a:ext cx="9144" cy="109728"/>
          </a:xfrm>
          <a:custGeom>
            <a:avLst/>
            <a:gdLst/>
            <a:ahLst/>
            <a:cxnLst/>
            <a:rect l="0" t="0" r="r" b="b"/>
            <a:pathLst>
              <a:path w="9144" h="109728" fill="none">
                <a:moveTo>
                  <a:pt x="0" y="0"/>
                </a:moveTo>
                <a:lnTo>
                  <a:pt x="0" y="109728"/>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30" name="fig-d">
            <a:extLst>
              <a:ext uri="{FF2B5EF4-FFF2-40B4-BE49-F238E27FC236}">
                <a16:creationId xmlns:a16="http://schemas.microsoft.com/office/drawing/2014/main" id="{82D79C80-9362-5C21-6A8C-50AFCCE0A660}"/>
              </a:ext>
            </a:extLst>
          </p:cNvPr>
          <p:cNvSpPr/>
          <p:nvPr/>
        </p:nvSpPr>
        <p:spPr>
          <a:xfrm>
            <a:off x="1802274" y="4087368"/>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Web Services</a:t>
            </a:r>
            <a:br>
              <a:rPr lang="zh-CN" sz="1600">
                <a:latin typeface="微软雅黑"/>
                <a:ea typeface="微软雅黑"/>
              </a:rPr>
            </a:br>
            <a:r>
              <a:rPr lang="zh-CN" altLang="en-US" sz="1600" b="0">
                <a:solidFill>
                  <a:srgbClr val="262626"/>
                </a:solidFill>
                <a:latin typeface="微软雅黑"/>
                <a:ea typeface="微软雅黑"/>
              </a:rPr>
              <a:t>.Net / HTTP</a:t>
            </a:r>
            <a:endParaRPr lang="zh-CN" sz="1600">
              <a:latin typeface="微软雅黑"/>
              <a:ea typeface="微软雅黑"/>
            </a:endParaRPr>
          </a:p>
        </p:txBody>
      </p:sp>
      <p:sp>
        <p:nvSpPr>
          <p:cNvPr id="131" name="fig-d">
            <a:extLst>
              <a:ext uri="{FF2B5EF4-FFF2-40B4-BE49-F238E27FC236}">
                <a16:creationId xmlns:a16="http://schemas.microsoft.com/office/drawing/2014/main" id="{EA7F5647-F5CE-E667-70A4-B0039DD4B401}"/>
              </a:ext>
            </a:extLst>
          </p:cNvPr>
          <p:cNvSpPr/>
          <p:nvPr/>
        </p:nvSpPr>
        <p:spPr>
          <a:xfrm>
            <a:off x="2488074" y="3977640"/>
            <a:ext cx="9144" cy="109728"/>
          </a:xfrm>
          <a:custGeom>
            <a:avLst/>
            <a:gdLst/>
            <a:ahLst/>
            <a:cxnLst/>
            <a:rect l="0" t="0" r="r" b="b"/>
            <a:pathLst>
              <a:path w="9144" h="109728" fill="none">
                <a:moveTo>
                  <a:pt x="0" y="109728"/>
                </a:moveTo>
                <a:lnTo>
                  <a:pt x="0" y="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32" name="fig-d">
            <a:extLst>
              <a:ext uri="{FF2B5EF4-FFF2-40B4-BE49-F238E27FC236}">
                <a16:creationId xmlns:a16="http://schemas.microsoft.com/office/drawing/2014/main" id="{7210D265-D665-DD37-E952-00B76A7BB0BB}"/>
              </a:ext>
            </a:extLst>
          </p:cNvPr>
          <p:cNvSpPr/>
          <p:nvPr/>
        </p:nvSpPr>
        <p:spPr>
          <a:xfrm>
            <a:off x="3201306" y="2057400"/>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Partners</a:t>
            </a:r>
            <a:br>
              <a:rPr lang="zh-CN" sz="1600">
                <a:latin typeface="微软雅黑"/>
                <a:ea typeface="微软雅黑"/>
              </a:rPr>
            </a:br>
            <a:r>
              <a:rPr lang="zh-CN" altLang="en-US" sz="1600" b="0">
                <a:solidFill>
                  <a:srgbClr val="262626"/>
                </a:solidFill>
                <a:latin typeface="微软雅黑"/>
                <a:ea typeface="微软雅黑"/>
              </a:rPr>
              <a:t>B2B</a:t>
            </a:r>
            <a:endParaRPr lang="zh-CN" sz="1600">
              <a:latin typeface="微软雅黑"/>
              <a:ea typeface="微软雅黑"/>
            </a:endParaRPr>
          </a:p>
        </p:txBody>
      </p:sp>
      <p:sp>
        <p:nvSpPr>
          <p:cNvPr id="133" name="fig-d">
            <a:extLst>
              <a:ext uri="{FF2B5EF4-FFF2-40B4-BE49-F238E27FC236}">
                <a16:creationId xmlns:a16="http://schemas.microsoft.com/office/drawing/2014/main" id="{45946008-9728-AF7A-EC61-98078D9E0C72}"/>
              </a:ext>
            </a:extLst>
          </p:cNvPr>
          <p:cNvSpPr/>
          <p:nvPr/>
        </p:nvSpPr>
        <p:spPr>
          <a:xfrm>
            <a:off x="3887106" y="2660904"/>
            <a:ext cx="9144" cy="109728"/>
          </a:xfrm>
          <a:custGeom>
            <a:avLst/>
            <a:gdLst/>
            <a:ahLst/>
            <a:cxnLst/>
            <a:rect l="0" t="0" r="r" b="b"/>
            <a:pathLst>
              <a:path w="9144" h="109728" fill="none">
                <a:moveTo>
                  <a:pt x="0" y="0"/>
                </a:moveTo>
                <a:lnTo>
                  <a:pt x="0" y="109728"/>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34" name="fig-d">
            <a:extLst>
              <a:ext uri="{FF2B5EF4-FFF2-40B4-BE49-F238E27FC236}">
                <a16:creationId xmlns:a16="http://schemas.microsoft.com/office/drawing/2014/main" id="{C2CEEF97-B3D8-7B60-CC64-58E30498B296}"/>
              </a:ext>
            </a:extLst>
          </p:cNvPr>
          <p:cNvSpPr/>
          <p:nvPr/>
        </p:nvSpPr>
        <p:spPr>
          <a:xfrm>
            <a:off x="3201306" y="4087368"/>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BPEL</a:t>
            </a:r>
            <a:endParaRPr lang="zh-CN" sz="1600">
              <a:latin typeface="微软雅黑"/>
              <a:ea typeface="微软雅黑"/>
            </a:endParaRPr>
          </a:p>
        </p:txBody>
      </p:sp>
      <p:sp>
        <p:nvSpPr>
          <p:cNvPr id="135" name="fig-d">
            <a:extLst>
              <a:ext uri="{FF2B5EF4-FFF2-40B4-BE49-F238E27FC236}">
                <a16:creationId xmlns:a16="http://schemas.microsoft.com/office/drawing/2014/main" id="{E74BA31B-57CC-1488-1B40-743265F946F5}"/>
              </a:ext>
            </a:extLst>
          </p:cNvPr>
          <p:cNvSpPr/>
          <p:nvPr/>
        </p:nvSpPr>
        <p:spPr>
          <a:xfrm>
            <a:off x="3887106" y="3977640"/>
            <a:ext cx="9144" cy="109728"/>
          </a:xfrm>
          <a:custGeom>
            <a:avLst/>
            <a:gdLst/>
            <a:ahLst/>
            <a:cxnLst/>
            <a:rect l="0" t="0" r="r" b="b"/>
            <a:pathLst>
              <a:path w="9144" h="109728" fill="none">
                <a:moveTo>
                  <a:pt x="0" y="109728"/>
                </a:moveTo>
                <a:lnTo>
                  <a:pt x="0" y="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36" name="fig-d">
            <a:extLst>
              <a:ext uri="{FF2B5EF4-FFF2-40B4-BE49-F238E27FC236}">
                <a16:creationId xmlns:a16="http://schemas.microsoft.com/office/drawing/2014/main" id="{F660C33E-8086-8BE8-6903-1E349DD47E33}"/>
              </a:ext>
            </a:extLst>
          </p:cNvPr>
          <p:cNvSpPr/>
          <p:nvPr/>
        </p:nvSpPr>
        <p:spPr>
          <a:xfrm>
            <a:off x="4600338" y="2057400"/>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Browsers /</a:t>
            </a:r>
            <a:br>
              <a:rPr lang="zh-CN" sz="1600">
                <a:latin typeface="微软雅黑"/>
                <a:ea typeface="微软雅黑"/>
              </a:rPr>
            </a:br>
            <a:r>
              <a:rPr lang="zh-CN" altLang="en-US" sz="1600" b="0">
                <a:solidFill>
                  <a:srgbClr val="262626"/>
                </a:solidFill>
                <a:latin typeface="微软雅黑"/>
                <a:ea typeface="微软雅黑"/>
              </a:rPr>
              <a:t>Rich clients</a:t>
            </a:r>
            <a:endParaRPr lang="zh-CN" sz="1600">
              <a:latin typeface="微软雅黑"/>
              <a:ea typeface="微软雅黑"/>
            </a:endParaRPr>
          </a:p>
        </p:txBody>
      </p:sp>
      <p:sp>
        <p:nvSpPr>
          <p:cNvPr id="137" name="fig-d">
            <a:extLst>
              <a:ext uri="{FF2B5EF4-FFF2-40B4-BE49-F238E27FC236}">
                <a16:creationId xmlns:a16="http://schemas.microsoft.com/office/drawing/2014/main" id="{5F6CF6A1-450C-9177-EAC3-6B6FB06EA21B}"/>
              </a:ext>
            </a:extLst>
          </p:cNvPr>
          <p:cNvSpPr/>
          <p:nvPr/>
        </p:nvSpPr>
        <p:spPr>
          <a:xfrm>
            <a:off x="5286138" y="2660904"/>
            <a:ext cx="9144" cy="109728"/>
          </a:xfrm>
          <a:custGeom>
            <a:avLst/>
            <a:gdLst/>
            <a:ahLst/>
            <a:cxnLst/>
            <a:rect l="0" t="0" r="r" b="b"/>
            <a:pathLst>
              <a:path w="9144" h="109728" fill="none">
                <a:moveTo>
                  <a:pt x="0" y="0"/>
                </a:moveTo>
                <a:lnTo>
                  <a:pt x="0" y="109728"/>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38" name="fig-d">
            <a:extLst>
              <a:ext uri="{FF2B5EF4-FFF2-40B4-BE49-F238E27FC236}">
                <a16:creationId xmlns:a16="http://schemas.microsoft.com/office/drawing/2014/main" id="{381605AC-AFE3-6D88-DBF3-D6C919E6F93B}"/>
              </a:ext>
            </a:extLst>
          </p:cNvPr>
          <p:cNvSpPr/>
          <p:nvPr/>
        </p:nvSpPr>
        <p:spPr>
          <a:xfrm>
            <a:off x="4600338" y="4087368"/>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J2EE Server</a:t>
            </a:r>
            <a:endParaRPr lang="zh-CN" sz="1600">
              <a:latin typeface="微软雅黑"/>
              <a:ea typeface="微软雅黑"/>
            </a:endParaRPr>
          </a:p>
        </p:txBody>
      </p:sp>
      <p:sp>
        <p:nvSpPr>
          <p:cNvPr id="139" name="fig-d">
            <a:extLst>
              <a:ext uri="{FF2B5EF4-FFF2-40B4-BE49-F238E27FC236}">
                <a16:creationId xmlns:a16="http://schemas.microsoft.com/office/drawing/2014/main" id="{87809C77-C533-1454-A317-E1A53AC58A81}"/>
              </a:ext>
            </a:extLst>
          </p:cNvPr>
          <p:cNvSpPr/>
          <p:nvPr/>
        </p:nvSpPr>
        <p:spPr>
          <a:xfrm>
            <a:off x="5286138" y="3977640"/>
            <a:ext cx="9144" cy="109728"/>
          </a:xfrm>
          <a:custGeom>
            <a:avLst/>
            <a:gdLst/>
            <a:ahLst/>
            <a:cxnLst/>
            <a:rect l="0" t="0" r="r" b="b"/>
            <a:pathLst>
              <a:path w="9144" h="109728" fill="none">
                <a:moveTo>
                  <a:pt x="0" y="109728"/>
                </a:moveTo>
                <a:lnTo>
                  <a:pt x="0" y="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40" name="fig-d">
            <a:extLst>
              <a:ext uri="{FF2B5EF4-FFF2-40B4-BE49-F238E27FC236}">
                <a16:creationId xmlns:a16="http://schemas.microsoft.com/office/drawing/2014/main" id="{5E4D97A1-FAC0-356B-1B3C-53A9D5169747}"/>
              </a:ext>
            </a:extLst>
          </p:cNvPr>
          <p:cNvSpPr/>
          <p:nvPr/>
        </p:nvSpPr>
        <p:spPr>
          <a:xfrm>
            <a:off x="5999370" y="2057400"/>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Connectivity</a:t>
            </a:r>
            <a:br>
              <a:rPr lang="zh-CN" sz="1600">
                <a:latin typeface="微软雅黑"/>
                <a:ea typeface="微软雅黑"/>
              </a:rPr>
            </a:br>
            <a:r>
              <a:rPr lang="zh-CN" altLang="en-US" sz="1600" b="0">
                <a:solidFill>
                  <a:srgbClr val="262626"/>
                </a:solidFill>
                <a:latin typeface="微软雅黑"/>
                <a:ea typeface="微软雅黑"/>
              </a:rPr>
              <a:t>Services</a:t>
            </a:r>
            <a:endParaRPr lang="zh-CN" sz="1600">
              <a:latin typeface="微软雅黑"/>
              <a:ea typeface="微软雅黑"/>
            </a:endParaRPr>
          </a:p>
        </p:txBody>
      </p:sp>
      <p:sp>
        <p:nvSpPr>
          <p:cNvPr id="141" name="fig-d">
            <a:extLst>
              <a:ext uri="{FF2B5EF4-FFF2-40B4-BE49-F238E27FC236}">
                <a16:creationId xmlns:a16="http://schemas.microsoft.com/office/drawing/2014/main" id="{F72E2AEA-C374-CA37-DBDA-1A487BAFE652}"/>
              </a:ext>
            </a:extLst>
          </p:cNvPr>
          <p:cNvSpPr/>
          <p:nvPr/>
        </p:nvSpPr>
        <p:spPr>
          <a:xfrm>
            <a:off x="6685170" y="2660904"/>
            <a:ext cx="9144" cy="109728"/>
          </a:xfrm>
          <a:custGeom>
            <a:avLst/>
            <a:gdLst/>
            <a:ahLst/>
            <a:cxnLst/>
            <a:rect l="0" t="0" r="r" b="b"/>
            <a:pathLst>
              <a:path w="9144" h="109728" fill="none">
                <a:moveTo>
                  <a:pt x="0" y="0"/>
                </a:moveTo>
                <a:lnTo>
                  <a:pt x="0" y="109728"/>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42" name="fig-d">
            <a:extLst>
              <a:ext uri="{FF2B5EF4-FFF2-40B4-BE49-F238E27FC236}">
                <a16:creationId xmlns:a16="http://schemas.microsoft.com/office/drawing/2014/main" id="{75B14F9F-B481-9F98-9106-C95A27B35519}"/>
              </a:ext>
            </a:extLst>
          </p:cNvPr>
          <p:cNvSpPr/>
          <p:nvPr/>
        </p:nvSpPr>
        <p:spPr>
          <a:xfrm>
            <a:off x="5999370" y="4087368"/>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MQ Series,</a:t>
            </a:r>
            <a:br>
              <a:rPr lang="zh-CN" sz="1600">
                <a:latin typeface="微软雅黑"/>
                <a:ea typeface="微软雅黑"/>
              </a:rPr>
            </a:br>
            <a:r>
              <a:rPr lang="zh-CN" altLang="en-US" sz="1600" b="0">
                <a:solidFill>
                  <a:srgbClr val="262626"/>
                </a:solidFill>
                <a:latin typeface="微软雅黑"/>
                <a:ea typeface="微软雅黑"/>
              </a:rPr>
              <a:t>JMS</a:t>
            </a:r>
            <a:endParaRPr lang="zh-CN" sz="1600">
              <a:latin typeface="微软雅黑"/>
              <a:ea typeface="微软雅黑"/>
            </a:endParaRPr>
          </a:p>
        </p:txBody>
      </p:sp>
      <p:sp>
        <p:nvSpPr>
          <p:cNvPr id="143" name="fig-d">
            <a:extLst>
              <a:ext uri="{FF2B5EF4-FFF2-40B4-BE49-F238E27FC236}">
                <a16:creationId xmlns:a16="http://schemas.microsoft.com/office/drawing/2014/main" id="{206E9C3F-1117-4DD0-F1D0-57F853CBBFAD}"/>
              </a:ext>
            </a:extLst>
          </p:cNvPr>
          <p:cNvSpPr/>
          <p:nvPr/>
        </p:nvSpPr>
        <p:spPr>
          <a:xfrm>
            <a:off x="6685170" y="3977640"/>
            <a:ext cx="9144" cy="109728"/>
          </a:xfrm>
          <a:custGeom>
            <a:avLst/>
            <a:gdLst/>
            <a:ahLst/>
            <a:cxnLst/>
            <a:rect l="0" t="0" r="r" b="b"/>
            <a:pathLst>
              <a:path w="9144" h="109728" fill="none">
                <a:moveTo>
                  <a:pt x="0" y="109728"/>
                </a:moveTo>
                <a:lnTo>
                  <a:pt x="0" y="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44" name="fig-d">
            <a:extLst>
              <a:ext uri="{FF2B5EF4-FFF2-40B4-BE49-F238E27FC236}">
                <a16:creationId xmlns:a16="http://schemas.microsoft.com/office/drawing/2014/main" id="{1CC10AFC-11A6-A248-6ABB-0BE261AF134A}"/>
              </a:ext>
            </a:extLst>
          </p:cNvPr>
          <p:cNvSpPr/>
          <p:nvPr/>
        </p:nvSpPr>
        <p:spPr>
          <a:xfrm>
            <a:off x="7398402" y="2057400"/>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Mobile</a:t>
            </a:r>
            <a:br>
              <a:rPr lang="zh-CN" sz="1600">
                <a:latin typeface="微软雅黑"/>
                <a:ea typeface="微软雅黑"/>
              </a:rPr>
            </a:br>
            <a:r>
              <a:rPr lang="zh-CN" altLang="en-US" sz="1600" b="0">
                <a:solidFill>
                  <a:srgbClr val="262626"/>
                </a:solidFill>
                <a:latin typeface="微软雅黑"/>
                <a:ea typeface="微软雅黑"/>
              </a:rPr>
              <a:t>devices</a:t>
            </a:r>
            <a:endParaRPr lang="zh-CN" sz="1600">
              <a:latin typeface="微软雅黑"/>
              <a:ea typeface="微软雅黑"/>
            </a:endParaRPr>
          </a:p>
        </p:txBody>
      </p:sp>
      <p:sp>
        <p:nvSpPr>
          <p:cNvPr id="145" name="fig-d">
            <a:extLst>
              <a:ext uri="{FF2B5EF4-FFF2-40B4-BE49-F238E27FC236}">
                <a16:creationId xmlns:a16="http://schemas.microsoft.com/office/drawing/2014/main" id="{EBE8312D-6A03-FD68-FEAA-723FA08C3303}"/>
              </a:ext>
            </a:extLst>
          </p:cNvPr>
          <p:cNvSpPr/>
          <p:nvPr/>
        </p:nvSpPr>
        <p:spPr>
          <a:xfrm>
            <a:off x="8084202" y="2660904"/>
            <a:ext cx="9144" cy="109728"/>
          </a:xfrm>
          <a:custGeom>
            <a:avLst/>
            <a:gdLst/>
            <a:ahLst/>
            <a:cxnLst/>
            <a:rect l="0" t="0" r="r" b="b"/>
            <a:pathLst>
              <a:path w="9144" h="109728" fill="none">
                <a:moveTo>
                  <a:pt x="0" y="0"/>
                </a:moveTo>
                <a:lnTo>
                  <a:pt x="0" y="109728"/>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46" name="fig-d">
            <a:extLst>
              <a:ext uri="{FF2B5EF4-FFF2-40B4-BE49-F238E27FC236}">
                <a16:creationId xmlns:a16="http://schemas.microsoft.com/office/drawing/2014/main" id="{2276179F-4977-4A57-DFC0-8E00CFDD4574}"/>
              </a:ext>
            </a:extLst>
          </p:cNvPr>
          <p:cNvSpPr/>
          <p:nvPr/>
        </p:nvSpPr>
        <p:spPr>
          <a:xfrm>
            <a:off x="7398402" y="4087368"/>
            <a:ext cx="1371600" cy="603504"/>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FILE, FTP</a:t>
            </a:r>
            <a:endParaRPr lang="zh-CN" sz="1600">
              <a:latin typeface="微软雅黑"/>
              <a:ea typeface="微软雅黑"/>
            </a:endParaRPr>
          </a:p>
        </p:txBody>
      </p:sp>
      <p:sp>
        <p:nvSpPr>
          <p:cNvPr id="147" name="fig-d">
            <a:extLst>
              <a:ext uri="{FF2B5EF4-FFF2-40B4-BE49-F238E27FC236}">
                <a16:creationId xmlns:a16="http://schemas.microsoft.com/office/drawing/2014/main" id="{67FE718E-7CA7-9828-D9F6-5D14E1AEA0C1}"/>
              </a:ext>
            </a:extLst>
          </p:cNvPr>
          <p:cNvSpPr/>
          <p:nvPr/>
        </p:nvSpPr>
        <p:spPr>
          <a:xfrm>
            <a:off x="8084202" y="3977640"/>
            <a:ext cx="9144" cy="109728"/>
          </a:xfrm>
          <a:custGeom>
            <a:avLst/>
            <a:gdLst/>
            <a:ahLst/>
            <a:cxnLst/>
            <a:rect l="0" t="0" r="r" b="b"/>
            <a:pathLst>
              <a:path w="9144" h="109728" fill="none">
                <a:moveTo>
                  <a:pt x="0" y="109728"/>
                </a:moveTo>
                <a:lnTo>
                  <a:pt x="0" y="0"/>
                </a:lnTo>
              </a:path>
            </a:pathLst>
          </a:custGeom>
          <a:noFill/>
          <a:ln w="22225">
            <a:solidFill>
              <a:srgbClr val="595959"/>
            </a:solidFill>
            <a:tailEnd type="triangle" w="med" len="med"/>
          </a:ln>
        </p:spPr>
        <p:txBody>
          <a:bodyPr/>
          <a:lstStyle/>
          <a:p>
            <a:endParaRPr lang="zh-CN">
              <a:latin typeface="微软雅黑"/>
              <a:ea typeface="微软雅黑"/>
            </a:endParaRPr>
          </a:p>
        </p:txBody>
      </p:sp>
      <p:sp>
        <p:nvSpPr>
          <p:cNvPr id="148" name="fig-d">
            <a:extLst>
              <a:ext uri="{FF2B5EF4-FFF2-40B4-BE49-F238E27FC236}">
                <a16:creationId xmlns:a16="http://schemas.microsoft.com/office/drawing/2014/main" id="{738BBEDF-0E46-4A51-65C3-162A88B7924C}"/>
              </a:ext>
            </a:extLst>
          </p:cNvPr>
          <p:cNvSpPr/>
          <p:nvPr/>
        </p:nvSpPr>
        <p:spPr>
          <a:xfrm>
            <a:off x="906162" y="2770632"/>
            <a:ext cx="7863840" cy="1207008"/>
          </a:xfrm>
          <a:prstGeom prst="leftRightArrow">
            <a:avLst/>
          </a:prstGeom>
          <a:solidFill>
            <a:srgbClr val="DCEFC2"/>
          </a:solidFill>
          <a:ln w="12700">
            <a:solidFill>
              <a:srgbClr val="8DBF5A"/>
            </a:solidFill>
          </a:ln>
        </p:spPr>
        <p:txBody>
          <a:bodyPr wrap="square" lIns="73152" tIns="36576" rIns="73152" bIns="36576" anchor="ctr"/>
          <a:lstStyle/>
          <a:p>
            <a:endParaRPr lang="zh-CN">
              <a:latin typeface="微软雅黑"/>
              <a:ea typeface="微软雅黑"/>
            </a:endParaRPr>
          </a:p>
        </p:txBody>
      </p:sp>
      <p:sp>
        <p:nvSpPr>
          <p:cNvPr id="149" name="fig-d">
            <a:extLst>
              <a:ext uri="{FF2B5EF4-FFF2-40B4-BE49-F238E27FC236}">
                <a16:creationId xmlns:a16="http://schemas.microsoft.com/office/drawing/2014/main" id="{E0CC86D6-5C7C-A865-FAC6-8A4CA88C051C}"/>
              </a:ext>
            </a:extLst>
          </p:cNvPr>
          <p:cNvSpPr/>
          <p:nvPr/>
        </p:nvSpPr>
        <p:spPr>
          <a:xfrm>
            <a:off x="1015890" y="3218688"/>
            <a:ext cx="548640" cy="310896"/>
          </a:xfrm>
          <a:prstGeom prst="rect">
            <a:avLst/>
          </a:prstGeom>
          <a:noFill/>
          <a:ln>
            <a:noFill/>
          </a:ln>
        </p:spPr>
        <p:txBody>
          <a:bodyPr wrap="square" lIns="18288" tIns="9144" rIns="18288" bIns="9144" anchor="ctr"/>
          <a:lstStyle/>
          <a:p>
            <a:pPr algn="l">
              <a:lnSpc>
                <a:spcPct val="100000"/>
              </a:lnSpc>
              <a:buNone/>
            </a:pPr>
            <a:r>
              <a:rPr lang="zh-CN" altLang="en-US" sz="1600" b="1">
                <a:solidFill>
                  <a:srgbClr val="262626"/>
                </a:solidFill>
                <a:latin typeface="微软雅黑"/>
                <a:ea typeface="微软雅黑"/>
              </a:rPr>
              <a:t>ESB</a:t>
            </a:r>
            <a:endParaRPr lang="zh-CN" sz="1600">
              <a:latin typeface="微软雅黑"/>
              <a:ea typeface="微软雅黑"/>
            </a:endParaRPr>
          </a:p>
        </p:txBody>
      </p:sp>
      <p:sp>
        <p:nvSpPr>
          <p:cNvPr id="150" name="fig-d">
            <a:extLst>
              <a:ext uri="{FF2B5EF4-FFF2-40B4-BE49-F238E27FC236}">
                <a16:creationId xmlns:a16="http://schemas.microsoft.com/office/drawing/2014/main" id="{3918AB29-B1B9-9B3F-C17F-4AC2D780A21B}"/>
              </a:ext>
            </a:extLst>
          </p:cNvPr>
          <p:cNvSpPr/>
          <p:nvPr/>
        </p:nvSpPr>
        <p:spPr>
          <a:xfrm>
            <a:off x="8129922" y="3218688"/>
            <a:ext cx="548640" cy="310896"/>
          </a:xfrm>
          <a:prstGeom prst="rect">
            <a:avLst/>
          </a:prstGeom>
          <a:noFill/>
          <a:ln>
            <a:noFill/>
          </a:ln>
        </p:spPr>
        <p:txBody>
          <a:bodyPr wrap="square" lIns="18288" tIns="9144" rIns="18288" bIns="9144" anchor="ctr"/>
          <a:lstStyle/>
          <a:p>
            <a:pPr algn="l">
              <a:lnSpc>
                <a:spcPct val="100000"/>
              </a:lnSpc>
              <a:buNone/>
            </a:pPr>
            <a:r>
              <a:rPr lang="zh-CN" altLang="en-US" sz="1600" b="1">
                <a:solidFill>
                  <a:srgbClr val="262626"/>
                </a:solidFill>
                <a:latin typeface="微软雅黑"/>
                <a:ea typeface="微软雅黑"/>
              </a:rPr>
              <a:t>ESB</a:t>
            </a:r>
            <a:endParaRPr lang="zh-CN" sz="1600">
              <a:latin typeface="微软雅黑"/>
              <a:ea typeface="微软雅黑"/>
            </a:endParaRPr>
          </a:p>
        </p:txBody>
      </p:sp>
      <p:sp>
        <p:nvSpPr>
          <p:cNvPr id="151" name="fig-d">
            <a:extLst>
              <a:ext uri="{FF2B5EF4-FFF2-40B4-BE49-F238E27FC236}">
                <a16:creationId xmlns:a16="http://schemas.microsoft.com/office/drawing/2014/main" id="{D8798EAB-6E37-991B-B282-F47231370C6C}"/>
              </a:ext>
            </a:extLst>
          </p:cNvPr>
          <p:cNvSpPr/>
          <p:nvPr/>
        </p:nvSpPr>
        <p:spPr>
          <a:xfrm>
            <a:off x="1591962" y="2807208"/>
            <a:ext cx="1554480" cy="548640"/>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Service</a:t>
            </a:r>
            <a:br>
              <a:rPr lang="zh-CN" sz="1600">
                <a:latin typeface="微软雅黑"/>
                <a:ea typeface="微软雅黑"/>
              </a:rPr>
            </a:br>
            <a:r>
              <a:rPr lang="zh-CN" altLang="en-US" sz="1600" b="0">
                <a:solidFill>
                  <a:srgbClr val="262626"/>
                </a:solidFill>
                <a:latin typeface="微软雅黑"/>
                <a:ea typeface="微软雅黑"/>
              </a:rPr>
              <a:t>Model</a:t>
            </a:r>
            <a:endParaRPr lang="zh-CN" sz="1600">
              <a:latin typeface="微软雅黑"/>
              <a:ea typeface="微软雅黑"/>
            </a:endParaRPr>
          </a:p>
        </p:txBody>
      </p:sp>
      <p:sp>
        <p:nvSpPr>
          <p:cNvPr id="152" name="fig-d">
            <a:extLst>
              <a:ext uri="{FF2B5EF4-FFF2-40B4-BE49-F238E27FC236}">
                <a16:creationId xmlns:a16="http://schemas.microsoft.com/office/drawing/2014/main" id="{6C0B1341-B712-9416-5A90-3B14ABAA8642}"/>
              </a:ext>
            </a:extLst>
          </p:cNvPr>
          <p:cNvSpPr/>
          <p:nvPr/>
        </p:nvSpPr>
        <p:spPr>
          <a:xfrm>
            <a:off x="3219594" y="2807208"/>
            <a:ext cx="1554480" cy="548640"/>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Security</a:t>
            </a:r>
            <a:endParaRPr lang="zh-CN" sz="1600">
              <a:latin typeface="微软雅黑"/>
              <a:ea typeface="微软雅黑"/>
            </a:endParaRPr>
          </a:p>
        </p:txBody>
      </p:sp>
      <p:sp>
        <p:nvSpPr>
          <p:cNvPr id="153" name="fig-d">
            <a:extLst>
              <a:ext uri="{FF2B5EF4-FFF2-40B4-BE49-F238E27FC236}">
                <a16:creationId xmlns:a16="http://schemas.microsoft.com/office/drawing/2014/main" id="{A3B49071-CBA5-9A36-A83E-8F2472C71496}"/>
              </a:ext>
            </a:extLst>
          </p:cNvPr>
          <p:cNvSpPr/>
          <p:nvPr/>
        </p:nvSpPr>
        <p:spPr>
          <a:xfrm>
            <a:off x="4847226" y="2807208"/>
            <a:ext cx="1554480" cy="548640"/>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Transports</a:t>
            </a:r>
            <a:endParaRPr lang="zh-CN" sz="1600">
              <a:latin typeface="微软雅黑"/>
              <a:ea typeface="微软雅黑"/>
            </a:endParaRPr>
          </a:p>
        </p:txBody>
      </p:sp>
      <p:sp>
        <p:nvSpPr>
          <p:cNvPr id="154" name="fig-d">
            <a:extLst>
              <a:ext uri="{FF2B5EF4-FFF2-40B4-BE49-F238E27FC236}">
                <a16:creationId xmlns:a16="http://schemas.microsoft.com/office/drawing/2014/main" id="{B9DC2EE7-34FF-C751-8E0C-4E7D70E9F6D1}"/>
              </a:ext>
            </a:extLst>
          </p:cNvPr>
          <p:cNvSpPr/>
          <p:nvPr/>
        </p:nvSpPr>
        <p:spPr>
          <a:xfrm>
            <a:off x="6474858" y="2807208"/>
            <a:ext cx="1554480" cy="548640"/>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Service</a:t>
            </a:r>
            <a:br>
              <a:rPr lang="zh-CN" sz="1600">
                <a:latin typeface="微软雅黑"/>
                <a:ea typeface="微软雅黑"/>
              </a:rPr>
            </a:br>
            <a:r>
              <a:rPr lang="zh-CN" altLang="en-US" sz="1600" b="0">
                <a:solidFill>
                  <a:srgbClr val="262626"/>
                </a:solidFill>
                <a:latin typeface="微软雅黑"/>
                <a:ea typeface="微软雅黑"/>
              </a:rPr>
              <a:t>Locator</a:t>
            </a:r>
            <a:endParaRPr lang="zh-CN" sz="1600">
              <a:latin typeface="微软雅黑"/>
              <a:ea typeface="微软雅黑"/>
            </a:endParaRPr>
          </a:p>
        </p:txBody>
      </p:sp>
      <p:sp>
        <p:nvSpPr>
          <p:cNvPr id="155" name="fig-d">
            <a:extLst>
              <a:ext uri="{FF2B5EF4-FFF2-40B4-BE49-F238E27FC236}">
                <a16:creationId xmlns:a16="http://schemas.microsoft.com/office/drawing/2014/main" id="{7141C57C-8C25-47C5-63E6-493C65225D6D}"/>
              </a:ext>
            </a:extLst>
          </p:cNvPr>
          <p:cNvSpPr/>
          <p:nvPr/>
        </p:nvSpPr>
        <p:spPr>
          <a:xfrm>
            <a:off x="1591962" y="3383280"/>
            <a:ext cx="1554480" cy="548640"/>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Data</a:t>
            </a:r>
            <a:br>
              <a:rPr lang="zh-CN" sz="1600">
                <a:latin typeface="微软雅黑"/>
                <a:ea typeface="微软雅黑"/>
              </a:rPr>
            </a:br>
            <a:r>
              <a:rPr lang="zh-CN" altLang="en-US" sz="1600" b="0">
                <a:solidFill>
                  <a:srgbClr val="262626"/>
                </a:solidFill>
                <a:latin typeface="微软雅黑"/>
                <a:ea typeface="微软雅黑"/>
              </a:rPr>
              <a:t>Transformation</a:t>
            </a:r>
            <a:endParaRPr lang="zh-CN" sz="1600">
              <a:latin typeface="微软雅黑"/>
              <a:ea typeface="微软雅黑"/>
            </a:endParaRPr>
          </a:p>
        </p:txBody>
      </p:sp>
      <p:sp>
        <p:nvSpPr>
          <p:cNvPr id="156" name="fig-d">
            <a:extLst>
              <a:ext uri="{FF2B5EF4-FFF2-40B4-BE49-F238E27FC236}">
                <a16:creationId xmlns:a16="http://schemas.microsoft.com/office/drawing/2014/main" id="{73D4757B-B78C-FDCC-8BBE-F28A39EA27F8}"/>
              </a:ext>
            </a:extLst>
          </p:cNvPr>
          <p:cNvSpPr/>
          <p:nvPr/>
        </p:nvSpPr>
        <p:spPr>
          <a:xfrm>
            <a:off x="3219594" y="3383280"/>
            <a:ext cx="1554480" cy="548640"/>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Interceptors</a:t>
            </a:r>
            <a:endParaRPr lang="zh-CN" sz="1600">
              <a:latin typeface="微软雅黑"/>
              <a:ea typeface="微软雅黑"/>
            </a:endParaRPr>
          </a:p>
        </p:txBody>
      </p:sp>
      <p:sp>
        <p:nvSpPr>
          <p:cNvPr id="157" name="fig-d">
            <a:extLst>
              <a:ext uri="{FF2B5EF4-FFF2-40B4-BE49-F238E27FC236}">
                <a16:creationId xmlns:a16="http://schemas.microsoft.com/office/drawing/2014/main" id="{246B0E3D-3479-A741-DB87-E7A1A6D766DC}"/>
              </a:ext>
            </a:extLst>
          </p:cNvPr>
          <p:cNvSpPr/>
          <p:nvPr/>
        </p:nvSpPr>
        <p:spPr>
          <a:xfrm>
            <a:off x="4847226" y="3383280"/>
            <a:ext cx="1554480" cy="548640"/>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Messaging</a:t>
            </a:r>
            <a:endParaRPr lang="zh-CN" sz="1600">
              <a:latin typeface="微软雅黑"/>
              <a:ea typeface="微软雅黑"/>
            </a:endParaRPr>
          </a:p>
        </p:txBody>
      </p:sp>
      <p:sp>
        <p:nvSpPr>
          <p:cNvPr id="158" name="fig-d">
            <a:extLst>
              <a:ext uri="{FF2B5EF4-FFF2-40B4-BE49-F238E27FC236}">
                <a16:creationId xmlns:a16="http://schemas.microsoft.com/office/drawing/2014/main" id="{6FED10DA-F2F8-B1F4-6000-32564D2550CC}"/>
              </a:ext>
            </a:extLst>
          </p:cNvPr>
          <p:cNvSpPr/>
          <p:nvPr/>
        </p:nvSpPr>
        <p:spPr>
          <a:xfrm>
            <a:off x="6474858" y="3383280"/>
            <a:ext cx="1554480" cy="548640"/>
          </a:xfrm>
          <a:prstGeom prst="rect">
            <a:avLst/>
          </a:prstGeom>
          <a:solidFill>
            <a:srgbClr val="FFFFFF"/>
          </a:solidFill>
          <a:ln w="12700">
            <a:solidFill>
              <a:srgbClr val="A6A6A6"/>
            </a:solidFill>
          </a:ln>
        </p:spPr>
        <p:txBody>
          <a:bodyPr wrap="square" lIns="9144" tIns="4572" rIns="9144" bIns="4572" anchor="ctr"/>
          <a:lstStyle/>
          <a:p>
            <a:pPr algn="ctr">
              <a:lnSpc>
                <a:spcPct val="100000"/>
              </a:lnSpc>
              <a:buNone/>
            </a:pPr>
            <a:r>
              <a:rPr lang="zh-CN" altLang="en-US" sz="1600" b="0">
                <a:solidFill>
                  <a:srgbClr val="262626"/>
                </a:solidFill>
                <a:latin typeface="微软雅黑"/>
                <a:ea typeface="微软雅黑"/>
              </a:rPr>
              <a:t>Protocol</a:t>
            </a:r>
            <a:br>
              <a:rPr lang="zh-CN" sz="1600">
                <a:latin typeface="微软雅黑"/>
                <a:ea typeface="微软雅黑"/>
              </a:rPr>
            </a:br>
            <a:r>
              <a:rPr lang="zh-CN" altLang="en-US" sz="1600" b="0">
                <a:solidFill>
                  <a:srgbClr val="262626"/>
                </a:solidFill>
                <a:latin typeface="微软雅黑"/>
                <a:ea typeface="微软雅黑"/>
              </a:rPr>
              <a:t>Bindings</a:t>
            </a:r>
            <a:endParaRPr lang="zh-CN" sz="1600">
              <a:latin typeface="微软雅黑"/>
              <a:ea typeface="微软雅黑"/>
            </a:endParaRPr>
          </a:p>
        </p:txBody>
      </p:sp>
      <p:sp>
        <p:nvSpPr>
          <p:cNvPr id="159" name="fn-source">
            <a:extLst>
              <a:ext uri="{FF2B5EF4-FFF2-40B4-BE49-F238E27FC236}">
                <a16:creationId xmlns:a16="http://schemas.microsoft.com/office/drawing/2014/main" id="{3A32A316-AE4A-9753-3A57-586D70CB7430}"/>
              </a:ext>
            </a:extLst>
          </p:cNvPr>
          <p:cNvSpPr/>
          <p:nvPr/>
        </p:nvSpPr>
        <p:spPr>
          <a:xfrm>
            <a:off x="411480" y="5760720"/>
            <a:ext cx="8321040" cy="201168"/>
          </a:xfrm>
          <a:prstGeom prst="rect">
            <a:avLst/>
          </a:prstGeom>
          <a:noFill/>
          <a:ln>
            <a:noFill/>
          </a:ln>
        </p:spPr>
        <p:txBody>
          <a:bodyPr wrap="square" lIns="36576" tIns="18288" rIns="36576" bIns="18288" anchor="b"/>
          <a:lstStyle/>
          <a:p>
            <a:pPr algn="l">
              <a:lnSpc>
                <a:spcPct val="100000"/>
              </a:lnSpc>
              <a:buNone/>
            </a:pPr>
            <a:r>
              <a:rPr lang="zh-CN" altLang="en-US" sz="1200" b="0">
                <a:solidFill>
                  <a:srgbClr val="595959"/>
                </a:solidFill>
                <a:latin typeface="微软雅黑"/>
                <a:ea typeface="微软雅黑"/>
              </a:rPr>
              <a:t>图：按 2024 版第 4-1 讲第 30 页（SOA 面向服务的架构）重画</a:t>
            </a:r>
            <a:endParaRPr lang="zh-CN" sz="1200">
              <a:latin typeface="微软雅黑"/>
              <a:ea typeface="微软雅黑"/>
            </a:endParaRPr>
          </a:p>
        </p:txBody>
      </p:sp>
      <p:sp>
        <p:nvSpPr>
          <p:cNvPr id="160" name="sec-label">
            <a:extLst>
              <a:ext uri="{FF2B5EF4-FFF2-40B4-BE49-F238E27FC236}">
                <a16:creationId xmlns:a16="http://schemas.microsoft.com/office/drawing/2014/main" id="{DF1E1F4F-3AEE-6EF3-7A0A-55E961AF0C5D}"/>
              </a:ext>
            </a:extLst>
          </p:cNvPr>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extLst>
      <p:ext uri="{BB962C8B-B14F-4D97-AF65-F5344CB8AC3E}">
        <p14:creationId xmlns:p14="http://schemas.microsoft.com/office/powerpoint/2010/main" val="39431338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边界未稳定，单体比 SOA 更合适</a:t>
            </a:r>
          </a:p>
        </p:txBody>
      </p:sp>
      <p:graphicFrame>
        <p:nvGraphicFramePr>
          <p:cNvPr id="3" name="table"/>
          <p:cNvGraphicFramePr>
            <a:graphicFrameLocks noGrp="1"/>
          </p:cNvGraphicFramePr>
          <p:nvPr/>
        </p:nvGraphicFramePr>
        <p:xfrm>
          <a:off x="368300" y="1485900"/>
          <a:ext cx="8407400" cy="4292598"/>
        </p:xfrm>
        <a:graphic>
          <a:graphicData uri="http://schemas.openxmlformats.org/drawingml/2006/table">
            <a:tbl>
              <a:tblPr>
                <a:tableStyleId>{2D5ABB26-0587-4C30-8999-92F81FD0307C}</a:tableStyleId>
              </a:tblPr>
              <a:tblGrid>
                <a:gridCol w="1524000">
                  <a:extLst>
                    <a:ext uri="{9D8B030D-6E8A-4147-A177-3AD203B41FA5}">
                      <a16:colId xmlns:a16="http://schemas.microsoft.com/office/drawing/2014/main" val="20000"/>
                    </a:ext>
                  </a:extLst>
                </a:gridCol>
                <a:gridCol w="3441700">
                  <a:extLst>
                    <a:ext uri="{9D8B030D-6E8A-4147-A177-3AD203B41FA5}">
                      <a16:colId xmlns:a16="http://schemas.microsoft.com/office/drawing/2014/main" val="20001"/>
                    </a:ext>
                  </a:extLst>
                </a:gridCol>
                <a:gridCol w="3441700">
                  <a:extLst>
                    <a:ext uri="{9D8B030D-6E8A-4147-A177-3AD203B41FA5}">
                      <a16:colId xmlns:a16="http://schemas.microsoft.com/office/drawing/2014/main" val="20002"/>
                    </a:ext>
                  </a:extLst>
                </a:gridCol>
              </a:tblGrid>
              <a:tr h="715433">
                <a:tc>
                  <a:txBody>
                    <a:bodyPr/>
                    <a:lstStyle/>
                    <a:p>
                      <a:pPr algn="l" eaLnBrk="1" hangingPunct="1">
                        <a:lnSpc>
                          <a:spcPct val="90000"/>
                        </a:lnSpc>
                        <a:spcBef>
                          <a:spcPts val="200"/>
                        </a:spcBef>
                        <a:spcAft>
                          <a:spcPts val="200"/>
                        </a:spcAft>
                        <a:buNone/>
                      </a:pPr>
                      <a:endParaRPr>
                        <a:solidFill>
                          <a:srgbClr val="262626"/>
                        </a:solidFill>
                        <a:latin typeface="微软雅黑"/>
                        <a:ea typeface="微软雅黑"/>
                      </a:endParaRP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单体</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SOA</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71543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一个进程</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模块在进程内调用</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按服务划分</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服务间约定接口</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71543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部署简单，需求仍在演化</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多个系统复用同一业务能力</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71543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适用范围</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规模小或边界尚未稳定</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多个系统需要集成</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71543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工程用法</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进程内调用，部署简单</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以层间依赖约束内部结构</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契约便于复用业务能力</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由集中的代理路由服务请求</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r h="71543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整体发布，局部难以扩容</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调用跨网络</a:t>
                      </a:r>
                      <a:br>
                        <a:rPr lang="zh-CN" sz="2000">
                          <a:solidFill>
                            <a:srgbClr val="262626"/>
                          </a:solidFill>
                          <a:latin typeface="微软雅黑"/>
                          <a:ea typeface="微软雅黑"/>
                        </a:rPr>
                      </a:br>
                      <a:endParaRPr lang="zh-CN" sz="2000">
                        <a:solidFill>
                          <a:srgbClr val="262626"/>
                        </a:solidFill>
                        <a:latin typeface="微软雅黑"/>
                        <a:ea typeface="微软雅黑"/>
                      </a:endParaRP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5"/>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微服务能独立伸缩、团队并行，但有分布式代价</a:t>
            </a:r>
          </a:p>
        </p:txBody>
      </p:sp>
      <p:graphicFrame>
        <p:nvGraphicFramePr>
          <p:cNvPr id="3" name="table"/>
          <p:cNvGraphicFramePr>
            <a:graphicFrameLocks noGrp="1"/>
          </p:cNvGraphicFramePr>
          <p:nvPr/>
        </p:nvGraphicFramePr>
        <p:xfrm>
          <a:off x="368300" y="1485900"/>
          <a:ext cx="8407400" cy="4114800"/>
        </p:xfrm>
        <a:graphic>
          <a:graphicData uri="http://schemas.openxmlformats.org/drawingml/2006/table">
            <a:tbl>
              <a:tblPr>
                <a:tableStyleId>{2D5ABB26-0587-4C30-8999-92F81FD0307C}</a:tableStyleId>
              </a:tblPr>
              <a:tblGrid>
                <a:gridCol w="2336800">
                  <a:extLst>
                    <a:ext uri="{9D8B030D-6E8A-4147-A177-3AD203B41FA5}">
                      <a16:colId xmlns:a16="http://schemas.microsoft.com/office/drawing/2014/main" val="20000"/>
                    </a:ext>
                  </a:extLst>
                </a:gridCol>
                <a:gridCol w="6070600">
                  <a:extLst>
                    <a:ext uri="{9D8B030D-6E8A-4147-A177-3AD203B41FA5}">
                      <a16:colId xmlns:a16="http://schemas.microsoft.com/office/drawing/2014/main" val="20001"/>
                    </a:ext>
                  </a:extLst>
                </a:gridCol>
              </a:tblGrid>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业务能力要独立伸缩与发布，多个团队并行开发</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服务各自部署，通常放入容器，由编排系统调度</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服务可分别扩容与发布，数据与故障可隔离</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跨网络调用，须设计服务发现与配置管理</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网络失败点、数据一致性与运维复杂度同时增加</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适用范围</a:t>
                      </a:r>
                    </a:p>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工程用法</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边界较稳定且确需独立伸缩或团队并行时采用</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5"/>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边车把横切功能移出业务代码，多一个进程</a:t>
            </a:r>
          </a:p>
        </p:txBody>
      </p:sp>
      <p:graphicFrame>
        <p:nvGraphicFramePr>
          <p:cNvPr id="3" name="table"/>
          <p:cNvGraphicFramePr>
            <a:graphicFrameLocks noGrp="1"/>
          </p:cNvGraphicFramePr>
          <p:nvPr>
            <p:extLst>
              <p:ext uri="{D42A27DB-BD31-4B8C-83A1-F6EECF244321}">
                <p14:modId xmlns:p14="http://schemas.microsoft.com/office/powerpoint/2010/main" val="3709918132"/>
              </p:ext>
            </p:extLst>
          </p:nvPr>
        </p:nvGraphicFramePr>
        <p:xfrm>
          <a:off x="365760" y="3310128"/>
          <a:ext cx="8412480" cy="2304288"/>
        </p:xfrm>
        <a:graphic>
          <a:graphicData uri="http://schemas.openxmlformats.org/drawingml/2006/table">
            <a:tbl>
              <a:tblPr>
                <a:tableStyleId>{2D5ABB26-0587-4C30-8999-92F81FD0307C}</a:tableStyleId>
              </a:tblPr>
              <a:tblGrid>
                <a:gridCol w="1920240">
                  <a:extLst>
                    <a:ext uri="{9D8B030D-6E8A-4147-A177-3AD203B41FA5}">
                      <a16:colId xmlns:a16="http://schemas.microsoft.com/office/drawing/2014/main" val="20000"/>
                    </a:ext>
                  </a:extLst>
                </a:gridCol>
                <a:gridCol w="6492240">
                  <a:extLst>
                    <a:ext uri="{9D8B030D-6E8A-4147-A177-3AD203B41FA5}">
                      <a16:colId xmlns:a16="http://schemas.microsoft.com/office/drawing/2014/main" val="20001"/>
                    </a:ext>
                  </a:extLst>
                </a:gridCol>
              </a:tblGrid>
              <a:tr h="457200">
                <a:tc>
                  <a:txBody>
                    <a:bodyPr/>
                    <a:lstStyle/>
                    <a:p>
                      <a:pPr algn="l" eaLnBrk="1" hangingPunct="1">
                        <a:lnSpc>
                          <a:spcPct val="90000"/>
                        </a:lnSpc>
                        <a:spcBef>
                          <a:spcPts val="200"/>
                        </a:spcBef>
                        <a:spcAft>
                          <a:spcPts val="200"/>
                        </a:spcAft>
                        <a:buNone/>
                      </a:pPr>
                      <a:r>
                        <a:rPr lang="zh-CN" altLang="en-US" sz="16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日志、代理、证书等横切功能</a:t>
                      </a:r>
                    </a:p>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与业务代码分离</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457200">
                <a:tc>
                  <a:txBody>
                    <a:bodyPr/>
                    <a:lstStyle/>
                    <a:p>
                      <a:pPr algn="l" eaLnBrk="1" hangingPunct="1">
                        <a:lnSpc>
                          <a:spcPct val="90000"/>
                        </a:lnSpc>
                        <a:spcBef>
                          <a:spcPts val="200"/>
                        </a:spcBef>
                        <a:spcAft>
                          <a:spcPts val="200"/>
                        </a:spcAft>
                        <a:buNone/>
                      </a:pPr>
                      <a:r>
                        <a:rPr lang="zh-CN" altLang="en-US" sz="16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边车与服务成对部署</a:t>
                      </a:r>
                    </a:p>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本例采用服务网格代理</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310896">
                <a:tc>
                  <a:txBody>
                    <a:bodyPr/>
                    <a:lstStyle/>
                    <a:p>
                      <a:pPr algn="l" eaLnBrk="1" hangingPunct="1">
                        <a:lnSpc>
                          <a:spcPct val="90000"/>
                        </a:lnSpc>
                        <a:spcBef>
                          <a:spcPts val="200"/>
                        </a:spcBef>
                        <a:spcAft>
                          <a:spcPts val="200"/>
                        </a:spcAft>
                        <a:buNone/>
                      </a:pPr>
                      <a:r>
                        <a:rPr lang="zh-CN" altLang="en-US" sz="16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600" b="0" dirty="0">
                          <a:solidFill>
                            <a:srgbClr val="262626"/>
                          </a:solidFill>
                          <a:latin typeface="微软雅黑"/>
                          <a:ea typeface="微软雅黑"/>
                          <a:cs typeface="微软雅黑"/>
                        </a:rPr>
                        <a:t>横切功能与业务代码分开，便于分别维护</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310896">
                <a:tc>
                  <a:txBody>
                    <a:bodyPr/>
                    <a:lstStyle/>
                    <a:p>
                      <a:pPr algn="l" eaLnBrk="1" hangingPunct="1">
                        <a:lnSpc>
                          <a:spcPct val="90000"/>
                        </a:lnSpc>
                        <a:spcBef>
                          <a:spcPts val="200"/>
                        </a:spcBef>
                        <a:spcAft>
                          <a:spcPts val="200"/>
                        </a:spcAft>
                        <a:buNone/>
                      </a:pPr>
                      <a:r>
                        <a:rPr lang="zh-CN" altLang="en-US" sz="16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每个服务多一个进程，要部署，并增加开销</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310896">
                <a:tc>
                  <a:txBody>
                    <a:bodyPr/>
                    <a:lstStyle/>
                    <a:p>
                      <a:pPr algn="l" eaLnBrk="1" hangingPunct="1">
                        <a:lnSpc>
                          <a:spcPct val="90000"/>
                        </a:lnSpc>
                        <a:spcBef>
                          <a:spcPts val="200"/>
                        </a:spcBef>
                        <a:spcAft>
                          <a:spcPts val="200"/>
                        </a:spcAft>
                        <a:buNone/>
                      </a:pPr>
                      <a:r>
                        <a:rPr lang="zh-CN" altLang="en-US" sz="16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数据路径多一跳</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r h="457200">
                <a:tc>
                  <a:txBody>
                    <a:bodyPr/>
                    <a:lstStyle/>
                    <a:p>
                      <a:pPr algn="l" eaLnBrk="1" hangingPunct="1">
                        <a:lnSpc>
                          <a:spcPct val="90000"/>
                        </a:lnSpc>
                        <a:spcBef>
                          <a:spcPts val="200"/>
                        </a:spcBef>
                        <a:spcAft>
                          <a:spcPts val="200"/>
                        </a:spcAft>
                        <a:buNone/>
                      </a:pPr>
                      <a:r>
                        <a:rPr lang="zh-CN" altLang="en-US" sz="1600" b="1">
                          <a:solidFill>
                            <a:srgbClr val="262626"/>
                          </a:solidFill>
                          <a:latin typeface="微软雅黑"/>
                          <a:ea typeface="微软雅黑"/>
                          <a:cs typeface="微软雅黑"/>
                        </a:rPr>
                        <a:t>适用范围</a:t>
                      </a:r>
                    </a:p>
                    <a:p>
                      <a:pPr algn="l" eaLnBrk="1" hangingPunct="1">
                        <a:lnSpc>
                          <a:spcPct val="90000"/>
                        </a:lnSpc>
                        <a:spcBef>
                          <a:spcPts val="200"/>
                        </a:spcBef>
                        <a:spcAft>
                          <a:spcPts val="200"/>
                        </a:spcAft>
                        <a:buNone/>
                      </a:pPr>
                      <a:r>
                        <a:rPr lang="zh-CN" altLang="en-US" sz="1600" b="1">
                          <a:solidFill>
                            <a:srgbClr val="262626"/>
                          </a:solidFill>
                          <a:latin typeface="微软雅黑"/>
                          <a:ea typeface="微软雅黑"/>
                          <a:cs typeface="微软雅黑"/>
                        </a:rPr>
                        <a:t>工程用法</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600" b="0" dirty="0">
                          <a:solidFill>
                            <a:srgbClr val="262626"/>
                          </a:solidFill>
                          <a:latin typeface="微软雅黑"/>
                          <a:ea typeface="微软雅黑"/>
                          <a:cs typeface="微软雅黑"/>
                        </a:rPr>
                        <a:t>服务数量多、横切功能重复出现时</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5"/>
                  </a:ext>
                </a:extLst>
              </a:tr>
            </a:tbl>
          </a:graphicData>
        </a:graphic>
      </p:graphicFrame>
      <p:sp>
        <p:nvSpPr>
          <p:cNvPr id="101" name="fig-d"/>
          <p:cNvSpPr/>
          <p:nvPr/>
        </p:nvSpPr>
        <p:spPr>
          <a:xfrm>
            <a:off x="411480" y="1463040"/>
            <a:ext cx="8321040" cy="1591056"/>
          </a:xfrm>
          <a:prstGeom prst="rect">
            <a:avLst/>
          </a:prstGeom>
          <a:noFill/>
          <a:ln w="12700">
            <a:solidFill>
              <a:srgbClr val="8EA9DB"/>
            </a:solidFill>
            <a:prstDash val="dash"/>
          </a:ln>
        </p:spPr>
        <p:txBody>
          <a:bodyPr wrap="square" lIns="73152" tIns="36576" rIns="73152" bIns="36576" anchor="ctr"/>
          <a:lstStyle/>
          <a:p>
            <a:endParaRPr lang="zh-CN">
              <a:latin typeface="微软雅黑"/>
              <a:ea typeface="微软雅黑"/>
            </a:endParaRPr>
          </a:p>
        </p:txBody>
      </p:sp>
      <p:sp>
        <p:nvSpPr>
          <p:cNvPr id="102" name="fig-d"/>
          <p:cNvSpPr/>
          <p:nvPr/>
        </p:nvSpPr>
        <p:spPr>
          <a:xfrm>
            <a:off x="475488" y="1481328"/>
            <a:ext cx="822960" cy="292608"/>
          </a:xfrm>
          <a:prstGeom prst="rect">
            <a:avLst/>
          </a:prstGeom>
          <a:noFill/>
          <a:ln>
            <a:noFill/>
          </a:ln>
        </p:spPr>
        <p:txBody>
          <a:bodyPr wrap="square" lIns="18288" tIns="9144" rIns="18288" bIns="9144" anchor="ctr"/>
          <a:lstStyle/>
          <a:p>
            <a:pPr algn="l">
              <a:lnSpc>
                <a:spcPct val="100000"/>
              </a:lnSpc>
              <a:buNone/>
            </a:pPr>
            <a:r>
              <a:rPr lang="zh-CN" altLang="en-US" sz="1600" b="1">
                <a:solidFill>
                  <a:srgbClr val="262626"/>
                </a:solidFill>
                <a:latin typeface="微软雅黑"/>
                <a:ea typeface="微软雅黑"/>
              </a:rPr>
              <a:t>Cloud</a:t>
            </a:r>
            <a:endParaRPr lang="zh-CN" sz="1600">
              <a:latin typeface="微软雅黑"/>
              <a:ea typeface="微软雅黑"/>
            </a:endParaRPr>
          </a:p>
        </p:txBody>
      </p:sp>
      <p:sp>
        <p:nvSpPr>
          <p:cNvPr id="103" name="fig-d"/>
          <p:cNvSpPr/>
          <p:nvPr/>
        </p:nvSpPr>
        <p:spPr>
          <a:xfrm>
            <a:off x="1143000" y="1517904"/>
            <a:ext cx="1737360" cy="292608"/>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Sidecar Proxy</a:t>
            </a:r>
            <a:endParaRPr lang="zh-CN" sz="1600">
              <a:latin typeface="微软雅黑"/>
              <a:ea typeface="微软雅黑"/>
            </a:endParaRPr>
          </a:p>
        </p:txBody>
      </p:sp>
      <p:sp>
        <p:nvSpPr>
          <p:cNvPr id="104" name="fig-d"/>
          <p:cNvSpPr/>
          <p:nvPr/>
        </p:nvSpPr>
        <p:spPr>
          <a:xfrm>
            <a:off x="1143000" y="1956816"/>
            <a:ext cx="1737360" cy="292608"/>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Microservice</a:t>
            </a:r>
            <a:endParaRPr lang="zh-CN" sz="1600">
              <a:latin typeface="微软雅黑"/>
              <a:ea typeface="微软雅黑"/>
            </a:endParaRPr>
          </a:p>
        </p:txBody>
      </p:sp>
      <p:sp>
        <p:nvSpPr>
          <p:cNvPr id="105" name="fig-d"/>
          <p:cNvSpPr/>
          <p:nvPr/>
        </p:nvSpPr>
        <p:spPr>
          <a:xfrm>
            <a:off x="2011680" y="1810512"/>
            <a:ext cx="9144" cy="146304"/>
          </a:xfrm>
          <a:custGeom>
            <a:avLst/>
            <a:gdLst/>
            <a:ahLst/>
            <a:cxnLst/>
            <a:rect l="0" t="0" r="r" b="b"/>
            <a:pathLst>
              <a:path w="9144" h="146304" fill="none">
                <a:moveTo>
                  <a:pt x="0" y="0"/>
                </a:moveTo>
                <a:lnTo>
                  <a:pt x="0" y="146304"/>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06" name="fig-d"/>
          <p:cNvSpPr/>
          <p:nvPr/>
        </p:nvSpPr>
        <p:spPr>
          <a:xfrm>
            <a:off x="3840480" y="1517904"/>
            <a:ext cx="1737360" cy="292608"/>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Sidecar Proxy</a:t>
            </a:r>
            <a:endParaRPr lang="zh-CN" sz="1600">
              <a:latin typeface="微软雅黑"/>
              <a:ea typeface="微软雅黑"/>
            </a:endParaRPr>
          </a:p>
        </p:txBody>
      </p:sp>
      <p:sp>
        <p:nvSpPr>
          <p:cNvPr id="107" name="fig-d"/>
          <p:cNvSpPr/>
          <p:nvPr/>
        </p:nvSpPr>
        <p:spPr>
          <a:xfrm>
            <a:off x="3840480" y="1956816"/>
            <a:ext cx="1737360" cy="292608"/>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Microservice</a:t>
            </a:r>
            <a:endParaRPr lang="zh-CN" sz="1600">
              <a:latin typeface="微软雅黑"/>
              <a:ea typeface="微软雅黑"/>
            </a:endParaRPr>
          </a:p>
        </p:txBody>
      </p:sp>
      <p:sp>
        <p:nvSpPr>
          <p:cNvPr id="108" name="fig-d"/>
          <p:cNvSpPr/>
          <p:nvPr/>
        </p:nvSpPr>
        <p:spPr>
          <a:xfrm>
            <a:off x="4709160" y="1810512"/>
            <a:ext cx="9144" cy="146304"/>
          </a:xfrm>
          <a:custGeom>
            <a:avLst/>
            <a:gdLst/>
            <a:ahLst/>
            <a:cxnLst/>
            <a:rect l="0" t="0" r="r" b="b"/>
            <a:pathLst>
              <a:path w="9144" h="146304" fill="none">
                <a:moveTo>
                  <a:pt x="0" y="0"/>
                </a:moveTo>
                <a:lnTo>
                  <a:pt x="0" y="146304"/>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09" name="fig-d"/>
          <p:cNvSpPr/>
          <p:nvPr/>
        </p:nvSpPr>
        <p:spPr>
          <a:xfrm>
            <a:off x="6537960" y="1517904"/>
            <a:ext cx="1737360" cy="292608"/>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Sidecar Proxy</a:t>
            </a:r>
            <a:endParaRPr lang="zh-CN" sz="1600">
              <a:latin typeface="微软雅黑"/>
              <a:ea typeface="微软雅黑"/>
            </a:endParaRPr>
          </a:p>
        </p:txBody>
      </p:sp>
      <p:sp>
        <p:nvSpPr>
          <p:cNvPr id="110" name="fig-d"/>
          <p:cNvSpPr/>
          <p:nvPr/>
        </p:nvSpPr>
        <p:spPr>
          <a:xfrm>
            <a:off x="6537960" y="1956816"/>
            <a:ext cx="1737360" cy="292608"/>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Microservice</a:t>
            </a:r>
            <a:endParaRPr lang="zh-CN" sz="1600">
              <a:latin typeface="微软雅黑"/>
              <a:ea typeface="微软雅黑"/>
            </a:endParaRPr>
          </a:p>
        </p:txBody>
      </p:sp>
      <p:sp>
        <p:nvSpPr>
          <p:cNvPr id="111" name="fig-d"/>
          <p:cNvSpPr/>
          <p:nvPr/>
        </p:nvSpPr>
        <p:spPr>
          <a:xfrm>
            <a:off x="7406640" y="1810512"/>
            <a:ext cx="9144" cy="146304"/>
          </a:xfrm>
          <a:custGeom>
            <a:avLst/>
            <a:gdLst/>
            <a:ahLst/>
            <a:cxnLst/>
            <a:rect l="0" t="0" r="r" b="b"/>
            <a:pathLst>
              <a:path w="9144" h="146304" fill="none">
                <a:moveTo>
                  <a:pt x="0" y="0"/>
                </a:moveTo>
                <a:lnTo>
                  <a:pt x="0" y="146304"/>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12" name="fig-d"/>
          <p:cNvSpPr/>
          <p:nvPr/>
        </p:nvSpPr>
        <p:spPr>
          <a:xfrm>
            <a:off x="1143000" y="2304288"/>
            <a:ext cx="1737360" cy="292608"/>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Sidecar Proxy</a:t>
            </a:r>
            <a:endParaRPr lang="zh-CN" sz="1600">
              <a:latin typeface="微软雅黑"/>
              <a:ea typeface="微软雅黑"/>
            </a:endParaRPr>
          </a:p>
        </p:txBody>
      </p:sp>
      <p:sp>
        <p:nvSpPr>
          <p:cNvPr id="113" name="fig-d"/>
          <p:cNvSpPr/>
          <p:nvPr/>
        </p:nvSpPr>
        <p:spPr>
          <a:xfrm>
            <a:off x="1143000" y="2743200"/>
            <a:ext cx="1737360" cy="292608"/>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Microservice</a:t>
            </a:r>
            <a:endParaRPr lang="zh-CN" sz="1600">
              <a:latin typeface="微软雅黑"/>
              <a:ea typeface="微软雅黑"/>
            </a:endParaRPr>
          </a:p>
        </p:txBody>
      </p:sp>
      <p:sp>
        <p:nvSpPr>
          <p:cNvPr id="114" name="fig-d"/>
          <p:cNvSpPr/>
          <p:nvPr/>
        </p:nvSpPr>
        <p:spPr>
          <a:xfrm>
            <a:off x="2011680" y="2596896"/>
            <a:ext cx="9144" cy="146304"/>
          </a:xfrm>
          <a:custGeom>
            <a:avLst/>
            <a:gdLst/>
            <a:ahLst/>
            <a:cxnLst/>
            <a:rect l="0" t="0" r="r" b="b"/>
            <a:pathLst>
              <a:path w="9144" h="146304" fill="none">
                <a:moveTo>
                  <a:pt x="0" y="0"/>
                </a:moveTo>
                <a:lnTo>
                  <a:pt x="0" y="146304"/>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15" name="fig-d"/>
          <p:cNvSpPr/>
          <p:nvPr/>
        </p:nvSpPr>
        <p:spPr>
          <a:xfrm>
            <a:off x="3840480" y="2304288"/>
            <a:ext cx="1737360" cy="292608"/>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Sidecar Proxy</a:t>
            </a:r>
            <a:endParaRPr lang="zh-CN" sz="1600">
              <a:latin typeface="微软雅黑"/>
              <a:ea typeface="微软雅黑"/>
            </a:endParaRPr>
          </a:p>
        </p:txBody>
      </p:sp>
      <p:sp>
        <p:nvSpPr>
          <p:cNvPr id="116" name="fig-d"/>
          <p:cNvSpPr/>
          <p:nvPr/>
        </p:nvSpPr>
        <p:spPr>
          <a:xfrm>
            <a:off x="3840480" y="2743200"/>
            <a:ext cx="1737360" cy="292608"/>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Microservice</a:t>
            </a:r>
            <a:endParaRPr lang="zh-CN" sz="1600">
              <a:latin typeface="微软雅黑"/>
              <a:ea typeface="微软雅黑"/>
            </a:endParaRPr>
          </a:p>
        </p:txBody>
      </p:sp>
      <p:sp>
        <p:nvSpPr>
          <p:cNvPr id="117" name="fig-d"/>
          <p:cNvSpPr/>
          <p:nvPr/>
        </p:nvSpPr>
        <p:spPr>
          <a:xfrm>
            <a:off x="4709160" y="2596896"/>
            <a:ext cx="9144" cy="146304"/>
          </a:xfrm>
          <a:custGeom>
            <a:avLst/>
            <a:gdLst/>
            <a:ahLst/>
            <a:cxnLst/>
            <a:rect l="0" t="0" r="r" b="b"/>
            <a:pathLst>
              <a:path w="9144" h="146304" fill="none">
                <a:moveTo>
                  <a:pt x="0" y="0"/>
                </a:moveTo>
                <a:lnTo>
                  <a:pt x="0" y="146304"/>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18" name="fig-d"/>
          <p:cNvSpPr/>
          <p:nvPr/>
        </p:nvSpPr>
        <p:spPr>
          <a:xfrm>
            <a:off x="6537960" y="2304288"/>
            <a:ext cx="1737360" cy="292608"/>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Sidecar Proxy</a:t>
            </a:r>
            <a:endParaRPr lang="zh-CN" sz="1600">
              <a:latin typeface="微软雅黑"/>
              <a:ea typeface="微软雅黑"/>
            </a:endParaRPr>
          </a:p>
        </p:txBody>
      </p:sp>
      <p:sp>
        <p:nvSpPr>
          <p:cNvPr id="119" name="fig-d"/>
          <p:cNvSpPr/>
          <p:nvPr/>
        </p:nvSpPr>
        <p:spPr>
          <a:xfrm>
            <a:off x="6537960" y="2743200"/>
            <a:ext cx="1737360" cy="292608"/>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600" b="0">
                <a:solidFill>
                  <a:srgbClr val="262626"/>
                </a:solidFill>
                <a:latin typeface="微软雅黑"/>
                <a:ea typeface="微软雅黑"/>
              </a:rPr>
              <a:t>Microservice</a:t>
            </a:r>
            <a:endParaRPr lang="zh-CN" sz="1600">
              <a:latin typeface="微软雅黑"/>
              <a:ea typeface="微软雅黑"/>
            </a:endParaRPr>
          </a:p>
        </p:txBody>
      </p:sp>
      <p:sp>
        <p:nvSpPr>
          <p:cNvPr id="120" name="fig-d"/>
          <p:cNvSpPr/>
          <p:nvPr/>
        </p:nvSpPr>
        <p:spPr>
          <a:xfrm>
            <a:off x="7406640" y="2596896"/>
            <a:ext cx="9144" cy="146304"/>
          </a:xfrm>
          <a:custGeom>
            <a:avLst/>
            <a:gdLst/>
            <a:ahLst/>
            <a:cxnLst/>
            <a:rect l="0" t="0" r="r" b="b"/>
            <a:pathLst>
              <a:path w="9144" h="146304" fill="none">
                <a:moveTo>
                  <a:pt x="0" y="0"/>
                </a:moveTo>
                <a:lnTo>
                  <a:pt x="0" y="146304"/>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21" name="fig-d"/>
          <p:cNvSpPr/>
          <p:nvPr/>
        </p:nvSpPr>
        <p:spPr>
          <a:xfrm>
            <a:off x="2880360" y="1664208"/>
            <a:ext cx="960120" cy="9144"/>
          </a:xfrm>
          <a:custGeom>
            <a:avLst/>
            <a:gdLst/>
            <a:ahLst/>
            <a:cxnLst/>
            <a:rect l="0" t="0" r="r" b="b"/>
            <a:pathLst>
              <a:path w="960120" h="9144" fill="none">
                <a:moveTo>
                  <a:pt x="0" y="0"/>
                </a:moveTo>
                <a:lnTo>
                  <a:pt x="960120" y="0"/>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22" name="fig-d"/>
          <p:cNvSpPr/>
          <p:nvPr/>
        </p:nvSpPr>
        <p:spPr>
          <a:xfrm>
            <a:off x="2926080" y="1389888"/>
            <a:ext cx="868680" cy="274320"/>
          </a:xfrm>
          <a:prstGeom prst="rect">
            <a:avLst/>
          </a:prstGeom>
          <a:noFill/>
          <a:ln>
            <a:noFill/>
          </a:ln>
        </p:spPr>
        <p:txBody>
          <a:bodyPr wrap="square" lIns="18288" tIns="9144" rIns="18288" bIns="9144" anchor="ctr"/>
          <a:lstStyle/>
          <a:p>
            <a:pPr algn="ctr">
              <a:lnSpc>
                <a:spcPct val="100000"/>
              </a:lnSpc>
              <a:buNone/>
            </a:pPr>
            <a:r>
              <a:rPr lang="zh-CN" altLang="en-US" sz="1600" b="0">
                <a:solidFill>
                  <a:srgbClr val="262626"/>
                </a:solidFill>
                <a:latin typeface="微软雅黑"/>
                <a:ea typeface="微软雅黑"/>
              </a:rPr>
              <a:t>HTTP</a:t>
            </a:r>
            <a:endParaRPr lang="zh-CN" sz="1600">
              <a:latin typeface="微软雅黑"/>
              <a:ea typeface="微软雅黑"/>
            </a:endParaRPr>
          </a:p>
        </p:txBody>
      </p:sp>
      <p:sp>
        <p:nvSpPr>
          <p:cNvPr id="123" name="fig-d"/>
          <p:cNvSpPr/>
          <p:nvPr/>
        </p:nvSpPr>
        <p:spPr>
          <a:xfrm>
            <a:off x="5577840" y="1664208"/>
            <a:ext cx="960120" cy="9144"/>
          </a:xfrm>
          <a:custGeom>
            <a:avLst/>
            <a:gdLst/>
            <a:ahLst/>
            <a:cxnLst/>
            <a:rect l="0" t="0" r="r" b="b"/>
            <a:pathLst>
              <a:path w="960120" h="9144" fill="none">
                <a:moveTo>
                  <a:pt x="0" y="0"/>
                </a:moveTo>
                <a:lnTo>
                  <a:pt x="960120" y="0"/>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24" name="fig-d"/>
          <p:cNvSpPr/>
          <p:nvPr/>
        </p:nvSpPr>
        <p:spPr>
          <a:xfrm>
            <a:off x="5623560" y="1389888"/>
            <a:ext cx="868680" cy="274320"/>
          </a:xfrm>
          <a:prstGeom prst="rect">
            <a:avLst/>
          </a:prstGeom>
          <a:noFill/>
          <a:ln>
            <a:noFill/>
          </a:ln>
        </p:spPr>
        <p:txBody>
          <a:bodyPr wrap="square" lIns="18288" tIns="9144" rIns="18288" bIns="9144" anchor="ctr"/>
          <a:lstStyle/>
          <a:p>
            <a:pPr algn="ctr">
              <a:lnSpc>
                <a:spcPct val="100000"/>
              </a:lnSpc>
              <a:buNone/>
            </a:pPr>
            <a:r>
              <a:rPr lang="zh-CN" altLang="en-US" sz="1600" b="0">
                <a:solidFill>
                  <a:srgbClr val="262626"/>
                </a:solidFill>
                <a:latin typeface="微软雅黑"/>
                <a:ea typeface="微软雅黑"/>
              </a:rPr>
              <a:t>gRPC</a:t>
            </a:r>
            <a:endParaRPr lang="zh-CN" sz="1600">
              <a:latin typeface="微软雅黑"/>
              <a:ea typeface="微软雅黑"/>
            </a:endParaRPr>
          </a:p>
        </p:txBody>
      </p:sp>
      <p:sp>
        <p:nvSpPr>
          <p:cNvPr id="125" name="fig-d"/>
          <p:cNvSpPr/>
          <p:nvPr/>
        </p:nvSpPr>
        <p:spPr>
          <a:xfrm>
            <a:off x="2880360" y="2450592"/>
            <a:ext cx="960120" cy="9144"/>
          </a:xfrm>
          <a:custGeom>
            <a:avLst/>
            <a:gdLst/>
            <a:ahLst/>
            <a:cxnLst/>
            <a:rect l="0" t="0" r="r" b="b"/>
            <a:pathLst>
              <a:path w="960120" h="9144" fill="none">
                <a:moveTo>
                  <a:pt x="0" y="0"/>
                </a:moveTo>
                <a:lnTo>
                  <a:pt x="960120" y="0"/>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26" name="fig-d"/>
          <p:cNvSpPr/>
          <p:nvPr/>
        </p:nvSpPr>
        <p:spPr>
          <a:xfrm>
            <a:off x="2926080" y="2487168"/>
            <a:ext cx="868680" cy="274320"/>
          </a:xfrm>
          <a:prstGeom prst="rect">
            <a:avLst/>
          </a:prstGeom>
          <a:noFill/>
          <a:ln>
            <a:noFill/>
          </a:ln>
        </p:spPr>
        <p:txBody>
          <a:bodyPr wrap="square" lIns="18288" tIns="9144" rIns="18288" bIns="9144" anchor="ctr"/>
          <a:lstStyle/>
          <a:p>
            <a:pPr algn="ctr">
              <a:lnSpc>
                <a:spcPct val="100000"/>
              </a:lnSpc>
              <a:buNone/>
            </a:pPr>
            <a:r>
              <a:rPr lang="zh-CN" altLang="en-US" sz="1600" b="0">
                <a:solidFill>
                  <a:srgbClr val="262626"/>
                </a:solidFill>
                <a:latin typeface="微软雅黑"/>
                <a:ea typeface="微软雅黑"/>
              </a:rPr>
              <a:t>HTTP</a:t>
            </a:r>
            <a:endParaRPr lang="zh-CN" sz="1600">
              <a:latin typeface="微软雅黑"/>
              <a:ea typeface="微软雅黑"/>
            </a:endParaRPr>
          </a:p>
        </p:txBody>
      </p:sp>
      <p:sp>
        <p:nvSpPr>
          <p:cNvPr id="127" name="fig-d"/>
          <p:cNvSpPr/>
          <p:nvPr/>
        </p:nvSpPr>
        <p:spPr>
          <a:xfrm>
            <a:off x="5577840" y="2450592"/>
            <a:ext cx="960120" cy="9144"/>
          </a:xfrm>
          <a:custGeom>
            <a:avLst/>
            <a:gdLst/>
            <a:ahLst/>
            <a:cxnLst/>
            <a:rect l="0" t="0" r="r" b="b"/>
            <a:pathLst>
              <a:path w="960120" h="9144" fill="none">
                <a:moveTo>
                  <a:pt x="0" y="0"/>
                </a:moveTo>
                <a:lnTo>
                  <a:pt x="960120" y="0"/>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28" name="fig-d"/>
          <p:cNvSpPr/>
          <p:nvPr/>
        </p:nvSpPr>
        <p:spPr>
          <a:xfrm>
            <a:off x="5623560" y="2487168"/>
            <a:ext cx="868680" cy="274320"/>
          </a:xfrm>
          <a:prstGeom prst="rect">
            <a:avLst/>
          </a:prstGeom>
          <a:noFill/>
          <a:ln>
            <a:noFill/>
          </a:ln>
        </p:spPr>
        <p:txBody>
          <a:bodyPr wrap="square" lIns="18288" tIns="9144" rIns="18288" bIns="9144" anchor="ctr"/>
          <a:lstStyle/>
          <a:p>
            <a:pPr algn="ctr">
              <a:lnSpc>
                <a:spcPct val="100000"/>
              </a:lnSpc>
              <a:buNone/>
            </a:pPr>
            <a:r>
              <a:rPr lang="zh-CN" altLang="en-US" sz="1600" b="0">
                <a:solidFill>
                  <a:srgbClr val="262626"/>
                </a:solidFill>
                <a:latin typeface="微软雅黑"/>
                <a:ea typeface="微软雅黑"/>
              </a:rPr>
              <a:t>gRPC</a:t>
            </a:r>
            <a:endParaRPr lang="zh-CN" sz="1600">
              <a:latin typeface="微软雅黑"/>
              <a:ea typeface="微软雅黑"/>
            </a:endParaRPr>
          </a:p>
        </p:txBody>
      </p:sp>
      <p:sp>
        <p:nvSpPr>
          <p:cNvPr id="129" name="fig-d"/>
          <p:cNvSpPr/>
          <p:nvPr/>
        </p:nvSpPr>
        <p:spPr>
          <a:xfrm>
            <a:off x="2880360" y="1810512"/>
            <a:ext cx="960120" cy="493776"/>
          </a:xfrm>
          <a:custGeom>
            <a:avLst/>
            <a:gdLst/>
            <a:ahLst/>
            <a:cxnLst/>
            <a:rect l="0" t="0" r="r" b="b"/>
            <a:pathLst>
              <a:path w="960120" h="493776" fill="none">
                <a:moveTo>
                  <a:pt x="0" y="0"/>
                </a:moveTo>
                <a:lnTo>
                  <a:pt x="960120" y="493776"/>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30" name="fig-d"/>
          <p:cNvSpPr/>
          <p:nvPr/>
        </p:nvSpPr>
        <p:spPr>
          <a:xfrm>
            <a:off x="3067812" y="1929384"/>
            <a:ext cx="585216" cy="256032"/>
          </a:xfrm>
          <a:prstGeom prst="rect">
            <a:avLst/>
          </a:prstGeom>
          <a:solidFill>
            <a:srgbClr val="FFFFFF"/>
          </a:solidFill>
          <a:ln>
            <a:no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HTTP</a:t>
            </a:r>
            <a:endParaRPr lang="zh-CN" sz="1600">
              <a:latin typeface="微软雅黑"/>
              <a:ea typeface="微软雅黑"/>
            </a:endParaRPr>
          </a:p>
        </p:txBody>
      </p:sp>
      <p:sp>
        <p:nvSpPr>
          <p:cNvPr id="131" name="fig-d"/>
          <p:cNvSpPr/>
          <p:nvPr/>
        </p:nvSpPr>
        <p:spPr>
          <a:xfrm>
            <a:off x="5577840" y="1810512"/>
            <a:ext cx="960120" cy="493776"/>
          </a:xfrm>
          <a:custGeom>
            <a:avLst/>
            <a:gdLst/>
            <a:ahLst/>
            <a:cxnLst/>
            <a:rect l="0" t="0" r="r" b="b"/>
            <a:pathLst>
              <a:path w="960120" h="493776" fill="none">
                <a:moveTo>
                  <a:pt x="0" y="0"/>
                </a:moveTo>
                <a:lnTo>
                  <a:pt x="960120" y="493776"/>
                </a:lnTo>
              </a:path>
            </a:pathLst>
          </a:custGeom>
          <a:noFill/>
          <a:ln w="12700">
            <a:solidFill>
              <a:srgbClr val="262626"/>
            </a:solidFill>
            <a:headEnd type="triangle" w="med" len="med"/>
            <a:tailEnd type="triangle" w="med" len="med"/>
          </a:ln>
        </p:spPr>
        <p:txBody>
          <a:bodyPr/>
          <a:lstStyle/>
          <a:p>
            <a:endParaRPr lang="zh-CN">
              <a:latin typeface="微软雅黑"/>
              <a:ea typeface="微软雅黑"/>
            </a:endParaRPr>
          </a:p>
        </p:txBody>
      </p:sp>
      <p:sp>
        <p:nvSpPr>
          <p:cNvPr id="132" name="fig-d"/>
          <p:cNvSpPr/>
          <p:nvPr/>
        </p:nvSpPr>
        <p:spPr>
          <a:xfrm>
            <a:off x="5765292" y="1929384"/>
            <a:ext cx="585216" cy="256032"/>
          </a:xfrm>
          <a:prstGeom prst="rect">
            <a:avLst/>
          </a:prstGeom>
          <a:solidFill>
            <a:srgbClr val="FFFFFF"/>
          </a:solidFill>
          <a:ln>
            <a:noFill/>
          </a:ln>
        </p:spPr>
        <p:txBody>
          <a:bodyPr wrap="square" lIns="0" tIns="0" rIns="0" bIns="0" anchor="ctr"/>
          <a:lstStyle/>
          <a:p>
            <a:pPr algn="ctr">
              <a:lnSpc>
                <a:spcPct val="100000"/>
              </a:lnSpc>
              <a:buNone/>
            </a:pPr>
            <a:r>
              <a:rPr lang="zh-CN" altLang="en-US" sz="1600" b="0">
                <a:solidFill>
                  <a:srgbClr val="262626"/>
                </a:solidFill>
                <a:latin typeface="微软雅黑"/>
                <a:ea typeface="微软雅黑"/>
              </a:rPr>
              <a:t>gRPC</a:t>
            </a:r>
            <a:endParaRPr lang="zh-CN" sz="1600">
              <a:latin typeface="微软雅黑"/>
              <a:ea typeface="微软雅黑"/>
            </a:endParaRPr>
          </a:p>
        </p:txBody>
      </p:sp>
      <p:sp>
        <p:nvSpPr>
          <p:cNvPr id="133" name="fn-source"/>
          <p:cNvSpPr/>
          <p:nvPr/>
        </p:nvSpPr>
        <p:spPr>
          <a:xfrm>
            <a:off x="411480" y="3072384"/>
            <a:ext cx="8321040" cy="201168"/>
          </a:xfrm>
          <a:prstGeom prst="rect">
            <a:avLst/>
          </a:prstGeom>
          <a:noFill/>
          <a:ln>
            <a:noFill/>
          </a:ln>
        </p:spPr>
        <p:txBody>
          <a:bodyPr wrap="square" lIns="36576" tIns="18288" rIns="36576" bIns="18288" anchor="ctr"/>
          <a:lstStyle/>
          <a:p>
            <a:pPr algn="r">
              <a:lnSpc>
                <a:spcPct val="100000"/>
              </a:lnSpc>
              <a:buNone/>
            </a:pPr>
            <a:r>
              <a:rPr lang="zh-CN" altLang="en-US" sz="1200" b="0">
                <a:solidFill>
                  <a:srgbClr val="595959"/>
                </a:solidFill>
                <a:latin typeface="微软雅黑"/>
                <a:ea typeface="微软雅黑"/>
              </a:rPr>
              <a:t>图：按 2024 版第 4-1 讲第 32 页（边车模型）重画</a:t>
            </a:r>
            <a:endParaRPr lang="zh-CN" sz="1200">
              <a:latin typeface="微软雅黑"/>
              <a:ea typeface="微软雅黑"/>
            </a:endParaRPr>
          </a:p>
        </p:txBody>
      </p:sp>
      <p:sp>
        <p:nvSpPr>
          <p:cNvPr id="13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无服务按事件伸缩、计费，但依赖平台</a:t>
            </a:r>
          </a:p>
        </p:txBody>
      </p:sp>
      <p:graphicFrame>
        <p:nvGraphicFramePr>
          <p:cNvPr id="3" name="table"/>
          <p:cNvGraphicFramePr>
            <a:graphicFrameLocks noGrp="1"/>
          </p:cNvGraphicFramePr>
          <p:nvPr>
            <p:extLst>
              <p:ext uri="{D42A27DB-BD31-4B8C-83A1-F6EECF244321}">
                <p14:modId xmlns:p14="http://schemas.microsoft.com/office/powerpoint/2010/main" val="2932609848"/>
              </p:ext>
            </p:extLst>
          </p:nvPr>
        </p:nvGraphicFramePr>
        <p:xfrm>
          <a:off x="368300" y="1485900"/>
          <a:ext cx="8407400" cy="4119880"/>
        </p:xfrm>
        <a:graphic>
          <a:graphicData uri="http://schemas.openxmlformats.org/drawingml/2006/table">
            <a:tbl>
              <a:tblPr>
                <a:tableStyleId>{2D5ABB26-0587-4C30-8999-92F81FD0307C}</a:tableStyleId>
              </a:tblPr>
              <a:tblGrid>
                <a:gridCol w="2336800">
                  <a:extLst>
                    <a:ext uri="{9D8B030D-6E8A-4147-A177-3AD203B41FA5}">
                      <a16:colId xmlns:a16="http://schemas.microsoft.com/office/drawing/2014/main" val="20000"/>
                    </a:ext>
                  </a:extLst>
                </a:gridCol>
                <a:gridCol w="6070600">
                  <a:extLst>
                    <a:ext uri="{9D8B030D-6E8A-4147-A177-3AD203B41FA5}">
                      <a16:colId xmlns:a16="http://schemas.microsoft.com/office/drawing/2014/main" val="20001"/>
                    </a:ext>
                  </a:extLst>
                </a:gridCol>
              </a:tblGrid>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降低主机运维负担，按事件负载调度资源</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平台按事件运行函数，管理执行实例与伸缩</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无需长期管理服务器，可按调用和执行时长计费</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冷启动有延迟，执行时长与配额受平台约束</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配置、配额与调用结果仍须监控</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r h="685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适用范围</a:t>
                      </a:r>
                    </a:p>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工程用法</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事件触发的任务，如缩略图生成</a:t>
                      </a:r>
                    </a:p>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由平台托管执行与伸缩</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5"/>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奶茶连锁看规模和出餐速度来定形态</a:t>
            </a:r>
          </a:p>
        </p:txBody>
      </p:sp>
      <p:graphicFrame>
        <p:nvGraphicFramePr>
          <p:cNvPr id="3" name="table"/>
          <p:cNvGraphicFramePr>
            <a:graphicFrameLocks noGrp="1"/>
          </p:cNvGraphicFramePr>
          <p:nvPr/>
        </p:nvGraphicFramePr>
        <p:xfrm>
          <a:off x="368300" y="1485900"/>
          <a:ext cx="8407400" cy="2773858"/>
        </p:xfrm>
        <a:graphic>
          <a:graphicData uri="http://schemas.openxmlformats.org/drawingml/2006/table">
            <a:tbl>
              <a:tblPr>
                <a:tableStyleId>{2D5ABB26-0587-4C30-8999-92F81FD0307C}</a:tableStyleId>
              </a:tblPr>
              <a:tblGrid>
                <a:gridCol w="2184400">
                  <a:extLst>
                    <a:ext uri="{9D8B030D-6E8A-4147-A177-3AD203B41FA5}">
                      <a16:colId xmlns:a16="http://schemas.microsoft.com/office/drawing/2014/main" val="20000"/>
                    </a:ext>
                  </a:extLst>
                </a:gridCol>
                <a:gridCol w="3175000">
                  <a:extLst>
                    <a:ext uri="{9D8B030D-6E8A-4147-A177-3AD203B41FA5}">
                      <a16:colId xmlns:a16="http://schemas.microsoft.com/office/drawing/2014/main" val="20001"/>
                    </a:ext>
                  </a:extLst>
                </a:gridCol>
                <a:gridCol w="3048000">
                  <a:extLst>
                    <a:ext uri="{9D8B030D-6E8A-4147-A177-3AD203B41FA5}">
                      <a16:colId xmlns:a16="http://schemas.microsoft.com/office/drawing/2014/main" val="20002"/>
                    </a:ext>
                  </a:extLst>
                </a:gridCol>
              </a:tblGrid>
              <a:tr h="59046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经营规模</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做法（对应形态）</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回应的需求与代价</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62484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只有一家店</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店内备料并制作</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（单体）</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本店完成备料与制作</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协调范围小</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62484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开了多家店</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各店自备料，彼此独立</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门店可独立出餐，但配方与采购须协调</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933718">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连锁并设</a:t>
                      </a:r>
                    </a:p>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中央厨房</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统一备料，配送到门店</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（拆出共用服务）</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便于统一配方，增加配送与厨房停运风险</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bl>
          </a:graphicData>
        </a:graphic>
      </p:graphicFrame>
      <p:sp>
        <p:nvSpPr>
          <p:cNvPr id="4" name="fig"/>
          <p:cNvSpPr/>
          <p:nvPr/>
        </p:nvSpPr>
        <p:spPr>
          <a:xfrm>
            <a:off x="368300" y="4381500"/>
            <a:ext cx="8407400" cy="69215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形态由经营规模与出餐速度决定，并非越多越好</a:t>
            </a:r>
          </a:p>
        </p:txBody>
      </p:sp>
      <p:sp>
        <p:nvSpPr>
          <p:cNvPr id="5" name="fig"/>
          <p:cNvSpPr/>
          <p:nvPr/>
        </p:nvSpPr>
        <p:spPr>
          <a:xfrm>
            <a:off x="368300" y="5175250"/>
            <a:ext cx="8407400" cy="69215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教学情境：是否设中央厨房，取决于备料规模、配送能力与出餐要求</a:t>
            </a:r>
          </a:p>
        </p:txBody>
      </p:sp>
      <p:sp>
        <p:nvSpPr>
          <p:cNvPr id="6"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运行环境约束物理视图</a:t>
            </a:r>
          </a:p>
        </p:txBody>
      </p:sp>
      <p:sp>
        <p:nvSpPr>
          <p:cNvPr id="101" name="fig-d"/>
          <p:cNvSpPr/>
          <p:nvPr/>
        </p:nvSpPr>
        <p:spPr>
          <a:xfrm>
            <a:off x="548640" y="1993392"/>
            <a:ext cx="1463040" cy="640080"/>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800" b="1">
                <a:solidFill>
                  <a:srgbClr val="262626"/>
                </a:solidFill>
                <a:latin typeface="微软雅黑"/>
                <a:ea typeface="微软雅黑"/>
              </a:rPr>
              <a:t>逻辑视图</a:t>
            </a:r>
            <a:endParaRPr lang="zh-CN" sz="1800">
              <a:latin typeface="微软雅黑"/>
              <a:ea typeface="微软雅黑"/>
            </a:endParaRPr>
          </a:p>
        </p:txBody>
      </p:sp>
      <p:sp>
        <p:nvSpPr>
          <p:cNvPr id="102" name="fig-d"/>
          <p:cNvSpPr/>
          <p:nvPr/>
        </p:nvSpPr>
        <p:spPr>
          <a:xfrm>
            <a:off x="2880360" y="1993392"/>
            <a:ext cx="1463040" cy="640080"/>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800" b="1">
                <a:solidFill>
                  <a:srgbClr val="262626"/>
                </a:solidFill>
                <a:latin typeface="微软雅黑"/>
                <a:ea typeface="微软雅黑"/>
              </a:rPr>
              <a:t>开发视图</a:t>
            </a:r>
            <a:endParaRPr lang="zh-CN" sz="1800">
              <a:latin typeface="微软雅黑"/>
              <a:ea typeface="微软雅黑"/>
            </a:endParaRPr>
          </a:p>
        </p:txBody>
      </p:sp>
      <p:sp>
        <p:nvSpPr>
          <p:cNvPr id="103" name="fig-d"/>
          <p:cNvSpPr/>
          <p:nvPr/>
        </p:nvSpPr>
        <p:spPr>
          <a:xfrm>
            <a:off x="548640" y="3200400"/>
            <a:ext cx="1463040" cy="640080"/>
          </a:xfrm>
          <a:prstGeom prst="rect">
            <a:avLst/>
          </a:prstGeom>
          <a:solidFill>
            <a:srgbClr val="FFFFFF"/>
          </a:solidFill>
          <a:ln w="12700">
            <a:solidFill>
              <a:srgbClr val="A6A6A6"/>
            </a:solidFill>
          </a:ln>
        </p:spPr>
        <p:txBody>
          <a:bodyPr wrap="square" lIns="27432" tIns="13716" rIns="27432" bIns="13716" anchor="ctr"/>
          <a:lstStyle/>
          <a:p>
            <a:pPr algn="ctr">
              <a:lnSpc>
                <a:spcPct val="100000"/>
              </a:lnSpc>
              <a:buNone/>
            </a:pPr>
            <a:r>
              <a:rPr lang="zh-CN" altLang="en-US" sz="1800" b="1">
                <a:solidFill>
                  <a:srgbClr val="262626"/>
                </a:solidFill>
                <a:latin typeface="微软雅黑"/>
                <a:ea typeface="微软雅黑"/>
              </a:rPr>
              <a:t>进程视图</a:t>
            </a:r>
            <a:endParaRPr lang="zh-CN" sz="1800">
              <a:latin typeface="微软雅黑"/>
              <a:ea typeface="微软雅黑"/>
            </a:endParaRPr>
          </a:p>
        </p:txBody>
      </p:sp>
      <p:sp>
        <p:nvSpPr>
          <p:cNvPr id="104" name="fig-d"/>
          <p:cNvSpPr/>
          <p:nvPr/>
        </p:nvSpPr>
        <p:spPr>
          <a:xfrm>
            <a:off x="2880360" y="3200400"/>
            <a:ext cx="1463040" cy="640080"/>
          </a:xfrm>
          <a:prstGeom prst="rect">
            <a:avLst/>
          </a:prstGeom>
          <a:solidFill>
            <a:srgbClr val="A33B38"/>
          </a:solidFill>
          <a:ln w="12700">
            <a:solidFill>
              <a:srgbClr val="A33B38"/>
            </a:solidFill>
          </a:ln>
        </p:spPr>
        <p:txBody>
          <a:bodyPr wrap="square" lIns="27432" tIns="13716" rIns="27432" bIns="13716" anchor="ctr"/>
          <a:lstStyle/>
          <a:p>
            <a:pPr algn="ctr">
              <a:lnSpc>
                <a:spcPct val="100000"/>
              </a:lnSpc>
              <a:buNone/>
            </a:pPr>
            <a:r>
              <a:rPr lang="zh-CN" altLang="en-US" sz="1800" b="1">
                <a:solidFill>
                  <a:srgbClr val="FFFFFF"/>
                </a:solidFill>
                <a:latin typeface="微软雅黑"/>
                <a:ea typeface="微软雅黑"/>
              </a:rPr>
              <a:t>物理视图</a:t>
            </a:r>
            <a:endParaRPr lang="zh-CN" sz="1800">
              <a:latin typeface="微软雅黑"/>
              <a:ea typeface="微软雅黑"/>
            </a:endParaRPr>
          </a:p>
        </p:txBody>
      </p:sp>
      <p:sp>
        <p:nvSpPr>
          <p:cNvPr id="105" name="fig-d"/>
          <p:cNvSpPr/>
          <p:nvPr/>
        </p:nvSpPr>
        <p:spPr>
          <a:xfrm>
            <a:off x="1691640" y="2724912"/>
            <a:ext cx="1508760" cy="402336"/>
          </a:xfrm>
          <a:prstGeom prst="ellipse">
            <a:avLst/>
          </a:prstGeom>
          <a:solidFill>
            <a:srgbClr val="FFFFFF"/>
          </a:solidFill>
          <a:ln w="12700">
            <a:solidFill>
              <a:srgbClr val="595959"/>
            </a:solidFill>
          </a:ln>
        </p:spPr>
        <p:txBody>
          <a:bodyPr wrap="square" lIns="18288" tIns="9144" rIns="18288" bIns="9144" anchor="ctr"/>
          <a:lstStyle/>
          <a:p>
            <a:pPr algn="ctr">
              <a:lnSpc>
                <a:spcPct val="100000"/>
              </a:lnSpc>
              <a:buNone/>
            </a:pPr>
            <a:r>
              <a:rPr lang="zh-CN" altLang="en-US" sz="1600" b="0">
                <a:solidFill>
                  <a:srgbClr val="262626"/>
                </a:solidFill>
                <a:latin typeface="微软雅黑"/>
                <a:ea typeface="微软雅黑"/>
              </a:rPr>
              <a:t>场景</a:t>
            </a:r>
            <a:endParaRPr lang="zh-CN" sz="1600">
              <a:latin typeface="微软雅黑"/>
              <a:ea typeface="微软雅黑"/>
            </a:endParaRPr>
          </a:p>
        </p:txBody>
      </p:sp>
      <p:sp>
        <p:nvSpPr>
          <p:cNvPr id="106" name="fig-d"/>
          <p:cNvSpPr/>
          <p:nvPr/>
        </p:nvSpPr>
        <p:spPr>
          <a:xfrm>
            <a:off x="2011680" y="2313432"/>
            <a:ext cx="868680" cy="9144"/>
          </a:xfrm>
          <a:custGeom>
            <a:avLst/>
            <a:gdLst/>
            <a:ahLst/>
            <a:cxnLst/>
            <a:rect l="0" t="0" r="r" b="b"/>
            <a:pathLst>
              <a:path w="868680" h="9144" fill="none">
                <a:moveTo>
                  <a:pt x="0" y="0"/>
                </a:moveTo>
                <a:lnTo>
                  <a:pt x="868680" y="0"/>
                </a:lnTo>
              </a:path>
            </a:pathLst>
          </a:custGeom>
          <a:noFill/>
          <a:ln w="22225">
            <a:solidFill>
              <a:srgbClr val="262626"/>
            </a:solidFill>
            <a:tailEnd type="triangle" w="med" len="med"/>
          </a:ln>
        </p:spPr>
        <p:txBody>
          <a:bodyPr/>
          <a:lstStyle/>
          <a:p>
            <a:endParaRPr lang="zh-CN">
              <a:latin typeface="微软雅黑"/>
              <a:ea typeface="微软雅黑"/>
            </a:endParaRPr>
          </a:p>
        </p:txBody>
      </p:sp>
      <p:sp>
        <p:nvSpPr>
          <p:cNvPr id="107" name="fig-d"/>
          <p:cNvSpPr/>
          <p:nvPr/>
        </p:nvSpPr>
        <p:spPr>
          <a:xfrm>
            <a:off x="2011680" y="3520440"/>
            <a:ext cx="868680" cy="9144"/>
          </a:xfrm>
          <a:custGeom>
            <a:avLst/>
            <a:gdLst/>
            <a:ahLst/>
            <a:cxnLst/>
            <a:rect l="0" t="0" r="r" b="b"/>
            <a:pathLst>
              <a:path w="868680" h="9144" fill="none">
                <a:moveTo>
                  <a:pt x="0" y="0"/>
                </a:moveTo>
                <a:lnTo>
                  <a:pt x="868680" y="0"/>
                </a:lnTo>
              </a:path>
            </a:pathLst>
          </a:custGeom>
          <a:noFill/>
          <a:ln w="22225">
            <a:solidFill>
              <a:srgbClr val="262626"/>
            </a:solidFill>
            <a:tailEnd type="triangle" w="med" len="med"/>
          </a:ln>
        </p:spPr>
        <p:txBody>
          <a:bodyPr/>
          <a:lstStyle/>
          <a:p>
            <a:endParaRPr lang="zh-CN">
              <a:latin typeface="微软雅黑"/>
              <a:ea typeface="微软雅黑"/>
            </a:endParaRPr>
          </a:p>
        </p:txBody>
      </p:sp>
      <p:sp>
        <p:nvSpPr>
          <p:cNvPr id="108" name="fig-d"/>
          <p:cNvSpPr/>
          <p:nvPr/>
        </p:nvSpPr>
        <p:spPr>
          <a:xfrm>
            <a:off x="914400" y="2633472"/>
            <a:ext cx="9144" cy="566928"/>
          </a:xfrm>
          <a:custGeom>
            <a:avLst/>
            <a:gdLst/>
            <a:ahLst/>
            <a:cxnLst/>
            <a:rect l="0" t="0" r="r" b="b"/>
            <a:pathLst>
              <a:path w="9144" h="566928" fill="none">
                <a:moveTo>
                  <a:pt x="0" y="0"/>
                </a:moveTo>
                <a:lnTo>
                  <a:pt x="0" y="566928"/>
                </a:lnTo>
              </a:path>
            </a:pathLst>
          </a:custGeom>
          <a:noFill/>
          <a:ln w="22225">
            <a:solidFill>
              <a:srgbClr val="262626"/>
            </a:solidFill>
            <a:tailEnd type="triangle" w="med" len="med"/>
          </a:ln>
        </p:spPr>
        <p:txBody>
          <a:bodyPr/>
          <a:lstStyle/>
          <a:p>
            <a:endParaRPr lang="zh-CN">
              <a:latin typeface="微软雅黑"/>
              <a:ea typeface="微软雅黑"/>
            </a:endParaRPr>
          </a:p>
        </p:txBody>
      </p:sp>
      <p:sp>
        <p:nvSpPr>
          <p:cNvPr id="109" name="fig-d"/>
          <p:cNvSpPr/>
          <p:nvPr/>
        </p:nvSpPr>
        <p:spPr>
          <a:xfrm>
            <a:off x="3977640" y="2633472"/>
            <a:ext cx="9144" cy="566928"/>
          </a:xfrm>
          <a:custGeom>
            <a:avLst/>
            <a:gdLst/>
            <a:ahLst/>
            <a:cxnLst/>
            <a:rect l="0" t="0" r="r" b="b"/>
            <a:pathLst>
              <a:path w="9144" h="566928" fill="none">
                <a:moveTo>
                  <a:pt x="0" y="0"/>
                </a:moveTo>
                <a:lnTo>
                  <a:pt x="0" y="566928"/>
                </a:lnTo>
              </a:path>
            </a:pathLst>
          </a:custGeom>
          <a:noFill/>
          <a:ln w="22225">
            <a:solidFill>
              <a:srgbClr val="262626"/>
            </a:solidFill>
            <a:tailEnd type="triangle" w="med" len="med"/>
          </a:ln>
        </p:spPr>
        <p:txBody>
          <a:bodyPr/>
          <a:lstStyle/>
          <a:p>
            <a:endParaRPr lang="zh-CN">
              <a:latin typeface="微软雅黑"/>
              <a:ea typeface="微软雅黑"/>
            </a:endParaRPr>
          </a:p>
        </p:txBody>
      </p:sp>
      <p:sp>
        <p:nvSpPr>
          <p:cNvPr id="110" name="fig-d"/>
          <p:cNvSpPr/>
          <p:nvPr/>
        </p:nvSpPr>
        <p:spPr>
          <a:xfrm>
            <a:off x="548640" y="1463040"/>
            <a:ext cx="1737360" cy="512064"/>
          </a:xfrm>
          <a:prstGeom prst="rect">
            <a:avLst/>
          </a:prstGeom>
          <a:noFill/>
          <a:ln>
            <a:noFill/>
          </a:ln>
        </p:spPr>
        <p:txBody>
          <a:bodyPr wrap="square" lIns="18288" tIns="9144" rIns="18288" bIns="9144" anchor="ctr"/>
          <a:lstStyle/>
          <a:p>
            <a:pPr algn="l">
              <a:lnSpc>
                <a:spcPct val="100000"/>
              </a:lnSpc>
              <a:buNone/>
            </a:pPr>
            <a:r>
              <a:rPr lang="zh-CN" altLang="en-US" sz="1600" b="0">
                <a:solidFill>
                  <a:srgbClr val="595959"/>
                </a:solidFill>
                <a:latin typeface="微软雅黑"/>
                <a:ea typeface="微软雅黑"/>
              </a:rPr>
              <a:t>最终用户</a:t>
            </a:r>
            <a:br>
              <a:rPr lang="zh-CN" sz="1600">
                <a:latin typeface="微软雅黑"/>
                <a:ea typeface="微软雅黑"/>
              </a:rPr>
            </a:br>
            <a:r>
              <a:rPr lang="zh-CN" altLang="en-US" sz="1600" b="0">
                <a:solidFill>
                  <a:srgbClr val="595959"/>
                </a:solidFill>
                <a:latin typeface="微软雅黑"/>
                <a:ea typeface="微软雅黑"/>
              </a:rPr>
              <a:t>功能特性</a:t>
            </a:r>
            <a:endParaRPr lang="zh-CN" sz="1600">
              <a:latin typeface="微软雅黑"/>
              <a:ea typeface="微软雅黑"/>
            </a:endParaRPr>
          </a:p>
        </p:txBody>
      </p:sp>
      <p:sp>
        <p:nvSpPr>
          <p:cNvPr id="111" name="fig-d"/>
          <p:cNvSpPr/>
          <p:nvPr/>
        </p:nvSpPr>
        <p:spPr>
          <a:xfrm>
            <a:off x="2880360" y="1463040"/>
            <a:ext cx="1737360" cy="512064"/>
          </a:xfrm>
          <a:prstGeom prst="rect">
            <a:avLst/>
          </a:prstGeom>
          <a:noFill/>
          <a:ln>
            <a:noFill/>
          </a:ln>
        </p:spPr>
        <p:txBody>
          <a:bodyPr wrap="square" lIns="18288" tIns="9144" rIns="18288" bIns="9144" anchor="ctr"/>
          <a:lstStyle/>
          <a:p>
            <a:pPr algn="l">
              <a:lnSpc>
                <a:spcPct val="100000"/>
              </a:lnSpc>
              <a:buNone/>
            </a:pPr>
            <a:r>
              <a:rPr lang="zh-CN" altLang="en-US" sz="1600" b="0">
                <a:solidFill>
                  <a:srgbClr val="595959"/>
                </a:solidFill>
                <a:latin typeface="微软雅黑"/>
                <a:ea typeface="微软雅黑"/>
              </a:rPr>
              <a:t>开发人员</a:t>
            </a:r>
            <a:br>
              <a:rPr lang="zh-CN" sz="1600">
                <a:latin typeface="微软雅黑"/>
                <a:ea typeface="微软雅黑"/>
              </a:rPr>
            </a:br>
            <a:r>
              <a:rPr lang="zh-CN" altLang="en-US" sz="1600" b="0">
                <a:solidFill>
                  <a:srgbClr val="595959"/>
                </a:solidFill>
                <a:latin typeface="微软雅黑"/>
                <a:ea typeface="微软雅黑"/>
              </a:rPr>
              <a:t>软件管理</a:t>
            </a:r>
            <a:endParaRPr lang="zh-CN" sz="1600">
              <a:latin typeface="微软雅黑"/>
              <a:ea typeface="微软雅黑"/>
            </a:endParaRPr>
          </a:p>
        </p:txBody>
      </p:sp>
      <p:sp>
        <p:nvSpPr>
          <p:cNvPr id="112" name="fig-d"/>
          <p:cNvSpPr/>
          <p:nvPr/>
        </p:nvSpPr>
        <p:spPr>
          <a:xfrm>
            <a:off x="548640" y="3858768"/>
            <a:ext cx="1737360" cy="749808"/>
          </a:xfrm>
          <a:prstGeom prst="rect">
            <a:avLst/>
          </a:prstGeom>
          <a:noFill/>
          <a:ln>
            <a:noFill/>
          </a:ln>
        </p:spPr>
        <p:txBody>
          <a:bodyPr wrap="square" lIns="18288" tIns="9144" rIns="18288" bIns="9144" anchor="ctr"/>
          <a:lstStyle/>
          <a:p>
            <a:pPr algn="l">
              <a:lnSpc>
                <a:spcPct val="100000"/>
              </a:lnSpc>
              <a:buNone/>
            </a:pPr>
            <a:r>
              <a:rPr lang="zh-CN" altLang="en-US" sz="1600" b="0">
                <a:solidFill>
                  <a:srgbClr val="595959"/>
                </a:solidFill>
                <a:latin typeface="微软雅黑"/>
                <a:ea typeface="微软雅黑"/>
              </a:rPr>
              <a:t>集成人员</a:t>
            </a:r>
            <a:br>
              <a:rPr lang="zh-CN" sz="1600">
                <a:latin typeface="微软雅黑"/>
                <a:ea typeface="微软雅黑"/>
              </a:rPr>
            </a:br>
            <a:r>
              <a:rPr lang="zh-CN" altLang="en-US" sz="1600" b="0">
                <a:solidFill>
                  <a:srgbClr val="595959"/>
                </a:solidFill>
                <a:latin typeface="微软雅黑"/>
                <a:ea typeface="微软雅黑"/>
              </a:rPr>
              <a:t>性能</a:t>
            </a:r>
            <a:br>
              <a:rPr lang="zh-CN" sz="1600">
                <a:latin typeface="微软雅黑"/>
                <a:ea typeface="微软雅黑"/>
              </a:rPr>
            </a:br>
            <a:r>
              <a:rPr lang="zh-CN" altLang="en-US" sz="1600" b="0">
                <a:solidFill>
                  <a:srgbClr val="595959"/>
                </a:solidFill>
                <a:latin typeface="微软雅黑"/>
                <a:ea typeface="微软雅黑"/>
              </a:rPr>
              <a:t>可扩展性</a:t>
            </a:r>
            <a:endParaRPr lang="zh-CN" sz="1600">
              <a:latin typeface="微软雅黑"/>
              <a:ea typeface="微软雅黑"/>
            </a:endParaRPr>
          </a:p>
        </p:txBody>
      </p:sp>
      <p:sp>
        <p:nvSpPr>
          <p:cNvPr id="113" name="fig-d"/>
          <p:cNvSpPr/>
          <p:nvPr/>
        </p:nvSpPr>
        <p:spPr>
          <a:xfrm>
            <a:off x="2880360" y="3858768"/>
            <a:ext cx="1737360" cy="749808"/>
          </a:xfrm>
          <a:prstGeom prst="rect">
            <a:avLst/>
          </a:prstGeom>
          <a:noFill/>
          <a:ln>
            <a:noFill/>
          </a:ln>
        </p:spPr>
        <p:txBody>
          <a:bodyPr wrap="square" lIns="18288" tIns="9144" rIns="18288" bIns="9144" anchor="ctr"/>
          <a:lstStyle/>
          <a:p>
            <a:pPr algn="l">
              <a:lnSpc>
                <a:spcPct val="100000"/>
              </a:lnSpc>
              <a:buNone/>
            </a:pPr>
            <a:r>
              <a:rPr lang="zh-CN" altLang="en-US" sz="1600" b="0">
                <a:solidFill>
                  <a:srgbClr val="595959"/>
                </a:solidFill>
                <a:latin typeface="微软雅黑"/>
                <a:ea typeface="微软雅黑"/>
              </a:rPr>
              <a:t>系统工程师</a:t>
            </a:r>
            <a:br>
              <a:rPr lang="zh-CN" sz="1600">
                <a:latin typeface="微软雅黑"/>
                <a:ea typeface="微软雅黑"/>
              </a:rPr>
            </a:br>
            <a:r>
              <a:rPr lang="zh-CN" altLang="en-US" sz="1600" b="0">
                <a:solidFill>
                  <a:srgbClr val="595959"/>
                </a:solidFill>
                <a:latin typeface="微软雅黑"/>
                <a:ea typeface="微软雅黑"/>
              </a:rPr>
              <a:t>拓扑</a:t>
            </a:r>
            <a:br>
              <a:rPr lang="zh-CN" sz="1600">
                <a:latin typeface="微软雅黑"/>
                <a:ea typeface="微软雅黑"/>
              </a:rPr>
            </a:br>
            <a:r>
              <a:rPr lang="zh-CN" altLang="en-US" sz="1600" b="0">
                <a:solidFill>
                  <a:srgbClr val="595959"/>
                </a:solidFill>
                <a:latin typeface="微软雅黑"/>
                <a:ea typeface="微软雅黑"/>
              </a:rPr>
              <a:t>通信</a:t>
            </a:r>
            <a:endParaRPr lang="zh-CN" sz="1600">
              <a:latin typeface="微软雅黑"/>
              <a:ea typeface="微软雅黑"/>
            </a:endParaRPr>
          </a:p>
        </p:txBody>
      </p:sp>
      <p:sp>
        <p:nvSpPr>
          <p:cNvPr id="114" name="fig"/>
          <p:cNvSpPr/>
          <p:nvPr/>
        </p:nvSpPr>
        <p:spPr>
          <a:xfrm>
            <a:off x="4709160" y="1481328"/>
            <a:ext cx="4023360" cy="86868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物理视图应依据机器、网络与进程</a:t>
            </a:r>
            <a:br>
              <a:rPr lang="zh-CN" sz="2000">
                <a:latin typeface="微软雅黑"/>
                <a:ea typeface="微软雅黑"/>
              </a:rPr>
            </a:br>
            <a:r>
              <a:rPr lang="zh-CN" altLang="en-US" sz="2000" b="0">
                <a:solidFill>
                  <a:srgbClr val="262626"/>
                </a:solidFill>
                <a:latin typeface="微软雅黑"/>
                <a:ea typeface="微软雅黑"/>
              </a:rPr>
              <a:t>边界绘制</a:t>
            </a:r>
            <a:endParaRPr lang="zh-CN" sz="2000">
              <a:latin typeface="微软雅黑"/>
              <a:ea typeface="微软雅黑"/>
            </a:endParaRPr>
          </a:p>
        </p:txBody>
      </p:sp>
      <p:sp>
        <p:nvSpPr>
          <p:cNvPr id="115" name="fig"/>
          <p:cNvSpPr/>
          <p:nvPr/>
        </p:nvSpPr>
        <p:spPr>
          <a:xfrm>
            <a:off x="4709160" y="2459736"/>
            <a:ext cx="4023360" cy="86868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环境变了，进程落在哪些节点、</a:t>
            </a:r>
            <a:br>
              <a:rPr lang="zh-CN" sz="2000">
                <a:latin typeface="微软雅黑"/>
                <a:ea typeface="微软雅黑"/>
              </a:rPr>
            </a:br>
            <a:r>
              <a:rPr lang="zh-CN" altLang="en-US" sz="2000" b="0">
                <a:solidFill>
                  <a:srgbClr val="262626"/>
                </a:solidFill>
                <a:latin typeface="微软雅黑"/>
                <a:ea typeface="微软雅黑"/>
              </a:rPr>
              <a:t>怎样连接，物理视图要重画</a:t>
            </a:r>
            <a:endParaRPr lang="zh-CN" sz="2000">
              <a:latin typeface="微软雅黑"/>
              <a:ea typeface="微软雅黑"/>
            </a:endParaRPr>
          </a:p>
        </p:txBody>
      </p:sp>
      <p:sp>
        <p:nvSpPr>
          <p:cNvPr id="116" name="fig"/>
          <p:cNvSpPr/>
          <p:nvPr/>
        </p:nvSpPr>
        <p:spPr>
          <a:xfrm>
            <a:off x="4709160" y="3438144"/>
            <a:ext cx="4023360" cy="1188720"/>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回到 mall 与 mall-swarm：</a:t>
            </a:r>
            <a:br>
              <a:rPr lang="zh-CN" sz="2000">
                <a:latin typeface="微软雅黑"/>
                <a:ea typeface="微软雅黑"/>
              </a:rPr>
            </a:br>
            <a:r>
              <a:rPr lang="zh-CN" altLang="en-US" sz="2000" b="0">
                <a:solidFill>
                  <a:srgbClr val="262626"/>
                </a:solidFill>
                <a:latin typeface="微软雅黑"/>
                <a:ea typeface="微软雅黑"/>
              </a:rPr>
              <a:t>节点、网络与进程边界不同</a:t>
            </a:r>
            <a:endParaRPr lang="zh-CN" sz="2000">
              <a:latin typeface="微软雅黑"/>
              <a:ea typeface="微软雅黑"/>
            </a:endParaRPr>
          </a:p>
          <a:p>
            <a:pPr algn="l">
              <a:lnSpc>
                <a:spcPct val="100000"/>
              </a:lnSpc>
              <a:buNone/>
            </a:pPr>
            <a:r>
              <a:rPr lang="zh-CN" altLang="en-US" sz="2000" b="0">
                <a:solidFill>
                  <a:srgbClr val="262626"/>
                </a:solidFill>
                <a:latin typeface="微软雅黑"/>
                <a:ea typeface="微软雅黑"/>
              </a:rPr>
              <a:t>后续架构对照说明这些差异</a:t>
            </a:r>
            <a:endParaRPr lang="zh-CN" sz="2000">
              <a:latin typeface="微软雅黑"/>
              <a:ea typeface="微软雅黑"/>
            </a:endParaRPr>
          </a:p>
        </p:txBody>
      </p:sp>
      <p:sp>
        <p:nvSpPr>
          <p:cNvPr id="117" name="fig"/>
          <p:cNvSpPr/>
          <p:nvPr/>
        </p:nvSpPr>
        <p:spPr>
          <a:xfrm>
            <a:off x="411480" y="4681728"/>
            <a:ext cx="8321040" cy="457200"/>
          </a:xfrm>
          <a:prstGeom prst="rect">
            <a:avLst/>
          </a:prstGeom>
          <a:solidFill>
            <a:srgbClr val="F5F5F5"/>
          </a:solidFill>
          <a:ln w="12700">
            <a:solidFill>
              <a:srgbClr val="A6A6A6"/>
            </a:solidFill>
          </a:ln>
        </p:spPr>
        <p:txBody>
          <a:bodyPr wrap="square" lIns="54864" tIns="27432" rIns="54864" bIns="27432" anchor="ctr"/>
          <a:lstStyle/>
          <a:p>
            <a:pPr algn="l">
              <a:lnSpc>
                <a:spcPct val="100000"/>
              </a:lnSpc>
              <a:buNone/>
            </a:pPr>
            <a:r>
              <a:rPr lang="zh-CN" altLang="en-US" sz="2000" b="0">
                <a:solidFill>
                  <a:srgbClr val="262626"/>
                </a:solidFill>
                <a:latin typeface="微软雅黑"/>
                <a:ea typeface="微软雅黑"/>
              </a:rPr>
              <a:t>逻辑视图支持系统的功能需求，进程视图关注系统的运行特征</a:t>
            </a:r>
            <a:endParaRPr lang="zh-CN" sz="2000">
              <a:latin typeface="微软雅黑"/>
              <a:ea typeface="微软雅黑"/>
            </a:endParaRPr>
          </a:p>
        </p:txBody>
      </p:sp>
      <p:sp>
        <p:nvSpPr>
          <p:cNvPr id="118" name="fig"/>
          <p:cNvSpPr/>
          <p:nvPr/>
        </p:nvSpPr>
        <p:spPr>
          <a:xfrm>
            <a:off x="411480" y="5193792"/>
            <a:ext cx="8321040" cy="457200"/>
          </a:xfrm>
          <a:prstGeom prst="rect">
            <a:avLst/>
          </a:prstGeom>
          <a:solidFill>
            <a:srgbClr val="F5F5F5"/>
          </a:solidFill>
          <a:ln w="12700">
            <a:solidFill>
              <a:srgbClr val="A6A6A6"/>
            </a:solidFill>
          </a:ln>
        </p:spPr>
        <p:txBody>
          <a:bodyPr wrap="square" lIns="54864" tIns="27432" rIns="54864" bIns="27432" anchor="ctr"/>
          <a:lstStyle/>
          <a:p>
            <a:pPr algn="l">
              <a:lnSpc>
                <a:spcPct val="100000"/>
              </a:lnSpc>
              <a:buNone/>
            </a:pPr>
            <a:r>
              <a:rPr lang="zh-CN" altLang="en-US" sz="2000" b="0">
                <a:solidFill>
                  <a:srgbClr val="262626"/>
                </a:solidFill>
                <a:latin typeface="微软雅黑"/>
                <a:ea typeface="微软雅黑"/>
              </a:rPr>
              <a:t>开发视图侧重软件模块的组织与管理，物理视图把软件映射到硬件上</a:t>
            </a:r>
            <a:endParaRPr lang="zh-CN" sz="2000">
              <a:latin typeface="微软雅黑"/>
              <a:ea typeface="微软雅黑"/>
            </a:endParaRPr>
          </a:p>
        </p:txBody>
      </p:sp>
      <p:sp>
        <p:nvSpPr>
          <p:cNvPr id="119" name="fn-source"/>
          <p:cNvSpPr/>
          <p:nvPr/>
        </p:nvSpPr>
        <p:spPr>
          <a:xfrm>
            <a:off x="411480" y="5760720"/>
            <a:ext cx="8321040" cy="201168"/>
          </a:xfrm>
          <a:prstGeom prst="rect">
            <a:avLst/>
          </a:prstGeom>
          <a:noFill/>
          <a:ln>
            <a:noFill/>
          </a:ln>
        </p:spPr>
        <p:txBody>
          <a:bodyPr wrap="square" lIns="36576" tIns="18288" rIns="36576" bIns="18288" anchor="b"/>
          <a:lstStyle/>
          <a:p>
            <a:pPr algn="l">
              <a:lnSpc>
                <a:spcPct val="100000"/>
              </a:lnSpc>
              <a:buNone/>
            </a:pPr>
            <a:r>
              <a:rPr lang="zh-CN" altLang="en-US" sz="1200" b="0">
                <a:solidFill>
                  <a:srgbClr val="595959"/>
                </a:solidFill>
                <a:latin typeface="微软雅黑"/>
                <a:ea typeface="微软雅黑"/>
              </a:rPr>
              <a:t>图：按 2024 版第 4-1 讲第 7 页（4+1 视图建模）重画；物理视图标红</a:t>
            </a:r>
            <a:endParaRPr lang="zh-CN" sz="1200">
              <a:latin typeface="微软雅黑"/>
              <a:ea typeface="微软雅黑"/>
            </a:endParaRPr>
          </a:p>
        </p:txBody>
      </p:sp>
      <p:sp>
        <p:nvSpPr>
          <p:cNvPr id="120"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运行环境与体系结构</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mall 应用分别连接所需中间件</a:t>
            </a:r>
          </a:p>
        </p:txBody>
      </p:sp>
      <p:sp>
        <p:nvSpPr>
          <p:cNvPr id="3" name="body"/>
          <p:cNvSpPr txBox="1"/>
          <p:nvPr/>
        </p:nvSpPr>
        <p:spPr>
          <a:xfrm>
            <a:off x="411480" y="1481328"/>
            <a:ext cx="8321040" cy="713232"/>
          </a:xfrm>
          <a:prstGeom prst="rect">
            <a:avLst/>
          </a:prstGeom>
          <a:noFill/>
        </p:spPr>
        <p:txBody>
          <a:bodyPr wrap="square" lIns="54864" tIns="18288" rIns="54864" bIns="18288"/>
          <a:lstStyle/>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200" b="0">
                <a:latin typeface="微软雅黑"/>
                <a:ea typeface="微软雅黑"/>
                <a:cs typeface="微软雅黑"/>
              </a:rPr>
              <a:t>整图缩略，用来和下一页的 mall-swarm 对照</a:t>
            </a:r>
          </a:p>
        </p:txBody>
      </p:sp>
      <p:pic>
        <p:nvPicPr>
          <p:cNvPr id="4" name="pic#mall#full#baseline-dcaa93b3#document/resource/re_mall_system_arch.jpg" descr="re_mall_system_arch.jpg"/>
          <p:cNvPicPr>
            <a:picLocks noChangeAspect="1"/>
          </p:cNvPicPr>
          <p:nvPr/>
        </p:nvPicPr>
        <p:blipFill>
          <a:blip r:embed="rId3"/>
          <a:stretch>
            <a:fillRect/>
          </a:stretch>
        </p:blipFill>
        <p:spPr>
          <a:xfrm>
            <a:off x="1742662" y="1886713"/>
            <a:ext cx="5658675" cy="3215639"/>
          </a:xfrm>
          <a:prstGeom prst="rect">
            <a:avLst/>
          </a:prstGeom>
          <a:ln w="9525">
            <a:solidFill>
              <a:srgbClr val="D9D9D9"/>
            </a:solidFill>
          </a:ln>
        </p:spPr>
      </p:pic>
      <p:sp>
        <p:nvSpPr>
          <p:cNvPr id="5" name="ann"/>
          <p:cNvSpPr/>
          <p:nvPr/>
        </p:nvSpPr>
        <p:spPr>
          <a:xfrm>
            <a:off x="365760" y="5157216"/>
            <a:ext cx="2731007"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dirty="0">
                <a:latin typeface="微软雅黑"/>
                <a:ea typeface="微软雅黑"/>
                <a:cs typeface="微软雅黑"/>
              </a:rPr>
              <a:t>应用</a:t>
            </a:r>
          </a:p>
        </p:txBody>
      </p:sp>
      <p:sp>
        <p:nvSpPr>
          <p:cNvPr id="6" name="ann"/>
          <p:cNvSpPr/>
          <p:nvPr/>
        </p:nvSpPr>
        <p:spPr>
          <a:xfrm>
            <a:off x="3206495" y="5157216"/>
            <a:ext cx="2731007"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a:latin typeface="微软雅黑"/>
                <a:ea typeface="微软雅黑"/>
                <a:cs typeface="微软雅黑"/>
              </a:rPr>
              <a:t>消息与数据库</a:t>
            </a:r>
          </a:p>
        </p:txBody>
      </p:sp>
      <p:sp>
        <p:nvSpPr>
          <p:cNvPr id="7" name="ann"/>
          <p:cNvSpPr/>
          <p:nvPr/>
        </p:nvSpPr>
        <p:spPr>
          <a:xfrm>
            <a:off x="6047232" y="5157216"/>
            <a:ext cx="2731007"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a:latin typeface="微软雅黑"/>
                <a:ea typeface="微软雅黑"/>
                <a:cs typeface="微软雅黑"/>
              </a:rPr>
              <a:t>前端与其余存储</a:t>
            </a:r>
          </a:p>
        </p:txBody>
      </p:sp>
      <p:sp>
        <p:nvSpPr>
          <p:cNvPr id="8" name="fn"/>
          <p:cNvSpPr txBox="1"/>
          <p:nvPr/>
        </p:nvSpPr>
        <p:spPr>
          <a:xfrm>
            <a:off x="411480" y="5614416"/>
            <a:ext cx="8321040" cy="292608"/>
          </a:xfrm>
          <a:prstGeom prst="rect">
            <a:avLst/>
          </a:prstGeom>
          <a:noFill/>
        </p:spPr>
        <p:txBody>
          <a:bodyPr wrap="square" lIns="54864" tIns="18288" rIns="54864" bIns="18288"/>
          <a:lstStyle/>
          <a:p>
            <a:pPr algn="l" eaLnBrk="1" hangingPunct="1">
              <a:lnSpc>
                <a:spcPct val="100000"/>
              </a:lnSpc>
              <a:spcBef>
                <a:spcPts val="200"/>
              </a:spcBef>
              <a:spcAft>
                <a:spcPts val="200"/>
              </a:spcAft>
            </a:pPr>
            <a:r>
              <a:rPr lang="zh-CN" altLang="en-US" sz="1200" b="0">
                <a:latin typeface="微软雅黑"/>
                <a:ea typeface="微软雅黑"/>
                <a:cs typeface="微软雅黑"/>
              </a:rPr>
              <a:t>整图。图片来源：macrozheng/​mall，Apache-2.0</a:t>
            </a:r>
          </a:p>
        </p:txBody>
      </p:sp>
      <p:sp>
        <p:nvSpPr>
          <p:cNvPr id="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运行环境与体系结构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mall-swarm 增加网关与注册配置中心</a:t>
            </a:r>
          </a:p>
        </p:txBody>
      </p:sp>
      <p:pic>
        <p:nvPicPr>
          <p:cNvPr id="4" name="pic#swarm#full#04c442fe318356bae4445a109dde7af297ce1e84#document/resource/mall_micro_service_arch.jpg" descr="mall_micro_service_arch.jpg"/>
          <p:cNvPicPr>
            <a:picLocks noChangeAspect="1"/>
          </p:cNvPicPr>
          <p:nvPr/>
        </p:nvPicPr>
        <p:blipFill>
          <a:blip r:embed="rId3"/>
          <a:stretch>
            <a:fillRect/>
          </a:stretch>
        </p:blipFill>
        <p:spPr>
          <a:xfrm>
            <a:off x="2016700" y="1325880"/>
            <a:ext cx="5110600" cy="3749039"/>
          </a:xfrm>
          <a:prstGeom prst="rect">
            <a:avLst/>
          </a:prstGeom>
          <a:ln w="9525">
            <a:solidFill>
              <a:srgbClr val="D9D9D9"/>
            </a:solidFill>
          </a:ln>
        </p:spPr>
      </p:pic>
      <p:sp>
        <p:nvSpPr>
          <p:cNvPr id="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运行环境与体系结构</a:t>
            </a:r>
          </a:p>
        </p:txBody>
      </p:sp>
      <p:sp>
        <p:nvSpPr>
          <p:cNvPr id="8" name="fn"/>
          <p:cNvSpPr txBox="1"/>
          <p:nvPr/>
        </p:nvSpPr>
        <p:spPr>
          <a:xfrm>
            <a:off x="411480" y="5614416"/>
            <a:ext cx="8321040" cy="292608"/>
          </a:xfrm>
          <a:prstGeom prst="rect">
            <a:avLst/>
          </a:prstGeom>
          <a:noFill/>
        </p:spPr>
        <p:txBody>
          <a:bodyPr wrap="square" lIns="54864" tIns="18288" rIns="54864" bIns="18288"/>
          <a:lstStyle/>
          <a:p>
            <a:pPr algn="l" eaLnBrk="1" hangingPunct="1">
              <a:lnSpc>
                <a:spcPct val="100000"/>
              </a:lnSpc>
              <a:spcBef>
                <a:spcPts val="200"/>
              </a:spcBef>
              <a:spcAft>
                <a:spcPts val="200"/>
              </a:spcAft>
            </a:pPr>
            <a:r>
              <a:rPr lang="zh-CN" altLang="en-US" sz="1200" b="0">
                <a:latin typeface="微软雅黑"/>
                <a:ea typeface="微软雅黑"/>
                <a:cs typeface="微软雅黑"/>
              </a:rPr>
              <a:t>整图。图片来源：macrozheng/mall-swarm，mall_micro_service_arch.jpg，04c442fe，Apache-2.0</a:t>
            </a:r>
          </a:p>
        </p:txBody>
      </p:sp>
      <p:sp>
        <p:nvSpPr>
          <p:cNvPr id="5" name="ann"/>
          <p:cNvSpPr/>
          <p:nvPr/>
        </p:nvSpPr>
        <p:spPr>
          <a:xfrm>
            <a:off x="365760" y="5157216"/>
            <a:ext cx="2731007"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dirty="0">
                <a:latin typeface="微软雅黑"/>
                <a:ea typeface="微软雅黑"/>
                <a:cs typeface="微软雅黑"/>
              </a:rPr>
              <a:t>注册与配置在上方</a:t>
            </a:r>
          </a:p>
        </p:txBody>
      </p:sp>
      <p:sp>
        <p:nvSpPr>
          <p:cNvPr id="6" name="ann"/>
          <p:cNvSpPr/>
          <p:nvPr/>
        </p:nvSpPr>
        <p:spPr>
          <a:xfrm>
            <a:off x="3206495" y="5157216"/>
            <a:ext cx="2731007"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a:latin typeface="微软雅黑"/>
                <a:ea typeface="微软雅黑"/>
                <a:cs typeface="微软雅黑"/>
              </a:rPr>
              <a:t>网关在左侧</a:t>
            </a:r>
          </a:p>
        </p:txBody>
      </p:sp>
      <p:sp>
        <p:nvSpPr>
          <p:cNvPr id="7" name="ann"/>
          <p:cNvSpPr/>
          <p:nvPr/>
        </p:nvSpPr>
        <p:spPr>
          <a:xfrm>
            <a:off x="6047232" y="5157216"/>
            <a:ext cx="2731007"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a:latin typeface="微软雅黑"/>
                <a:ea typeface="微软雅黑"/>
                <a:cs typeface="微软雅黑"/>
              </a:rPr>
              <a:t>数据存储在底部</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放大看注册配置、网关与数据存储</a:t>
            </a:r>
          </a:p>
        </p:txBody>
      </p:sp>
      <p:pic>
        <p:nvPicPr>
          <p:cNvPr id="3" name="pic#swarm#crop#04c442fe318356bae4445a109dde7af297ce1e84#document/resource/mall_micro_service_arch.jpg#swarm-local.png" descr="swarm-local.png"/>
          <p:cNvPicPr>
            <a:picLocks noChangeAspect="1"/>
          </p:cNvPicPr>
          <p:nvPr/>
        </p:nvPicPr>
        <p:blipFill>
          <a:blip r:embed="rId3"/>
          <a:srcRect l="14104" r="8961"/>
          <a:stretch>
            <a:fillRect/>
          </a:stretch>
        </p:blipFill>
        <p:spPr>
          <a:xfrm>
            <a:off x="1" y="1610868"/>
            <a:ext cx="9144000" cy="1953768"/>
          </a:xfrm>
          <a:prstGeom prst="rect">
            <a:avLst/>
          </a:prstGeom>
          <a:ln w="9525">
            <a:solidFill>
              <a:srgbClr val="D9D9D9"/>
            </a:solidFill>
          </a:ln>
        </p:spPr>
      </p:pic>
      <p:sp>
        <p:nvSpPr>
          <p:cNvPr id="4" name="ann"/>
          <p:cNvSpPr/>
          <p:nvPr/>
        </p:nvSpPr>
        <p:spPr>
          <a:xfrm>
            <a:off x="365760" y="3913632"/>
            <a:ext cx="4468922"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a:latin typeface="微软雅黑"/>
                <a:ea typeface="微软雅黑"/>
                <a:cs typeface="微软雅黑"/>
              </a:rPr>
              <a:t>注册与配置</a:t>
            </a:r>
          </a:p>
        </p:txBody>
      </p:sp>
      <p:sp>
        <p:nvSpPr>
          <p:cNvPr id="5" name="ann"/>
          <p:cNvSpPr/>
          <p:nvPr/>
        </p:nvSpPr>
        <p:spPr>
          <a:xfrm>
            <a:off x="5238773" y="3913632"/>
            <a:ext cx="910335"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a:latin typeface="微软雅黑"/>
                <a:ea typeface="微软雅黑"/>
                <a:cs typeface="微软雅黑"/>
              </a:rPr>
              <a:t>网关</a:t>
            </a:r>
          </a:p>
        </p:txBody>
      </p:sp>
      <p:sp>
        <p:nvSpPr>
          <p:cNvPr id="6" name="ann"/>
          <p:cNvSpPr/>
          <p:nvPr/>
        </p:nvSpPr>
        <p:spPr>
          <a:xfrm>
            <a:off x="6553200" y="3913632"/>
            <a:ext cx="2225039" cy="402336"/>
          </a:xfrm>
          <a:prstGeom prst="roundRect">
            <a:avLst/>
          </a:prstGeom>
          <a:solidFill>
            <a:srgbClr val="F6E8E6"/>
          </a:solidFill>
          <a:ln>
            <a:solidFill>
              <a:srgbClr val="A33B38"/>
            </a:solidFill>
          </a:ln>
        </p:spPr>
        <p:txBody>
          <a:bodyPr wrap="square" lIns="36576" tIns="18288" rIns="36576" bIns="18288" rtlCol="0" anchor="ctr"/>
          <a:lstStyle/>
          <a:p>
            <a:pPr algn="ctr" eaLnBrk="1" hangingPunct="1">
              <a:lnSpc>
                <a:spcPct val="100000"/>
              </a:lnSpc>
              <a:spcBef>
                <a:spcPts val="0"/>
              </a:spcBef>
              <a:spcAft>
                <a:spcPts val="200"/>
              </a:spcAft>
              <a:buNone/>
            </a:pPr>
            <a:r>
              <a:rPr lang="zh-CN" altLang="en-US" sz="2200" b="0">
                <a:latin typeface="微软雅黑"/>
                <a:ea typeface="微软雅黑"/>
                <a:cs typeface="微软雅黑"/>
              </a:rPr>
              <a:t>数据存储</a:t>
            </a:r>
          </a:p>
        </p:txBody>
      </p:sp>
      <p:sp>
        <p:nvSpPr>
          <p:cNvPr id="7" name="body"/>
          <p:cNvSpPr txBox="1"/>
          <p:nvPr/>
        </p:nvSpPr>
        <p:spPr>
          <a:xfrm>
            <a:off x="365760" y="4352544"/>
            <a:ext cx="8412480" cy="1207007"/>
          </a:xfrm>
          <a:prstGeom prst="rect">
            <a:avLst/>
          </a:prstGeom>
          <a:noFill/>
        </p:spPr>
        <p:txBody>
          <a:bodyPr wrap="square" lIns="54864" tIns="18288" rIns="54864" bIns="18288"/>
          <a:lstStyle/>
          <a:p>
            <a:pPr marL="292608" indent="-292608" algn="l" eaLnBrk="1" hangingPunct="1">
              <a:lnSpc>
                <a:spcPct val="100000"/>
              </a:lnSpc>
              <a:spcBef>
                <a:spcPts val="200"/>
              </a:spcBef>
              <a:spcAft>
                <a:spcPts val="200"/>
              </a:spcAft>
              <a:buClr>
                <a:schemeClr val="accent2"/>
              </a:buClr>
              <a:buSzPct val="80000"/>
              <a:buFont typeface="Wingdings" pitchFamily="2" charset="2"/>
              <a:buChar char="n"/>
            </a:pPr>
            <a:r>
              <a:rPr lang="zh-CN" altLang="en-US" sz="2200" b="0">
                <a:latin typeface="微软雅黑"/>
                <a:ea typeface="微软雅黑"/>
                <a:cs typeface="微软雅黑"/>
              </a:rPr>
              <a:t>左起注册与配置，中间是网关</a:t>
            </a:r>
          </a:p>
          <a:p>
            <a:pPr marL="292608" indent="-292608" algn="l" eaLnBrk="1" hangingPunct="1">
              <a:lnSpc>
                <a:spcPct val="100000"/>
              </a:lnSpc>
              <a:spcBef>
                <a:spcPts val="200"/>
              </a:spcBef>
              <a:spcAft>
                <a:spcPts val="200"/>
              </a:spcAft>
              <a:buClr>
                <a:schemeClr val="accent2"/>
              </a:buClr>
              <a:buSzPct val="80000"/>
              <a:buFont typeface="Wingdings" pitchFamily="2" charset="2"/>
              <a:buChar char="n"/>
            </a:pPr>
            <a:r>
              <a:rPr lang="zh-CN" altLang="en-US" sz="2200" b="0">
                <a:latin typeface="微软雅黑"/>
                <a:ea typeface="微软雅黑"/>
                <a:cs typeface="微软雅黑"/>
              </a:rPr>
              <a:t>右侧数据存储含 MySQL、Redis、MongoDB、Elasticsearch</a:t>
            </a:r>
          </a:p>
        </p:txBody>
      </p:sp>
      <p:sp>
        <p:nvSpPr>
          <p:cNvPr id="8" name="fn"/>
          <p:cNvSpPr txBox="1"/>
          <p:nvPr/>
        </p:nvSpPr>
        <p:spPr>
          <a:xfrm>
            <a:off x="411480" y="5614416"/>
            <a:ext cx="8321040" cy="292608"/>
          </a:xfrm>
          <a:prstGeom prst="rect">
            <a:avLst/>
          </a:prstGeom>
          <a:noFill/>
        </p:spPr>
        <p:txBody>
          <a:bodyPr wrap="square" lIns="54864" tIns="18288" rIns="54864" bIns="18288"/>
          <a:lstStyle/>
          <a:p>
            <a:pPr algn="l" eaLnBrk="1" hangingPunct="1">
              <a:lnSpc>
                <a:spcPct val="100000"/>
              </a:lnSpc>
              <a:spcBef>
                <a:spcPts val="200"/>
              </a:spcBef>
              <a:spcAft>
                <a:spcPts val="200"/>
              </a:spcAft>
            </a:pPr>
            <a:r>
              <a:rPr lang="zh-CN" altLang="en-US" sz="1200" b="0">
                <a:latin typeface="微软雅黑"/>
                <a:ea typeface="微软雅黑"/>
                <a:cs typeface="微软雅黑"/>
              </a:rPr>
              <a:t>局部。图片来源：macrozheng/​mall-swarm，mall_micro_service_arch.jpg，04c442fe，Apache-2.0</a:t>
            </a:r>
          </a:p>
        </p:txBody>
      </p:sp>
      <p:sp>
        <p:nvSpPr>
          <p:cNvPr id="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运行环境与体系结构</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每个拆分都有代价</a:t>
            </a:r>
          </a:p>
        </p:txBody>
      </p:sp>
      <p:graphicFrame>
        <p:nvGraphicFramePr>
          <p:cNvPr id="3" name="table"/>
          <p:cNvGraphicFramePr>
            <a:graphicFrameLocks noGrp="1"/>
          </p:cNvGraphicFramePr>
          <p:nvPr/>
        </p:nvGraphicFramePr>
        <p:xfrm>
          <a:off x="368300" y="1485900"/>
          <a:ext cx="8407400" cy="3702482"/>
        </p:xfrm>
        <a:graphic>
          <a:graphicData uri="http://schemas.openxmlformats.org/drawingml/2006/table">
            <a:tbl>
              <a:tblPr>
                <a:tableStyleId>{2D5ABB26-0587-4C30-8999-92F81FD0307C}</a:tableStyleId>
              </a:tblPr>
              <a:tblGrid>
                <a:gridCol w="2540000">
                  <a:extLst>
                    <a:ext uri="{9D8B030D-6E8A-4147-A177-3AD203B41FA5}">
                      <a16:colId xmlns:a16="http://schemas.microsoft.com/office/drawing/2014/main" val="20000"/>
                    </a:ext>
                  </a:extLst>
                </a:gridCol>
                <a:gridCol w="2984500">
                  <a:extLst>
                    <a:ext uri="{9D8B030D-6E8A-4147-A177-3AD203B41FA5}">
                      <a16:colId xmlns:a16="http://schemas.microsoft.com/office/drawing/2014/main" val="20001"/>
                    </a:ext>
                  </a:extLst>
                </a:gridCol>
                <a:gridCol w="2882900">
                  <a:extLst>
                    <a:ext uri="{9D8B030D-6E8A-4147-A177-3AD203B41FA5}">
                      <a16:colId xmlns:a16="http://schemas.microsoft.com/office/drawing/2014/main" val="20002"/>
                    </a:ext>
                  </a:extLst>
                </a:gridCol>
              </a:tblGrid>
              <a:tr h="495268">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组件</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解决什么问题</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代价</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62484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网关 mall-gateway</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统一对外入口与</a:t>
                      </a:r>
                      <a:br>
                        <a:rPr lang="zh-CN" sz="2000">
                          <a:solidFill>
                            <a:srgbClr val="262626"/>
                          </a:solidFill>
                          <a:latin typeface="微软雅黑"/>
                          <a:ea typeface="微软雅黑"/>
                        </a:rPr>
                      </a:br>
                      <a:r>
                        <a:rPr lang="zh-CN" altLang="en-US" sz="2000" b="0">
                          <a:solidFill>
                            <a:srgbClr val="262626"/>
                          </a:solidFill>
                          <a:latin typeface="微软雅黑"/>
                          <a:ea typeface="微软雅黑"/>
                          <a:cs typeface="微软雅黑"/>
                        </a:rPr>
                        <a:t>访问控制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多一跳；成为必经节点</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62484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认证 mall-auth</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登录与令牌发放集中在一个服务</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各服务依赖它</a:t>
                      </a:r>
                      <a:br>
                        <a:rPr lang="zh-CN" sz="2000">
                          <a:solidFill>
                            <a:srgbClr val="262626"/>
                          </a:solidFill>
                          <a:latin typeface="微软雅黑"/>
                          <a:ea typeface="微软雅黑"/>
                        </a:rPr>
                      </a:br>
                      <a:endParaRPr lang="zh-CN" sz="2000">
                        <a:solidFill>
                          <a:srgbClr val="262626"/>
                        </a:solidFill>
                        <a:latin typeface="微软雅黑"/>
                        <a:ea typeface="微软雅黑"/>
                      </a:endParaRP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10160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注册与配置中心（Nacos）</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服务地址按名称发现，配置集中管理</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增加中间件</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服务端不可用时，</a:t>
                      </a:r>
                      <a:br>
                        <a:rPr lang="zh-CN" altLang="en-US" sz="2000" b="0">
                          <a:solidFill>
                            <a:srgbClr val="262626"/>
                          </a:solidFill>
                          <a:latin typeface="微软雅黑"/>
                          <a:ea typeface="微软雅黑"/>
                          <a:cs typeface="微软雅黑"/>
                        </a:rPr>
                      </a:br>
                      <a:r>
                        <a:rPr lang="zh-CN" altLang="en-US" sz="2000" b="0">
                          <a:solidFill>
                            <a:srgbClr val="262626"/>
                          </a:solidFill>
                          <a:latin typeface="微软雅黑"/>
                          <a:ea typeface="微软雅黑"/>
                          <a:cs typeface="微软雅黑"/>
                        </a:rPr>
                        <a:t>客户端用本地缓存</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62484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服务拆分</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独立伸缩，独立发布</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网络失败点，一致性与</a:t>
                      </a:r>
                      <a:br>
                        <a:rPr lang="zh-CN" sz="2000">
                          <a:solidFill>
                            <a:srgbClr val="262626"/>
                          </a:solidFill>
                          <a:latin typeface="微软雅黑"/>
                          <a:ea typeface="微软雅黑"/>
                        </a:rPr>
                      </a:br>
                      <a:r>
                        <a:rPr lang="zh-CN" altLang="en-US" sz="2000" b="0">
                          <a:solidFill>
                            <a:srgbClr val="262626"/>
                          </a:solidFill>
                          <a:latin typeface="微软雅黑"/>
                          <a:ea typeface="微软雅黑"/>
                          <a:cs typeface="微软雅黑"/>
                        </a:rPr>
                        <a:t>运维更复杂</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fig"/>
          <p:cNvSpPr/>
          <p:nvPr/>
        </p:nvSpPr>
        <p:spPr>
          <a:xfrm>
            <a:off x="368300" y="4919472"/>
            <a:ext cx="8407400" cy="1024128"/>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mall：无独立网关，认证在 mall-security 内；</a:t>
            </a:r>
          </a:p>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admin、portal、search 未再拆分服务</a:t>
            </a:r>
          </a:p>
          <a:p>
            <a:pPr algn="l"/>
            <a:r>
              <a:rPr lang="zh-CN" sz="2000" b="1">
                <a:solidFill>
                  <a:srgbClr val="A33B38"/>
                </a:solidFill>
                <a:latin typeface="Calibri"/>
                <a:ea typeface="微软雅黑"/>
              </a:rPr>
              <a:t>两套代码是同一业务域的两种实现形态，不是同一版本迁移前后</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运行环境与体系结构</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组件数量与设计水平无关，形态由需求决定</a:t>
            </a:r>
          </a:p>
        </p:txBody>
      </p:sp>
      <p:sp>
        <p:nvSpPr>
          <p:cNvPr id="101" name="fig"/>
          <p:cNvSpPr/>
          <p:nvPr/>
        </p:nvSpPr>
        <p:spPr>
          <a:xfrm>
            <a:off x="411480" y="1536192"/>
            <a:ext cx="8321040" cy="822960"/>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2400" b="1">
                <a:solidFill>
                  <a:srgbClr val="FFFFFF"/>
                </a:solidFill>
                <a:latin typeface="微软雅黑"/>
                <a:ea typeface="微软雅黑"/>
              </a:rPr>
              <a:t>组件多不等于设计好，组件少也不等于设计差</a:t>
            </a:r>
            <a:endParaRPr lang="zh-CN" sz="2400">
              <a:latin typeface="微软雅黑"/>
              <a:ea typeface="微软雅黑"/>
            </a:endParaRPr>
          </a:p>
        </p:txBody>
      </p:sp>
      <p:sp>
        <p:nvSpPr>
          <p:cNvPr id="102" name="fig-d"/>
          <p:cNvSpPr/>
          <p:nvPr/>
        </p:nvSpPr>
        <p:spPr>
          <a:xfrm>
            <a:off x="411480" y="2578608"/>
            <a:ext cx="109728" cy="676656"/>
          </a:xfrm>
          <a:prstGeom prst="rect">
            <a:avLst/>
          </a:prstGeom>
          <a:solidFill>
            <a:srgbClr val="A33B38"/>
          </a:solidFill>
          <a:ln w="12700">
            <a:solidFill>
              <a:srgbClr val="A33B38"/>
            </a:solidFill>
          </a:ln>
        </p:spPr>
        <p:txBody>
          <a:bodyPr wrap="square" lIns="73152" tIns="36576" rIns="73152" bIns="36576" anchor="ctr"/>
          <a:lstStyle/>
          <a:p>
            <a:endParaRPr lang="zh-CN">
              <a:latin typeface="微软雅黑"/>
              <a:ea typeface="微软雅黑"/>
            </a:endParaRPr>
          </a:p>
        </p:txBody>
      </p:sp>
      <p:sp>
        <p:nvSpPr>
          <p:cNvPr id="103" name="fig"/>
          <p:cNvSpPr/>
          <p:nvPr/>
        </p:nvSpPr>
        <p:spPr>
          <a:xfrm>
            <a:off x="594360" y="2578608"/>
            <a:ext cx="8138160" cy="676656"/>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判据是需求：是否需要独立伸缩、独立发布与团队并行</a:t>
            </a:r>
            <a:endParaRPr lang="zh-CN" sz="2000">
              <a:latin typeface="微软雅黑"/>
              <a:ea typeface="微软雅黑"/>
            </a:endParaRPr>
          </a:p>
        </p:txBody>
      </p:sp>
      <p:sp>
        <p:nvSpPr>
          <p:cNvPr id="104" name="fig-d"/>
          <p:cNvSpPr/>
          <p:nvPr/>
        </p:nvSpPr>
        <p:spPr>
          <a:xfrm>
            <a:off x="411480" y="3364992"/>
            <a:ext cx="109728" cy="676656"/>
          </a:xfrm>
          <a:prstGeom prst="rect">
            <a:avLst/>
          </a:prstGeom>
          <a:solidFill>
            <a:srgbClr val="A33B38"/>
          </a:solidFill>
          <a:ln w="12700">
            <a:solidFill>
              <a:srgbClr val="A33B38"/>
            </a:solidFill>
          </a:ln>
        </p:spPr>
        <p:txBody>
          <a:bodyPr wrap="square" lIns="73152" tIns="36576" rIns="73152" bIns="36576" anchor="ctr"/>
          <a:lstStyle/>
          <a:p>
            <a:endParaRPr lang="zh-CN">
              <a:latin typeface="微软雅黑"/>
              <a:ea typeface="微软雅黑"/>
            </a:endParaRPr>
          </a:p>
        </p:txBody>
      </p:sp>
      <p:sp>
        <p:nvSpPr>
          <p:cNvPr id="105" name="fig"/>
          <p:cNvSpPr/>
          <p:nvPr/>
        </p:nvSpPr>
        <p:spPr>
          <a:xfrm>
            <a:off x="594360" y="3364992"/>
            <a:ext cx="8138160" cy="676656"/>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比较 mall 与 mall-swarm 时，应核对需求、部署边界与运行成本</a:t>
            </a:r>
            <a:endParaRPr lang="zh-CN" sz="2000">
              <a:latin typeface="微软雅黑"/>
              <a:ea typeface="微软雅黑"/>
            </a:endParaRPr>
          </a:p>
        </p:txBody>
      </p:sp>
      <p:sp>
        <p:nvSpPr>
          <p:cNvPr id="106" name="fig-d"/>
          <p:cNvSpPr/>
          <p:nvPr/>
        </p:nvSpPr>
        <p:spPr>
          <a:xfrm>
            <a:off x="411480" y="4151376"/>
            <a:ext cx="109728" cy="676656"/>
          </a:xfrm>
          <a:prstGeom prst="rect">
            <a:avLst/>
          </a:prstGeom>
          <a:solidFill>
            <a:srgbClr val="A33B38"/>
          </a:solidFill>
          <a:ln w="12700">
            <a:solidFill>
              <a:srgbClr val="A33B38"/>
            </a:solidFill>
          </a:ln>
        </p:spPr>
        <p:txBody>
          <a:bodyPr wrap="square" lIns="73152" tIns="36576" rIns="73152" bIns="36576" anchor="ctr"/>
          <a:lstStyle/>
          <a:p>
            <a:endParaRPr lang="zh-CN">
              <a:latin typeface="微软雅黑"/>
              <a:ea typeface="微软雅黑"/>
            </a:endParaRPr>
          </a:p>
        </p:txBody>
      </p:sp>
      <p:sp>
        <p:nvSpPr>
          <p:cNvPr id="107" name="fig"/>
          <p:cNvSpPr/>
          <p:nvPr/>
        </p:nvSpPr>
        <p:spPr>
          <a:xfrm>
            <a:off x="594360" y="4151376"/>
            <a:ext cx="8138160" cy="676656"/>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mall 在当前规模下不拆分服务，是合理选择</a:t>
            </a:r>
            <a:endParaRPr lang="zh-CN" sz="2000">
              <a:latin typeface="微软雅黑"/>
              <a:ea typeface="微软雅黑"/>
            </a:endParaRPr>
          </a:p>
        </p:txBody>
      </p:sp>
      <p:sp>
        <p:nvSpPr>
          <p:cNvPr id="108" name="fig"/>
          <p:cNvSpPr/>
          <p:nvPr/>
        </p:nvSpPr>
        <p:spPr>
          <a:xfrm>
            <a:off x="411480" y="5074920"/>
            <a:ext cx="8321040" cy="658368"/>
          </a:xfrm>
          <a:prstGeom prst="rect">
            <a:avLst/>
          </a:prstGeom>
          <a:solidFill>
            <a:srgbClr val="FFFFFF"/>
          </a:solidFill>
          <a:ln w="28575">
            <a:solidFill>
              <a:srgbClr val="A33B38"/>
            </a:solidFill>
          </a:ln>
        </p:spPr>
        <p:txBody>
          <a:bodyPr wrap="square" lIns="73152" tIns="36576" rIns="73152" bIns="36576" anchor="ctr"/>
          <a:lstStyle/>
          <a:p>
            <a:pPr algn="ctr">
              <a:lnSpc>
                <a:spcPct val="100000"/>
              </a:lnSpc>
              <a:buNone/>
            </a:pPr>
            <a:r>
              <a:rPr lang="zh-CN" altLang="en-US" sz="2000" b="1">
                <a:solidFill>
                  <a:srgbClr val="A33B38"/>
                </a:solidFill>
                <a:latin typeface="微软雅黑"/>
                <a:ea typeface="微软雅黑"/>
              </a:rPr>
              <a:t>需求不足时，拆分的代价只是负担</a:t>
            </a:r>
            <a:endParaRPr lang="zh-CN" sz="2000">
              <a:latin typeface="微软雅黑"/>
              <a:ea typeface="微软雅黑"/>
            </a:endParaRPr>
          </a:p>
        </p:txBody>
      </p:sp>
      <p:sp>
        <p:nvSpPr>
          <p:cNvPr id="10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运行环境与体系结构</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讨论部署形态改变后哪张视图变化最大</a:t>
            </a:r>
          </a:p>
        </p:txBody>
      </p:sp>
      <p:sp>
        <p:nvSpPr>
          <p:cNvPr id="101" name="fig-d"/>
          <p:cNvSpPr/>
          <p:nvPr/>
        </p:nvSpPr>
        <p:spPr>
          <a:xfrm>
            <a:off x="685800" y="1874520"/>
            <a:ext cx="109728" cy="1828800"/>
          </a:xfrm>
          <a:prstGeom prst="rect">
            <a:avLst/>
          </a:prstGeom>
          <a:solidFill>
            <a:srgbClr val="A33B38"/>
          </a:solidFill>
          <a:ln w="12700">
            <a:solidFill>
              <a:srgbClr val="A33B38"/>
            </a:solidFill>
          </a:ln>
        </p:spPr>
        <p:txBody>
          <a:bodyPr wrap="square" lIns="73152" tIns="36576" rIns="73152" bIns="36576" anchor="ctr"/>
          <a:lstStyle/>
          <a:p>
            <a:endParaRPr lang="zh-CN">
              <a:latin typeface="微软雅黑"/>
              <a:ea typeface="微软雅黑"/>
            </a:endParaRPr>
          </a:p>
        </p:txBody>
      </p:sp>
      <p:sp>
        <p:nvSpPr>
          <p:cNvPr id="102" name="fig-d"/>
          <p:cNvSpPr/>
          <p:nvPr/>
        </p:nvSpPr>
        <p:spPr>
          <a:xfrm>
            <a:off x="960120" y="1417320"/>
            <a:ext cx="914400" cy="914400"/>
          </a:xfrm>
          <a:prstGeom prst="rect">
            <a:avLst/>
          </a:prstGeom>
          <a:noFill/>
          <a:ln>
            <a:noFill/>
          </a:ln>
        </p:spPr>
        <p:txBody>
          <a:bodyPr wrap="square" lIns="0" tIns="0" rIns="0" bIns="0" anchor="t"/>
          <a:lstStyle/>
          <a:p>
            <a:pPr algn="l">
              <a:lnSpc>
                <a:spcPct val="100000"/>
              </a:lnSpc>
              <a:buNone/>
            </a:pPr>
            <a:r>
              <a:rPr lang="zh-CN" altLang="en-US" sz="6000" b="1">
                <a:solidFill>
                  <a:srgbClr val="A33B38"/>
                </a:solidFill>
                <a:latin typeface="微软雅黑"/>
                <a:ea typeface="微软雅黑"/>
              </a:rPr>
              <a:t>“</a:t>
            </a:r>
            <a:endParaRPr lang="zh-CN" sz="6000">
              <a:latin typeface="微软雅黑"/>
              <a:ea typeface="微软雅黑"/>
            </a:endParaRPr>
          </a:p>
        </p:txBody>
      </p:sp>
      <p:sp>
        <p:nvSpPr>
          <p:cNvPr id="103" name="fig"/>
          <p:cNvSpPr/>
          <p:nvPr/>
        </p:nvSpPr>
        <p:spPr>
          <a:xfrm>
            <a:off x="1097280" y="2011680"/>
            <a:ext cx="7635240" cy="1691640"/>
          </a:xfrm>
          <a:prstGeom prst="rect">
            <a:avLst/>
          </a:prstGeom>
          <a:noFill/>
          <a:ln>
            <a:noFill/>
          </a:ln>
        </p:spPr>
        <p:txBody>
          <a:bodyPr wrap="square" lIns="73152" tIns="36576" rIns="73152" bIns="36576" anchor="ctr"/>
          <a:lstStyle/>
          <a:p>
            <a:pPr algn="l">
              <a:lnSpc>
                <a:spcPct val="100000"/>
              </a:lnSpc>
              <a:buNone/>
            </a:pPr>
            <a:r>
              <a:rPr lang="zh-CN" altLang="en-US" sz="2400" b="1">
                <a:solidFill>
                  <a:srgbClr val="262626"/>
                </a:solidFill>
                <a:latin typeface="微软雅黑"/>
                <a:ea typeface="微软雅黑"/>
              </a:rPr>
              <a:t>同一套代码从单体部署改到微服务部署，</a:t>
            </a:r>
            <a:br>
              <a:rPr lang="zh-CN" sz="2400">
                <a:latin typeface="微软雅黑"/>
                <a:ea typeface="微软雅黑"/>
              </a:rPr>
            </a:br>
            <a:r>
              <a:rPr lang="zh-CN" altLang="en-US" sz="2400" b="1">
                <a:solidFill>
                  <a:srgbClr val="262626"/>
                </a:solidFill>
                <a:latin typeface="微软雅黑"/>
                <a:ea typeface="微软雅黑"/>
              </a:rPr>
              <a:t>哪个视图变化最大？</a:t>
            </a:r>
            <a:endParaRPr lang="zh-CN" sz="2400">
              <a:latin typeface="微软雅黑"/>
              <a:ea typeface="微软雅黑"/>
            </a:endParaRPr>
          </a:p>
        </p:txBody>
      </p:sp>
      <p:sp>
        <p:nvSpPr>
          <p:cNvPr id="104" name="fig"/>
          <p:cNvSpPr/>
          <p:nvPr/>
        </p:nvSpPr>
        <p:spPr>
          <a:xfrm>
            <a:off x="411480" y="4069080"/>
            <a:ext cx="8321040" cy="566928"/>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指出是哪一张视图</a:t>
            </a:r>
            <a:endParaRPr lang="zh-CN" sz="2000">
              <a:latin typeface="微软雅黑"/>
              <a:ea typeface="微软雅黑"/>
            </a:endParaRPr>
          </a:p>
        </p:txBody>
      </p:sp>
      <p:sp>
        <p:nvSpPr>
          <p:cNvPr id="105" name="fig"/>
          <p:cNvSpPr/>
          <p:nvPr/>
        </p:nvSpPr>
        <p:spPr>
          <a:xfrm>
            <a:off x="411480" y="4727448"/>
            <a:ext cx="8321040" cy="566928"/>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说明变的是进程、节点还是代码模块</a:t>
            </a:r>
            <a:endParaRPr lang="zh-CN" sz="2000">
              <a:latin typeface="微软雅黑"/>
              <a:ea typeface="微软雅黑"/>
            </a:endParaRPr>
          </a:p>
        </p:txBody>
      </p:sp>
      <p:sp>
        <p:nvSpPr>
          <p:cNvPr id="106"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运行环境与体系结构</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质量特性是描述需求的语言</a:t>
            </a:r>
          </a:p>
        </p:txBody>
      </p:sp>
      <p:sp>
        <p:nvSpPr>
          <p:cNvPr id="101" name="fig"/>
          <p:cNvSpPr/>
          <p:nvPr/>
        </p:nvSpPr>
        <p:spPr>
          <a:xfrm>
            <a:off x="411480" y="1508760"/>
            <a:ext cx="4069080" cy="96012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非功能需求用质量特性来表述，</a:t>
            </a:r>
            <a:br>
              <a:rPr lang="zh-CN" sz="2000">
                <a:latin typeface="微软雅黑"/>
                <a:ea typeface="微软雅黑"/>
              </a:rPr>
            </a:br>
            <a:r>
              <a:rPr lang="zh-CN" altLang="en-US" sz="2000" b="0">
                <a:solidFill>
                  <a:srgbClr val="262626"/>
                </a:solidFill>
                <a:latin typeface="微软雅黑"/>
                <a:ea typeface="微软雅黑"/>
              </a:rPr>
              <a:t>如性能效率、可靠性、可维护性</a:t>
            </a:r>
            <a:endParaRPr lang="zh-CN" sz="2000">
              <a:latin typeface="微软雅黑"/>
              <a:ea typeface="微软雅黑"/>
            </a:endParaRPr>
          </a:p>
        </p:txBody>
      </p:sp>
      <p:sp>
        <p:nvSpPr>
          <p:cNvPr id="102" name="fig"/>
          <p:cNvSpPr/>
          <p:nvPr/>
        </p:nvSpPr>
        <p:spPr>
          <a:xfrm>
            <a:off x="4663440" y="1508760"/>
            <a:ext cx="4069080" cy="96012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设计方案是对需求的回应，</a:t>
            </a:r>
            <a:br>
              <a:rPr lang="zh-CN" sz="2000">
                <a:latin typeface="微软雅黑"/>
                <a:ea typeface="微软雅黑"/>
              </a:rPr>
            </a:br>
            <a:r>
              <a:rPr lang="zh-CN" altLang="en-US" sz="2000" b="0">
                <a:solidFill>
                  <a:srgbClr val="262626"/>
                </a:solidFill>
                <a:latin typeface="微软雅黑"/>
                <a:ea typeface="微软雅黑"/>
              </a:rPr>
              <a:t>选型不同，代价不同</a:t>
            </a:r>
            <a:endParaRPr lang="zh-CN" sz="2000">
              <a:latin typeface="微软雅黑"/>
              <a:ea typeface="微软雅黑"/>
            </a:endParaRPr>
          </a:p>
        </p:txBody>
      </p:sp>
      <p:sp>
        <p:nvSpPr>
          <p:cNvPr id="103" name="fig-d"/>
          <p:cNvSpPr/>
          <p:nvPr/>
        </p:nvSpPr>
        <p:spPr>
          <a:xfrm>
            <a:off x="411480" y="2697480"/>
            <a:ext cx="8321040" cy="411480"/>
          </a:xfrm>
          <a:prstGeom prst="rect">
            <a:avLst/>
          </a:prstGeom>
          <a:noFill/>
          <a:ln>
            <a:noFill/>
          </a:ln>
        </p:spPr>
        <p:txBody>
          <a:bodyPr wrap="square" lIns="18288" tIns="9144" rIns="18288" bIns="9144" anchor="ctr"/>
          <a:lstStyle/>
          <a:p>
            <a:pPr algn="l">
              <a:lnSpc>
                <a:spcPct val="100000"/>
              </a:lnSpc>
              <a:buNone/>
            </a:pPr>
            <a:r>
              <a:rPr lang="zh-CN" altLang="en-US" sz="2000" b="1">
                <a:solidFill>
                  <a:srgbClr val="262626"/>
                </a:solidFill>
                <a:latin typeface="微软雅黑"/>
                <a:ea typeface="微软雅黑"/>
              </a:rPr>
              <a:t>技术说明写成：回应的需求、优点、限制、不足</a:t>
            </a:r>
            <a:endParaRPr lang="zh-CN" sz="2000">
              <a:latin typeface="微软雅黑"/>
              <a:ea typeface="微软雅黑"/>
            </a:endParaRPr>
          </a:p>
        </p:txBody>
      </p:sp>
      <p:sp>
        <p:nvSpPr>
          <p:cNvPr id="104" name="fig-d"/>
          <p:cNvSpPr/>
          <p:nvPr/>
        </p:nvSpPr>
        <p:spPr>
          <a:xfrm>
            <a:off x="411480" y="3200400"/>
            <a:ext cx="2011680" cy="777240"/>
          </a:xfrm>
          <a:prstGeom prst="homePlate">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回应的需求</a:t>
            </a:r>
            <a:endParaRPr lang="zh-CN" sz="1800">
              <a:latin typeface="微软雅黑"/>
              <a:ea typeface="微软雅黑"/>
            </a:endParaRPr>
          </a:p>
        </p:txBody>
      </p:sp>
      <p:sp>
        <p:nvSpPr>
          <p:cNvPr id="105" name="fig-d"/>
          <p:cNvSpPr/>
          <p:nvPr/>
        </p:nvSpPr>
        <p:spPr>
          <a:xfrm>
            <a:off x="2514600" y="3200400"/>
            <a:ext cx="2011680" cy="777240"/>
          </a:xfrm>
          <a:prstGeom prst="homePlate">
            <a:avLst/>
          </a:prstGeom>
          <a:solidFill>
            <a:srgbClr val="F6E8E6"/>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262626"/>
                </a:solidFill>
                <a:latin typeface="微软雅黑"/>
                <a:ea typeface="微软雅黑"/>
              </a:rPr>
              <a:t>优点</a:t>
            </a:r>
            <a:endParaRPr lang="zh-CN" sz="1800">
              <a:latin typeface="微软雅黑"/>
              <a:ea typeface="微软雅黑"/>
            </a:endParaRPr>
          </a:p>
        </p:txBody>
      </p:sp>
      <p:sp>
        <p:nvSpPr>
          <p:cNvPr id="106" name="fig-d"/>
          <p:cNvSpPr/>
          <p:nvPr/>
        </p:nvSpPr>
        <p:spPr>
          <a:xfrm>
            <a:off x="4617720" y="3200400"/>
            <a:ext cx="2011680" cy="777240"/>
          </a:xfrm>
          <a:prstGeom prst="homePlate">
            <a:avLst/>
          </a:prstGeom>
          <a:solidFill>
            <a:srgbClr val="F6E8E6"/>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262626"/>
                </a:solidFill>
                <a:latin typeface="微软雅黑"/>
                <a:ea typeface="微软雅黑"/>
              </a:rPr>
              <a:t>限制</a:t>
            </a:r>
            <a:endParaRPr lang="zh-CN" sz="1800">
              <a:latin typeface="微软雅黑"/>
              <a:ea typeface="微软雅黑"/>
            </a:endParaRPr>
          </a:p>
        </p:txBody>
      </p:sp>
      <p:sp>
        <p:nvSpPr>
          <p:cNvPr id="107" name="fig-d"/>
          <p:cNvSpPr/>
          <p:nvPr/>
        </p:nvSpPr>
        <p:spPr>
          <a:xfrm>
            <a:off x="6720840" y="3200400"/>
            <a:ext cx="2011680" cy="777240"/>
          </a:xfrm>
          <a:prstGeom prst="rect">
            <a:avLst/>
          </a:prstGeom>
          <a:solidFill>
            <a:srgbClr val="F6E8E6"/>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262626"/>
                </a:solidFill>
                <a:latin typeface="微软雅黑"/>
                <a:ea typeface="微软雅黑"/>
              </a:rPr>
              <a:t>不足</a:t>
            </a:r>
            <a:endParaRPr lang="zh-CN" sz="1800">
              <a:latin typeface="微软雅黑"/>
              <a:ea typeface="微软雅黑"/>
            </a:endParaRPr>
          </a:p>
        </p:txBody>
      </p:sp>
      <p:sp>
        <p:nvSpPr>
          <p:cNvPr id="108" name="fig-d"/>
          <p:cNvSpPr/>
          <p:nvPr/>
        </p:nvSpPr>
        <p:spPr>
          <a:xfrm>
            <a:off x="411480" y="4434840"/>
            <a:ext cx="457200" cy="457200"/>
          </a:xfrm>
          <a:prstGeom prst="ellipse">
            <a:avLst/>
          </a:prstGeom>
          <a:solidFill>
            <a:srgbClr val="595959"/>
          </a:solidFill>
          <a:ln w="12700">
            <a:solidFill>
              <a:srgbClr val="595959"/>
            </a:solidFill>
          </a:ln>
        </p:spPr>
        <p:txBody>
          <a:bodyPr wrap="square" lIns="0" tIns="0" rIns="0" bIns="0" anchor="ctr"/>
          <a:lstStyle/>
          <a:p>
            <a:pPr algn="ctr">
              <a:lnSpc>
                <a:spcPct val="100000"/>
              </a:lnSpc>
              <a:buNone/>
            </a:pPr>
            <a:r>
              <a:rPr lang="zh-CN" altLang="en-US" sz="1800" b="1">
                <a:solidFill>
                  <a:srgbClr val="FFFFFF"/>
                </a:solidFill>
                <a:latin typeface="微软雅黑"/>
                <a:ea typeface="微软雅黑"/>
              </a:rPr>
              <a:t>×</a:t>
            </a:r>
            <a:endParaRPr lang="zh-CN" sz="1800">
              <a:latin typeface="微软雅黑"/>
              <a:ea typeface="微软雅黑"/>
            </a:endParaRPr>
          </a:p>
        </p:txBody>
      </p:sp>
      <p:sp>
        <p:nvSpPr>
          <p:cNvPr id="109" name="fig"/>
          <p:cNvSpPr/>
          <p:nvPr/>
        </p:nvSpPr>
        <p:spPr>
          <a:xfrm>
            <a:off x="1005840" y="4343400"/>
            <a:ext cx="7726680" cy="658368"/>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595959"/>
                </a:solidFill>
                <a:latin typeface="微软雅黑"/>
                <a:ea typeface="微软雅黑"/>
              </a:rPr>
              <a:t>只写“用了某技术”，不写需求，无法判断选得对不对</a:t>
            </a:r>
            <a:endParaRPr lang="zh-CN" sz="2000">
              <a:latin typeface="微软雅黑"/>
              <a:ea typeface="微软雅黑"/>
            </a:endParaRPr>
          </a:p>
        </p:txBody>
      </p:sp>
      <p:sp>
        <p:nvSpPr>
          <p:cNvPr id="110"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需求如何转为设计方案</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网关、认证与注册配置中心回应不同需求</a:t>
            </a:r>
          </a:p>
        </p:txBody>
      </p:sp>
      <p:graphicFrame>
        <p:nvGraphicFramePr>
          <p:cNvPr id="3" name="table"/>
          <p:cNvGraphicFramePr>
            <a:graphicFrameLocks noGrp="1"/>
          </p:cNvGraphicFramePr>
          <p:nvPr/>
        </p:nvGraphicFramePr>
        <p:xfrm>
          <a:off x="368300" y="1485900"/>
          <a:ext cx="8407400" cy="3677082"/>
        </p:xfrm>
        <a:graphic>
          <a:graphicData uri="http://schemas.openxmlformats.org/drawingml/2006/table">
            <a:tbl>
              <a:tblPr>
                <a:tableStyleId>{2D5ABB26-0587-4C30-8999-92F81FD0307C}</a:tableStyleId>
              </a:tblPr>
              <a:tblGrid>
                <a:gridCol w="1447800">
                  <a:extLst>
                    <a:ext uri="{9D8B030D-6E8A-4147-A177-3AD203B41FA5}">
                      <a16:colId xmlns:a16="http://schemas.microsoft.com/office/drawing/2014/main" val="20000"/>
                    </a:ext>
                  </a:extLst>
                </a:gridCol>
                <a:gridCol w="2311400">
                  <a:extLst>
                    <a:ext uri="{9D8B030D-6E8A-4147-A177-3AD203B41FA5}">
                      <a16:colId xmlns:a16="http://schemas.microsoft.com/office/drawing/2014/main" val="20001"/>
                    </a:ext>
                  </a:extLst>
                </a:gridCol>
                <a:gridCol w="2311400">
                  <a:extLst>
                    <a:ext uri="{9D8B030D-6E8A-4147-A177-3AD203B41FA5}">
                      <a16:colId xmlns:a16="http://schemas.microsoft.com/office/drawing/2014/main" val="20002"/>
                    </a:ext>
                  </a:extLst>
                </a:gridCol>
                <a:gridCol w="2336800">
                  <a:extLst>
                    <a:ext uri="{9D8B030D-6E8A-4147-A177-3AD203B41FA5}">
                      <a16:colId xmlns:a16="http://schemas.microsoft.com/office/drawing/2014/main" val="20003"/>
                    </a:ext>
                  </a:extLst>
                </a:gridCol>
              </a:tblGrid>
              <a:tr h="495268">
                <a:tc>
                  <a:txBody>
                    <a:bodyPr/>
                    <a:lstStyle/>
                    <a:p>
                      <a:pPr algn="l" eaLnBrk="1" hangingPunct="1">
                        <a:lnSpc>
                          <a:spcPct val="90000"/>
                        </a:lnSpc>
                        <a:spcBef>
                          <a:spcPts val="200"/>
                        </a:spcBef>
                        <a:spcAft>
                          <a:spcPts val="200"/>
                        </a:spcAft>
                        <a:buNone/>
                      </a:pPr>
                      <a:endParaRPr>
                        <a:solidFill>
                          <a:srgbClr val="262626"/>
                        </a:solidFill>
                        <a:latin typeface="微软雅黑"/>
                        <a:ea typeface="微软雅黑"/>
                      </a:endParaRP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网关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认证</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注册与配置中心</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783187">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a:t>
                      </a:r>
                    </a:p>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需求</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统一对外入口与</a:t>
                      </a:r>
                      <a:br>
                        <a:rPr lang="zh-CN" sz="2000">
                          <a:solidFill>
                            <a:srgbClr val="262626"/>
                          </a:solidFill>
                          <a:latin typeface="微软雅黑"/>
                          <a:ea typeface="微软雅黑"/>
                        </a:rPr>
                      </a:br>
                      <a:r>
                        <a:rPr lang="zh-CN" altLang="en-US" sz="2000" b="0">
                          <a:solidFill>
                            <a:srgbClr val="262626"/>
                          </a:solidFill>
                          <a:latin typeface="微软雅黑"/>
                          <a:ea typeface="微软雅黑"/>
                          <a:cs typeface="微软雅黑"/>
                        </a:rPr>
                        <a:t>访问控制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各服务对身份</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作出一致判断</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服务地址变化</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配置集中管理</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783187">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客户端使用</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统一入口地址</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认证规则只写一处</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按名称发现服务，</a:t>
                      </a:r>
                      <a:br>
                        <a:rPr lang="zh-CN" sz="2000">
                          <a:solidFill>
                            <a:srgbClr val="262626"/>
                          </a:solidFill>
                          <a:latin typeface="微软雅黑"/>
                          <a:ea typeface="微软雅黑"/>
                        </a:rPr>
                      </a:br>
                      <a:r>
                        <a:rPr lang="zh-CN" altLang="en-US" sz="2000" b="0">
                          <a:solidFill>
                            <a:srgbClr val="262626"/>
                          </a:solidFill>
                          <a:latin typeface="微软雅黑"/>
                          <a:ea typeface="微软雅黑"/>
                          <a:cs typeface="微软雅黑"/>
                        </a:rPr>
                        <a:t>配置集中管理</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62484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所有请求</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必经入口节点</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各服务都依赖它</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多部署一套中间件</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9906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未冗余部署时故障影响入口</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认证可能成为</a:t>
                      </a:r>
                      <a:br>
                        <a:rPr lang="zh-CN" altLang="en-US" sz="2000" b="0">
                          <a:solidFill>
                            <a:srgbClr val="262626"/>
                          </a:solidFill>
                          <a:latin typeface="微软雅黑"/>
                          <a:ea typeface="微软雅黑"/>
                          <a:cs typeface="微软雅黑"/>
                        </a:rPr>
                      </a:br>
                      <a:r>
                        <a:rPr lang="zh-CN" altLang="en-US" sz="2000" b="0">
                          <a:solidFill>
                            <a:srgbClr val="262626"/>
                          </a:solidFill>
                          <a:latin typeface="微软雅黑"/>
                          <a:ea typeface="微软雅黑"/>
                          <a:cs typeface="微软雅黑"/>
                        </a:rPr>
                        <a:t>单点故障</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服务端不可用时，</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发现与配置读取</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回落到本地缓存</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fig"/>
          <p:cNvSpPr/>
          <p:nvPr/>
        </p:nvSpPr>
        <p:spPr>
          <a:xfrm>
            <a:off x="368300" y="5219700"/>
            <a:ext cx="8407400" cy="7620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 未设独立网关、认证服务与注册配置中心</a:t>
            </a:r>
          </a:p>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认证能力由 mall-security 提供</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需求如何转为设计方案</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en-US" altLang="zh-CN" sz="2800" b="1" dirty="0">
                <a:solidFill>
                  <a:srgbClr val="A33B38"/>
                </a:solidFill>
                <a:latin typeface="微软雅黑"/>
                <a:ea typeface="微软雅黑"/>
                <a:cs typeface="微软雅黑"/>
              </a:rPr>
              <a:t>mall </a:t>
            </a:r>
            <a:r>
              <a:rPr lang="zh-CN" altLang="en-US" sz="2800" b="1" dirty="0">
                <a:solidFill>
                  <a:srgbClr val="A33B38"/>
                </a:solidFill>
                <a:latin typeface="微软雅黑"/>
                <a:ea typeface="微软雅黑"/>
                <a:cs typeface="微软雅黑"/>
              </a:rPr>
              <a:t>应用运行需要 </a:t>
            </a:r>
            <a:r>
              <a:rPr lang="en-US" altLang="zh-CN" sz="2800" b="1" dirty="0">
                <a:solidFill>
                  <a:srgbClr val="A33B38"/>
                </a:solidFill>
                <a:latin typeface="微软雅黑"/>
                <a:ea typeface="微软雅黑"/>
                <a:cs typeface="微软雅黑"/>
              </a:rPr>
              <a:t>Java </a:t>
            </a:r>
            <a:r>
              <a:rPr lang="zh-CN" altLang="en-US" sz="2800" b="1" dirty="0">
                <a:solidFill>
                  <a:srgbClr val="A33B38"/>
                </a:solidFill>
                <a:latin typeface="微软雅黑"/>
                <a:ea typeface="微软雅黑"/>
                <a:cs typeface="微软雅黑"/>
              </a:rPr>
              <a:t>环境与中间件</a:t>
            </a:r>
          </a:p>
        </p:txBody>
      </p:sp>
      <p:graphicFrame>
        <p:nvGraphicFramePr>
          <p:cNvPr id="3" name="table"/>
          <p:cNvGraphicFramePr>
            <a:graphicFrameLocks noGrp="1"/>
          </p:cNvGraphicFramePr>
          <p:nvPr/>
        </p:nvGraphicFramePr>
        <p:xfrm>
          <a:off x="368300" y="1485900"/>
          <a:ext cx="8407400" cy="4229100"/>
        </p:xfrm>
        <a:graphic>
          <a:graphicData uri="http://schemas.openxmlformats.org/drawingml/2006/table">
            <a:tbl>
              <a:tblPr>
                <a:tableStyleId>{2D5ABB26-0587-4C30-8999-92F81FD0307C}</a:tableStyleId>
              </a:tblPr>
              <a:tblGrid>
                <a:gridCol w="1676400">
                  <a:extLst>
                    <a:ext uri="{9D8B030D-6E8A-4147-A177-3AD203B41FA5}">
                      <a16:colId xmlns:a16="http://schemas.microsoft.com/office/drawing/2014/main" val="20000"/>
                    </a:ext>
                  </a:extLst>
                </a:gridCol>
                <a:gridCol w="6731000">
                  <a:extLst>
                    <a:ext uri="{9D8B030D-6E8A-4147-A177-3AD203B41FA5}">
                      <a16:colId xmlns:a16="http://schemas.microsoft.com/office/drawing/2014/main" val="20001"/>
                    </a:ext>
                  </a:extLst>
                </a:gridCol>
              </a:tblGrid>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构建产物</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Maven </a:t>
                      </a:r>
                      <a:r>
                        <a:rPr lang="zh-CN" altLang="en-US" sz="2000" b="0" dirty="0">
                          <a:solidFill>
                            <a:srgbClr val="262626"/>
                          </a:solidFill>
                          <a:latin typeface="微软雅黑"/>
                          <a:ea typeface="微软雅黑"/>
                          <a:cs typeface="微软雅黑"/>
                        </a:rPr>
                        <a:t>构建产生应用 </a:t>
                      </a:r>
                      <a:r>
                        <a:rPr lang="en-US" altLang="zh-CN" sz="2000" b="0" dirty="0">
                          <a:solidFill>
                            <a:srgbClr val="262626"/>
                          </a:solidFill>
                          <a:latin typeface="微软雅黑"/>
                          <a:ea typeface="微软雅黑"/>
                          <a:cs typeface="微软雅黑"/>
                        </a:rPr>
                        <a:t>jar</a:t>
                      </a:r>
                      <a:r>
                        <a:rPr lang="zh-CN" altLang="en-US" sz="2000" b="0" dirty="0">
                          <a:solidFill>
                            <a:srgbClr val="262626"/>
                          </a:solidFill>
                          <a:latin typeface="微软雅黑"/>
                          <a:ea typeface="微软雅黑"/>
                          <a:cs typeface="微软雅黑"/>
                        </a:rPr>
                        <a:t>；运行仍需 </a:t>
                      </a:r>
                      <a:r>
                        <a:rPr lang="en-US" altLang="zh-CN" sz="2000" b="0" dirty="0">
                          <a:solidFill>
                            <a:srgbClr val="262626"/>
                          </a:solidFill>
                          <a:latin typeface="微软雅黑"/>
                          <a:ea typeface="微软雅黑"/>
                          <a:cs typeface="微软雅黑"/>
                        </a:rPr>
                        <a:t>Java </a:t>
                      </a:r>
                      <a:r>
                        <a:rPr lang="zh-CN" altLang="en-US" sz="2000" b="0" dirty="0">
                          <a:solidFill>
                            <a:srgbClr val="262626"/>
                          </a:solidFill>
                          <a:latin typeface="微软雅黑"/>
                          <a:ea typeface="微软雅黑"/>
                          <a:cs typeface="微软雅黑"/>
                        </a:rPr>
                        <a:t>环境。</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中间件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课堂 </a:t>
                      </a:r>
                      <a:r>
                        <a:rPr lang="en-US" altLang="zh-CN" sz="2000" b="0" dirty="0">
                          <a:solidFill>
                            <a:srgbClr val="262626"/>
                          </a:solidFill>
                          <a:latin typeface="微软雅黑"/>
                          <a:ea typeface="微软雅黑"/>
                          <a:cs typeface="微软雅黑"/>
                        </a:rPr>
                        <a:t>Compose </a:t>
                      </a:r>
                      <a:r>
                        <a:rPr lang="zh-CN" altLang="en-US" sz="2000" b="0" dirty="0">
                          <a:solidFill>
                            <a:srgbClr val="262626"/>
                          </a:solidFill>
                          <a:latin typeface="微软雅黑"/>
                          <a:ea typeface="微软雅黑"/>
                          <a:cs typeface="微软雅黑"/>
                        </a:rPr>
                        <a:t>组织数据库、缓存和消息组件；</a:t>
                      </a:r>
                      <a:br>
                        <a:rPr lang="en-US" altLang="zh-CN" sz="2000" b="0" dirty="0">
                          <a:solidFill>
                            <a:srgbClr val="262626"/>
                          </a:solidFill>
                          <a:latin typeface="微软雅黑"/>
                          <a:ea typeface="微软雅黑"/>
                          <a:cs typeface="微软雅黑"/>
                        </a:rPr>
                      </a:br>
                      <a:r>
                        <a:rPr lang="zh-CN" altLang="en-US" sz="2000" b="0" dirty="0">
                          <a:solidFill>
                            <a:srgbClr val="262626"/>
                          </a:solidFill>
                          <a:latin typeface="微软雅黑"/>
                          <a:ea typeface="微软雅黑"/>
                          <a:cs typeface="微软雅黑"/>
                        </a:rPr>
                        <a:t>不替代应用构建。</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连接配置</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应用配置中的地址、端口须对应实际部署位置。</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部署变化</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更改容器或宿主位置时，先核对连接配置；</a:t>
                      </a:r>
                      <a:br>
                        <a:rPr lang="en-US" altLang="zh-CN" sz="2000" b="0" dirty="0">
                          <a:solidFill>
                            <a:srgbClr val="262626"/>
                          </a:solidFill>
                          <a:latin typeface="微软雅黑"/>
                          <a:ea typeface="微软雅黑"/>
                          <a:cs typeface="微软雅黑"/>
                        </a:rPr>
                      </a:br>
                      <a:r>
                        <a:rPr lang="zh-CN" altLang="en-US" sz="2000" b="0" dirty="0">
                          <a:solidFill>
                            <a:srgbClr val="262626"/>
                          </a:solidFill>
                          <a:latin typeface="微软雅黑"/>
                          <a:ea typeface="微软雅黑"/>
                          <a:cs typeface="微软雅黑"/>
                        </a:rPr>
                        <a:t>再判断是否需要修改业务代码。</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验证边界</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构建通过不等于服务可用；须以实际运行输出核实。</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extLst>
      <p:ext uri="{BB962C8B-B14F-4D97-AF65-F5344CB8AC3E}">
        <p14:creationId xmlns:p14="http://schemas.microsoft.com/office/powerpoint/2010/main" val="15276669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实验环境里每个组件回应一条需求</a:t>
            </a:r>
          </a:p>
        </p:txBody>
      </p:sp>
      <p:graphicFrame>
        <p:nvGraphicFramePr>
          <p:cNvPr id="3" name="table"/>
          <p:cNvGraphicFramePr>
            <a:graphicFrameLocks noGrp="1"/>
          </p:cNvGraphicFramePr>
          <p:nvPr>
            <p:extLst>
              <p:ext uri="{D42A27DB-BD31-4B8C-83A1-F6EECF244321}">
                <p14:modId xmlns:p14="http://schemas.microsoft.com/office/powerpoint/2010/main" val="345999534"/>
              </p:ext>
            </p:extLst>
          </p:nvPr>
        </p:nvGraphicFramePr>
        <p:xfrm>
          <a:off x="368300" y="1485900"/>
          <a:ext cx="8407400" cy="4102096"/>
        </p:xfrm>
        <a:graphic>
          <a:graphicData uri="http://schemas.openxmlformats.org/drawingml/2006/table">
            <a:tbl>
              <a:tblPr>
                <a:tableStyleId>{2D5ABB26-0587-4C30-8999-92F81FD0307C}</a:tableStyleId>
              </a:tblPr>
              <a:tblGrid>
                <a:gridCol w="1905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073400">
                  <a:extLst>
                    <a:ext uri="{9D8B030D-6E8A-4147-A177-3AD203B41FA5}">
                      <a16:colId xmlns:a16="http://schemas.microsoft.com/office/drawing/2014/main" val="20002"/>
                    </a:ext>
                  </a:extLst>
                </a:gridCol>
              </a:tblGrid>
              <a:tr h="73496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组件</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位置</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73496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MySQL</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主数据库，导入 </a:t>
                      </a:r>
                      <a:r>
                        <a:rPr lang="en-US" altLang="zh-CN" sz="2000" b="0">
                          <a:solidFill>
                            <a:srgbClr val="262626"/>
                          </a:solidFill>
                          <a:latin typeface="微软雅黑"/>
                          <a:ea typeface="微软雅黑"/>
                          <a:cs typeface="微软雅黑"/>
                        </a:rPr>
                        <a:t>mall.sql</a:t>
                      </a:r>
                      <a:endParaRPr lang="zh-CN" altLang="en-US" sz="2000" b="0" dirty="0">
                        <a:solidFill>
                          <a:srgbClr val="262626"/>
                        </a:solidFill>
                        <a:latin typeface="微软雅黑"/>
                        <a:ea typeface="微软雅黑"/>
                        <a:cs typeface="微软雅黑"/>
                      </a:endParaRP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数据一致性与持久保存</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1162232">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Redis</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common 引入</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portal、security 使用缓存</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性能：减少对主库的读取</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73496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RabbitMQ</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mall-portal，延迟消息</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可靠的异步取消超时订单</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734966">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Elasticsearch</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mall-search，负责检索</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微软雅黑"/>
                          <a:ea typeface="微软雅黑"/>
                          <a:cs typeface="微软雅黑"/>
                        </a:rPr>
                        <a:t>检索性能</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主数据库保证事务边界，缓存减少重复读取</a:t>
            </a:r>
          </a:p>
        </p:txBody>
      </p:sp>
      <p:graphicFrame>
        <p:nvGraphicFramePr>
          <p:cNvPr id="3" name="table"/>
          <p:cNvGraphicFramePr>
            <a:graphicFrameLocks noGrp="1"/>
          </p:cNvGraphicFramePr>
          <p:nvPr>
            <p:extLst>
              <p:ext uri="{D42A27DB-BD31-4B8C-83A1-F6EECF244321}">
                <p14:modId xmlns:p14="http://schemas.microsoft.com/office/powerpoint/2010/main" val="39760735"/>
              </p:ext>
            </p:extLst>
          </p:nvPr>
        </p:nvGraphicFramePr>
        <p:xfrm>
          <a:off x="368300" y="1485900"/>
          <a:ext cx="8407400" cy="4229100"/>
        </p:xfrm>
        <a:graphic>
          <a:graphicData uri="http://schemas.openxmlformats.org/drawingml/2006/table">
            <a:tbl>
              <a:tblPr>
                <a:tableStyleId>{2D5ABB26-0587-4C30-8999-92F81FD0307C}</a:tableStyleId>
              </a:tblPr>
              <a:tblGrid>
                <a:gridCol w="1676400">
                  <a:extLst>
                    <a:ext uri="{9D8B030D-6E8A-4147-A177-3AD203B41FA5}">
                      <a16:colId xmlns:a16="http://schemas.microsoft.com/office/drawing/2014/main" val="20000"/>
                    </a:ext>
                  </a:extLst>
                </a:gridCol>
                <a:gridCol w="6731000">
                  <a:extLst>
                    <a:ext uri="{9D8B030D-6E8A-4147-A177-3AD203B41FA5}">
                      <a16:colId xmlns:a16="http://schemas.microsoft.com/office/drawing/2014/main" val="20001"/>
                    </a:ext>
                  </a:extLst>
                </a:gridCol>
              </a:tblGrid>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MySQL</a:t>
                      </a:r>
                      <a:r>
                        <a:rPr lang="zh-CN" altLang="en-US" sz="2000" b="0" dirty="0">
                          <a:solidFill>
                            <a:srgbClr val="262626"/>
                          </a:solidFill>
                          <a:latin typeface="微软雅黑"/>
                          <a:ea typeface="微软雅黑"/>
                          <a:cs typeface="微软雅黑"/>
                        </a:rPr>
                        <a:t>：一致性与持久保存；</a:t>
                      </a:r>
                      <a:r>
                        <a:rPr lang="en-US" altLang="zh-CN" sz="2000" b="0" dirty="0">
                          <a:solidFill>
                            <a:srgbClr val="262626"/>
                          </a:solidFill>
                          <a:latin typeface="微软雅黑"/>
                          <a:ea typeface="微软雅黑"/>
                          <a:cs typeface="微软雅黑"/>
                        </a:rPr>
                        <a:t>Redis</a:t>
                      </a:r>
                      <a:r>
                        <a:rPr lang="zh-CN" altLang="en-US" sz="2000" b="0" dirty="0">
                          <a:solidFill>
                            <a:srgbClr val="262626"/>
                          </a:solidFill>
                          <a:latin typeface="微软雅黑"/>
                          <a:ea typeface="微软雅黑"/>
                          <a:cs typeface="微软雅黑"/>
                        </a:rPr>
                        <a:t>：减少主库重复读取。</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MySQL</a:t>
                      </a:r>
                      <a:r>
                        <a:rPr lang="zh-CN" altLang="en-US" sz="2000" b="0" dirty="0">
                          <a:solidFill>
                            <a:srgbClr val="262626"/>
                          </a:solidFill>
                          <a:latin typeface="微软雅黑"/>
                          <a:ea typeface="微软雅黑"/>
                          <a:cs typeface="微软雅黑"/>
                        </a:rPr>
                        <a:t>：业务记录写入主数据库；</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Redis</a:t>
                      </a:r>
                      <a:r>
                        <a:rPr lang="zh-CN" altLang="en-US" sz="2000" b="0" dirty="0">
                          <a:solidFill>
                            <a:srgbClr val="262626"/>
                          </a:solidFill>
                          <a:latin typeface="微软雅黑"/>
                          <a:ea typeface="微软雅黑"/>
                          <a:cs typeface="微软雅黑"/>
                        </a:rPr>
                        <a:t>：缓存适合复用的数据。</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MySQL</a:t>
                      </a:r>
                      <a:r>
                        <a:rPr lang="zh-CN" altLang="en-US" sz="2000" b="0" dirty="0">
                          <a:solidFill>
                            <a:srgbClr val="262626"/>
                          </a:solidFill>
                          <a:latin typeface="微软雅黑"/>
                          <a:ea typeface="微软雅黑"/>
                          <a:cs typeface="微软雅黑"/>
                        </a:rPr>
                        <a:t>：可用事务组织关联写入；</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Redis</a:t>
                      </a:r>
                      <a:r>
                        <a:rPr lang="zh-CN" altLang="en-US" sz="2000" b="0" dirty="0">
                          <a:solidFill>
                            <a:srgbClr val="262626"/>
                          </a:solidFill>
                          <a:latin typeface="微软雅黑"/>
                          <a:ea typeface="微软雅黑"/>
                          <a:cs typeface="微软雅黑"/>
                        </a:rPr>
                        <a:t>：常用数据读取延迟较低。</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MySQL</a:t>
                      </a:r>
                      <a:r>
                        <a:rPr lang="zh-CN" altLang="en-US" sz="2000" b="0" dirty="0">
                          <a:solidFill>
                            <a:srgbClr val="262626"/>
                          </a:solidFill>
                          <a:latin typeface="微软雅黑"/>
                          <a:ea typeface="微软雅黑"/>
                          <a:cs typeface="微软雅黑"/>
                        </a:rPr>
                        <a:t>：事务范围受连接及调用约束；</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Redis</a:t>
                      </a:r>
                      <a:r>
                        <a:rPr lang="zh-CN" altLang="en-US" sz="2000" b="0" dirty="0">
                          <a:solidFill>
                            <a:srgbClr val="262626"/>
                          </a:solidFill>
                          <a:latin typeface="微软雅黑"/>
                          <a:ea typeface="微软雅黑"/>
                          <a:cs typeface="微软雅黑"/>
                        </a:rPr>
                        <a:t>：缓存内容须能失效或重建。</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MySQL：死锁仍须处理；</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Redis：可能读到尚未更新的数据。</a:t>
                      </a:r>
                      <a:br>
                        <a:rPr lang="en-US" altLang="zh-CN" sz="2000" b="0" dirty="0">
                          <a:solidFill>
                            <a:srgbClr val="262626"/>
                          </a:solidFill>
                          <a:latin typeface="微软雅黑"/>
                          <a:ea typeface="微软雅黑"/>
                          <a:cs typeface="微软雅黑"/>
                        </a:rPr>
                      </a:br>
                      <a:endParaRPr lang="en-US" altLang="zh-CN" sz="2000" b="0" dirty="0">
                        <a:solidFill>
                          <a:srgbClr val="262626"/>
                        </a:solidFill>
                        <a:latin typeface="微软雅黑"/>
                        <a:ea typeface="微软雅黑"/>
                        <a:cs typeface="微软雅黑"/>
                      </a:endParaRP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extLst>
      <p:ext uri="{BB962C8B-B14F-4D97-AF65-F5344CB8AC3E}">
        <p14:creationId xmlns:p14="http://schemas.microsoft.com/office/powerpoint/2010/main" val="474325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异步消息与搜索索引分别增加验证责任</a:t>
            </a:r>
          </a:p>
        </p:txBody>
      </p:sp>
      <p:graphicFrame>
        <p:nvGraphicFramePr>
          <p:cNvPr id="3" name="table"/>
          <p:cNvGraphicFramePr>
            <a:graphicFrameLocks noGrp="1"/>
          </p:cNvGraphicFramePr>
          <p:nvPr>
            <p:extLst>
              <p:ext uri="{D42A27DB-BD31-4B8C-83A1-F6EECF244321}">
                <p14:modId xmlns:p14="http://schemas.microsoft.com/office/powerpoint/2010/main" val="1337122189"/>
              </p:ext>
            </p:extLst>
          </p:nvPr>
        </p:nvGraphicFramePr>
        <p:xfrm>
          <a:off x="368300" y="1485900"/>
          <a:ext cx="8407400" cy="4229100"/>
        </p:xfrm>
        <a:graphic>
          <a:graphicData uri="http://schemas.openxmlformats.org/drawingml/2006/table">
            <a:tbl>
              <a:tblPr>
                <a:tableStyleId>{2D5ABB26-0587-4C30-8999-92F81FD0307C}</a:tableStyleId>
              </a:tblPr>
              <a:tblGrid>
                <a:gridCol w="1676400">
                  <a:extLst>
                    <a:ext uri="{9D8B030D-6E8A-4147-A177-3AD203B41FA5}">
                      <a16:colId xmlns:a16="http://schemas.microsoft.com/office/drawing/2014/main" val="20000"/>
                    </a:ext>
                  </a:extLst>
                </a:gridCol>
                <a:gridCol w="6731000">
                  <a:extLst>
                    <a:ext uri="{9D8B030D-6E8A-4147-A177-3AD203B41FA5}">
                      <a16:colId xmlns:a16="http://schemas.microsoft.com/office/drawing/2014/main" val="20001"/>
                    </a:ext>
                  </a:extLst>
                </a:gridCol>
              </a:tblGrid>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RabbitMQ</a:t>
                      </a:r>
                      <a:r>
                        <a:rPr lang="zh-CN" altLang="en-US" sz="2000" b="0" dirty="0">
                          <a:solidFill>
                            <a:srgbClr val="262626"/>
                          </a:solidFill>
                          <a:latin typeface="微软雅黑"/>
                          <a:ea typeface="微软雅黑"/>
                          <a:cs typeface="微软雅黑"/>
                        </a:rPr>
                        <a:t>：异步触发超时取消；</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Elasticsearch</a:t>
                      </a:r>
                      <a:r>
                        <a:rPr lang="zh-CN" altLang="en-US" sz="2000" b="0" dirty="0">
                          <a:solidFill>
                            <a:srgbClr val="262626"/>
                          </a:solidFill>
                          <a:latin typeface="微软雅黑"/>
                          <a:ea typeface="微软雅黑"/>
                          <a:cs typeface="微软雅黑"/>
                        </a:rPr>
                        <a:t>：商品检索性能。</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RabbitMQ</a:t>
                      </a:r>
                      <a:r>
                        <a:rPr lang="zh-CN" altLang="en-US" sz="2000" b="0" dirty="0">
                          <a:solidFill>
                            <a:srgbClr val="262626"/>
                          </a:solidFill>
                          <a:latin typeface="微软雅黑"/>
                          <a:ea typeface="微软雅黑"/>
                          <a:cs typeface="微软雅黑"/>
                        </a:rPr>
                        <a:t>：延迟队列到期后转发消息；</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Elasticsearch</a:t>
                      </a:r>
                      <a:r>
                        <a:rPr lang="zh-CN" altLang="en-US" sz="2000" b="0" dirty="0">
                          <a:solidFill>
                            <a:srgbClr val="262626"/>
                          </a:solidFill>
                          <a:latin typeface="微软雅黑"/>
                          <a:ea typeface="微软雅黑"/>
                          <a:cs typeface="微软雅黑"/>
                        </a:rPr>
                        <a:t>：用独立索引组织检索。</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RabbitMQ：发送与取消执行分开；</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Elasticsearch：按索引检索并返回匹配的文档。</a:t>
                      </a:r>
                      <a:br>
                        <a:rPr lang="en-US" altLang="zh-CN" sz="2000" b="0" dirty="0">
                          <a:solidFill>
                            <a:srgbClr val="262626"/>
                          </a:solidFill>
                          <a:latin typeface="微软雅黑"/>
                          <a:ea typeface="微软雅黑"/>
                          <a:cs typeface="微软雅黑"/>
                        </a:rPr>
                      </a:br>
                      <a:endParaRPr lang="en-US" altLang="zh-CN" sz="2000" b="0" dirty="0">
                        <a:solidFill>
                          <a:srgbClr val="262626"/>
                        </a:solidFill>
                        <a:latin typeface="微软雅黑"/>
                        <a:ea typeface="微软雅黑"/>
                        <a:cs typeface="微软雅黑"/>
                      </a:endParaRP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RabbitMQ</a:t>
                      </a:r>
                      <a:r>
                        <a:rPr lang="zh-CN" altLang="en-US" sz="2000" b="0" dirty="0">
                          <a:solidFill>
                            <a:srgbClr val="262626"/>
                          </a:solidFill>
                          <a:latin typeface="微软雅黑"/>
                          <a:ea typeface="微软雅黑"/>
                          <a:cs typeface="微软雅黑"/>
                        </a:rPr>
                        <a:t>：到期不等于准点执行；</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Elasticsearch</a:t>
                      </a:r>
                      <a:r>
                        <a:rPr lang="zh-CN" altLang="en-US" sz="2000" b="0" dirty="0">
                          <a:solidFill>
                            <a:srgbClr val="262626"/>
                          </a:solidFill>
                          <a:latin typeface="微软雅黑"/>
                          <a:ea typeface="微软雅黑"/>
                          <a:cs typeface="微软雅黑"/>
                        </a:rPr>
                        <a:t>：索引须与主库数据同步。</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8458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RabbitMQ</a:t>
                      </a:r>
                      <a:r>
                        <a:rPr lang="zh-CN" altLang="en-US" sz="2000" b="0" dirty="0">
                          <a:solidFill>
                            <a:srgbClr val="262626"/>
                          </a:solidFill>
                          <a:latin typeface="微软雅黑"/>
                          <a:ea typeface="微软雅黑"/>
                          <a:cs typeface="微软雅黑"/>
                        </a:rPr>
                        <a:t>：须处理失败和重复消费；</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Elasticsearch</a:t>
                      </a:r>
                      <a:r>
                        <a:rPr lang="zh-CN" altLang="en-US" sz="2000" b="0" dirty="0">
                          <a:solidFill>
                            <a:srgbClr val="262626"/>
                          </a:solidFill>
                          <a:latin typeface="微软雅黑"/>
                          <a:ea typeface="微软雅黑"/>
                          <a:cs typeface="微软雅黑"/>
                        </a:rPr>
                        <a:t>：索引可能暂时落后于主库。</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extLst>
      <p:ext uri="{BB962C8B-B14F-4D97-AF65-F5344CB8AC3E}">
        <p14:creationId xmlns:p14="http://schemas.microsoft.com/office/powerpoint/2010/main" val="18585666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超时取消（E2-00）的发送端只投递消息</a:t>
            </a:r>
          </a:p>
        </p:txBody>
      </p:sp>
      <p:sp>
        <p:nvSpPr>
          <p:cNvPr id="3" name="fig"/>
          <p:cNvSpPr/>
          <p:nvPr/>
        </p:nvSpPr>
        <p:spPr>
          <a:xfrm>
            <a:off x="368300" y="1485900"/>
            <a:ext cx="8407400" cy="8890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CancelOrderSender 只投递，并给消息设过期时间（RabbitMQ </a:t>
            </a:r>
            <a:br>
              <a:rPr lang="zh-CN" sz="2000">
                <a:latin typeface="微软雅黑"/>
                <a:ea typeface="微软雅黑"/>
              </a:rPr>
            </a:br>
            <a:r>
              <a:rPr lang="zh-CN" altLang="en-US" sz="2000" b="0">
                <a:solidFill>
                  <a:srgbClr val="262626"/>
                </a:solidFill>
                <a:latin typeface="微软雅黑"/>
                <a:ea typeface="微软雅黑"/>
                <a:cs typeface="微软雅黑"/>
              </a:rPr>
              <a:t>延迟消息）</a:t>
            </a:r>
          </a:p>
        </p:txBody>
      </p:sp>
      <p:sp>
        <p:nvSpPr>
          <p:cNvPr id="4" name="code-excerpt"/>
          <p:cNvSpPr txBox="1"/>
          <p:nvPr/>
        </p:nvSpPr>
        <p:spPr>
          <a:xfrm>
            <a:off x="406400" y="2603500"/>
            <a:ext cx="8318500" cy="1933448"/>
          </a:xfrm>
          <a:prstGeom prst="rect">
            <a:avLst/>
          </a:prstGeom>
          <a:noFill/>
        </p:spPr>
        <p:txBody>
          <a:bodyPr wrap="square" lIns="54864" tIns="18288" rIns="54864" bIns="18288">
            <a:spAutoFit/>
          </a:bodyPr>
          <a:lstStyle/>
          <a:p>
            <a:pPr algn="l" eaLnBrk="1" hangingPunct="1">
              <a:lnSpc>
                <a:spcPct val="100000"/>
              </a:lnSpc>
              <a:spcBef>
                <a:spcPts val="100"/>
              </a:spcBef>
              <a:spcAft>
                <a:spcPts val="100"/>
              </a:spcAft>
              <a:buNone/>
            </a:pPr>
            <a:r>
              <a:rPr lang="zh-CN" altLang="en-US" sz="1600" b="0">
                <a:latin typeface="Consolas"/>
                <a:ea typeface="微软雅黑"/>
                <a:cs typeface="Consolas"/>
              </a:rPr>
              <a:t>23  public void sendMessage(Long orderId,final long delayTimes){</a:t>
            </a:r>
          </a:p>
          <a:p>
            <a:pPr algn="l" eaLnBrk="1" hangingPunct="1">
              <a:lnSpc>
                <a:spcPct val="100000"/>
              </a:lnSpc>
              <a:spcBef>
                <a:spcPts val="100"/>
              </a:spcBef>
              <a:spcAft>
                <a:spcPts val="100"/>
              </a:spcAft>
              <a:buNone/>
            </a:pPr>
            <a:r>
              <a:rPr lang="zh-CN" altLang="en-US" sz="1600" b="0">
                <a:latin typeface="Consolas"/>
                <a:ea typeface="微软雅黑"/>
                <a:cs typeface="Consolas"/>
              </a:rPr>
              <a:t>25  amqpTemplate.convertAndSend(</a:t>
            </a:r>
          </a:p>
          <a:p>
            <a:pPr algn="l" eaLnBrk="1" hangingPunct="1">
              <a:lnSpc>
                <a:spcPct val="100000"/>
              </a:lnSpc>
              <a:spcBef>
                <a:spcPts val="100"/>
              </a:spcBef>
              <a:spcAft>
                <a:spcPts val="100"/>
              </a:spcAft>
              <a:buNone/>
            </a:pPr>
            <a:r>
              <a:rPr lang="zh-CN" altLang="en-US" sz="1600" b="0">
                <a:latin typeface="Consolas"/>
                <a:ea typeface="微软雅黑"/>
                <a:cs typeface="Consolas"/>
              </a:rPr>
              <a:t>      QueueEnum.QUEUE_TTL_ORDER_CANCEL.getExchange(),</a:t>
            </a:r>
          </a:p>
          <a:p>
            <a:pPr algn="l" eaLnBrk="1" hangingPunct="1">
              <a:lnSpc>
                <a:spcPct val="100000"/>
              </a:lnSpc>
              <a:spcBef>
                <a:spcPts val="100"/>
              </a:spcBef>
              <a:spcAft>
                <a:spcPts val="100"/>
              </a:spcAft>
              <a:buNone/>
            </a:pPr>
            <a:r>
              <a:rPr lang="zh-CN" altLang="en-US" sz="1600" b="0">
                <a:latin typeface="Consolas"/>
                <a:ea typeface="微软雅黑"/>
                <a:cs typeface="Consolas"/>
              </a:rPr>
              <a:t>      QueueEnum.QUEUE_TTL_ORDER_CANCEL.getRouteKey(),</a:t>
            </a:r>
          </a:p>
          <a:p>
            <a:pPr algn="l" eaLnBrk="1" hangingPunct="1">
              <a:lnSpc>
                <a:spcPct val="100000"/>
              </a:lnSpc>
              <a:spcBef>
                <a:spcPts val="100"/>
              </a:spcBef>
              <a:spcAft>
                <a:spcPts val="100"/>
              </a:spcAft>
              <a:buNone/>
            </a:pPr>
            <a:r>
              <a:rPr lang="zh-CN" altLang="en-US" sz="1600" b="0">
                <a:latin typeface="Consolas"/>
                <a:ea typeface="微软雅黑"/>
                <a:cs typeface="Consolas"/>
              </a:rPr>
              <a:t>      orderId, new MessagePostProcessor() {</a:t>
            </a:r>
          </a:p>
          <a:p>
            <a:pPr algn="l" eaLnBrk="1" hangingPunct="1">
              <a:lnSpc>
                <a:spcPct val="100000"/>
              </a:lnSpc>
              <a:spcBef>
                <a:spcPts val="100"/>
              </a:spcBef>
              <a:spcAft>
                <a:spcPts val="100"/>
              </a:spcAft>
              <a:buNone/>
            </a:pPr>
            <a:r>
              <a:rPr lang="zh-CN" altLang="en-US" sz="1600" b="0">
                <a:latin typeface="Consolas"/>
                <a:ea typeface="微软雅黑"/>
                <a:cs typeface="Consolas"/>
              </a:rPr>
              <a:t>29  message.getMessageProperties().setExpiration(</a:t>
            </a:r>
          </a:p>
          <a:p>
            <a:pPr algn="l" eaLnBrk="1" hangingPunct="1">
              <a:lnSpc>
                <a:spcPct val="100000"/>
              </a:lnSpc>
              <a:spcBef>
                <a:spcPts val="100"/>
              </a:spcBef>
              <a:spcAft>
                <a:spcPts val="100"/>
              </a:spcAft>
              <a:buNone/>
            </a:pPr>
            <a:r>
              <a:rPr lang="zh-CN" altLang="en-US" sz="1600" b="0">
                <a:latin typeface="Consolas"/>
                <a:ea typeface="微软雅黑"/>
                <a:cs typeface="Consolas"/>
              </a:rPr>
              <a:t>      String.valueOf(delayTimes));</a:t>
            </a:r>
          </a:p>
        </p:txBody>
      </p:sp>
      <p:sp>
        <p:nvSpPr>
          <p:cNvPr id="5" name="fn"/>
          <p:cNvSpPr txBox="1"/>
          <p:nvPr/>
        </p:nvSpPr>
        <p:spPr>
          <a:xfrm>
            <a:off x="406400" y="4826000"/>
            <a:ext cx="8318500" cy="431800"/>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代码节选：mall-portal/src/main/java/com/macro/mall/portal/component/CancelOrderSender.java:23、25、29；省略 26–28 行方法包装，长行按版面换行</a:t>
            </a:r>
          </a:p>
        </p:txBody>
      </p:sp>
      <p:sp>
        <p:nvSpPr>
          <p:cNvPr id="6" name="fn"/>
          <p:cNvSpPr txBox="1"/>
          <p:nvPr/>
        </p:nvSpPr>
        <p:spPr>
          <a:xfrm>
            <a:off x="406400" y="5283200"/>
            <a:ext cx="8318500" cy="431800"/>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代码：baseline-dcaa93b3（E2-00 沿用）；后续示例：exp/e2-00，6cf9e39ee30d314c7262bc18e2b320da6f7dc505，Issue #42</a:t>
            </a:r>
          </a:p>
        </p:txBody>
      </p:sp>
      <p:sp>
        <p:nvSpPr>
          <p:cNvPr id="7"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超时取消（E2-00）的接收端到期才取消订单</a:t>
            </a:r>
          </a:p>
        </p:txBody>
      </p:sp>
      <p:sp>
        <p:nvSpPr>
          <p:cNvPr id="3" name="fig"/>
          <p:cNvSpPr/>
          <p:nvPr/>
        </p:nvSpPr>
        <p:spPr>
          <a:xfrm>
            <a:off x="368300" y="1485900"/>
            <a:ext cx="8407400" cy="8890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消息到期后，CancelOrderReceiver 才调用 cancelOrder，监听队列 mall.order.cancel</a:t>
            </a:r>
          </a:p>
        </p:txBody>
      </p:sp>
      <p:sp>
        <p:nvSpPr>
          <p:cNvPr id="4" name="code-excerpt"/>
          <p:cNvSpPr txBox="1"/>
          <p:nvPr/>
        </p:nvSpPr>
        <p:spPr>
          <a:xfrm>
            <a:off x="406400" y="2603500"/>
            <a:ext cx="8318500" cy="1417320"/>
          </a:xfrm>
          <a:prstGeom prst="rect">
            <a:avLst/>
          </a:prstGeom>
          <a:noFill/>
        </p:spPr>
        <p:txBody>
          <a:bodyPr wrap="square" lIns="54864" tIns="18288" rIns="54864" bIns="18288">
            <a:spAutoFit/>
          </a:bodyPr>
          <a:lstStyle/>
          <a:p>
            <a:pPr algn="l" eaLnBrk="1" hangingPunct="1">
              <a:lnSpc>
                <a:spcPct val="100000"/>
              </a:lnSpc>
              <a:spcBef>
                <a:spcPts val="100"/>
              </a:spcBef>
              <a:spcAft>
                <a:spcPts val="100"/>
              </a:spcAft>
              <a:buNone/>
            </a:pPr>
            <a:r>
              <a:rPr lang="zh-CN" altLang="en-US" sz="1600" b="0">
                <a:latin typeface="Consolas"/>
                <a:ea typeface="微软雅黑"/>
                <a:cs typeface="Consolas"/>
              </a:rPr>
              <a:t>16  @RabbitListener(queues = "mall.order.cancel")</a:t>
            </a:r>
          </a:p>
          <a:p>
            <a:pPr algn="l" eaLnBrk="1" hangingPunct="1">
              <a:lnSpc>
                <a:spcPct val="100000"/>
              </a:lnSpc>
              <a:spcBef>
                <a:spcPts val="100"/>
              </a:spcBef>
              <a:spcAft>
                <a:spcPts val="100"/>
              </a:spcAft>
              <a:buNone/>
            </a:pPr>
            <a:r>
              <a:rPr lang="zh-CN" altLang="en-US" sz="1600" b="0">
                <a:latin typeface="Consolas"/>
                <a:ea typeface="微软雅黑"/>
                <a:cs typeface="Consolas"/>
              </a:rPr>
              <a:t>17  public class CancelOrderReceiver {</a:t>
            </a:r>
          </a:p>
          <a:p>
            <a:pPr algn="l" eaLnBrk="1" hangingPunct="1">
              <a:lnSpc>
                <a:spcPct val="100000"/>
              </a:lnSpc>
              <a:spcBef>
                <a:spcPts val="100"/>
              </a:spcBef>
              <a:spcAft>
                <a:spcPts val="100"/>
              </a:spcAft>
              <a:buNone/>
            </a:pPr>
            <a:r>
              <a:rPr lang="zh-CN" altLang="en-US" sz="1600" b="0">
                <a:latin typeface="Consolas"/>
                <a:ea typeface="微软雅黑"/>
                <a:cs typeface="Consolas"/>
              </a:rPr>
              <a:t>21  @RabbitHandler</a:t>
            </a:r>
          </a:p>
          <a:p>
            <a:pPr algn="l" eaLnBrk="1" hangingPunct="1">
              <a:lnSpc>
                <a:spcPct val="100000"/>
              </a:lnSpc>
              <a:spcBef>
                <a:spcPts val="100"/>
              </a:spcBef>
              <a:spcAft>
                <a:spcPts val="100"/>
              </a:spcAft>
              <a:buNone/>
            </a:pPr>
            <a:r>
              <a:rPr lang="zh-CN" altLang="en-US" sz="1600" b="0">
                <a:latin typeface="Consolas"/>
                <a:ea typeface="微软雅黑"/>
                <a:cs typeface="Consolas"/>
              </a:rPr>
              <a:t>22  public void handle(Long orderId){</a:t>
            </a:r>
          </a:p>
          <a:p>
            <a:pPr algn="l" eaLnBrk="1" hangingPunct="1">
              <a:lnSpc>
                <a:spcPct val="100000"/>
              </a:lnSpc>
              <a:spcBef>
                <a:spcPts val="100"/>
              </a:spcBef>
              <a:spcAft>
                <a:spcPts val="100"/>
              </a:spcAft>
              <a:buNone/>
            </a:pPr>
            <a:r>
              <a:rPr lang="zh-CN" altLang="en-US" sz="1600" b="0">
                <a:latin typeface="Consolas"/>
                <a:ea typeface="微软雅黑"/>
                <a:cs typeface="Consolas"/>
              </a:rPr>
              <a:t>23  portalOrderService.cancelOrder(orderId);</a:t>
            </a:r>
          </a:p>
        </p:txBody>
      </p:sp>
      <p:sp>
        <p:nvSpPr>
          <p:cNvPr id="5" name="fn"/>
          <p:cNvSpPr txBox="1"/>
          <p:nvPr/>
        </p:nvSpPr>
        <p:spPr>
          <a:xfrm>
            <a:off x="406400" y="4251960"/>
            <a:ext cx="8318500" cy="566928"/>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代码节选：mall-portal/src/main/java/com/macro/mall/portal/component/CancelOrderReceiver.java:16、17、21–23</a:t>
            </a:r>
            <a:br>
              <a:rPr lang="zh-CN" sz="1200">
                <a:latin typeface="微软雅黑"/>
                <a:ea typeface="微软雅黑"/>
              </a:rPr>
            </a:br>
            <a:r>
              <a:rPr lang="zh-CN" altLang="en-US" sz="1200" b="0">
                <a:latin typeface="微软雅黑"/>
                <a:ea typeface="微软雅黑"/>
                <a:cs typeface="微软雅黑"/>
              </a:rPr>
              <a:t>（缩进为显示所省）</a:t>
            </a:r>
          </a:p>
        </p:txBody>
      </p:sp>
      <p:sp>
        <p:nvSpPr>
          <p:cNvPr id="6" name="fn"/>
          <p:cNvSpPr txBox="1"/>
          <p:nvPr/>
        </p:nvSpPr>
        <p:spPr>
          <a:xfrm>
            <a:off x="406400" y="5283200"/>
            <a:ext cx="8318500" cy="431800"/>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代码：baseline-dcaa93b3（E2-00 沿用）；后续示例：exp/e2-00，6cf9e39ee30d314c7262bc18e2b320da6f7dc505，Issue #42</a:t>
            </a:r>
          </a:p>
        </p:txBody>
      </p:sp>
      <p:sp>
        <p:nvSpPr>
          <p:cNvPr id="7"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文档库、对象存储与 Nginx 回应存取与入口需求</a:t>
            </a:r>
          </a:p>
        </p:txBody>
      </p:sp>
      <p:graphicFrame>
        <p:nvGraphicFramePr>
          <p:cNvPr id="3" name="table"/>
          <p:cNvGraphicFramePr>
            <a:graphicFrameLocks noGrp="1"/>
          </p:cNvGraphicFramePr>
          <p:nvPr/>
        </p:nvGraphicFramePr>
        <p:xfrm>
          <a:off x="368300" y="1485900"/>
          <a:ext cx="8407400" cy="2705098"/>
        </p:xfrm>
        <a:graphic>
          <a:graphicData uri="http://schemas.openxmlformats.org/drawingml/2006/table">
            <a:tbl>
              <a:tblPr>
                <a:tableStyleId>{2D5ABB26-0587-4C30-8999-92F81FD0307C}</a:tableStyleId>
              </a:tblPr>
              <a:tblGrid>
                <a:gridCol w="1905000">
                  <a:extLst>
                    <a:ext uri="{9D8B030D-6E8A-4147-A177-3AD203B41FA5}">
                      <a16:colId xmlns:a16="http://schemas.microsoft.com/office/drawing/2014/main" val="20000"/>
                    </a:ext>
                  </a:extLst>
                </a:gridCol>
                <a:gridCol w="3683000">
                  <a:extLst>
                    <a:ext uri="{9D8B030D-6E8A-4147-A177-3AD203B41FA5}">
                      <a16:colId xmlns:a16="http://schemas.microsoft.com/office/drawing/2014/main" val="20001"/>
                    </a:ext>
                  </a:extLst>
                </a:gridCol>
                <a:gridCol w="2819400">
                  <a:extLst>
                    <a:ext uri="{9D8B030D-6E8A-4147-A177-3AD203B41FA5}">
                      <a16:colId xmlns:a16="http://schemas.microsoft.com/office/drawing/2014/main" val="20002"/>
                    </a:ext>
                  </a:extLst>
                </a:gridCol>
              </a:tblGrid>
              <a:tr h="523972">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组件</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位置</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828577">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MongoDB</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mall-portal 的文档库</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非表格形态的文档按需</a:t>
                      </a:r>
                      <a:br>
                        <a:rPr lang="zh-CN" sz="2000">
                          <a:solidFill>
                            <a:srgbClr val="262626"/>
                          </a:solidFill>
                          <a:latin typeface="微软雅黑"/>
                          <a:ea typeface="微软雅黑"/>
                        </a:rPr>
                      </a:br>
                      <a:r>
                        <a:rPr lang="zh-CN" altLang="en-US" sz="2000" b="0">
                          <a:solidFill>
                            <a:srgbClr val="262626"/>
                          </a:solidFill>
                          <a:latin typeface="微软雅黑"/>
                          <a:ea typeface="微软雅黑"/>
                          <a:cs typeface="微软雅黑"/>
                        </a:rPr>
                        <a:t>存取</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523972">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MinIO</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mall-admin 的对象存储</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图片等文件不放进主库</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828577">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Nginx</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上游反向代理</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与静态资源入口</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统一入口</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分发静态资源</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bl>
          </a:graphicData>
        </a:graphic>
      </p:graphicFrame>
      <p:sp>
        <p:nvSpPr>
          <p:cNvPr id="4" name="fig"/>
          <p:cNvSpPr/>
          <p:nvPr/>
        </p:nvSpPr>
        <p:spPr>
          <a:xfrm>
            <a:off x="368300" y="4445000"/>
            <a:ext cx="8407400" cy="10160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课堂环境只部署 MySQL、Redis、MongoDB、RabbitMQ 四项</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文档与对象存储承担不同的数据职责</a:t>
            </a:r>
          </a:p>
        </p:txBody>
      </p:sp>
      <p:graphicFrame>
        <p:nvGraphicFramePr>
          <p:cNvPr id="3" name="table"/>
          <p:cNvGraphicFramePr>
            <a:graphicFrameLocks noGrp="1"/>
          </p:cNvGraphicFramePr>
          <p:nvPr>
            <p:extLst>
              <p:ext uri="{D42A27DB-BD31-4B8C-83A1-F6EECF244321}">
                <p14:modId xmlns:p14="http://schemas.microsoft.com/office/powerpoint/2010/main" val="2436067908"/>
              </p:ext>
            </p:extLst>
          </p:nvPr>
        </p:nvGraphicFramePr>
        <p:xfrm>
          <a:off x="368300" y="1485900"/>
          <a:ext cx="8407400" cy="4229100"/>
        </p:xfrm>
        <a:graphic>
          <a:graphicData uri="http://schemas.openxmlformats.org/drawingml/2006/table">
            <a:tbl>
              <a:tblPr>
                <a:tableStyleId>{2D5ABB26-0587-4C30-8999-92F81FD0307C}</a:tableStyleId>
              </a:tblPr>
              <a:tblGrid>
                <a:gridCol w="1676400">
                  <a:extLst>
                    <a:ext uri="{9D8B030D-6E8A-4147-A177-3AD203B41FA5}">
                      <a16:colId xmlns:a16="http://schemas.microsoft.com/office/drawing/2014/main" val="20000"/>
                    </a:ext>
                  </a:extLst>
                </a:gridCol>
                <a:gridCol w="6731000">
                  <a:extLst>
                    <a:ext uri="{9D8B030D-6E8A-4147-A177-3AD203B41FA5}">
                      <a16:colId xmlns:a16="http://schemas.microsoft.com/office/drawing/2014/main" val="20001"/>
                    </a:ext>
                  </a:extLst>
                </a:gridCol>
              </a:tblGrid>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MongoDB</a:t>
                      </a:r>
                      <a:r>
                        <a:rPr lang="zh-CN" altLang="en-US" sz="2000" b="0" dirty="0">
                          <a:solidFill>
                            <a:srgbClr val="262626"/>
                          </a:solidFill>
                          <a:latin typeface="微软雅黑"/>
                          <a:ea typeface="微软雅黑"/>
                          <a:cs typeface="微软雅黑"/>
                        </a:rPr>
                        <a:t>：按文档组织相关数据；</a:t>
                      </a:r>
                      <a:br>
                        <a:rPr lang="en-US" altLang="zh-CN" sz="2000" b="0" dirty="0">
                          <a:solidFill>
                            <a:srgbClr val="262626"/>
                          </a:solidFill>
                          <a:latin typeface="微软雅黑"/>
                          <a:ea typeface="微软雅黑"/>
                          <a:cs typeface="微软雅黑"/>
                        </a:rPr>
                      </a:br>
                      <a:r>
                        <a:rPr lang="en-US" altLang="zh-CN" sz="2000" b="0" dirty="0" err="1">
                          <a:solidFill>
                            <a:srgbClr val="262626"/>
                          </a:solidFill>
                          <a:latin typeface="微软雅黑"/>
                          <a:ea typeface="微软雅黑"/>
                          <a:cs typeface="微软雅黑"/>
                        </a:rPr>
                        <a:t>MinIO</a:t>
                      </a:r>
                      <a:r>
                        <a:rPr lang="zh-CN" altLang="en-US" sz="2000" b="0" dirty="0">
                          <a:solidFill>
                            <a:srgbClr val="262626"/>
                          </a:solidFill>
                          <a:latin typeface="微软雅黑"/>
                          <a:ea typeface="微软雅黑"/>
                          <a:cs typeface="微软雅黑"/>
                        </a:rPr>
                        <a:t>：保存图片等文件。</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MongoDB</a:t>
                      </a:r>
                      <a:r>
                        <a:rPr lang="zh-CN" altLang="en-US" sz="2000" b="0" dirty="0">
                          <a:solidFill>
                            <a:srgbClr val="262626"/>
                          </a:solidFill>
                          <a:latin typeface="微软雅黑"/>
                          <a:ea typeface="微软雅黑"/>
                          <a:cs typeface="微软雅黑"/>
                        </a:rPr>
                        <a:t>：</a:t>
                      </a:r>
                      <a:r>
                        <a:rPr lang="en-US" altLang="zh-CN" sz="2000" b="0" dirty="0">
                          <a:solidFill>
                            <a:srgbClr val="262626"/>
                          </a:solidFill>
                          <a:latin typeface="微软雅黑"/>
                          <a:ea typeface="微软雅黑"/>
                          <a:cs typeface="微软雅黑"/>
                        </a:rPr>
                        <a:t>portal </a:t>
                      </a:r>
                      <a:r>
                        <a:rPr lang="zh-CN" altLang="en-US" sz="2000" b="0" dirty="0">
                          <a:solidFill>
                            <a:srgbClr val="262626"/>
                          </a:solidFill>
                          <a:latin typeface="微软雅黑"/>
                          <a:ea typeface="微软雅黑"/>
                          <a:cs typeface="微软雅黑"/>
                        </a:rPr>
                        <a:t>使用文档库；</a:t>
                      </a:r>
                      <a:br>
                        <a:rPr lang="en-US" altLang="zh-CN" sz="2000" b="0" dirty="0">
                          <a:solidFill>
                            <a:srgbClr val="262626"/>
                          </a:solidFill>
                          <a:latin typeface="微软雅黑"/>
                          <a:ea typeface="微软雅黑"/>
                          <a:cs typeface="微软雅黑"/>
                        </a:rPr>
                      </a:br>
                      <a:r>
                        <a:rPr lang="en-US" altLang="zh-CN" sz="2000" b="0" dirty="0" err="1">
                          <a:solidFill>
                            <a:srgbClr val="262626"/>
                          </a:solidFill>
                          <a:latin typeface="微软雅黑"/>
                          <a:ea typeface="微软雅黑"/>
                          <a:cs typeface="微软雅黑"/>
                        </a:rPr>
                        <a:t>MinIO</a:t>
                      </a:r>
                      <a:r>
                        <a:rPr lang="zh-CN" altLang="en-US" sz="2000" b="0" dirty="0">
                          <a:solidFill>
                            <a:srgbClr val="262626"/>
                          </a:solidFill>
                          <a:latin typeface="微软雅黑"/>
                          <a:ea typeface="微软雅黑"/>
                          <a:cs typeface="微软雅黑"/>
                        </a:rPr>
                        <a:t>：</a:t>
                      </a:r>
                      <a:r>
                        <a:rPr lang="en-US" altLang="zh-CN" sz="2000" b="0" dirty="0">
                          <a:solidFill>
                            <a:srgbClr val="262626"/>
                          </a:solidFill>
                          <a:latin typeface="微软雅黑"/>
                          <a:ea typeface="微软雅黑"/>
                          <a:cs typeface="微软雅黑"/>
                        </a:rPr>
                        <a:t>admin </a:t>
                      </a:r>
                      <a:r>
                        <a:rPr lang="zh-CN" altLang="en-US" sz="2000" b="0" dirty="0">
                          <a:solidFill>
                            <a:srgbClr val="262626"/>
                          </a:solidFill>
                          <a:latin typeface="微软雅黑"/>
                          <a:ea typeface="微软雅黑"/>
                          <a:cs typeface="微软雅黑"/>
                        </a:rPr>
                        <a:t>使用对象存储。</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MongoDB</a:t>
                      </a:r>
                      <a:r>
                        <a:rPr lang="zh-CN" altLang="en-US" sz="2000" b="0" dirty="0">
                          <a:solidFill>
                            <a:srgbClr val="262626"/>
                          </a:solidFill>
                          <a:latin typeface="微软雅黑"/>
                          <a:ea typeface="微软雅黑"/>
                          <a:cs typeface="微软雅黑"/>
                        </a:rPr>
                        <a:t>：同一文档可聚合相关字段；</a:t>
                      </a:r>
                      <a:br>
                        <a:rPr lang="en-US" altLang="zh-CN" sz="2000" b="0" dirty="0">
                          <a:solidFill>
                            <a:srgbClr val="262626"/>
                          </a:solidFill>
                          <a:latin typeface="微软雅黑"/>
                          <a:ea typeface="微软雅黑"/>
                          <a:cs typeface="微软雅黑"/>
                        </a:rPr>
                      </a:br>
                      <a:r>
                        <a:rPr lang="en-US" altLang="zh-CN" sz="2000" b="0" dirty="0" err="1">
                          <a:solidFill>
                            <a:srgbClr val="262626"/>
                          </a:solidFill>
                          <a:latin typeface="微软雅黑"/>
                          <a:ea typeface="微软雅黑"/>
                          <a:cs typeface="微软雅黑"/>
                        </a:rPr>
                        <a:t>MinIO</a:t>
                      </a:r>
                      <a:r>
                        <a:rPr lang="zh-CN" altLang="en-US" sz="2000" b="0" dirty="0">
                          <a:solidFill>
                            <a:srgbClr val="262626"/>
                          </a:solidFill>
                          <a:latin typeface="微软雅黑"/>
                          <a:ea typeface="微软雅黑"/>
                          <a:cs typeface="微软雅黑"/>
                        </a:rPr>
                        <a:t>：文件与主库记录分开保存。</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MongoDB：数据结构仍须设计；</a:t>
                      </a:r>
                      <a:br>
                        <a:rPr lang="en-US" altLang="zh-CN" sz="2000" b="0" dirty="0">
                          <a:solidFill>
                            <a:srgbClr val="262626"/>
                          </a:solidFill>
                          <a:latin typeface="微软雅黑"/>
                          <a:ea typeface="微软雅黑"/>
                          <a:cs typeface="微软雅黑"/>
                        </a:rPr>
                      </a:br>
                      <a:r>
                        <a:rPr lang="en-US" altLang="zh-CN" sz="2000" b="0" dirty="0">
                          <a:solidFill>
                            <a:srgbClr val="262626"/>
                          </a:solidFill>
                          <a:latin typeface="微软雅黑"/>
                          <a:ea typeface="微软雅黑"/>
                          <a:cs typeface="微软雅黑"/>
                        </a:rPr>
                        <a:t>MinIO：对象与业务记录须有关联。</a:t>
                      </a:r>
                      <a:br>
                        <a:rPr lang="en-US" altLang="zh-CN" sz="2000" b="0" dirty="0">
                          <a:solidFill>
                            <a:srgbClr val="262626"/>
                          </a:solidFill>
                          <a:latin typeface="微软雅黑"/>
                          <a:ea typeface="微软雅黑"/>
                          <a:cs typeface="微软雅黑"/>
                        </a:rPr>
                      </a:br>
                      <a:endParaRPr lang="en-US" altLang="zh-CN" sz="2000" b="0" dirty="0">
                        <a:solidFill>
                          <a:srgbClr val="262626"/>
                        </a:solidFill>
                        <a:latin typeface="微软雅黑"/>
                        <a:ea typeface="微软雅黑"/>
                        <a:cs typeface="微软雅黑"/>
                      </a:endParaRP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微软雅黑"/>
                          <a:ea typeface="微软雅黑"/>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en-US" altLang="zh-CN" sz="2000" b="0" dirty="0">
                          <a:solidFill>
                            <a:srgbClr val="262626"/>
                          </a:solidFill>
                          <a:latin typeface="微软雅黑"/>
                          <a:ea typeface="微软雅黑"/>
                          <a:cs typeface="微软雅黑"/>
                        </a:rPr>
                        <a:t>MongoDB：须有备份与恢复策略，并启用访问控制；MinIO：须分配访问权限，对象可按生命周期规则过期。</a:t>
                      </a:r>
                      <a:br>
                        <a:rPr lang="en-US" altLang="zh-CN" sz="2000" b="0" dirty="0">
                          <a:solidFill>
                            <a:srgbClr val="262626"/>
                          </a:solidFill>
                          <a:latin typeface="微软雅黑"/>
                          <a:ea typeface="微软雅黑"/>
                          <a:cs typeface="微软雅黑"/>
                        </a:rPr>
                      </a:br>
                      <a:endParaRPr lang="en-US" altLang="zh-CN" sz="2000" b="0" dirty="0">
                        <a:solidFill>
                          <a:srgbClr val="262626"/>
                        </a:solidFill>
                        <a:latin typeface="微软雅黑"/>
                        <a:ea typeface="微软雅黑"/>
                        <a:cs typeface="微软雅黑"/>
                      </a:endParaRP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extLst>
      <p:ext uri="{BB962C8B-B14F-4D97-AF65-F5344CB8AC3E}">
        <p14:creationId xmlns:p14="http://schemas.microsoft.com/office/powerpoint/2010/main" val="8750394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en-US" altLang="zh-CN" sz="2800" b="1" dirty="0">
                <a:solidFill>
                  <a:srgbClr val="A33B38"/>
                </a:solidFill>
                <a:latin typeface="微软雅黑"/>
                <a:ea typeface="微软雅黑"/>
                <a:cs typeface="微软雅黑"/>
              </a:rPr>
              <a:t>Nginx </a:t>
            </a:r>
            <a:r>
              <a:rPr lang="zh-CN" altLang="en-US" sz="2800" b="1" dirty="0">
                <a:solidFill>
                  <a:srgbClr val="A33B38"/>
                </a:solidFill>
                <a:latin typeface="微软雅黑"/>
                <a:ea typeface="微软雅黑"/>
                <a:cs typeface="微软雅黑"/>
              </a:rPr>
              <a:t>统一入口，也增加配置与故障责任</a:t>
            </a:r>
          </a:p>
        </p:txBody>
      </p:sp>
      <p:graphicFrame>
        <p:nvGraphicFramePr>
          <p:cNvPr id="3" name="table"/>
          <p:cNvGraphicFramePr>
            <a:graphicFrameLocks noGrp="1"/>
          </p:cNvGraphicFramePr>
          <p:nvPr>
            <p:extLst>
              <p:ext uri="{D42A27DB-BD31-4B8C-83A1-F6EECF244321}">
                <p14:modId xmlns:p14="http://schemas.microsoft.com/office/powerpoint/2010/main" val="1785383202"/>
              </p:ext>
            </p:extLst>
          </p:nvPr>
        </p:nvGraphicFramePr>
        <p:xfrm>
          <a:off x="368300" y="1485900"/>
          <a:ext cx="8407400" cy="4229100"/>
        </p:xfrm>
        <a:graphic>
          <a:graphicData uri="http://schemas.openxmlformats.org/drawingml/2006/table">
            <a:tbl>
              <a:tblPr>
                <a:tableStyleId>{2D5ABB26-0587-4C30-8999-92F81FD0307C}</a:tableStyleId>
              </a:tblPr>
              <a:tblGrid>
                <a:gridCol w="1676400">
                  <a:extLst>
                    <a:ext uri="{9D8B030D-6E8A-4147-A177-3AD203B41FA5}">
                      <a16:colId xmlns:a16="http://schemas.microsoft.com/office/drawing/2014/main" val="20000"/>
                    </a:ext>
                  </a:extLst>
                </a:gridCol>
                <a:gridCol w="6731000">
                  <a:extLst>
                    <a:ext uri="{9D8B030D-6E8A-4147-A177-3AD203B41FA5}">
                      <a16:colId xmlns:a16="http://schemas.microsoft.com/office/drawing/2014/main" val="20001"/>
                    </a:ext>
                  </a:extLst>
                </a:gridCol>
              </a:tblGrid>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Microsoft YaHei" panose="020B0503020204020204" pitchFamily="34" charset="-122"/>
                          <a:ea typeface="Microsoft YaHei" panose="020B0503020204020204" pitchFamily="34" charset="-122"/>
                          <a:cs typeface="微软雅黑"/>
                        </a:rPr>
                        <a:t>回应的需求</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Microsoft YaHei" panose="020B0503020204020204" pitchFamily="34" charset="-122"/>
                          <a:ea typeface="Microsoft YaHei" panose="020B0503020204020204" pitchFamily="34" charset="-122"/>
                          <a:cs typeface="微软雅黑"/>
                        </a:rPr>
                        <a:t>统一请求入口，并提供静态资源。</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Microsoft YaHei" panose="020B0503020204020204" pitchFamily="34" charset="-122"/>
                          <a:ea typeface="Microsoft YaHei" panose="020B0503020204020204" pitchFamily="34" charset="-122"/>
                          <a:cs typeface="微软雅黑"/>
                        </a:rPr>
                        <a:t>设计方案</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Microsoft YaHei" panose="020B0503020204020204" pitchFamily="34" charset="-122"/>
                          <a:ea typeface="Microsoft YaHei" panose="020B0503020204020204" pitchFamily="34" charset="-122"/>
                          <a:cs typeface="微软雅黑"/>
                        </a:rPr>
                        <a:t>由反向代理转发到后端应用。</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Microsoft YaHei" panose="020B0503020204020204" pitchFamily="34" charset="-122"/>
                          <a:ea typeface="Microsoft YaHei" panose="020B0503020204020204" pitchFamily="34" charset="-122"/>
                          <a:cs typeface="微软雅黑"/>
                        </a:rPr>
                        <a:t>优点</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Microsoft YaHei" panose="020B0503020204020204" pitchFamily="34" charset="-122"/>
                          <a:ea typeface="Microsoft YaHei" panose="020B0503020204020204" pitchFamily="34" charset="-122"/>
                          <a:cs typeface="微软雅黑"/>
                        </a:rPr>
                        <a:t>客户端不必直接面对各后端地址。</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Microsoft YaHei" panose="020B0503020204020204" pitchFamily="34" charset="-122"/>
                          <a:ea typeface="Microsoft YaHei" panose="020B0503020204020204" pitchFamily="34" charset="-122"/>
                          <a:cs typeface="微软雅黑"/>
                        </a:rPr>
                        <a:t>限制</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Microsoft YaHei" panose="020B0503020204020204" pitchFamily="34" charset="-122"/>
                          <a:ea typeface="Microsoft YaHei" panose="020B0503020204020204" pitchFamily="34" charset="-122"/>
                          <a:cs typeface="微软雅黑"/>
                        </a:rPr>
                        <a:t>路由与后端地址须保持一致。</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845820">
                <a:tc>
                  <a:txBody>
                    <a:bodyPr/>
                    <a:lstStyle/>
                    <a:p>
                      <a:pPr algn="l" eaLnBrk="1" hangingPunct="1">
                        <a:lnSpc>
                          <a:spcPct val="90000"/>
                        </a:lnSpc>
                        <a:spcBef>
                          <a:spcPts val="200"/>
                        </a:spcBef>
                        <a:spcAft>
                          <a:spcPts val="200"/>
                        </a:spcAft>
                        <a:buNone/>
                      </a:pPr>
                      <a:r>
                        <a:rPr lang="zh-CN" altLang="en-US" sz="2000" b="1" dirty="0">
                          <a:solidFill>
                            <a:srgbClr val="262626"/>
                          </a:solidFill>
                          <a:latin typeface="Microsoft YaHei" panose="020B0503020204020204" pitchFamily="34" charset="-122"/>
                          <a:ea typeface="Microsoft YaHei" panose="020B0503020204020204" pitchFamily="34" charset="-122"/>
                          <a:cs typeface="微软雅黑"/>
                        </a:rPr>
                        <a:t>不足</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dirty="0">
                          <a:solidFill>
                            <a:srgbClr val="262626"/>
                          </a:solidFill>
                          <a:latin typeface="Microsoft YaHei" panose="020B0503020204020204" pitchFamily="34" charset="-122"/>
                          <a:ea typeface="Microsoft YaHei" panose="020B0503020204020204" pitchFamily="34" charset="-122"/>
                          <a:cs typeface="微软雅黑"/>
                        </a:rPr>
                        <a:t>入口故障可能影响访问。</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extLst>
      <p:ext uri="{BB962C8B-B14F-4D97-AF65-F5344CB8AC3E}">
        <p14:creationId xmlns:p14="http://schemas.microsoft.com/office/powerpoint/2010/main" val="16062290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课堂环境只保留四项并改了宿主端口</a:t>
            </a:r>
          </a:p>
        </p:txBody>
      </p:sp>
      <p:graphicFrame>
        <p:nvGraphicFramePr>
          <p:cNvPr id="3" name="table"/>
          <p:cNvGraphicFramePr>
            <a:graphicFrameLocks noGrp="1"/>
          </p:cNvGraphicFramePr>
          <p:nvPr/>
        </p:nvGraphicFramePr>
        <p:xfrm>
          <a:off x="368300" y="1485900"/>
          <a:ext cx="8407400" cy="2705100"/>
        </p:xfrm>
        <a:graphic>
          <a:graphicData uri="http://schemas.openxmlformats.org/drawingml/2006/table">
            <a:tbl>
              <a:tblPr>
                <a:tableStyleId>{2D5ABB26-0587-4C30-8999-92F81FD0307C}</a:tableStyleId>
              </a:tblPr>
              <a:tblGrid>
                <a:gridCol w="2794000">
                  <a:extLst>
                    <a:ext uri="{9D8B030D-6E8A-4147-A177-3AD203B41FA5}">
                      <a16:colId xmlns:a16="http://schemas.microsoft.com/office/drawing/2014/main" val="20000"/>
                    </a:ext>
                  </a:extLst>
                </a:gridCol>
                <a:gridCol w="2806700">
                  <a:extLst>
                    <a:ext uri="{9D8B030D-6E8A-4147-A177-3AD203B41FA5}">
                      <a16:colId xmlns:a16="http://schemas.microsoft.com/office/drawing/2014/main" val="20001"/>
                    </a:ext>
                  </a:extLst>
                </a:gridCol>
                <a:gridCol w="2806700">
                  <a:extLst>
                    <a:ext uri="{9D8B030D-6E8A-4147-A177-3AD203B41FA5}">
                      <a16:colId xmlns:a16="http://schemas.microsoft.com/office/drawing/2014/main" val="20002"/>
                    </a:ext>
                  </a:extLst>
                </a:gridCol>
              </a:tblGrid>
              <a:tr h="5410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组件</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上游宿主端口</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课堂宿主端口</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5410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MySQL</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3306</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13306</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5410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Redis</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6379</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16379</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5410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MongoDB</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27017</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27018</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5410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RabbitMQ</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5672</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5673</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fig"/>
          <p:cNvSpPr/>
          <p:nvPr/>
        </p:nvSpPr>
        <p:spPr>
          <a:xfrm>
            <a:off x="368300" y="4381500"/>
            <a:ext cx="8407400" cy="8890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上游另有 Elasticsearch、MinIO、Nginx、Logstash、Kibana 五项，</a:t>
            </a:r>
            <a:br>
              <a:rPr lang="zh-CN" sz="2000">
                <a:latin typeface="微软雅黑"/>
                <a:ea typeface="微软雅黑"/>
              </a:rPr>
            </a:br>
            <a:r>
              <a:rPr lang="zh-CN" altLang="en-US" sz="2000" b="0">
                <a:solidFill>
                  <a:srgbClr val="262626"/>
                </a:solidFill>
                <a:latin typeface="微软雅黑"/>
                <a:ea typeface="微软雅黑"/>
                <a:cs typeface="微软雅黑"/>
              </a:rPr>
              <a:t>课堂不部署</a:t>
            </a:r>
          </a:p>
        </p:txBody>
      </p:sp>
      <p:sp>
        <p:nvSpPr>
          <p:cNvPr id="5" name="fn"/>
          <p:cNvSpPr txBox="1"/>
          <p:nvPr/>
        </p:nvSpPr>
        <p:spPr>
          <a:xfrm>
            <a:off x="406400" y="5461000"/>
            <a:ext cx="8318500" cy="431800"/>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上游：document/docker/docker-compose-env.yml；课堂：SDC/environment/compose.yml（exp/E2，提交 c247ba6a8721f64bdfa1f0d4c7bb0b219ff6a60c）</a:t>
            </a:r>
          </a:p>
        </p:txBody>
      </p:sp>
      <p:sp>
        <p:nvSpPr>
          <p:cNvPr id="6"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用 profile 切换环境，密钥不入库</a:t>
            </a:r>
          </a:p>
        </p:txBody>
      </p:sp>
      <p:sp>
        <p:nvSpPr>
          <p:cNvPr id="6" name="code-excerpt"/>
          <p:cNvSpPr txBox="1"/>
          <p:nvPr/>
        </p:nvSpPr>
        <p:spPr>
          <a:xfrm>
            <a:off x="402336" y="4160520"/>
            <a:ext cx="8321040" cy="704088"/>
          </a:xfrm>
          <a:prstGeom prst="rect">
            <a:avLst/>
          </a:prstGeom>
          <a:noFill/>
        </p:spPr>
        <p:txBody>
          <a:bodyPr wrap="square" lIns="54864" tIns="18288" rIns="54864" bIns="18288">
            <a:spAutoFit/>
          </a:bodyPr>
          <a:lstStyle/>
          <a:p>
            <a:pPr algn="l" eaLnBrk="1" hangingPunct="1">
              <a:lnSpc>
                <a:spcPct val="100000"/>
              </a:lnSpc>
              <a:spcBef>
                <a:spcPts val="100"/>
              </a:spcBef>
              <a:spcAft>
                <a:spcPts val="100"/>
              </a:spcAft>
              <a:buNone/>
            </a:pPr>
            <a:r>
              <a:rPr lang="zh-CN" altLang="en-US" sz="1800" b="0">
                <a:latin typeface="Consolas"/>
                <a:ea typeface="微软雅黑"/>
                <a:cs typeface="Consolas"/>
              </a:rPr>
              <a:t>4   profiles:</a:t>
            </a:r>
          </a:p>
          <a:p>
            <a:pPr algn="l" eaLnBrk="1" hangingPunct="1">
              <a:lnSpc>
                <a:spcPct val="100000"/>
              </a:lnSpc>
              <a:spcBef>
                <a:spcPts val="100"/>
              </a:spcBef>
              <a:spcAft>
                <a:spcPts val="100"/>
              </a:spcAft>
              <a:buNone/>
            </a:pPr>
            <a:r>
              <a:rPr lang="zh-CN" altLang="en-US" sz="1800" b="0">
                <a:latin typeface="Consolas"/>
                <a:ea typeface="微软雅黑"/>
                <a:cs typeface="Consolas"/>
              </a:rPr>
              <a:t>5     active: dev #默认为开发环境</a:t>
            </a:r>
          </a:p>
        </p:txBody>
      </p:sp>
      <p:sp>
        <p:nvSpPr>
          <p:cNvPr id="7" name="fn"/>
          <p:cNvSpPr txBox="1"/>
          <p:nvPr/>
        </p:nvSpPr>
        <p:spPr>
          <a:xfrm>
            <a:off x="402336" y="4956048"/>
            <a:ext cx="8321040" cy="237744"/>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代码节选：mall-portal/src/main/resources/application.yml:4-5（基线 baseline-dcaa93b3）</a:t>
            </a:r>
          </a:p>
        </p:txBody>
      </p:sp>
      <p:sp>
        <p:nvSpPr>
          <p:cNvPr id="101" name="fig-d"/>
          <p:cNvSpPr/>
          <p:nvPr/>
        </p:nvSpPr>
        <p:spPr>
          <a:xfrm>
            <a:off x="411480" y="1463040"/>
            <a:ext cx="1828800" cy="292608"/>
          </a:xfrm>
          <a:prstGeom prst="rect">
            <a:avLst/>
          </a:prstGeom>
          <a:noFill/>
          <a:ln>
            <a:noFill/>
          </a:ln>
        </p:spPr>
        <p:txBody>
          <a:bodyPr wrap="square" lIns="18288" tIns="9144" rIns="18288" bIns="9144" anchor="ctr"/>
          <a:lstStyle/>
          <a:p>
            <a:pPr algn="l">
              <a:lnSpc>
                <a:spcPct val="100000"/>
              </a:lnSpc>
              <a:buNone/>
            </a:pPr>
            <a:r>
              <a:rPr lang="zh-CN" altLang="en-US" sz="1600" b="1">
                <a:solidFill>
                  <a:srgbClr val="595959"/>
                </a:solidFill>
                <a:latin typeface="微软雅黑"/>
                <a:ea typeface="微软雅黑"/>
              </a:rPr>
              <a:t>仓库里现在</a:t>
            </a:r>
            <a:endParaRPr lang="zh-CN" sz="1600">
              <a:latin typeface="微软雅黑"/>
              <a:ea typeface="微软雅黑"/>
            </a:endParaRPr>
          </a:p>
        </p:txBody>
      </p:sp>
      <p:sp>
        <p:nvSpPr>
          <p:cNvPr id="102" name="fig"/>
          <p:cNvSpPr/>
          <p:nvPr/>
        </p:nvSpPr>
        <p:spPr>
          <a:xfrm>
            <a:off x="411480" y="1783080"/>
            <a:ext cx="8321040" cy="566928"/>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mall-portal 默认 profile 是 dev，写在 application.yml</a:t>
            </a:r>
            <a:endParaRPr lang="zh-CN" sz="2000">
              <a:latin typeface="微软雅黑"/>
              <a:ea typeface="微软雅黑"/>
            </a:endParaRPr>
          </a:p>
        </p:txBody>
      </p:sp>
      <p:sp>
        <p:nvSpPr>
          <p:cNvPr id="103" name="fig"/>
          <p:cNvSpPr/>
          <p:nvPr/>
        </p:nvSpPr>
        <p:spPr>
          <a:xfrm>
            <a:off x="411480" y="2441448"/>
            <a:ext cx="8321040" cy="566928"/>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同一文件第 17 行将令牌签名密钥配置在仓库中</a:t>
            </a:r>
            <a:endParaRPr lang="zh-CN" sz="2000">
              <a:latin typeface="微软雅黑"/>
              <a:ea typeface="微软雅黑"/>
            </a:endParaRPr>
          </a:p>
        </p:txBody>
      </p:sp>
      <p:sp>
        <p:nvSpPr>
          <p:cNvPr id="104" name="fig-d"/>
          <p:cNvSpPr/>
          <p:nvPr/>
        </p:nvSpPr>
        <p:spPr>
          <a:xfrm>
            <a:off x="4572000" y="3044952"/>
            <a:ext cx="9144" cy="201168"/>
          </a:xfrm>
          <a:custGeom>
            <a:avLst/>
            <a:gdLst/>
            <a:ahLst/>
            <a:cxnLst/>
            <a:rect l="0" t="0" r="r" b="b"/>
            <a:pathLst>
              <a:path w="9144" h="201168" fill="none">
                <a:moveTo>
                  <a:pt x="0" y="0"/>
                </a:moveTo>
                <a:lnTo>
                  <a:pt x="0" y="201168"/>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5" name="fig"/>
          <p:cNvSpPr/>
          <p:nvPr/>
        </p:nvSpPr>
        <p:spPr>
          <a:xfrm>
            <a:off x="411480" y="3291840"/>
            <a:ext cx="8321040" cy="658368"/>
          </a:xfrm>
          <a:prstGeom prst="rect">
            <a:avLst/>
          </a:prstGeom>
          <a:solidFill>
            <a:srgbClr val="A33B38"/>
          </a:solidFill>
          <a:ln w="28575">
            <a:solidFill>
              <a:srgbClr val="A33B38"/>
            </a:solidFill>
          </a:ln>
        </p:spPr>
        <p:txBody>
          <a:bodyPr wrap="square" lIns="73152" tIns="36576" rIns="73152" bIns="36576" anchor="ctr"/>
          <a:lstStyle/>
          <a:p>
            <a:pPr algn="ctr">
              <a:lnSpc>
                <a:spcPct val="100000"/>
              </a:lnSpc>
              <a:buNone/>
            </a:pPr>
            <a:r>
              <a:rPr lang="zh-CN" altLang="en-US" sz="2000" b="1">
                <a:solidFill>
                  <a:srgbClr val="FFFFFF"/>
                </a:solidFill>
                <a:latin typeface="微软雅黑"/>
                <a:ea typeface="微软雅黑"/>
              </a:rPr>
              <a:t>密钥从环境变量或受控配置读取，不写入提交，不公开展示</a:t>
            </a:r>
            <a:endParaRPr lang="zh-CN" sz="2000">
              <a:latin typeface="微软雅黑"/>
              <a:ea typeface="微软雅黑"/>
            </a:endParaRPr>
          </a:p>
        </p:txBody>
      </p:sp>
      <p:sp>
        <p:nvSpPr>
          <p:cNvPr id="106"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讨论中间件换成云服务后少管什么、多管什么</a:t>
            </a:r>
          </a:p>
        </p:txBody>
      </p:sp>
      <p:sp>
        <p:nvSpPr>
          <p:cNvPr id="101" name="fig-d"/>
          <p:cNvSpPr/>
          <p:nvPr/>
        </p:nvSpPr>
        <p:spPr>
          <a:xfrm>
            <a:off x="685800" y="1874520"/>
            <a:ext cx="109728" cy="1828800"/>
          </a:xfrm>
          <a:prstGeom prst="rect">
            <a:avLst/>
          </a:prstGeom>
          <a:solidFill>
            <a:srgbClr val="A33B38"/>
          </a:solidFill>
          <a:ln w="12700">
            <a:solidFill>
              <a:srgbClr val="A33B38"/>
            </a:solidFill>
          </a:ln>
        </p:spPr>
        <p:txBody>
          <a:bodyPr wrap="square" lIns="73152" tIns="36576" rIns="73152" bIns="36576" anchor="ctr"/>
          <a:lstStyle/>
          <a:p>
            <a:endParaRPr lang="zh-CN">
              <a:latin typeface="微软雅黑"/>
              <a:ea typeface="微软雅黑"/>
            </a:endParaRPr>
          </a:p>
        </p:txBody>
      </p:sp>
      <p:sp>
        <p:nvSpPr>
          <p:cNvPr id="102" name="fig-d"/>
          <p:cNvSpPr/>
          <p:nvPr/>
        </p:nvSpPr>
        <p:spPr>
          <a:xfrm>
            <a:off x="960120" y="1417320"/>
            <a:ext cx="914400" cy="914400"/>
          </a:xfrm>
          <a:prstGeom prst="rect">
            <a:avLst/>
          </a:prstGeom>
          <a:noFill/>
          <a:ln>
            <a:noFill/>
          </a:ln>
        </p:spPr>
        <p:txBody>
          <a:bodyPr wrap="square" lIns="0" tIns="0" rIns="0" bIns="0" anchor="t"/>
          <a:lstStyle/>
          <a:p>
            <a:pPr algn="l">
              <a:lnSpc>
                <a:spcPct val="100000"/>
              </a:lnSpc>
              <a:buNone/>
            </a:pPr>
            <a:r>
              <a:rPr lang="zh-CN" altLang="en-US" sz="6000" b="1">
                <a:solidFill>
                  <a:srgbClr val="A33B38"/>
                </a:solidFill>
                <a:latin typeface="微软雅黑"/>
                <a:ea typeface="微软雅黑"/>
              </a:rPr>
              <a:t>“</a:t>
            </a:r>
            <a:endParaRPr lang="zh-CN" sz="6000">
              <a:latin typeface="微软雅黑"/>
              <a:ea typeface="微软雅黑"/>
            </a:endParaRPr>
          </a:p>
        </p:txBody>
      </p:sp>
      <p:sp>
        <p:nvSpPr>
          <p:cNvPr id="103" name="fig"/>
          <p:cNvSpPr/>
          <p:nvPr/>
        </p:nvSpPr>
        <p:spPr>
          <a:xfrm>
            <a:off x="1097280" y="2011680"/>
            <a:ext cx="7635240" cy="1691640"/>
          </a:xfrm>
          <a:prstGeom prst="rect">
            <a:avLst/>
          </a:prstGeom>
          <a:noFill/>
          <a:ln>
            <a:noFill/>
          </a:ln>
        </p:spPr>
        <p:txBody>
          <a:bodyPr wrap="square" lIns="73152" tIns="36576" rIns="73152" bIns="36576" anchor="ctr"/>
          <a:lstStyle/>
          <a:p>
            <a:pPr algn="l">
              <a:lnSpc>
                <a:spcPct val="100000"/>
              </a:lnSpc>
              <a:buNone/>
            </a:pPr>
            <a:r>
              <a:rPr lang="zh-CN" altLang="en-US" sz="2400" b="1">
                <a:solidFill>
                  <a:srgbClr val="262626"/>
                </a:solidFill>
                <a:latin typeface="微软雅黑"/>
                <a:ea typeface="微软雅黑"/>
              </a:rPr>
              <a:t>把中间件换成云服务后，团队要自己负责的</a:t>
            </a:r>
            <a:br>
              <a:rPr lang="zh-CN" sz="2400">
                <a:latin typeface="微软雅黑"/>
                <a:ea typeface="微软雅黑"/>
              </a:rPr>
            </a:br>
            <a:r>
              <a:rPr lang="zh-CN" altLang="en-US" sz="2400" b="1">
                <a:solidFill>
                  <a:srgbClr val="262626"/>
                </a:solidFill>
                <a:latin typeface="微软雅黑"/>
                <a:ea typeface="微软雅黑"/>
              </a:rPr>
              <a:t>事情少了哪些、多了哪些？</a:t>
            </a:r>
            <a:endParaRPr lang="zh-CN" sz="2400">
              <a:latin typeface="微软雅黑"/>
              <a:ea typeface="微软雅黑"/>
            </a:endParaRPr>
          </a:p>
        </p:txBody>
      </p:sp>
      <p:sp>
        <p:nvSpPr>
          <p:cNvPr id="104" name="fig"/>
          <p:cNvSpPr/>
          <p:nvPr/>
        </p:nvSpPr>
        <p:spPr>
          <a:xfrm>
            <a:off x="411480" y="4069080"/>
            <a:ext cx="8321040" cy="566928"/>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各举一条少了的事</a:t>
            </a:r>
            <a:endParaRPr lang="zh-CN" sz="2000">
              <a:latin typeface="微软雅黑"/>
              <a:ea typeface="微软雅黑"/>
            </a:endParaRPr>
          </a:p>
        </p:txBody>
      </p:sp>
      <p:sp>
        <p:nvSpPr>
          <p:cNvPr id="105" name="fig"/>
          <p:cNvSpPr/>
          <p:nvPr/>
        </p:nvSpPr>
        <p:spPr>
          <a:xfrm>
            <a:off x="411480" y="4727448"/>
            <a:ext cx="8321040" cy="566928"/>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各举一条多了的事</a:t>
            </a:r>
            <a:endParaRPr lang="zh-CN" sz="2000">
              <a:latin typeface="微软雅黑"/>
              <a:ea typeface="微软雅黑"/>
            </a:endParaRPr>
          </a:p>
        </p:txBody>
      </p:sp>
      <p:sp>
        <p:nvSpPr>
          <p:cNvPr id="106"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实验环境</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大家用同一基线，只读取教师仓库</a:t>
            </a:r>
          </a:p>
        </p:txBody>
      </p:sp>
      <p:sp>
        <p:nvSpPr>
          <p:cNvPr id="101" name="fig-d"/>
          <p:cNvSpPr/>
          <p:nvPr/>
        </p:nvSpPr>
        <p:spPr>
          <a:xfrm>
            <a:off x="411480" y="1572768"/>
            <a:ext cx="1463040" cy="868680"/>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基线</a:t>
            </a:r>
            <a:endParaRPr lang="zh-CN" sz="1800">
              <a:latin typeface="微软雅黑"/>
              <a:ea typeface="微软雅黑"/>
            </a:endParaRPr>
          </a:p>
        </p:txBody>
      </p:sp>
      <p:sp>
        <p:nvSpPr>
          <p:cNvPr id="102" name="fig"/>
          <p:cNvSpPr/>
          <p:nvPr/>
        </p:nvSpPr>
        <p:spPr>
          <a:xfrm>
            <a:off x="1965960" y="1572768"/>
            <a:ext cx="6766560" cy="86868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统一基线是标签 baseline-dcaa93b3</a:t>
            </a:r>
            <a:endParaRPr lang="zh-CN" sz="2000">
              <a:latin typeface="微软雅黑"/>
              <a:ea typeface="微软雅黑"/>
            </a:endParaRPr>
          </a:p>
        </p:txBody>
      </p:sp>
      <p:sp>
        <p:nvSpPr>
          <p:cNvPr id="103" name="fig-d"/>
          <p:cNvSpPr/>
          <p:nvPr/>
        </p:nvSpPr>
        <p:spPr>
          <a:xfrm>
            <a:off x="411480" y="2596896"/>
            <a:ext cx="1463040" cy="868680"/>
          </a:xfrm>
          <a:prstGeom prst="rect">
            <a:avLst/>
          </a:prstGeom>
          <a:solidFill>
            <a:srgbClr val="595959"/>
          </a:solidFill>
          <a:ln w="12700">
            <a:solidFill>
              <a:srgbClr val="595959"/>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上游</a:t>
            </a:r>
            <a:endParaRPr lang="zh-CN" sz="1800">
              <a:latin typeface="微软雅黑"/>
              <a:ea typeface="微软雅黑"/>
            </a:endParaRPr>
          </a:p>
        </p:txBody>
      </p:sp>
      <p:sp>
        <p:nvSpPr>
          <p:cNvPr id="104" name="fig"/>
          <p:cNvSpPr/>
          <p:nvPr/>
        </p:nvSpPr>
        <p:spPr>
          <a:xfrm>
            <a:off x="1965960" y="2596896"/>
            <a:ext cx="6766560" cy="868680"/>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上游提交是 dcaa93b3</a:t>
            </a:r>
            <a:endParaRPr lang="zh-CN" sz="2000">
              <a:latin typeface="微软雅黑"/>
              <a:ea typeface="微软雅黑"/>
            </a:endParaRPr>
          </a:p>
        </p:txBody>
      </p:sp>
      <p:sp>
        <p:nvSpPr>
          <p:cNvPr id="105" name="fig-d"/>
          <p:cNvSpPr/>
          <p:nvPr/>
        </p:nvSpPr>
        <p:spPr>
          <a:xfrm>
            <a:off x="411480" y="3621024"/>
            <a:ext cx="1463040" cy="868680"/>
          </a:xfrm>
          <a:prstGeom prst="rect">
            <a:avLst/>
          </a:prstGeom>
          <a:solidFill>
            <a:srgbClr val="595959"/>
          </a:solidFill>
          <a:ln w="12700">
            <a:solidFill>
              <a:srgbClr val="595959"/>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示例分支</a:t>
            </a:r>
            <a:endParaRPr lang="zh-CN" sz="1800">
              <a:latin typeface="微软雅黑"/>
              <a:ea typeface="微软雅黑"/>
            </a:endParaRPr>
          </a:p>
        </p:txBody>
      </p:sp>
      <p:sp>
        <p:nvSpPr>
          <p:cNvPr id="106" name="fig"/>
          <p:cNvSpPr/>
          <p:nvPr/>
        </p:nvSpPr>
        <p:spPr>
          <a:xfrm>
            <a:off x="1965960" y="3621024"/>
            <a:ext cx="6766560" cy="868680"/>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示例分支不合并进基线</a:t>
            </a:r>
            <a:endParaRPr lang="zh-CN" sz="2000">
              <a:latin typeface="微软雅黑"/>
              <a:ea typeface="微软雅黑"/>
            </a:endParaRPr>
          </a:p>
        </p:txBody>
      </p:sp>
      <p:sp>
        <p:nvSpPr>
          <p:cNvPr id="107" name="fig-d"/>
          <p:cNvSpPr/>
          <p:nvPr/>
        </p:nvSpPr>
        <p:spPr>
          <a:xfrm>
            <a:off x="411480" y="4645152"/>
            <a:ext cx="1463040" cy="868680"/>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学生</a:t>
            </a:r>
            <a:endParaRPr lang="zh-CN" sz="1800">
              <a:latin typeface="微软雅黑"/>
              <a:ea typeface="微软雅黑"/>
            </a:endParaRPr>
          </a:p>
        </p:txBody>
      </p:sp>
      <p:sp>
        <p:nvSpPr>
          <p:cNvPr id="108" name="fig"/>
          <p:cNvSpPr/>
          <p:nvPr/>
        </p:nvSpPr>
        <p:spPr>
          <a:xfrm>
            <a:off x="1965960" y="4645152"/>
            <a:ext cx="6766560" cy="86868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学生读取教师仓库，不开分支</a:t>
            </a:r>
            <a:endParaRPr lang="zh-CN" sz="2000">
              <a:latin typeface="微软雅黑"/>
              <a:ea typeface="微软雅黑"/>
            </a:endParaRPr>
          </a:p>
        </p:txBody>
      </p:sp>
      <p:sp>
        <p:nvSpPr>
          <p:cNvPr id="10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实例项目</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七个模块的依赖方向无环</a:t>
            </a:r>
          </a:p>
        </p:txBody>
      </p:sp>
      <p:sp>
        <p:nvSpPr>
          <p:cNvPr id="3" name="body"/>
          <p:cNvSpPr txBox="1"/>
          <p:nvPr/>
        </p:nvSpPr>
        <p:spPr>
          <a:xfrm>
            <a:off x="406400" y="1435100"/>
            <a:ext cx="8318500" cy="1193800"/>
          </a:xfrm>
          <a:prstGeom prst="rect">
            <a:avLst/>
          </a:prstGeom>
          <a:noFill/>
        </p:spPr>
        <p:txBody>
          <a:bodyPr wrap="square" lIns="54864" tIns="18288" rIns="54864" bIns="18288">
            <a:spAutoFit/>
          </a:bodyPr>
          <a:lstStyle/>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000" b="0">
                <a:latin typeface="微软雅黑"/>
                <a:ea typeface="微软雅黑"/>
                <a:cs typeface="微软雅黑"/>
              </a:rPr>
              <a:t>admin、portal 依赖 security 与 mbg</a:t>
            </a:r>
          </a:p>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000" b="0">
                <a:latin typeface="微软雅黑"/>
                <a:ea typeface="微软雅黑"/>
                <a:cs typeface="微软雅黑"/>
              </a:rPr>
              <a:t>search、demo 只依赖 mbg，不依赖 security</a:t>
            </a:r>
          </a:p>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000" b="0">
                <a:latin typeface="微软雅黑"/>
                <a:ea typeface="微软雅黑"/>
                <a:cs typeface="微软雅黑"/>
              </a:rPr>
              <a:t>security、mbg 依赖 common</a:t>
            </a:r>
          </a:p>
        </p:txBody>
      </p:sp>
      <p:sp>
        <p:nvSpPr>
          <p:cNvPr id="4" name="fig"/>
          <p:cNvSpPr/>
          <p:nvPr/>
        </p:nvSpPr>
        <p:spPr>
          <a:xfrm>
            <a:off x="177800" y="32385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mall-admin</a:t>
            </a:r>
          </a:p>
        </p:txBody>
      </p:sp>
      <p:sp>
        <p:nvSpPr>
          <p:cNvPr id="5" name="fig"/>
          <p:cNvSpPr/>
          <p:nvPr/>
        </p:nvSpPr>
        <p:spPr>
          <a:xfrm>
            <a:off x="2336800" y="32385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mall-portal</a:t>
            </a:r>
          </a:p>
        </p:txBody>
      </p:sp>
      <p:sp>
        <p:nvSpPr>
          <p:cNvPr id="6" name="fig"/>
          <p:cNvSpPr/>
          <p:nvPr/>
        </p:nvSpPr>
        <p:spPr>
          <a:xfrm>
            <a:off x="4622800" y="32385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mall-search</a:t>
            </a:r>
          </a:p>
        </p:txBody>
      </p:sp>
      <p:sp>
        <p:nvSpPr>
          <p:cNvPr id="7" name="fig"/>
          <p:cNvSpPr/>
          <p:nvPr/>
        </p:nvSpPr>
        <p:spPr>
          <a:xfrm>
            <a:off x="6807200" y="32385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mall-demo</a:t>
            </a:r>
          </a:p>
        </p:txBody>
      </p:sp>
      <p:sp>
        <p:nvSpPr>
          <p:cNvPr id="8" name="fig"/>
          <p:cNvSpPr/>
          <p:nvPr/>
        </p:nvSpPr>
        <p:spPr>
          <a:xfrm>
            <a:off x="406400" y="40767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mall-security</a:t>
            </a:r>
          </a:p>
        </p:txBody>
      </p:sp>
      <p:sp>
        <p:nvSpPr>
          <p:cNvPr id="9" name="fig"/>
          <p:cNvSpPr/>
          <p:nvPr/>
        </p:nvSpPr>
        <p:spPr>
          <a:xfrm>
            <a:off x="4889500" y="40767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mall-mbg</a:t>
            </a:r>
          </a:p>
        </p:txBody>
      </p:sp>
      <p:sp>
        <p:nvSpPr>
          <p:cNvPr id="10" name="fig"/>
          <p:cNvSpPr/>
          <p:nvPr/>
        </p:nvSpPr>
        <p:spPr>
          <a:xfrm>
            <a:off x="3251200" y="49149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mall-common</a:t>
            </a:r>
          </a:p>
        </p:txBody>
      </p:sp>
      <p:cxnSp>
        <p:nvCxnSpPr>
          <p:cNvPr id="11" name="ln"/>
          <p:cNvCxnSpPr/>
          <p:nvPr/>
        </p:nvCxnSpPr>
        <p:spPr>
          <a:xfrm>
            <a:off x="1206500" y="3797300"/>
            <a:ext cx="2286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ln"/>
          <p:cNvCxnSpPr/>
          <p:nvPr/>
        </p:nvCxnSpPr>
        <p:spPr>
          <a:xfrm>
            <a:off x="1206500" y="3797300"/>
            <a:ext cx="47117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ln"/>
          <p:cNvCxnSpPr/>
          <p:nvPr/>
        </p:nvCxnSpPr>
        <p:spPr>
          <a:xfrm flipH="1">
            <a:off x="1435100" y="3797300"/>
            <a:ext cx="19304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ln"/>
          <p:cNvCxnSpPr/>
          <p:nvPr/>
        </p:nvCxnSpPr>
        <p:spPr>
          <a:xfrm>
            <a:off x="3365500" y="3797300"/>
            <a:ext cx="25527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ln"/>
          <p:cNvCxnSpPr/>
          <p:nvPr/>
        </p:nvCxnSpPr>
        <p:spPr>
          <a:xfrm>
            <a:off x="5651500" y="3797300"/>
            <a:ext cx="2667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6" name="ln"/>
          <p:cNvCxnSpPr/>
          <p:nvPr/>
        </p:nvCxnSpPr>
        <p:spPr>
          <a:xfrm flipH="1">
            <a:off x="5918200" y="3797300"/>
            <a:ext cx="19177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7" name="ln"/>
          <p:cNvCxnSpPr/>
          <p:nvPr/>
        </p:nvCxnSpPr>
        <p:spPr>
          <a:xfrm>
            <a:off x="1435100" y="4635500"/>
            <a:ext cx="28448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8" name="ln"/>
          <p:cNvCxnSpPr/>
          <p:nvPr/>
        </p:nvCxnSpPr>
        <p:spPr>
          <a:xfrm flipH="1">
            <a:off x="4279900" y="4635500"/>
            <a:ext cx="16383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sp>
        <p:nvSpPr>
          <p:cNvPr id="1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实例项目</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生成代码、共用表结构与对外接口须保持兼容</a:t>
            </a:r>
          </a:p>
        </p:txBody>
      </p:sp>
      <p:graphicFrame>
        <p:nvGraphicFramePr>
          <p:cNvPr id="3" name="table"/>
          <p:cNvGraphicFramePr>
            <a:graphicFrameLocks noGrp="1"/>
          </p:cNvGraphicFramePr>
          <p:nvPr/>
        </p:nvGraphicFramePr>
        <p:xfrm>
          <a:off x="368300" y="1485900"/>
          <a:ext cx="8407400" cy="3848099"/>
        </p:xfrm>
        <a:graphic>
          <a:graphicData uri="http://schemas.openxmlformats.org/drawingml/2006/table">
            <a:tbl>
              <a:tblPr>
                <a:tableStyleId>{2D5ABB26-0587-4C30-8999-92F81FD0307C}</a:tableStyleId>
              </a:tblPr>
              <a:tblGrid>
                <a:gridCol w="3048000">
                  <a:extLst>
                    <a:ext uri="{9D8B030D-6E8A-4147-A177-3AD203B41FA5}">
                      <a16:colId xmlns:a16="http://schemas.microsoft.com/office/drawing/2014/main" val="20000"/>
                    </a:ext>
                  </a:extLst>
                </a:gridCol>
                <a:gridCol w="5359400">
                  <a:extLst>
                    <a:ext uri="{9D8B030D-6E8A-4147-A177-3AD203B41FA5}">
                      <a16:colId xmlns:a16="http://schemas.microsoft.com/office/drawing/2014/main" val="20001"/>
                    </a:ext>
                  </a:extLst>
                </a:gridCol>
              </a:tblGrid>
              <a:tr h="66116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不得修改的部分</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原因</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106231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mall-mbg 的生成代码</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生成器按表结构产出，手改会被重新生成覆盖</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106231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admin 与 portal 共用的表结构</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admin 与 portal 读写同一批表，变更会影响双方</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1062313">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对外接口</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字段、路径与返回约定由调用方依赖，须保持兼容</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实例项目</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构建时跳过镜像插件，不改 pom.xml 第 36 行</a:t>
            </a:r>
          </a:p>
        </p:txBody>
      </p:sp>
      <p:sp>
        <p:nvSpPr>
          <p:cNvPr id="6" name="code-excerpt"/>
          <p:cNvSpPr txBox="1"/>
          <p:nvPr/>
        </p:nvSpPr>
        <p:spPr>
          <a:xfrm>
            <a:off x="402336" y="3657600"/>
            <a:ext cx="8321040" cy="640080"/>
          </a:xfrm>
          <a:prstGeom prst="rect">
            <a:avLst/>
          </a:prstGeom>
          <a:noFill/>
        </p:spPr>
        <p:txBody>
          <a:bodyPr wrap="square" lIns="54864" tIns="18288" rIns="54864" bIns="18288">
            <a:spAutoFit/>
          </a:bodyPr>
          <a:lstStyle/>
          <a:p>
            <a:pPr algn="l" eaLnBrk="1" hangingPunct="1">
              <a:lnSpc>
                <a:spcPct val="100000"/>
              </a:lnSpc>
              <a:spcBef>
                <a:spcPts val="100"/>
              </a:spcBef>
              <a:spcAft>
                <a:spcPts val="100"/>
              </a:spcAft>
              <a:buNone/>
            </a:pPr>
            <a:r>
              <a:rPr lang="zh-CN" altLang="en-US" sz="1600" b="0">
                <a:latin typeface="Consolas"/>
                <a:ea typeface="微软雅黑"/>
                <a:cs typeface="Consolas"/>
              </a:rPr>
              <a:t>36  &lt;docker.host&gt;http://192.168.3.101:2375&lt;/docker.host&gt;</a:t>
            </a:r>
          </a:p>
          <a:p>
            <a:pPr algn="l" eaLnBrk="1" hangingPunct="1">
              <a:lnSpc>
                <a:spcPct val="100000"/>
              </a:lnSpc>
              <a:spcBef>
                <a:spcPts val="100"/>
              </a:spcBef>
              <a:spcAft>
                <a:spcPts val="100"/>
              </a:spcAft>
              <a:buNone/>
            </a:pPr>
            <a:r>
              <a:rPr lang="zh-CN" altLang="en-US" sz="1600" b="0">
                <a:latin typeface="Consolas"/>
                <a:ea typeface="微软雅黑"/>
                <a:cs typeface="Consolas"/>
              </a:rPr>
              <a:t>226 &lt;phase&gt;package&lt;/phase&gt;</a:t>
            </a:r>
          </a:p>
        </p:txBody>
      </p:sp>
      <p:sp>
        <p:nvSpPr>
          <p:cNvPr id="7" name="code-cmd"/>
          <p:cNvSpPr txBox="1"/>
          <p:nvPr/>
        </p:nvSpPr>
        <p:spPr>
          <a:xfrm>
            <a:off x="402336" y="4434840"/>
            <a:ext cx="8321040" cy="384048"/>
          </a:xfrm>
          <a:prstGeom prst="rect">
            <a:avLst/>
          </a:prstGeom>
          <a:solidFill>
            <a:srgbClr val="F4F4F4"/>
          </a:solidFill>
          <a:ln w="9525">
            <a:solidFill>
              <a:srgbClr val="D9D9D9"/>
            </a:solidFill>
          </a:ln>
        </p:spPr>
        <p:txBody>
          <a:bodyPr wrap="square" lIns="54864" tIns="18288" rIns="54864" bIns="18288">
            <a:spAutoFit/>
          </a:bodyPr>
          <a:lstStyle/>
          <a:p>
            <a:pPr algn="l" eaLnBrk="1" hangingPunct="1">
              <a:lnSpc>
                <a:spcPct val="100000"/>
              </a:lnSpc>
              <a:spcBef>
                <a:spcPts val="0"/>
              </a:spcBef>
              <a:spcAft>
                <a:spcPts val="0"/>
              </a:spcAft>
              <a:buNone/>
            </a:pPr>
            <a:r>
              <a:rPr lang="zh-CN" altLang="en-US" sz="1600" b="0">
                <a:latin typeface="Consolas"/>
                <a:ea typeface="微软雅黑"/>
                <a:cs typeface="Consolas"/>
              </a:rPr>
              <a:t>mvn -B -DskipTests -Ddocker.skip=true -pl mall-portal -am package</a:t>
            </a:r>
          </a:p>
        </p:txBody>
      </p:sp>
      <p:sp>
        <p:nvSpPr>
          <p:cNvPr id="8" name="fn"/>
          <p:cNvSpPr txBox="1"/>
          <p:nvPr/>
        </p:nvSpPr>
        <p:spPr>
          <a:xfrm>
            <a:off x="402336" y="4956048"/>
            <a:ext cx="8321040" cy="429768"/>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代码节选：pom.xml:36、226（基线）。该命令仅打包，不证明测试通过；中间件供运行阶段使用。</a:t>
            </a:r>
          </a:p>
        </p:txBody>
      </p:sp>
      <p:sp>
        <p:nvSpPr>
          <p:cNvPr id="101" name="fig"/>
          <p:cNvSpPr/>
          <p:nvPr/>
        </p:nvSpPr>
        <p:spPr>
          <a:xfrm>
            <a:off x="411480" y="1508760"/>
            <a:ext cx="8321040" cy="548640"/>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项目根目录 pom.xml 的第 36 行写死了 docker.host</a:t>
            </a:r>
            <a:endParaRPr lang="zh-CN" sz="2000">
              <a:latin typeface="微软雅黑"/>
              <a:ea typeface="微软雅黑"/>
            </a:endParaRPr>
          </a:p>
        </p:txBody>
      </p:sp>
      <p:sp>
        <p:nvSpPr>
          <p:cNvPr id="102" name="fig-d"/>
          <p:cNvSpPr/>
          <p:nvPr/>
        </p:nvSpPr>
        <p:spPr>
          <a:xfrm>
            <a:off x="4572000" y="2066544"/>
            <a:ext cx="9144" cy="146304"/>
          </a:xfrm>
          <a:custGeom>
            <a:avLst/>
            <a:gdLst/>
            <a:ahLst/>
            <a:cxnLst/>
            <a:rect l="0" t="0" r="r" b="b"/>
            <a:pathLst>
              <a:path w="9144" h="146304" fill="none">
                <a:moveTo>
                  <a:pt x="0" y="0"/>
                </a:moveTo>
                <a:lnTo>
                  <a:pt x="0" y="146304"/>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3" name="fig"/>
          <p:cNvSpPr/>
          <p:nvPr/>
        </p:nvSpPr>
        <p:spPr>
          <a:xfrm>
            <a:off x="411480" y="2221992"/>
            <a:ext cx="8321040" cy="548640"/>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镜像构建插件绑在 package 阶段，所以须显式跳过</a:t>
            </a:r>
            <a:endParaRPr lang="zh-CN" sz="2000">
              <a:latin typeface="微软雅黑"/>
              <a:ea typeface="微软雅黑"/>
            </a:endParaRPr>
          </a:p>
        </p:txBody>
      </p:sp>
      <p:sp>
        <p:nvSpPr>
          <p:cNvPr id="104" name="fig-d"/>
          <p:cNvSpPr/>
          <p:nvPr/>
        </p:nvSpPr>
        <p:spPr>
          <a:xfrm>
            <a:off x="4572000" y="2779776"/>
            <a:ext cx="9144" cy="146304"/>
          </a:xfrm>
          <a:custGeom>
            <a:avLst/>
            <a:gdLst/>
            <a:ahLst/>
            <a:cxnLst/>
            <a:rect l="0" t="0" r="r" b="b"/>
            <a:pathLst>
              <a:path w="9144" h="146304" fill="none">
                <a:moveTo>
                  <a:pt x="0" y="0"/>
                </a:moveTo>
                <a:lnTo>
                  <a:pt x="0" y="146304"/>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5" name="fig"/>
          <p:cNvSpPr/>
          <p:nvPr/>
        </p:nvSpPr>
        <p:spPr>
          <a:xfrm>
            <a:off x="411480" y="2935224"/>
            <a:ext cx="8321040" cy="548640"/>
          </a:xfrm>
          <a:prstGeom prst="rect">
            <a:avLst/>
          </a:prstGeom>
          <a:solidFill>
            <a:srgbClr val="A33B38"/>
          </a:solidFill>
          <a:ln w="12700">
            <a:solidFill>
              <a:srgbClr val="A33B38"/>
            </a:solidFill>
          </a:ln>
        </p:spPr>
        <p:txBody>
          <a:bodyPr wrap="square" lIns="91440" tIns="45720" rIns="91440" bIns="45720" anchor="ctr"/>
          <a:lstStyle/>
          <a:p>
            <a:pPr algn="l">
              <a:lnSpc>
                <a:spcPct val="100000"/>
              </a:lnSpc>
              <a:buNone/>
            </a:pPr>
            <a:r>
              <a:rPr lang="zh-CN" altLang="en-US" sz="2000" b="1">
                <a:solidFill>
                  <a:srgbClr val="FFFFFF"/>
                </a:solidFill>
                <a:latin typeface="微软雅黑"/>
                <a:ea typeface="微软雅黑"/>
              </a:rPr>
              <a:t>构建加 -Ddocker.skip=true，不改这一行</a:t>
            </a:r>
            <a:endParaRPr lang="zh-CN" sz="2000">
              <a:latin typeface="微软雅黑"/>
              <a:ea typeface="微软雅黑"/>
            </a:endParaRPr>
          </a:p>
        </p:txBody>
      </p:sp>
      <p:sp>
        <p:nvSpPr>
          <p:cNvPr id="106"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实例项目</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先抽象，再逐步求精</a:t>
            </a:r>
          </a:p>
        </p:txBody>
      </p:sp>
      <p:sp>
        <p:nvSpPr>
          <p:cNvPr id="7" name="fn"/>
          <p:cNvSpPr txBox="1"/>
          <p:nvPr/>
        </p:nvSpPr>
        <p:spPr>
          <a:xfrm>
            <a:off x="406400" y="5486400"/>
            <a:ext cx="8318500" cy="431800"/>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基线 baseline-dcaa93b3：OmsPortalOrderServiceImpl.java:297–325；状态308–309、库存315、优惠券318、积分320–322</a:t>
            </a:r>
          </a:p>
        </p:txBody>
      </p:sp>
      <p:sp>
        <p:nvSpPr>
          <p:cNvPr id="101" name="fig"/>
          <p:cNvSpPr/>
          <p:nvPr/>
        </p:nvSpPr>
        <p:spPr>
          <a:xfrm>
            <a:off x="411480" y="1481328"/>
            <a:ext cx="4069080" cy="86868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抽象：把注意力放在某一层次，</a:t>
            </a:r>
            <a:br>
              <a:rPr lang="zh-CN" sz="2000">
                <a:latin typeface="微软雅黑"/>
                <a:ea typeface="微软雅黑"/>
              </a:rPr>
            </a:br>
            <a:r>
              <a:rPr lang="zh-CN" altLang="en-US" sz="2000" b="0">
                <a:solidFill>
                  <a:srgbClr val="262626"/>
                </a:solidFill>
                <a:latin typeface="微软雅黑"/>
                <a:ea typeface="微软雅黑"/>
              </a:rPr>
              <a:t>忽略低层细节</a:t>
            </a:r>
            <a:endParaRPr lang="zh-CN" sz="2000">
              <a:latin typeface="微软雅黑"/>
              <a:ea typeface="微软雅黑"/>
            </a:endParaRPr>
          </a:p>
        </p:txBody>
      </p:sp>
      <p:sp>
        <p:nvSpPr>
          <p:cNvPr id="102" name="fig"/>
          <p:cNvSpPr/>
          <p:nvPr/>
        </p:nvSpPr>
        <p:spPr>
          <a:xfrm>
            <a:off x="4663440" y="1481328"/>
            <a:ext cx="4069080" cy="86868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逐步求精：对宏观描述不断分解，</a:t>
            </a:r>
            <a:br>
              <a:rPr lang="zh-CN" sz="2000">
                <a:latin typeface="微软雅黑"/>
                <a:ea typeface="微软雅黑"/>
              </a:rPr>
            </a:br>
            <a:r>
              <a:rPr lang="zh-CN" altLang="en-US" sz="2000" b="0">
                <a:solidFill>
                  <a:srgbClr val="262626"/>
                </a:solidFill>
                <a:latin typeface="微软雅黑"/>
                <a:ea typeface="微软雅黑"/>
              </a:rPr>
              <a:t>直到能用程序描述</a:t>
            </a:r>
            <a:endParaRPr lang="zh-CN" sz="2000">
              <a:latin typeface="微软雅黑"/>
              <a:ea typeface="微软雅黑"/>
            </a:endParaRPr>
          </a:p>
        </p:txBody>
      </p:sp>
      <p:sp>
        <p:nvSpPr>
          <p:cNvPr id="103" name="fig"/>
          <p:cNvSpPr/>
          <p:nvPr/>
        </p:nvSpPr>
        <p:spPr>
          <a:xfrm>
            <a:off x="411480" y="2441448"/>
            <a:ext cx="8321040" cy="457200"/>
          </a:xfrm>
          <a:prstGeom prst="rect">
            <a:avLst/>
          </a:prstGeom>
          <a:solidFill>
            <a:srgbClr val="F5F5F5"/>
          </a:solidFill>
          <a:ln>
            <a:noFill/>
          </a:ln>
        </p:spPr>
        <p:txBody>
          <a:bodyPr wrap="square" lIns="91440" tIns="45720" rIns="91440" bIns="45720" anchor="ctr"/>
          <a:lstStyle/>
          <a:p>
            <a:pPr algn="ctr">
              <a:lnSpc>
                <a:spcPct val="100000"/>
              </a:lnSpc>
              <a:buNone/>
            </a:pPr>
            <a:r>
              <a:rPr lang="zh-CN" altLang="en-US" sz="2000" b="0">
                <a:solidFill>
                  <a:srgbClr val="262626"/>
                </a:solidFill>
                <a:latin typeface="微软雅黑"/>
                <a:ea typeface="微软雅黑"/>
              </a:rPr>
              <a:t>两者通常结合使用，自顶向下</a:t>
            </a:r>
            <a:endParaRPr lang="zh-CN" sz="2000">
              <a:latin typeface="微软雅黑"/>
              <a:ea typeface="微软雅黑"/>
            </a:endParaRPr>
          </a:p>
        </p:txBody>
      </p:sp>
      <p:sp>
        <p:nvSpPr>
          <p:cNvPr id="104" name="fig-d"/>
          <p:cNvSpPr/>
          <p:nvPr/>
        </p:nvSpPr>
        <p:spPr>
          <a:xfrm>
            <a:off x="3429000" y="3035808"/>
            <a:ext cx="2286000" cy="438912"/>
          </a:xfrm>
          <a:prstGeom prst="rect">
            <a:avLst/>
          </a:prstGeom>
          <a:solidFill>
            <a:srgbClr val="A33B38"/>
          </a:solidFill>
          <a:ln w="12700">
            <a:solidFill>
              <a:srgbClr val="A33B38"/>
            </a:solidFill>
          </a:ln>
        </p:spPr>
        <p:txBody>
          <a:bodyPr wrap="square" lIns="27432" tIns="13716" rIns="27432" bIns="13716" anchor="ctr"/>
          <a:lstStyle/>
          <a:p>
            <a:pPr algn="ctr">
              <a:lnSpc>
                <a:spcPct val="100000"/>
              </a:lnSpc>
              <a:buNone/>
            </a:pPr>
            <a:r>
              <a:rPr lang="zh-CN" altLang="en-US" sz="1800" b="1">
                <a:solidFill>
                  <a:srgbClr val="FFFFFF"/>
                </a:solidFill>
                <a:latin typeface="微软雅黑"/>
                <a:ea typeface="微软雅黑"/>
              </a:rPr>
              <a:t>取消订单</a:t>
            </a:r>
            <a:endParaRPr lang="zh-CN" sz="1800">
              <a:latin typeface="微软雅黑"/>
              <a:ea typeface="微软雅黑"/>
            </a:endParaRPr>
          </a:p>
        </p:txBody>
      </p:sp>
      <p:sp>
        <p:nvSpPr>
          <p:cNvPr id="105" name="fig-d"/>
          <p:cNvSpPr/>
          <p:nvPr/>
        </p:nvSpPr>
        <p:spPr>
          <a:xfrm>
            <a:off x="4572000" y="3474720"/>
            <a:ext cx="9144" cy="182880"/>
          </a:xfrm>
          <a:custGeom>
            <a:avLst/>
            <a:gdLst/>
            <a:ahLst/>
            <a:cxnLst/>
            <a:rect l="0" t="0" r="r" b="b"/>
            <a:pathLst>
              <a:path w="9144" h="182880" fill="none">
                <a:moveTo>
                  <a:pt x="0" y="0"/>
                </a:moveTo>
                <a:lnTo>
                  <a:pt x="0" y="182880"/>
                </a:lnTo>
              </a:path>
            </a:pathLst>
          </a:custGeom>
          <a:noFill/>
          <a:ln w="12700">
            <a:solidFill>
              <a:srgbClr val="595959"/>
            </a:solidFill>
          </a:ln>
        </p:spPr>
        <p:txBody>
          <a:bodyPr/>
          <a:lstStyle/>
          <a:p>
            <a:endParaRPr lang="zh-CN">
              <a:latin typeface="微软雅黑"/>
              <a:ea typeface="微软雅黑"/>
            </a:endParaRPr>
          </a:p>
        </p:txBody>
      </p:sp>
      <p:sp>
        <p:nvSpPr>
          <p:cNvPr id="106" name="fig-d"/>
          <p:cNvSpPr/>
          <p:nvPr/>
        </p:nvSpPr>
        <p:spPr>
          <a:xfrm>
            <a:off x="1417320" y="3657600"/>
            <a:ext cx="6309360" cy="9144"/>
          </a:xfrm>
          <a:custGeom>
            <a:avLst/>
            <a:gdLst/>
            <a:ahLst/>
            <a:cxnLst/>
            <a:rect l="0" t="0" r="r" b="b"/>
            <a:pathLst>
              <a:path w="6309360" h="9144" fill="none">
                <a:moveTo>
                  <a:pt x="0" y="0"/>
                </a:moveTo>
                <a:lnTo>
                  <a:pt x="6309360" y="0"/>
                </a:lnTo>
              </a:path>
            </a:pathLst>
          </a:custGeom>
          <a:noFill/>
          <a:ln w="12700">
            <a:solidFill>
              <a:srgbClr val="595959"/>
            </a:solidFill>
          </a:ln>
        </p:spPr>
        <p:txBody>
          <a:bodyPr/>
          <a:lstStyle/>
          <a:p>
            <a:endParaRPr lang="zh-CN">
              <a:latin typeface="微软雅黑"/>
              <a:ea typeface="微软雅黑"/>
            </a:endParaRPr>
          </a:p>
        </p:txBody>
      </p:sp>
      <p:sp>
        <p:nvSpPr>
          <p:cNvPr id="107" name="fig-d"/>
          <p:cNvSpPr/>
          <p:nvPr/>
        </p:nvSpPr>
        <p:spPr>
          <a:xfrm>
            <a:off x="1417320" y="3657600"/>
            <a:ext cx="9144" cy="182880"/>
          </a:xfrm>
          <a:custGeom>
            <a:avLst/>
            <a:gdLst/>
            <a:ahLst/>
            <a:cxnLst/>
            <a:rect l="0" t="0" r="r" b="b"/>
            <a:pathLst>
              <a:path w="9144" h="182880" fill="none">
                <a:moveTo>
                  <a:pt x="0" y="0"/>
                </a:moveTo>
                <a:lnTo>
                  <a:pt x="0" y="182880"/>
                </a:lnTo>
              </a:path>
            </a:pathLst>
          </a:custGeom>
          <a:noFill/>
          <a:ln w="12700">
            <a:solidFill>
              <a:srgbClr val="595959"/>
            </a:solidFill>
          </a:ln>
        </p:spPr>
        <p:txBody>
          <a:bodyPr/>
          <a:lstStyle/>
          <a:p>
            <a:endParaRPr lang="zh-CN">
              <a:latin typeface="微软雅黑"/>
              <a:ea typeface="微软雅黑"/>
            </a:endParaRPr>
          </a:p>
        </p:txBody>
      </p:sp>
      <p:sp>
        <p:nvSpPr>
          <p:cNvPr id="108" name="fig-d"/>
          <p:cNvSpPr/>
          <p:nvPr/>
        </p:nvSpPr>
        <p:spPr>
          <a:xfrm>
            <a:off x="3520440" y="3657600"/>
            <a:ext cx="9144" cy="182880"/>
          </a:xfrm>
          <a:custGeom>
            <a:avLst/>
            <a:gdLst/>
            <a:ahLst/>
            <a:cxnLst/>
            <a:rect l="0" t="0" r="r" b="b"/>
            <a:pathLst>
              <a:path w="9144" h="182880" fill="none">
                <a:moveTo>
                  <a:pt x="0" y="0"/>
                </a:moveTo>
                <a:lnTo>
                  <a:pt x="0" y="182880"/>
                </a:lnTo>
              </a:path>
            </a:pathLst>
          </a:custGeom>
          <a:noFill/>
          <a:ln w="12700">
            <a:solidFill>
              <a:srgbClr val="595959"/>
            </a:solidFill>
          </a:ln>
        </p:spPr>
        <p:txBody>
          <a:bodyPr/>
          <a:lstStyle/>
          <a:p>
            <a:endParaRPr lang="zh-CN">
              <a:latin typeface="微软雅黑"/>
              <a:ea typeface="微软雅黑"/>
            </a:endParaRPr>
          </a:p>
        </p:txBody>
      </p:sp>
      <p:sp>
        <p:nvSpPr>
          <p:cNvPr id="109" name="fig-d"/>
          <p:cNvSpPr/>
          <p:nvPr/>
        </p:nvSpPr>
        <p:spPr>
          <a:xfrm>
            <a:off x="5623560" y="3657600"/>
            <a:ext cx="9144" cy="182880"/>
          </a:xfrm>
          <a:custGeom>
            <a:avLst/>
            <a:gdLst/>
            <a:ahLst/>
            <a:cxnLst/>
            <a:rect l="0" t="0" r="r" b="b"/>
            <a:pathLst>
              <a:path w="9144" h="182880" fill="none">
                <a:moveTo>
                  <a:pt x="0" y="0"/>
                </a:moveTo>
                <a:lnTo>
                  <a:pt x="0" y="182880"/>
                </a:lnTo>
              </a:path>
            </a:pathLst>
          </a:custGeom>
          <a:noFill/>
          <a:ln w="12700">
            <a:solidFill>
              <a:srgbClr val="595959"/>
            </a:solidFill>
          </a:ln>
        </p:spPr>
        <p:txBody>
          <a:bodyPr/>
          <a:lstStyle/>
          <a:p>
            <a:endParaRPr lang="zh-CN">
              <a:latin typeface="微软雅黑"/>
              <a:ea typeface="微软雅黑"/>
            </a:endParaRPr>
          </a:p>
        </p:txBody>
      </p:sp>
      <p:sp>
        <p:nvSpPr>
          <p:cNvPr id="110" name="fig-d"/>
          <p:cNvSpPr/>
          <p:nvPr/>
        </p:nvSpPr>
        <p:spPr>
          <a:xfrm>
            <a:off x="7726680" y="3657600"/>
            <a:ext cx="9144" cy="182880"/>
          </a:xfrm>
          <a:custGeom>
            <a:avLst/>
            <a:gdLst/>
            <a:ahLst/>
            <a:cxnLst/>
            <a:rect l="0" t="0" r="r" b="b"/>
            <a:pathLst>
              <a:path w="9144" h="182880" fill="none">
                <a:moveTo>
                  <a:pt x="0" y="0"/>
                </a:moveTo>
                <a:lnTo>
                  <a:pt x="0" y="182880"/>
                </a:lnTo>
              </a:path>
            </a:pathLst>
          </a:custGeom>
          <a:noFill/>
          <a:ln w="12700">
            <a:solidFill>
              <a:srgbClr val="595959"/>
            </a:solidFill>
          </a:ln>
        </p:spPr>
        <p:txBody>
          <a:bodyPr/>
          <a:lstStyle/>
          <a:p>
            <a:endParaRPr lang="zh-CN">
              <a:latin typeface="微软雅黑"/>
              <a:ea typeface="微软雅黑"/>
            </a:endParaRPr>
          </a:p>
        </p:txBody>
      </p:sp>
      <p:sp>
        <p:nvSpPr>
          <p:cNvPr id="111" name="fig-d"/>
          <p:cNvSpPr/>
          <p:nvPr/>
        </p:nvSpPr>
        <p:spPr>
          <a:xfrm>
            <a:off x="457200" y="3840480"/>
            <a:ext cx="1920240" cy="411480"/>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800" b="0">
                <a:solidFill>
                  <a:srgbClr val="262626"/>
                </a:solidFill>
                <a:latin typeface="微软雅黑"/>
                <a:ea typeface="微软雅黑"/>
              </a:rPr>
              <a:t>改状态</a:t>
            </a:r>
            <a:endParaRPr lang="zh-CN" sz="1800">
              <a:latin typeface="微软雅黑"/>
              <a:ea typeface="微软雅黑"/>
            </a:endParaRPr>
          </a:p>
        </p:txBody>
      </p:sp>
      <p:sp>
        <p:nvSpPr>
          <p:cNvPr id="112" name="fig-d"/>
          <p:cNvSpPr/>
          <p:nvPr/>
        </p:nvSpPr>
        <p:spPr>
          <a:xfrm>
            <a:off x="2560320" y="3840480"/>
            <a:ext cx="1920240" cy="411480"/>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800" b="0">
                <a:solidFill>
                  <a:srgbClr val="262626"/>
                </a:solidFill>
                <a:latin typeface="微软雅黑"/>
                <a:ea typeface="微软雅黑"/>
              </a:rPr>
              <a:t>解除库存锁定</a:t>
            </a:r>
            <a:endParaRPr lang="zh-CN" sz="1800">
              <a:latin typeface="微软雅黑"/>
              <a:ea typeface="微软雅黑"/>
            </a:endParaRPr>
          </a:p>
        </p:txBody>
      </p:sp>
      <p:sp>
        <p:nvSpPr>
          <p:cNvPr id="113" name="fig-d"/>
          <p:cNvSpPr/>
          <p:nvPr/>
        </p:nvSpPr>
        <p:spPr>
          <a:xfrm>
            <a:off x="4663440" y="3840480"/>
            <a:ext cx="1920240" cy="411480"/>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800" b="0">
                <a:solidFill>
                  <a:srgbClr val="262626"/>
                </a:solidFill>
                <a:latin typeface="微软雅黑"/>
                <a:ea typeface="微软雅黑"/>
              </a:rPr>
              <a:t>返还优惠券</a:t>
            </a:r>
            <a:endParaRPr lang="zh-CN" sz="1800">
              <a:latin typeface="微软雅黑"/>
              <a:ea typeface="微软雅黑"/>
            </a:endParaRPr>
          </a:p>
        </p:txBody>
      </p:sp>
      <p:sp>
        <p:nvSpPr>
          <p:cNvPr id="114" name="fig-d"/>
          <p:cNvSpPr/>
          <p:nvPr/>
        </p:nvSpPr>
        <p:spPr>
          <a:xfrm>
            <a:off x="6766560" y="3840480"/>
            <a:ext cx="1920240" cy="411480"/>
          </a:xfrm>
          <a:prstGeom prst="rect">
            <a:avLst/>
          </a:prstGeom>
          <a:solidFill>
            <a:srgbClr val="F6E8E6"/>
          </a:solidFill>
          <a:ln w="12700">
            <a:solidFill>
              <a:srgbClr val="A33B38"/>
            </a:solidFill>
          </a:ln>
        </p:spPr>
        <p:txBody>
          <a:bodyPr wrap="square" lIns="27432" tIns="13716" rIns="27432" bIns="13716" anchor="ctr"/>
          <a:lstStyle/>
          <a:p>
            <a:pPr algn="ctr">
              <a:lnSpc>
                <a:spcPct val="100000"/>
              </a:lnSpc>
              <a:buNone/>
            </a:pPr>
            <a:r>
              <a:rPr lang="zh-CN" altLang="en-US" sz="1800" b="0">
                <a:solidFill>
                  <a:srgbClr val="262626"/>
                </a:solidFill>
                <a:latin typeface="微软雅黑"/>
                <a:ea typeface="微软雅黑"/>
              </a:rPr>
              <a:t>返还积分</a:t>
            </a:r>
            <a:endParaRPr lang="zh-CN" sz="1800">
              <a:latin typeface="微软雅黑"/>
              <a:ea typeface="微软雅黑"/>
            </a:endParaRPr>
          </a:p>
        </p:txBody>
      </p:sp>
      <p:sp>
        <p:nvSpPr>
          <p:cNvPr id="115" name="fig"/>
          <p:cNvSpPr/>
          <p:nvPr/>
        </p:nvSpPr>
        <p:spPr>
          <a:xfrm>
            <a:off x="411480" y="4434840"/>
            <a:ext cx="8321040" cy="868680"/>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mall：取消订单（第一层）细化为改状态、解除库存锁定、返还优惠券、返还积分</a:t>
            </a:r>
            <a:endParaRPr lang="zh-CN" sz="2000">
              <a:latin typeface="微软雅黑"/>
              <a:ea typeface="微软雅黑"/>
            </a:endParaRPr>
          </a:p>
        </p:txBody>
      </p:sp>
      <p:sp>
        <p:nvSpPr>
          <p:cNvPr id="116"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抽象便于理解，逐步求精服务于验证</a:t>
            </a:r>
          </a:p>
        </p:txBody>
      </p:sp>
      <p:sp>
        <p:nvSpPr>
          <p:cNvPr id="7" name="fn"/>
          <p:cNvSpPr txBox="1"/>
          <p:nvPr/>
        </p:nvSpPr>
        <p:spPr>
          <a:xfrm>
            <a:off x="406400" y="5486400"/>
            <a:ext cx="8318500" cy="431800"/>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a:latin typeface="微软雅黑"/>
                <a:ea typeface="微软雅黑"/>
                <a:cs typeface="微软雅黑"/>
              </a:rPr>
              <a:t>基线 baseline-dcaa93b3：OmsPortalOrderServiceImpl.java:297–325；状态308–309、库存315、优惠券318、积分320–322</a:t>
            </a:r>
          </a:p>
        </p:txBody>
      </p:sp>
      <p:sp>
        <p:nvSpPr>
          <p:cNvPr id="101" name="fig-d"/>
          <p:cNvSpPr/>
          <p:nvPr/>
        </p:nvSpPr>
        <p:spPr>
          <a:xfrm>
            <a:off x="411480" y="1508760"/>
            <a:ext cx="4114800" cy="438912"/>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定义</a:t>
            </a:r>
            <a:endParaRPr lang="zh-CN" sz="1800">
              <a:latin typeface="微软雅黑"/>
              <a:ea typeface="微软雅黑"/>
            </a:endParaRPr>
          </a:p>
        </p:txBody>
      </p:sp>
      <p:sp>
        <p:nvSpPr>
          <p:cNvPr id="102" name="fig"/>
          <p:cNvSpPr/>
          <p:nvPr/>
        </p:nvSpPr>
        <p:spPr>
          <a:xfrm>
            <a:off x="411480" y="1947672"/>
            <a:ext cx="4114800" cy="137160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定义：抽象保留当前层次的信息；</a:t>
            </a:r>
            <a:br>
              <a:rPr lang="zh-CN" sz="2000">
                <a:latin typeface="微软雅黑"/>
                <a:ea typeface="微软雅黑"/>
              </a:rPr>
            </a:br>
            <a:r>
              <a:rPr lang="zh-CN" altLang="en-US" sz="2000" b="0">
                <a:solidFill>
                  <a:srgbClr val="262626"/>
                </a:solidFill>
                <a:latin typeface="微软雅黑"/>
                <a:ea typeface="微软雅黑"/>
              </a:rPr>
              <a:t>逐步求精展开实现步骤。</a:t>
            </a:r>
            <a:endParaRPr lang="zh-CN" sz="2000">
              <a:latin typeface="微软雅黑"/>
              <a:ea typeface="微软雅黑"/>
            </a:endParaRPr>
          </a:p>
        </p:txBody>
      </p:sp>
      <p:sp>
        <p:nvSpPr>
          <p:cNvPr id="103" name="fig-d"/>
          <p:cNvSpPr/>
          <p:nvPr/>
        </p:nvSpPr>
        <p:spPr>
          <a:xfrm>
            <a:off x="4617720" y="1508760"/>
            <a:ext cx="4114800" cy="438912"/>
          </a:xfrm>
          <a:prstGeom prst="rect">
            <a:avLst/>
          </a:prstGeom>
          <a:solidFill>
            <a:srgbClr val="595959"/>
          </a:solidFill>
          <a:ln w="12700">
            <a:solidFill>
              <a:srgbClr val="595959"/>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代价</a:t>
            </a:r>
            <a:endParaRPr lang="zh-CN" sz="1800">
              <a:latin typeface="微软雅黑"/>
              <a:ea typeface="微软雅黑"/>
            </a:endParaRPr>
          </a:p>
        </p:txBody>
      </p:sp>
      <p:sp>
        <p:nvSpPr>
          <p:cNvPr id="104" name="fig"/>
          <p:cNvSpPr/>
          <p:nvPr/>
        </p:nvSpPr>
        <p:spPr>
          <a:xfrm>
            <a:off x="4617720" y="1947672"/>
            <a:ext cx="4114800" cy="1371600"/>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代价：业务目的与数据库细节</a:t>
            </a:r>
            <a:br>
              <a:rPr lang="zh-CN" sz="2000">
                <a:latin typeface="微软雅黑"/>
                <a:ea typeface="微软雅黑"/>
              </a:rPr>
            </a:br>
            <a:r>
              <a:rPr lang="zh-CN" altLang="en-US" sz="2000" b="0">
                <a:solidFill>
                  <a:srgbClr val="262626"/>
                </a:solidFill>
                <a:latin typeface="微软雅黑"/>
                <a:ea typeface="微软雅黑"/>
              </a:rPr>
              <a:t>混杂，扩大阅读和修改范围。</a:t>
            </a:r>
            <a:endParaRPr lang="zh-CN" sz="2000">
              <a:latin typeface="微软雅黑"/>
              <a:ea typeface="微软雅黑"/>
            </a:endParaRPr>
          </a:p>
        </p:txBody>
      </p:sp>
      <p:sp>
        <p:nvSpPr>
          <p:cNvPr id="105" name="fig-d"/>
          <p:cNvSpPr/>
          <p:nvPr/>
        </p:nvSpPr>
        <p:spPr>
          <a:xfrm>
            <a:off x="411480" y="3474720"/>
            <a:ext cx="4114800" cy="438912"/>
          </a:xfrm>
          <a:prstGeom prst="rect">
            <a:avLst/>
          </a:prstGeom>
          <a:solidFill>
            <a:srgbClr val="595959"/>
          </a:solidFill>
          <a:ln w="12700">
            <a:solidFill>
              <a:srgbClr val="595959"/>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代码判定</a:t>
            </a:r>
            <a:endParaRPr lang="zh-CN" sz="1800">
              <a:latin typeface="微软雅黑"/>
              <a:ea typeface="微软雅黑"/>
            </a:endParaRPr>
          </a:p>
        </p:txBody>
      </p:sp>
      <p:sp>
        <p:nvSpPr>
          <p:cNvPr id="106" name="fig"/>
          <p:cNvSpPr/>
          <p:nvPr/>
        </p:nvSpPr>
        <p:spPr>
          <a:xfrm>
            <a:off x="411480" y="3913632"/>
            <a:ext cx="4114800" cy="1371600"/>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代码判定：从取消订单定位状态、</a:t>
            </a:r>
            <a:br>
              <a:rPr lang="zh-CN" sz="2000">
                <a:latin typeface="微软雅黑"/>
                <a:ea typeface="微软雅黑"/>
              </a:rPr>
            </a:br>
            <a:r>
              <a:rPr lang="zh-CN" altLang="en-US" sz="2000" b="0">
                <a:solidFill>
                  <a:srgbClr val="262626"/>
                </a:solidFill>
                <a:latin typeface="微软雅黑"/>
                <a:ea typeface="微软雅黑"/>
              </a:rPr>
              <a:t>库存、优惠券和积分操作。</a:t>
            </a:r>
            <a:endParaRPr lang="zh-CN" sz="2000">
              <a:latin typeface="微软雅黑"/>
              <a:ea typeface="微软雅黑"/>
            </a:endParaRPr>
          </a:p>
        </p:txBody>
      </p:sp>
      <p:sp>
        <p:nvSpPr>
          <p:cNvPr id="107" name="fig-d"/>
          <p:cNvSpPr/>
          <p:nvPr/>
        </p:nvSpPr>
        <p:spPr>
          <a:xfrm>
            <a:off x="4617720" y="3474720"/>
            <a:ext cx="4114800" cy="438912"/>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取舍</a:t>
            </a:r>
            <a:endParaRPr lang="zh-CN" sz="1800">
              <a:latin typeface="微软雅黑"/>
              <a:ea typeface="微软雅黑"/>
            </a:endParaRPr>
          </a:p>
        </p:txBody>
      </p:sp>
      <p:sp>
        <p:nvSpPr>
          <p:cNvPr id="108" name="fig"/>
          <p:cNvSpPr/>
          <p:nvPr/>
        </p:nvSpPr>
        <p:spPr>
          <a:xfrm>
            <a:off x="4617720" y="3913632"/>
            <a:ext cx="4114800" cy="1371600"/>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取舍：为独立理解或验证而拆分；避免仅转发的中间层。</a:t>
            </a:r>
            <a:endParaRPr lang="zh-CN" sz="2000">
              <a:latin typeface="微软雅黑"/>
              <a:ea typeface="微软雅黑"/>
            </a:endParaRPr>
          </a:p>
        </p:txBody>
      </p:sp>
      <p:sp>
        <p:nvSpPr>
          <p:cNvPr id="10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Tree>
    <p:extLst>
      <p:ext uri="{BB962C8B-B14F-4D97-AF65-F5344CB8AC3E}">
        <p14:creationId xmlns:p14="http://schemas.microsoft.com/office/powerpoint/2010/main" val="8661774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模块划分兼顾局部复杂度与协作成本</a:t>
            </a:r>
          </a:p>
        </p:txBody>
      </p:sp>
      <p:sp>
        <p:nvSpPr>
          <p:cNvPr id="7" name="fn"/>
          <p:cNvSpPr txBox="1"/>
          <p:nvPr/>
        </p:nvSpPr>
        <p:spPr>
          <a:xfrm>
            <a:off x="406400" y="5486400"/>
            <a:ext cx="8318500" cy="221599"/>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1200" b="0" dirty="0">
                <a:latin typeface="微软雅黑"/>
                <a:ea typeface="微软雅黑"/>
                <a:cs typeface="微软雅黑"/>
              </a:rPr>
              <a:t>来源：</a:t>
            </a:r>
            <a:r>
              <a:rPr lang="en-US" altLang="zh-CN" sz="1200" b="0" dirty="0">
                <a:latin typeface="微软雅黑"/>
                <a:ea typeface="微软雅黑"/>
                <a:cs typeface="微软雅黑"/>
              </a:rPr>
              <a:t>2024</a:t>
            </a:r>
            <a:r>
              <a:rPr lang="zh-CN" altLang="en-US" sz="1200" b="0" dirty="0">
                <a:latin typeface="微软雅黑"/>
                <a:ea typeface="微软雅黑"/>
                <a:cs typeface="微软雅黑"/>
              </a:rPr>
              <a:t>课件</a:t>
            </a:r>
            <a:r>
              <a:rPr lang="en-US" altLang="zh-CN" sz="1200" b="0" dirty="0">
                <a:latin typeface="微软雅黑"/>
                <a:ea typeface="微软雅黑"/>
                <a:cs typeface="微软雅黑"/>
              </a:rPr>
              <a:t>5-1</a:t>
            </a:r>
            <a:r>
              <a:rPr lang="zh-CN" altLang="en-US" sz="1200" b="0" dirty="0">
                <a:latin typeface="微软雅黑"/>
                <a:ea typeface="微软雅黑"/>
                <a:cs typeface="微软雅黑"/>
              </a:rPr>
              <a:t>第</a:t>
            </a:r>
            <a:r>
              <a:rPr lang="en-US" altLang="zh-CN" sz="1200" b="0" dirty="0">
                <a:latin typeface="微软雅黑"/>
                <a:ea typeface="微软雅黑"/>
                <a:cs typeface="微软雅黑"/>
              </a:rPr>
              <a:t>6–8</a:t>
            </a:r>
            <a:r>
              <a:rPr lang="zh-CN" altLang="en-US" sz="1200" b="0" dirty="0">
                <a:latin typeface="微软雅黑"/>
                <a:ea typeface="微软雅黑"/>
                <a:cs typeface="微软雅黑"/>
              </a:rPr>
              <a:t>页；基线各模块 </a:t>
            </a:r>
            <a:r>
              <a:rPr lang="en-US" altLang="zh-CN" sz="1200" b="0" dirty="0">
                <a:latin typeface="微软雅黑"/>
                <a:ea typeface="微软雅黑"/>
                <a:cs typeface="微软雅黑"/>
              </a:rPr>
              <a:t>pom.xml</a:t>
            </a:r>
            <a:r>
              <a:rPr lang="zh-CN" altLang="en-US" sz="1200" b="0" dirty="0">
                <a:latin typeface="微软雅黑"/>
                <a:ea typeface="微软雅黑"/>
                <a:cs typeface="微软雅黑"/>
              </a:rPr>
              <a:t>。</a:t>
            </a:r>
          </a:p>
        </p:txBody>
      </p:sp>
      <p:sp>
        <p:nvSpPr>
          <p:cNvPr id="101" name="fig-d"/>
          <p:cNvSpPr/>
          <p:nvPr/>
        </p:nvSpPr>
        <p:spPr>
          <a:xfrm>
            <a:off x="411480" y="1508760"/>
            <a:ext cx="1371600" cy="896112"/>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定义</a:t>
            </a:r>
            <a:endParaRPr lang="zh-CN" sz="1800">
              <a:latin typeface="微软雅黑"/>
              <a:ea typeface="微软雅黑"/>
            </a:endParaRPr>
          </a:p>
        </p:txBody>
      </p:sp>
      <p:sp>
        <p:nvSpPr>
          <p:cNvPr id="102" name="fig"/>
          <p:cNvSpPr/>
          <p:nvPr/>
        </p:nvSpPr>
        <p:spPr>
          <a:xfrm>
            <a:off x="1874520" y="1508760"/>
            <a:ext cx="6858000" cy="896112"/>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定义：模块是可独立命名和访问的部件；</a:t>
            </a:r>
            <a:br>
              <a:rPr lang="zh-CN" sz="2000">
                <a:latin typeface="微软雅黑"/>
                <a:ea typeface="微软雅黑"/>
              </a:rPr>
            </a:br>
            <a:r>
              <a:rPr lang="zh-CN" altLang="en-US" sz="2000" b="0">
                <a:solidFill>
                  <a:srgbClr val="262626"/>
                </a:solidFill>
                <a:latin typeface="微软雅黑"/>
                <a:ea typeface="微软雅黑"/>
              </a:rPr>
              <a:t>模块组合实现系统功能。</a:t>
            </a:r>
            <a:endParaRPr lang="zh-CN" sz="2000">
              <a:latin typeface="微软雅黑"/>
              <a:ea typeface="微软雅黑"/>
            </a:endParaRPr>
          </a:p>
        </p:txBody>
      </p:sp>
      <p:sp>
        <p:nvSpPr>
          <p:cNvPr id="103" name="fig-d"/>
          <p:cNvSpPr/>
          <p:nvPr/>
        </p:nvSpPr>
        <p:spPr>
          <a:xfrm>
            <a:off x="411480" y="2496312"/>
            <a:ext cx="1371600" cy="896112"/>
          </a:xfrm>
          <a:prstGeom prst="rect">
            <a:avLst/>
          </a:prstGeom>
          <a:solidFill>
            <a:srgbClr val="595959"/>
          </a:solidFill>
          <a:ln w="12700">
            <a:solidFill>
              <a:srgbClr val="595959"/>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代价</a:t>
            </a:r>
            <a:endParaRPr lang="zh-CN" sz="1800">
              <a:latin typeface="微软雅黑"/>
              <a:ea typeface="微软雅黑"/>
            </a:endParaRPr>
          </a:p>
        </p:txBody>
      </p:sp>
      <p:sp>
        <p:nvSpPr>
          <p:cNvPr id="104" name="fig"/>
          <p:cNvSpPr/>
          <p:nvPr/>
        </p:nvSpPr>
        <p:spPr>
          <a:xfrm>
            <a:off x="1874520" y="2496312"/>
            <a:ext cx="6858000" cy="896112"/>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代价：职责混杂扩大修改范围；</a:t>
            </a:r>
            <a:br>
              <a:rPr lang="zh-CN" sz="2000">
                <a:latin typeface="微软雅黑"/>
                <a:ea typeface="微软雅黑"/>
              </a:rPr>
            </a:br>
            <a:r>
              <a:rPr lang="zh-CN" altLang="en-US" sz="2000" b="0">
                <a:solidFill>
                  <a:srgbClr val="262626"/>
                </a:solidFill>
                <a:latin typeface="微软雅黑"/>
                <a:ea typeface="微软雅黑"/>
              </a:rPr>
              <a:t>拆分过细增加接口与协调成本。</a:t>
            </a:r>
            <a:endParaRPr lang="zh-CN" sz="2000">
              <a:latin typeface="微软雅黑"/>
              <a:ea typeface="微软雅黑"/>
            </a:endParaRPr>
          </a:p>
        </p:txBody>
      </p:sp>
      <p:sp>
        <p:nvSpPr>
          <p:cNvPr id="105" name="fig-d"/>
          <p:cNvSpPr/>
          <p:nvPr/>
        </p:nvSpPr>
        <p:spPr>
          <a:xfrm>
            <a:off x="411480" y="3483864"/>
            <a:ext cx="1371600" cy="896112"/>
          </a:xfrm>
          <a:prstGeom prst="rect">
            <a:avLst/>
          </a:prstGeom>
          <a:solidFill>
            <a:srgbClr val="595959"/>
          </a:solidFill>
          <a:ln w="12700">
            <a:solidFill>
              <a:srgbClr val="595959"/>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代码判定</a:t>
            </a:r>
            <a:endParaRPr lang="zh-CN" sz="1800">
              <a:latin typeface="微软雅黑"/>
              <a:ea typeface="微软雅黑"/>
            </a:endParaRPr>
          </a:p>
        </p:txBody>
      </p:sp>
      <p:sp>
        <p:nvSpPr>
          <p:cNvPr id="106" name="fig"/>
          <p:cNvSpPr/>
          <p:nvPr/>
        </p:nvSpPr>
        <p:spPr>
          <a:xfrm>
            <a:off x="1874520" y="3483864"/>
            <a:ext cx="6858000" cy="896112"/>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代码判定：核对职责、公开接口和依赖方向。</a:t>
            </a:r>
            <a:br>
              <a:rPr lang="zh-CN" sz="2000">
                <a:latin typeface="微软雅黑"/>
                <a:ea typeface="微软雅黑"/>
              </a:rPr>
            </a:br>
            <a:r>
              <a:rPr lang="zh-CN" altLang="en-US" sz="2000" b="0">
                <a:solidFill>
                  <a:srgbClr val="262626"/>
                </a:solidFill>
                <a:latin typeface="微软雅黑"/>
                <a:ea typeface="微软雅黑"/>
              </a:rPr>
              <a:t>如 mall-mbg 提供生成代码，admin/portal 使用接口。</a:t>
            </a:r>
            <a:endParaRPr lang="zh-CN" sz="2000">
              <a:latin typeface="微软雅黑"/>
              <a:ea typeface="微软雅黑"/>
            </a:endParaRPr>
          </a:p>
        </p:txBody>
      </p:sp>
      <p:sp>
        <p:nvSpPr>
          <p:cNvPr id="107" name="fig-d"/>
          <p:cNvSpPr/>
          <p:nvPr/>
        </p:nvSpPr>
        <p:spPr>
          <a:xfrm>
            <a:off x="411480" y="4471416"/>
            <a:ext cx="1371600" cy="896112"/>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1800" b="1">
                <a:solidFill>
                  <a:srgbClr val="FFFFFF"/>
                </a:solidFill>
                <a:latin typeface="微软雅黑"/>
                <a:ea typeface="微软雅黑"/>
              </a:rPr>
              <a:t>取舍</a:t>
            </a:r>
            <a:endParaRPr lang="zh-CN" sz="1800">
              <a:latin typeface="微软雅黑"/>
              <a:ea typeface="微软雅黑"/>
            </a:endParaRPr>
          </a:p>
        </p:txBody>
      </p:sp>
      <p:sp>
        <p:nvSpPr>
          <p:cNvPr id="108" name="fig"/>
          <p:cNvSpPr/>
          <p:nvPr/>
        </p:nvSpPr>
        <p:spPr>
          <a:xfrm>
            <a:off x="1874520" y="4471416"/>
            <a:ext cx="6858000" cy="896112"/>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取舍：将共同变化的职责组织在一起；</a:t>
            </a:r>
            <a:br>
              <a:rPr lang="zh-CN" sz="2000">
                <a:latin typeface="微软雅黑"/>
                <a:ea typeface="微软雅黑"/>
              </a:rPr>
            </a:br>
            <a:r>
              <a:rPr lang="zh-CN" altLang="en-US" sz="2000" b="0">
                <a:solidFill>
                  <a:srgbClr val="262626"/>
                </a:solidFill>
                <a:latin typeface="微软雅黑"/>
                <a:ea typeface="微软雅黑"/>
              </a:rPr>
              <a:t>不为减少单个文件长度而拆模块。</a:t>
            </a:r>
            <a:endParaRPr lang="zh-CN" sz="2000">
              <a:latin typeface="微软雅黑"/>
              <a:ea typeface="微软雅黑"/>
            </a:endParaRPr>
          </a:p>
        </p:txBody>
      </p:sp>
      <p:sp>
        <p:nvSpPr>
          <p:cNvPr id="10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Tree>
    <p:extLst>
      <p:ext uri="{BB962C8B-B14F-4D97-AF65-F5344CB8AC3E}">
        <p14:creationId xmlns:p14="http://schemas.microsoft.com/office/powerpoint/2010/main" val="16230650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信息隐藏就是只露接口，藏起会变的决定</a:t>
            </a:r>
          </a:p>
        </p:txBody>
      </p:sp>
      <p:graphicFrame>
        <p:nvGraphicFramePr>
          <p:cNvPr id="3" name="table"/>
          <p:cNvGraphicFramePr>
            <a:graphicFrameLocks noGrp="1"/>
          </p:cNvGraphicFramePr>
          <p:nvPr/>
        </p:nvGraphicFramePr>
        <p:xfrm>
          <a:off x="368300" y="1485900"/>
          <a:ext cx="8407400" cy="3550920"/>
        </p:xfrm>
        <a:graphic>
          <a:graphicData uri="http://schemas.openxmlformats.org/drawingml/2006/table">
            <a:tbl>
              <a:tblPr>
                <a:tableStyleId>{2D5ABB26-0587-4C30-8999-92F81FD0307C}</a:tableStyleId>
              </a:tblPr>
              <a:tblGrid>
                <a:gridCol w="2413000">
                  <a:extLst>
                    <a:ext uri="{9D8B030D-6E8A-4147-A177-3AD203B41FA5}">
                      <a16:colId xmlns:a16="http://schemas.microsoft.com/office/drawing/2014/main" val="20000"/>
                    </a:ext>
                  </a:extLst>
                </a:gridCol>
                <a:gridCol w="5994400">
                  <a:extLst>
                    <a:ext uri="{9D8B030D-6E8A-4147-A177-3AD203B41FA5}">
                      <a16:colId xmlns:a16="http://schemas.microsoft.com/office/drawing/2014/main" val="20001"/>
                    </a:ext>
                  </a:extLst>
                </a:gridCol>
              </a:tblGrid>
              <a:tr h="4572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层次</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内容</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6553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定义</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按“藏起什么设计决定”划分模块，使用者只知道接口</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4572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违背的代价</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被暴露的决定一变，所有调用方都要改</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4572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代码里怎么判定</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调用方是否必须知道模块内部，而不只是接口</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15240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与其他原则冲突时</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接口一般要求简洁，过宽的接口等于没有隐藏，</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一个接口不宜声明过多无关的方法；</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接口要稳定，一旦接口改变，</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引用接口的实现都要修改，会导致修改的传播，</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放大工作量，增加错误的可能性。</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fig"/>
          <p:cNvSpPr/>
          <p:nvPr/>
        </p:nvSpPr>
        <p:spPr>
          <a:xfrm>
            <a:off x="368300" y="5130800"/>
            <a:ext cx="8407400" cy="7874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mall：调用方只调用 CancelOrderSender.sendMessage，消息过期时间的设置藏在方法内</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讨论关单补偿该藏在哪里</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
        <p:nvSpPr>
          <p:cNvPr id="101" name="fig"/>
          <p:cNvSpPr/>
          <p:nvPr/>
        </p:nvSpPr>
        <p:spPr>
          <a:xfrm>
            <a:off x="411480" y="1554480"/>
            <a:ext cx="8321040" cy="548640"/>
          </a:xfrm>
          <a:prstGeom prst="rect">
            <a:avLst/>
          </a:prstGeom>
          <a:solidFill>
            <a:srgbClr val="A33B38"/>
          </a:solidFill>
          <a:ln w="12700">
            <a:solidFill>
              <a:srgbClr val="A33B38"/>
            </a:solidFill>
          </a:ln>
        </p:spPr>
        <p:txBody>
          <a:bodyPr wrap="square" lIns="73152" tIns="36576" rIns="73152" bIns="36576" anchor="ctr"/>
          <a:lstStyle/>
          <a:p>
            <a:pPr algn="ctr">
              <a:lnSpc>
                <a:spcPct val="100000"/>
              </a:lnSpc>
              <a:buNone/>
            </a:pPr>
            <a:r>
              <a:rPr lang="zh-CN" altLang="en-US" sz="2000" b="1">
                <a:solidFill>
                  <a:srgbClr val="FFFFFF"/>
                </a:solidFill>
                <a:latin typeface="微软雅黑"/>
                <a:ea typeface="微软雅黑"/>
              </a:rPr>
              <a:t>“关单要还库存、券、积分”这个决定，该藏在哪个模块？</a:t>
            </a:r>
            <a:endParaRPr lang="zh-CN" sz="2000"/>
          </a:p>
        </p:txBody>
      </p:sp>
      <p:sp>
        <p:nvSpPr>
          <p:cNvPr id="102" name="fig"/>
          <p:cNvSpPr/>
          <p:nvPr/>
        </p:nvSpPr>
        <p:spPr>
          <a:xfrm>
            <a:off x="411480" y="2240280"/>
            <a:ext cx="8321040" cy="566928"/>
          </a:xfrm>
          <a:prstGeom prst="rect">
            <a:avLst/>
          </a:prstGeom>
          <a:solidFill>
            <a:srgbClr val="F6E8E6"/>
          </a:solidFill>
          <a:ln w="12700">
            <a:solidFill>
              <a:srgbClr val="A33B38"/>
            </a:solidFill>
          </a:ln>
        </p:spPr>
        <p:txBody>
          <a:bodyPr wrap="square" lIns="73152" tIns="36576" rIns="73152" bIns="36576" anchor="ctr"/>
          <a:lstStyle/>
          <a:p>
            <a:pPr algn="l">
              <a:lnSpc>
                <a:spcPct val="100000"/>
              </a:lnSpc>
              <a:buNone/>
            </a:pPr>
            <a:r>
              <a:rPr lang="zh-CN" altLang="en-US" sz="2000" b="0">
                <a:solidFill>
                  <a:srgbClr val="262626"/>
                </a:solidFill>
                <a:latin typeface="微软雅黑"/>
                <a:ea typeface="微软雅黑"/>
              </a:rPr>
              <a:t>用户取消 cancelOrder：补偿一份，第 313–323 行</a:t>
            </a:r>
            <a:endParaRPr lang="zh-CN" sz="2000"/>
          </a:p>
        </p:txBody>
      </p:sp>
      <p:sp>
        <p:nvSpPr>
          <p:cNvPr id="103" name="fig"/>
          <p:cNvSpPr/>
          <p:nvPr/>
        </p:nvSpPr>
        <p:spPr>
          <a:xfrm>
            <a:off x="411480" y="2898648"/>
            <a:ext cx="8321040" cy="566928"/>
          </a:xfrm>
          <a:prstGeom prst="rect">
            <a:avLst/>
          </a:prstGeom>
          <a:solidFill>
            <a:srgbClr val="F6E8E6"/>
          </a:solidFill>
          <a:ln w="12700">
            <a:solidFill>
              <a:srgbClr val="A33B38"/>
            </a:solidFill>
          </a:ln>
        </p:spPr>
        <p:txBody>
          <a:bodyPr wrap="square" lIns="73152" tIns="36576" rIns="73152" bIns="36576" anchor="ctr"/>
          <a:lstStyle/>
          <a:p>
            <a:pPr algn="l">
              <a:lnSpc>
                <a:spcPct val="100000"/>
              </a:lnSpc>
              <a:buNone/>
            </a:pPr>
            <a:r>
              <a:rPr lang="zh-CN" altLang="en-US" sz="2000" b="0">
                <a:solidFill>
                  <a:srgbClr val="262626"/>
                </a:solidFill>
                <a:latin typeface="微软雅黑"/>
                <a:ea typeface="微软雅黑"/>
              </a:rPr>
              <a:t>批量超时 cancelTimeOutOrder：同样一份，第 283–291 行</a:t>
            </a:r>
            <a:endParaRPr lang="zh-CN" sz="2000"/>
          </a:p>
        </p:txBody>
      </p:sp>
      <p:sp>
        <p:nvSpPr>
          <p:cNvPr id="104" name="fig"/>
          <p:cNvSpPr/>
          <p:nvPr/>
        </p:nvSpPr>
        <p:spPr>
          <a:xfrm>
            <a:off x="411480" y="3557016"/>
            <a:ext cx="8321040" cy="566928"/>
          </a:xfrm>
          <a:prstGeom prst="rect">
            <a:avLst/>
          </a:prstGeom>
          <a:solidFill>
            <a:srgbClr val="F5F5F5"/>
          </a:solidFill>
          <a:ln w="12700">
            <a:solidFill>
              <a:srgbClr val="A6A6A6"/>
            </a:solidFill>
          </a:ln>
        </p:spPr>
        <p:txBody>
          <a:bodyPr wrap="square" lIns="73152" tIns="36576" rIns="73152" bIns="36576" anchor="ctr"/>
          <a:lstStyle/>
          <a:p>
            <a:pPr algn="l">
              <a:lnSpc>
                <a:spcPct val="100000"/>
              </a:lnSpc>
              <a:buNone/>
            </a:pPr>
            <a:r>
              <a:rPr lang="zh-CN" altLang="en-US" sz="2000" b="0">
                <a:solidFill>
                  <a:srgbClr val="262626"/>
                </a:solidFill>
                <a:latin typeface="微软雅黑"/>
                <a:ea typeface="微软雅黑"/>
              </a:rPr>
              <a:t>后台关闭 close：只改状态不补偿，第 60–78 行</a:t>
            </a:r>
            <a:endParaRPr lang="zh-CN" sz="2000"/>
          </a:p>
        </p:txBody>
      </p:sp>
      <p:sp>
        <p:nvSpPr>
          <p:cNvPr id="105" name="fig"/>
          <p:cNvSpPr/>
          <p:nvPr/>
        </p:nvSpPr>
        <p:spPr>
          <a:xfrm>
            <a:off x="411480" y="4297680"/>
            <a:ext cx="8321040" cy="566928"/>
          </a:xfrm>
          <a:prstGeom prst="rect">
            <a:avLst/>
          </a:prstGeom>
          <a:solidFill>
            <a:srgbClr val="FFFFFF"/>
          </a:solidFill>
          <a:ln w="12700">
            <a:solidFill>
              <a:srgbClr val="A6A6A6"/>
            </a:solidFill>
          </a:ln>
        </p:spPr>
        <p:txBody>
          <a:bodyPr wrap="square" lIns="73152" tIns="36576" rIns="73152" bIns="36576" anchor="ctr"/>
          <a:lstStyle/>
          <a:p>
            <a:pPr algn="l">
              <a:lnSpc>
                <a:spcPct val="100000"/>
              </a:lnSpc>
              <a:buNone/>
            </a:pPr>
            <a:r>
              <a:rPr lang="zh-CN" altLang="en-US" sz="2000" b="0">
                <a:solidFill>
                  <a:srgbClr val="595959"/>
                </a:solidFill>
                <a:latin typeface="微软雅黑"/>
                <a:ea typeface="微软雅黑"/>
              </a:rPr>
              <a:t>注意：基线中退积分不生效，use_integration 写库后才赋值</a:t>
            </a:r>
            <a:endParaRPr lang="zh-CN" sz="2000"/>
          </a:p>
        </p:txBody>
      </p:sp>
      <p:sp>
        <p:nvSpPr>
          <p:cNvPr id="106" name="fig"/>
          <p:cNvSpPr/>
          <p:nvPr/>
        </p:nvSpPr>
        <p:spPr>
          <a:xfrm>
            <a:off x="411480" y="4983480"/>
            <a:ext cx="8321040" cy="566928"/>
          </a:xfrm>
          <a:prstGeom prst="rect">
            <a:avLst/>
          </a:prstGeom>
          <a:solidFill>
            <a:srgbClr val="FFFFFF"/>
          </a:solidFill>
          <a:ln w="28575">
            <a:solidFill>
              <a:srgbClr val="A33B38"/>
            </a:solidFill>
          </a:ln>
        </p:spPr>
        <p:txBody>
          <a:bodyPr wrap="square" lIns="73152" tIns="36576" rIns="73152" bIns="36576" anchor="ctr"/>
          <a:lstStyle/>
          <a:p>
            <a:pPr algn="ctr">
              <a:lnSpc>
                <a:spcPct val="100000"/>
              </a:lnSpc>
              <a:buNone/>
            </a:pPr>
            <a:r>
              <a:rPr lang="zh-CN" altLang="en-US" sz="2000" b="1">
                <a:solidFill>
                  <a:srgbClr val="A33B38"/>
                </a:solidFill>
                <a:latin typeface="微软雅黑"/>
                <a:ea typeface="微软雅黑"/>
              </a:rPr>
              <a:t>实验 E2 的教师示例 E2-00：三个入口共用 OrderCancellation</a:t>
            </a:r>
            <a:endParaRPr lang="zh-CN" sz="2000"/>
          </a:p>
        </p:txBody>
      </p:sp>
      <p:sp>
        <p:nvSpPr>
          <p:cNvPr id="107" name="fn-source"/>
          <p:cNvSpPr/>
          <p:nvPr/>
        </p:nvSpPr>
        <p:spPr>
          <a:xfrm>
            <a:off x="411480" y="5760720"/>
            <a:ext cx="8321040" cy="201168"/>
          </a:xfrm>
          <a:prstGeom prst="rect">
            <a:avLst/>
          </a:prstGeom>
          <a:noFill/>
          <a:ln>
            <a:noFill/>
          </a:ln>
        </p:spPr>
        <p:txBody>
          <a:bodyPr wrap="square" lIns="36576" tIns="18288" rIns="36576" bIns="18288" anchor="b"/>
          <a:lstStyle/>
          <a:p>
            <a:pPr algn="l">
              <a:lnSpc>
                <a:spcPct val="100000"/>
              </a:lnSpc>
              <a:buNone/>
            </a:pPr>
            <a:r>
              <a:rPr lang="zh-CN" altLang="en-US" sz="1200" b="0">
                <a:solidFill>
                  <a:srgbClr val="595959"/>
                </a:solidFill>
                <a:latin typeface="微软雅黑"/>
                <a:ea typeface="微软雅黑"/>
              </a:rPr>
              <a:t>依据：基线 OmsPortalOrderServiceImpl、OmsOrderServiceImpl 上述各行；Issue #42</a:t>
            </a:r>
            <a:endParaRPr lang="zh-CN" sz="120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模块要高内聚、低耦合</a:t>
            </a:r>
          </a:p>
        </p:txBody>
      </p:sp>
      <p:graphicFrame>
        <p:nvGraphicFramePr>
          <p:cNvPr id="3" name="table"/>
          <p:cNvGraphicFramePr>
            <a:graphicFrameLocks noGrp="1"/>
          </p:cNvGraphicFramePr>
          <p:nvPr/>
        </p:nvGraphicFramePr>
        <p:xfrm>
          <a:off x="368300" y="1485900"/>
          <a:ext cx="8407400" cy="3276600"/>
        </p:xfrm>
        <a:graphic>
          <a:graphicData uri="http://schemas.openxmlformats.org/drawingml/2006/table">
            <a:tbl>
              <a:tblPr>
                <a:tableStyleId>{2D5ABB26-0587-4C30-8999-92F81FD0307C}</a:tableStyleId>
              </a:tblPr>
              <a:tblGrid>
                <a:gridCol w="2413000">
                  <a:extLst>
                    <a:ext uri="{9D8B030D-6E8A-4147-A177-3AD203B41FA5}">
                      <a16:colId xmlns:a16="http://schemas.microsoft.com/office/drawing/2014/main" val="20000"/>
                    </a:ext>
                  </a:extLst>
                </a:gridCol>
                <a:gridCol w="5994400">
                  <a:extLst>
                    <a:ext uri="{9D8B030D-6E8A-4147-A177-3AD203B41FA5}">
                      <a16:colId xmlns:a16="http://schemas.microsoft.com/office/drawing/2014/main" val="20001"/>
                    </a:ext>
                  </a:extLst>
                </a:gridCol>
              </a:tblGrid>
              <a:tr h="6553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层次</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内容</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6553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定义</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内聚看职责是否集中，耦合看模块间依赖程度</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6553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违背的代价</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一处改动牵动多个模块，难以局部修改</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6553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代码里怎么判定</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依赖是否单向；一次改动涉及几个模块</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65532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与其他原则冲突时</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遵循“适度抽象”和“减少重复”</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fig"/>
          <p:cNvSpPr/>
          <p:nvPr/>
        </p:nvSpPr>
        <p:spPr>
          <a:xfrm>
            <a:off x="368300" y="4953000"/>
            <a:ext cx="8407400" cy="9144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mall：admin 与 portal 各有订单服务；只有同一规则两处都写且须同步修改，才算内聚被拆散</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用七个模块的依赖方向判定耦合</a:t>
            </a:r>
          </a:p>
        </p:txBody>
      </p:sp>
      <p:sp>
        <p:nvSpPr>
          <p:cNvPr id="3" name="body"/>
          <p:cNvSpPr txBox="1"/>
          <p:nvPr/>
        </p:nvSpPr>
        <p:spPr>
          <a:xfrm>
            <a:off x="406400" y="1435100"/>
            <a:ext cx="8318500" cy="1143000"/>
          </a:xfrm>
          <a:prstGeom prst="rect">
            <a:avLst/>
          </a:prstGeom>
          <a:noFill/>
        </p:spPr>
        <p:txBody>
          <a:bodyPr wrap="square" lIns="54864" tIns="18288" rIns="54864" bIns="18288">
            <a:spAutoFit/>
          </a:bodyPr>
          <a:lstStyle/>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000" b="0">
                <a:latin typeface="微软雅黑"/>
                <a:ea typeface="微软雅黑"/>
                <a:cs typeface="微软雅黑"/>
              </a:rPr>
              <a:t>search、demo 只依赖 mbg：依赖种类较少</a:t>
            </a:r>
          </a:p>
          <a:p>
            <a:pPr marL="292608" indent="-292608" algn="l" eaLnBrk="1" hangingPunct="1">
              <a:lnSpc>
                <a:spcPct val="100000"/>
              </a:lnSpc>
              <a:spcBef>
                <a:spcPts val="400"/>
              </a:spcBef>
              <a:spcAft>
                <a:spcPts val="200"/>
              </a:spcAft>
              <a:buClr>
                <a:schemeClr val="accent2"/>
              </a:buClr>
              <a:buSzPct val="80000"/>
              <a:buFont typeface="Wingdings" pitchFamily="2" charset="2"/>
              <a:buChar char="n"/>
            </a:pPr>
            <a:r>
              <a:rPr lang="zh-CN" altLang="en-US" sz="2000" b="0">
                <a:latin typeface="微软雅黑"/>
                <a:ea typeface="微软雅黑"/>
                <a:cs typeface="微软雅黑"/>
              </a:rPr>
              <a:t>admin、portal 依赖 security 与 mbg；仍须核对</a:t>
            </a:r>
            <a:br>
              <a:rPr lang="zh-CN" altLang="en-US" sz="2000" b="0">
                <a:latin typeface="微软雅黑"/>
                <a:ea typeface="微软雅黑"/>
              </a:rPr>
            </a:br>
            <a:r>
              <a:rPr lang="zh-CN" altLang="en-US" sz="2000" b="0">
                <a:latin typeface="微软雅黑"/>
                <a:ea typeface="微软雅黑"/>
                <a:cs typeface="微软雅黑"/>
              </a:rPr>
              <a:t>跨模块调用与重复规则</a:t>
            </a:r>
          </a:p>
        </p:txBody>
      </p:sp>
      <p:sp>
        <p:nvSpPr>
          <p:cNvPr id="4" name="fig"/>
          <p:cNvSpPr/>
          <p:nvPr/>
        </p:nvSpPr>
        <p:spPr>
          <a:xfrm>
            <a:off x="177800" y="29845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mall-admin</a:t>
            </a:r>
          </a:p>
        </p:txBody>
      </p:sp>
      <p:sp>
        <p:nvSpPr>
          <p:cNvPr id="5" name="fig"/>
          <p:cNvSpPr/>
          <p:nvPr/>
        </p:nvSpPr>
        <p:spPr>
          <a:xfrm>
            <a:off x="2336800" y="29845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mall-portal</a:t>
            </a:r>
          </a:p>
        </p:txBody>
      </p:sp>
      <p:sp>
        <p:nvSpPr>
          <p:cNvPr id="6" name="fig"/>
          <p:cNvSpPr/>
          <p:nvPr/>
        </p:nvSpPr>
        <p:spPr>
          <a:xfrm>
            <a:off x="4622800" y="29845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mall-search</a:t>
            </a:r>
          </a:p>
        </p:txBody>
      </p:sp>
      <p:sp>
        <p:nvSpPr>
          <p:cNvPr id="7" name="fig"/>
          <p:cNvSpPr/>
          <p:nvPr/>
        </p:nvSpPr>
        <p:spPr>
          <a:xfrm>
            <a:off x="6807200" y="29845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mall-demo</a:t>
            </a:r>
          </a:p>
        </p:txBody>
      </p:sp>
      <p:sp>
        <p:nvSpPr>
          <p:cNvPr id="8" name="fig"/>
          <p:cNvSpPr/>
          <p:nvPr/>
        </p:nvSpPr>
        <p:spPr>
          <a:xfrm>
            <a:off x="406400" y="38227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mall-security</a:t>
            </a:r>
          </a:p>
        </p:txBody>
      </p:sp>
      <p:sp>
        <p:nvSpPr>
          <p:cNvPr id="9" name="fig"/>
          <p:cNvSpPr/>
          <p:nvPr/>
        </p:nvSpPr>
        <p:spPr>
          <a:xfrm>
            <a:off x="4889500" y="38227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mall-mbg</a:t>
            </a:r>
          </a:p>
        </p:txBody>
      </p:sp>
      <p:sp>
        <p:nvSpPr>
          <p:cNvPr id="10" name="fig"/>
          <p:cNvSpPr/>
          <p:nvPr/>
        </p:nvSpPr>
        <p:spPr>
          <a:xfrm>
            <a:off x="3251200" y="4660900"/>
            <a:ext cx="2057400" cy="5588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mall-common</a:t>
            </a:r>
          </a:p>
        </p:txBody>
      </p:sp>
      <p:cxnSp>
        <p:nvCxnSpPr>
          <p:cNvPr id="11" name="ln"/>
          <p:cNvCxnSpPr/>
          <p:nvPr/>
        </p:nvCxnSpPr>
        <p:spPr>
          <a:xfrm>
            <a:off x="1206500" y="3543300"/>
            <a:ext cx="2286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ln"/>
          <p:cNvCxnSpPr/>
          <p:nvPr/>
        </p:nvCxnSpPr>
        <p:spPr>
          <a:xfrm>
            <a:off x="1206500" y="3543300"/>
            <a:ext cx="47117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ln"/>
          <p:cNvCxnSpPr/>
          <p:nvPr/>
        </p:nvCxnSpPr>
        <p:spPr>
          <a:xfrm flipH="1">
            <a:off x="1435100" y="3543300"/>
            <a:ext cx="19304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ln"/>
          <p:cNvCxnSpPr/>
          <p:nvPr/>
        </p:nvCxnSpPr>
        <p:spPr>
          <a:xfrm>
            <a:off x="3365500" y="3543300"/>
            <a:ext cx="25527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ln"/>
          <p:cNvCxnSpPr/>
          <p:nvPr/>
        </p:nvCxnSpPr>
        <p:spPr>
          <a:xfrm>
            <a:off x="5651500" y="3543300"/>
            <a:ext cx="2667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6" name="ln"/>
          <p:cNvCxnSpPr/>
          <p:nvPr/>
        </p:nvCxnSpPr>
        <p:spPr>
          <a:xfrm flipH="1">
            <a:off x="5918200" y="3543300"/>
            <a:ext cx="19177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7" name="ln"/>
          <p:cNvCxnSpPr/>
          <p:nvPr/>
        </p:nvCxnSpPr>
        <p:spPr>
          <a:xfrm>
            <a:off x="1435100" y="4381500"/>
            <a:ext cx="28448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cxnSp>
        <p:nvCxnSpPr>
          <p:cNvPr id="18" name="ln"/>
          <p:cNvCxnSpPr/>
          <p:nvPr/>
        </p:nvCxnSpPr>
        <p:spPr>
          <a:xfrm flipH="1">
            <a:off x="4279900" y="4381500"/>
            <a:ext cx="1638300" cy="279400"/>
          </a:xfrm>
          <a:prstGeom prst="line">
            <a:avLst/>
          </a:prstGeom>
          <a:ln w="25400">
            <a:solidFill>
              <a:srgbClr val="A33B38"/>
            </a:solidFill>
            <a:tailEnd type="triangle"/>
          </a:ln>
        </p:spPr>
        <p:style>
          <a:lnRef idx="2">
            <a:schemeClr val="accent1"/>
          </a:lnRef>
          <a:fillRef idx="0">
            <a:schemeClr val="accent1"/>
          </a:fillRef>
          <a:effectRef idx="1">
            <a:schemeClr val="accent1"/>
          </a:effectRef>
          <a:fontRef idx="minor">
            <a:schemeClr val="tx1"/>
          </a:fontRef>
        </p:style>
      </p:cxnSp>
      <p:sp>
        <p:nvSpPr>
          <p:cNvPr id="19"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模块化与可复用性对应本讲原则</a:t>
            </a:r>
          </a:p>
        </p:txBody>
      </p:sp>
      <p:graphicFrame>
        <p:nvGraphicFramePr>
          <p:cNvPr id="3" name="table"/>
          <p:cNvGraphicFramePr>
            <a:graphicFrameLocks noGrp="1"/>
          </p:cNvGraphicFramePr>
          <p:nvPr/>
        </p:nvGraphicFramePr>
        <p:xfrm>
          <a:off x="368300" y="1485900"/>
          <a:ext cx="8407400" cy="2819400"/>
        </p:xfrm>
        <a:graphic>
          <a:graphicData uri="http://schemas.openxmlformats.org/drawingml/2006/table">
            <a:tbl>
              <a:tblPr>
                <a:tableStyleId>{2D5ABB26-0587-4C30-8999-92F81FD0307C}</a:tableStyleId>
              </a:tblPr>
              <a:tblGrid>
                <a:gridCol w="1397000">
                  <a:extLst>
                    <a:ext uri="{9D8B030D-6E8A-4147-A177-3AD203B41FA5}">
                      <a16:colId xmlns:a16="http://schemas.microsoft.com/office/drawing/2014/main" val="20000"/>
                    </a:ext>
                  </a:extLst>
                </a:gridCol>
                <a:gridCol w="2768600">
                  <a:extLst>
                    <a:ext uri="{9D8B030D-6E8A-4147-A177-3AD203B41FA5}">
                      <a16:colId xmlns:a16="http://schemas.microsoft.com/office/drawing/2014/main" val="20001"/>
                    </a:ext>
                  </a:extLst>
                </a:gridCol>
                <a:gridCol w="24892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tblGrid>
              <a:tr h="939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子特性</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判定问题</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可观察指标</a:t>
                      </a:r>
                      <a:br>
                        <a:rPr lang="zh-CN" altLang="en-US" sz="2000" b="1">
                          <a:solidFill>
                            <a:srgbClr val="262626"/>
                          </a:solidFill>
                          <a:latin typeface="微软雅黑"/>
                          <a:ea typeface="微软雅黑"/>
                        </a:rPr>
                      </a:br>
                      <a:r>
                        <a:rPr lang="zh-CN" altLang="en-US" sz="2000" b="1">
                          <a:solidFill>
                            <a:srgbClr val="262626"/>
                          </a:solidFill>
                          <a:latin typeface="微软雅黑"/>
                          <a:ea typeface="微软雅黑"/>
                          <a:cs typeface="微软雅黑"/>
                        </a:rPr>
                        <a:t>（课程选定）</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设计原则</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939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模块化</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一处改动会落在</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几个模块里？</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依赖是否单向？</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改动涉及的模块数；是否出现循环依赖</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高内聚低耦合</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信息隐藏</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939800">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可复用性</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这段代码能否不加修改地被别处使用？</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被几个模块</a:t>
                      </a:r>
                      <a:br>
                        <a:rPr lang="zh-CN" altLang="en-US" sz="2000" b="0">
                          <a:solidFill>
                            <a:srgbClr val="262626"/>
                          </a:solidFill>
                          <a:latin typeface="微软雅黑"/>
                          <a:ea typeface="微软雅黑"/>
                          <a:cs typeface="微软雅黑"/>
                        </a:rPr>
                      </a:br>
                      <a:r>
                        <a:rPr lang="zh-CN" altLang="en-US" sz="2000" b="0">
                          <a:solidFill>
                            <a:srgbClr val="262626"/>
                          </a:solidFill>
                          <a:latin typeface="微软雅黑"/>
                          <a:ea typeface="微软雅黑"/>
                          <a:cs typeface="微软雅黑"/>
                        </a:rPr>
                        <a:t>共同使用</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抽象</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bl>
          </a:graphicData>
        </a:graphic>
      </p:graphicFrame>
      <p:sp>
        <p:nvSpPr>
          <p:cNvPr id="4" name="fig"/>
          <p:cNvSpPr/>
          <p:nvPr/>
        </p:nvSpPr>
        <p:spPr>
          <a:xfrm>
            <a:off x="368300" y="4622800"/>
            <a:ext cx="8407400" cy="9144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mall：mall-mbg 被 admin、portal、search、demo 四个应用共用</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分析、修改与测试都按可观察指标判定</a:t>
            </a:r>
          </a:p>
        </p:txBody>
      </p:sp>
      <p:graphicFrame>
        <p:nvGraphicFramePr>
          <p:cNvPr id="3" name="table"/>
          <p:cNvGraphicFramePr>
            <a:graphicFrameLocks noGrp="1"/>
          </p:cNvGraphicFramePr>
          <p:nvPr/>
        </p:nvGraphicFramePr>
        <p:xfrm>
          <a:off x="365760" y="1481328"/>
          <a:ext cx="8403336" cy="3657600"/>
        </p:xfrm>
        <a:graphic>
          <a:graphicData uri="http://schemas.openxmlformats.org/drawingml/2006/table">
            <a:tbl>
              <a:tblPr>
                <a:tableStyleId>{2D5ABB26-0587-4C30-8999-92F81FD0307C}</a:tableStyleId>
              </a:tblPr>
              <a:tblGrid>
                <a:gridCol w="12801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1728216">
                  <a:extLst>
                    <a:ext uri="{9D8B030D-6E8A-4147-A177-3AD203B41FA5}">
                      <a16:colId xmlns:a16="http://schemas.microsoft.com/office/drawing/2014/main" val="20003"/>
                    </a:ext>
                  </a:extLst>
                </a:gridCol>
              </a:tblGrid>
              <a:tr h="914400">
                <a:tc>
                  <a:txBody>
                    <a:bodyPr/>
                    <a:lstStyle/>
                    <a:p>
                      <a:pPr algn="l" eaLnBrk="1" hangingPunct="1">
                        <a:lnSpc>
                          <a:spcPct val="90000"/>
                        </a:lnSpc>
                        <a:spcBef>
                          <a:spcPts val="200"/>
                        </a:spcBef>
                        <a:spcAft>
                          <a:spcPts val="200"/>
                        </a:spcAft>
                        <a:buNone/>
                      </a:pPr>
                      <a:r>
                        <a:rPr lang="zh-CN" altLang="en-US" sz="1800" b="1">
                          <a:solidFill>
                            <a:srgbClr val="262626"/>
                          </a:solidFill>
                          <a:latin typeface="微软雅黑"/>
                          <a:ea typeface="微软雅黑"/>
                          <a:cs typeface="微软雅黑"/>
                        </a:rPr>
                        <a:t>子特性</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800" b="1">
                          <a:solidFill>
                            <a:srgbClr val="262626"/>
                          </a:solidFill>
                          <a:latin typeface="微软雅黑"/>
                          <a:ea typeface="微软雅黑"/>
                          <a:cs typeface="微软雅黑"/>
                        </a:rPr>
                        <a:t>判定问题</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800" b="1">
                          <a:solidFill>
                            <a:srgbClr val="262626"/>
                          </a:solidFill>
                          <a:latin typeface="微软雅黑"/>
                          <a:ea typeface="微软雅黑"/>
                          <a:cs typeface="微软雅黑"/>
                        </a:rPr>
                        <a:t>可观察指标</a:t>
                      </a:r>
                      <a:br>
                        <a:rPr lang="zh-CN" altLang="en-US" sz="1800" b="1">
                          <a:solidFill>
                            <a:srgbClr val="262626"/>
                          </a:solidFill>
                          <a:latin typeface="微软雅黑"/>
                          <a:ea typeface="微软雅黑"/>
                        </a:rPr>
                      </a:br>
                      <a:r>
                        <a:rPr lang="zh-CN" altLang="en-US" sz="1800" b="1">
                          <a:solidFill>
                            <a:srgbClr val="262626"/>
                          </a:solidFill>
                          <a:latin typeface="微软雅黑"/>
                          <a:ea typeface="微软雅黑"/>
                          <a:cs typeface="微软雅黑"/>
                        </a:rPr>
                        <a:t>（课程选定）</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800" b="1">
                          <a:solidFill>
                            <a:srgbClr val="262626"/>
                          </a:solidFill>
                          <a:latin typeface="微软雅黑"/>
                          <a:ea typeface="微软雅黑"/>
                          <a:cs typeface="微软雅黑"/>
                        </a:rPr>
                        <a:t>设计原则</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914400">
                <a:tc>
                  <a:txBody>
                    <a:bodyPr/>
                    <a:lstStyle/>
                    <a:p>
                      <a:pPr algn="l" eaLnBrk="1" hangingPunct="1">
                        <a:lnSpc>
                          <a:spcPct val="90000"/>
                        </a:lnSpc>
                        <a:spcBef>
                          <a:spcPts val="200"/>
                        </a:spcBef>
                        <a:spcAft>
                          <a:spcPts val="200"/>
                        </a:spcAft>
                        <a:buNone/>
                      </a:pPr>
                      <a:r>
                        <a:rPr lang="zh-CN" altLang="en-US" sz="1800" b="1">
                          <a:solidFill>
                            <a:srgbClr val="262626"/>
                          </a:solidFill>
                          <a:latin typeface="微软雅黑"/>
                          <a:ea typeface="微软雅黑"/>
                          <a:cs typeface="微软雅黑"/>
                        </a:rPr>
                        <a:t>易分析性</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读者能否从名称和结构</a:t>
                      </a:r>
                    </a:p>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看出它做什么、</a:t>
                      </a:r>
                    </a:p>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影响哪里？</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方法行数；</a:t>
                      </a:r>
                      <a:br>
                        <a:rPr lang="zh-CN" altLang="en-US" sz="1800" b="0">
                          <a:solidFill>
                            <a:srgbClr val="262626"/>
                          </a:solidFill>
                          <a:latin typeface="微软雅黑"/>
                          <a:ea typeface="微软雅黑"/>
                        </a:rPr>
                      </a:br>
                      <a:r>
                        <a:rPr lang="zh-CN" altLang="en-US" sz="1800" b="0">
                          <a:solidFill>
                            <a:srgbClr val="262626"/>
                          </a:solidFill>
                          <a:latin typeface="微软雅黑"/>
                          <a:ea typeface="微软雅黑"/>
                          <a:cs typeface="微软雅黑"/>
                        </a:rPr>
                        <a:t>名称与行为是否一致</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后续讲次填入</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914400">
                <a:tc>
                  <a:txBody>
                    <a:bodyPr/>
                    <a:lstStyle/>
                    <a:p>
                      <a:pPr algn="l" eaLnBrk="1" hangingPunct="1">
                        <a:lnSpc>
                          <a:spcPct val="90000"/>
                        </a:lnSpc>
                        <a:spcBef>
                          <a:spcPts val="200"/>
                        </a:spcBef>
                        <a:spcAft>
                          <a:spcPts val="200"/>
                        </a:spcAft>
                        <a:buNone/>
                      </a:pPr>
                      <a:r>
                        <a:rPr lang="zh-CN" altLang="en-US" sz="1800" b="1">
                          <a:solidFill>
                            <a:srgbClr val="262626"/>
                          </a:solidFill>
                          <a:latin typeface="微软雅黑"/>
                          <a:ea typeface="微软雅黑"/>
                          <a:cs typeface="微软雅黑"/>
                        </a:rPr>
                        <a:t>易修改性</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修改一条规则要改几处？会不会碰坏别处？</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同一规则出现几处；</a:t>
                      </a:r>
                      <a:br>
                        <a:rPr lang="zh-CN" altLang="en-US" sz="1800" b="0">
                          <a:solidFill>
                            <a:srgbClr val="262626"/>
                          </a:solidFill>
                          <a:latin typeface="微软雅黑"/>
                          <a:ea typeface="微软雅黑"/>
                        </a:rPr>
                      </a:br>
                      <a:r>
                        <a:rPr lang="zh-CN" altLang="en-US" sz="1800" b="0">
                          <a:solidFill>
                            <a:srgbClr val="262626"/>
                          </a:solidFill>
                          <a:latin typeface="微软雅黑"/>
                          <a:ea typeface="微软雅黑"/>
                          <a:cs typeface="微软雅黑"/>
                        </a:rPr>
                        <a:t>一次改动涉及几个文件</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后续讲次填入</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914400">
                <a:tc>
                  <a:txBody>
                    <a:bodyPr/>
                    <a:lstStyle/>
                    <a:p>
                      <a:pPr algn="l" eaLnBrk="1" hangingPunct="1">
                        <a:lnSpc>
                          <a:spcPct val="90000"/>
                        </a:lnSpc>
                        <a:spcBef>
                          <a:spcPts val="200"/>
                        </a:spcBef>
                        <a:spcAft>
                          <a:spcPts val="200"/>
                        </a:spcAft>
                        <a:buNone/>
                      </a:pPr>
                      <a:r>
                        <a:rPr lang="zh-CN" altLang="en-US" sz="1800" b="1">
                          <a:solidFill>
                            <a:srgbClr val="262626"/>
                          </a:solidFill>
                          <a:latin typeface="微软雅黑"/>
                          <a:ea typeface="微软雅黑"/>
                          <a:cs typeface="微软雅黑"/>
                        </a:rPr>
                        <a:t>易测试性</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不启动整个系统</a:t>
                      </a:r>
                    </a:p>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能否验证它？</a:t>
                      </a:r>
                    </a:p>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依赖能否替换？</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测试覆盖率；</a:t>
                      </a:r>
                      <a:br>
                        <a:rPr lang="zh-CN" altLang="en-US" sz="1800" b="0">
                          <a:solidFill>
                            <a:srgbClr val="262626"/>
                          </a:solidFill>
                          <a:latin typeface="微软雅黑"/>
                          <a:ea typeface="微软雅黑"/>
                        </a:rPr>
                      </a:br>
                      <a:r>
                        <a:rPr lang="zh-CN" altLang="en-US" sz="1800" b="0">
                          <a:solidFill>
                            <a:srgbClr val="262626"/>
                          </a:solidFill>
                          <a:latin typeface="微软雅黑"/>
                          <a:ea typeface="微软雅黑"/>
                          <a:cs typeface="微软雅黑"/>
                        </a:rPr>
                        <a:t>依赖能否替换</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800" b="0">
                          <a:solidFill>
                            <a:srgbClr val="262626"/>
                          </a:solidFill>
                          <a:latin typeface="微软雅黑"/>
                          <a:ea typeface="微软雅黑"/>
                          <a:cs typeface="微软雅黑"/>
                        </a:rPr>
                        <a:t>后续讲次填入</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bl>
          </a:graphicData>
        </a:graphic>
      </p:graphicFrame>
      <p:sp>
        <p:nvSpPr>
          <p:cNvPr id="4" name="fig"/>
          <p:cNvSpPr/>
          <p:nvPr/>
        </p:nvSpPr>
        <p:spPr>
          <a:xfrm>
            <a:off x="368300" y="5295900"/>
            <a:ext cx="8407400" cy="609600"/>
          </a:xfrm>
          <a:prstGeom prst="roundRect">
            <a:avLst/>
          </a:prstGeom>
          <a:solidFill>
            <a:srgbClr val="F6E8E6"/>
          </a:solidFill>
          <a:ln>
            <a:solidFill>
              <a:srgbClr val="A33B38"/>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eaLnBrk="1" hangingPunct="1">
              <a:lnSpc>
                <a:spcPct val="100000"/>
              </a:lnSpc>
              <a:spcBef>
                <a:spcPts val="0"/>
              </a:spcBef>
              <a:spcAft>
                <a:spcPts val="200"/>
              </a:spcAft>
              <a:buNone/>
            </a:pPr>
            <a:r>
              <a:rPr lang="zh-CN" altLang="en-US" sz="2000" b="0">
                <a:solidFill>
                  <a:srgbClr val="262626"/>
                </a:solidFill>
                <a:latin typeface="微软雅黑"/>
                <a:ea typeface="微软雅黑"/>
                <a:cs typeface="微软雅黑"/>
              </a:rPr>
              <a:t>指标由课程选定，用于观察改动与证据，不是标准规定的阈值</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模块化原则</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AI 给的排障建议先核对再动手</a:t>
            </a:r>
          </a:p>
        </p:txBody>
      </p:sp>
      <p:sp>
        <p:nvSpPr>
          <p:cNvPr id="101" name="fig"/>
          <p:cNvSpPr/>
          <p:nvPr/>
        </p:nvSpPr>
        <p:spPr>
          <a:xfrm>
            <a:off x="411480" y="1481328"/>
            <a:ext cx="8321040" cy="621792"/>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现象：mvn package 失败，docker.host 指向的地址无响应</a:t>
            </a:r>
            <a:endParaRPr lang="zh-CN" sz="2000">
              <a:latin typeface="微软雅黑"/>
              <a:ea typeface="微软雅黑"/>
            </a:endParaRPr>
          </a:p>
        </p:txBody>
      </p:sp>
      <p:sp>
        <p:nvSpPr>
          <p:cNvPr id="102" name="fig-d"/>
          <p:cNvSpPr/>
          <p:nvPr/>
        </p:nvSpPr>
        <p:spPr>
          <a:xfrm>
            <a:off x="4572000" y="2112264"/>
            <a:ext cx="9144" cy="201168"/>
          </a:xfrm>
          <a:custGeom>
            <a:avLst/>
            <a:gdLst/>
            <a:ahLst/>
            <a:cxnLst/>
            <a:rect l="0" t="0" r="r" b="b"/>
            <a:pathLst>
              <a:path w="9144" h="201168" fill="none">
                <a:moveTo>
                  <a:pt x="0" y="0"/>
                </a:moveTo>
                <a:lnTo>
                  <a:pt x="0" y="201168"/>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3" name="fig"/>
          <p:cNvSpPr/>
          <p:nvPr/>
        </p:nvSpPr>
        <p:spPr>
          <a:xfrm>
            <a:off x="411480" y="2322576"/>
            <a:ext cx="8321040" cy="621792"/>
          </a:xfrm>
          <a:prstGeom prst="rect">
            <a:avLst/>
          </a:prstGeom>
          <a:solidFill>
            <a:srgbClr val="F5F5F5"/>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AI 建议：把 pom.xml 第 36 行的 docker.host 改成本机地址</a:t>
            </a:r>
            <a:endParaRPr lang="zh-CN" sz="2000">
              <a:latin typeface="微软雅黑"/>
              <a:ea typeface="微软雅黑"/>
            </a:endParaRPr>
          </a:p>
        </p:txBody>
      </p:sp>
      <p:sp>
        <p:nvSpPr>
          <p:cNvPr id="104" name="fig-d"/>
          <p:cNvSpPr/>
          <p:nvPr/>
        </p:nvSpPr>
        <p:spPr>
          <a:xfrm>
            <a:off x="4572000" y="2953512"/>
            <a:ext cx="9144" cy="201168"/>
          </a:xfrm>
          <a:custGeom>
            <a:avLst/>
            <a:gdLst/>
            <a:ahLst/>
            <a:cxnLst/>
            <a:rect l="0" t="0" r="r" b="b"/>
            <a:pathLst>
              <a:path w="9144" h="201168" fill="none">
                <a:moveTo>
                  <a:pt x="0" y="0"/>
                </a:moveTo>
                <a:lnTo>
                  <a:pt x="0" y="201168"/>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5" name="fig"/>
          <p:cNvSpPr/>
          <p:nvPr/>
        </p:nvSpPr>
        <p:spPr>
          <a:xfrm>
            <a:off x="411480" y="3163824"/>
            <a:ext cx="8321040" cy="621792"/>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核对证据：第 36 行确为 docker.host，插件绑在 package 阶段</a:t>
            </a:r>
            <a:endParaRPr lang="zh-CN" sz="2000">
              <a:latin typeface="微软雅黑"/>
              <a:ea typeface="微软雅黑"/>
            </a:endParaRPr>
          </a:p>
        </p:txBody>
      </p:sp>
      <p:sp>
        <p:nvSpPr>
          <p:cNvPr id="106" name="fig-d"/>
          <p:cNvSpPr/>
          <p:nvPr/>
        </p:nvSpPr>
        <p:spPr>
          <a:xfrm>
            <a:off x="4572000" y="3794760"/>
            <a:ext cx="9144" cy="201168"/>
          </a:xfrm>
          <a:custGeom>
            <a:avLst/>
            <a:gdLst/>
            <a:ahLst/>
            <a:cxnLst/>
            <a:rect l="0" t="0" r="r" b="b"/>
            <a:pathLst>
              <a:path w="9144" h="201168" fill="none">
                <a:moveTo>
                  <a:pt x="0" y="0"/>
                </a:moveTo>
                <a:lnTo>
                  <a:pt x="0" y="201168"/>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7" name="fig"/>
          <p:cNvSpPr/>
          <p:nvPr/>
        </p:nvSpPr>
        <p:spPr>
          <a:xfrm>
            <a:off x="411480" y="4005072"/>
            <a:ext cx="8321040" cy="621792"/>
          </a:xfrm>
          <a:prstGeom prst="rect">
            <a:avLst/>
          </a:prstGeom>
          <a:solidFill>
            <a:srgbClr val="F6E8E6"/>
          </a:solidFill>
          <a:ln w="12700">
            <a:solidFill>
              <a:srgbClr val="A33B38"/>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核对事实：改该行会让本机地址进入提交，改动统一基线</a:t>
            </a:r>
            <a:endParaRPr lang="zh-CN" sz="2000">
              <a:latin typeface="微软雅黑"/>
              <a:ea typeface="微软雅黑"/>
            </a:endParaRPr>
          </a:p>
        </p:txBody>
      </p:sp>
      <p:sp>
        <p:nvSpPr>
          <p:cNvPr id="108" name="fig-d"/>
          <p:cNvSpPr/>
          <p:nvPr/>
        </p:nvSpPr>
        <p:spPr>
          <a:xfrm>
            <a:off x="4572000" y="4636008"/>
            <a:ext cx="9144" cy="201168"/>
          </a:xfrm>
          <a:custGeom>
            <a:avLst/>
            <a:gdLst/>
            <a:ahLst/>
            <a:cxnLst/>
            <a:rect l="0" t="0" r="r" b="b"/>
            <a:pathLst>
              <a:path w="9144" h="201168" fill="none">
                <a:moveTo>
                  <a:pt x="0" y="0"/>
                </a:moveTo>
                <a:lnTo>
                  <a:pt x="0" y="201168"/>
                </a:lnTo>
              </a:path>
            </a:pathLst>
          </a:custGeom>
          <a:noFill/>
          <a:ln w="22225">
            <a:solidFill>
              <a:srgbClr val="A33B38"/>
            </a:solidFill>
            <a:tailEnd type="triangle" w="med" len="med"/>
          </a:ln>
        </p:spPr>
        <p:txBody>
          <a:bodyPr/>
          <a:lstStyle/>
          <a:p>
            <a:endParaRPr lang="zh-CN">
              <a:latin typeface="微软雅黑"/>
              <a:ea typeface="微软雅黑"/>
            </a:endParaRPr>
          </a:p>
        </p:txBody>
      </p:sp>
      <p:sp>
        <p:nvSpPr>
          <p:cNvPr id="109" name="fig"/>
          <p:cNvSpPr/>
          <p:nvPr/>
        </p:nvSpPr>
        <p:spPr>
          <a:xfrm>
            <a:off x="411480" y="4846320"/>
            <a:ext cx="8321040" cy="621792"/>
          </a:xfrm>
          <a:prstGeom prst="rect">
            <a:avLst/>
          </a:prstGeom>
          <a:solidFill>
            <a:srgbClr val="A33B38"/>
          </a:solidFill>
          <a:ln w="12700">
            <a:solidFill>
              <a:srgbClr val="A33B38"/>
            </a:solidFill>
          </a:ln>
        </p:spPr>
        <p:txBody>
          <a:bodyPr wrap="square" lIns="91440" tIns="45720" rIns="91440" bIns="45720" anchor="ctr"/>
          <a:lstStyle/>
          <a:p>
            <a:pPr algn="l">
              <a:lnSpc>
                <a:spcPct val="100000"/>
              </a:lnSpc>
              <a:buNone/>
            </a:pPr>
            <a:r>
              <a:rPr lang="zh-CN" altLang="en-US" sz="2000" b="1">
                <a:solidFill>
                  <a:srgbClr val="FFFFFF"/>
                </a:solidFill>
                <a:latin typeface="微软雅黑"/>
                <a:ea typeface="微软雅黑"/>
              </a:rPr>
              <a:t>结论：保留诊断证据，改用 -Ddocker.skip=true，拒绝改动基线文件</a:t>
            </a:r>
            <a:endParaRPr lang="zh-CN" sz="2000">
              <a:latin typeface="微软雅黑"/>
              <a:ea typeface="微软雅黑"/>
            </a:endParaRPr>
          </a:p>
        </p:txBody>
      </p:sp>
      <p:sp>
        <p:nvSpPr>
          <p:cNvPr id="110"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小结与布置</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en-US" altLang="zh-CN" sz="2800" b="1" dirty="0">
                <a:solidFill>
                  <a:srgbClr val="A33B38"/>
                </a:solidFill>
                <a:latin typeface="微软雅黑"/>
                <a:ea typeface="微软雅黑"/>
                <a:cs typeface="微软雅黑"/>
              </a:rPr>
              <a:t>AI </a:t>
            </a:r>
            <a:r>
              <a:rPr lang="zh-CN" altLang="en-US" sz="2800" b="1" dirty="0">
                <a:solidFill>
                  <a:srgbClr val="A33B38"/>
                </a:solidFill>
                <a:latin typeface="微软雅黑"/>
                <a:ea typeface="微软雅黑"/>
                <a:cs typeface="微软雅黑"/>
              </a:rPr>
              <a:t>排障先定验收准则，再保存协作记录</a:t>
            </a:r>
          </a:p>
        </p:txBody>
      </p:sp>
      <p:sp>
        <p:nvSpPr>
          <p:cNvPr id="101" name="fig-d"/>
          <p:cNvSpPr/>
          <p:nvPr/>
        </p:nvSpPr>
        <p:spPr>
          <a:xfrm>
            <a:off x="411480" y="1664208"/>
            <a:ext cx="457200" cy="457200"/>
          </a:xfrm>
          <a:prstGeom prst="ellipse">
            <a:avLst/>
          </a:prstGeom>
          <a:solidFill>
            <a:srgbClr val="A33B38"/>
          </a:solidFill>
          <a:ln w="12700">
            <a:solidFill>
              <a:srgbClr val="A33B38"/>
            </a:solidFill>
          </a:ln>
        </p:spPr>
        <p:txBody>
          <a:bodyPr wrap="square" lIns="0" tIns="0" rIns="0" bIns="0" anchor="ctr"/>
          <a:lstStyle/>
          <a:p>
            <a:pPr algn="ctr">
              <a:lnSpc>
                <a:spcPct val="100000"/>
              </a:lnSpc>
              <a:buNone/>
            </a:pPr>
            <a:r>
              <a:rPr lang="zh-CN" altLang="en-US" sz="1800" b="1">
                <a:solidFill>
                  <a:srgbClr val="FFFFFF"/>
                </a:solidFill>
                <a:latin typeface="微软雅黑"/>
                <a:ea typeface="微软雅黑"/>
              </a:rPr>
              <a:t>1</a:t>
            </a:r>
            <a:endParaRPr lang="zh-CN" sz="1800">
              <a:latin typeface="微软雅黑"/>
              <a:ea typeface="微软雅黑"/>
            </a:endParaRPr>
          </a:p>
        </p:txBody>
      </p:sp>
      <p:sp>
        <p:nvSpPr>
          <p:cNvPr id="102" name="fig"/>
          <p:cNvSpPr/>
          <p:nvPr/>
        </p:nvSpPr>
        <p:spPr>
          <a:xfrm>
            <a:off x="1005840" y="1481328"/>
            <a:ext cx="7726680" cy="786384"/>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先写验收准则：定位失败阶段，保留统一基线；</a:t>
            </a:r>
            <a:br>
              <a:rPr lang="zh-CN" sz="2000">
                <a:latin typeface="微软雅黑"/>
                <a:ea typeface="微软雅黑"/>
              </a:rPr>
            </a:br>
            <a:r>
              <a:rPr lang="zh-CN" altLang="en-US" sz="2000" b="0">
                <a:solidFill>
                  <a:srgbClr val="262626"/>
                </a:solidFill>
                <a:latin typeface="微软雅黑"/>
                <a:ea typeface="微软雅黑"/>
              </a:rPr>
              <a:t>用实际输出判断处理结果。</a:t>
            </a:r>
            <a:endParaRPr lang="zh-CN" sz="2000">
              <a:latin typeface="微软雅黑"/>
              <a:ea typeface="微软雅黑"/>
            </a:endParaRPr>
          </a:p>
        </p:txBody>
      </p:sp>
      <p:sp>
        <p:nvSpPr>
          <p:cNvPr id="103" name="fig-d"/>
          <p:cNvSpPr/>
          <p:nvPr/>
        </p:nvSpPr>
        <p:spPr>
          <a:xfrm>
            <a:off x="411480" y="2560320"/>
            <a:ext cx="457200" cy="457200"/>
          </a:xfrm>
          <a:prstGeom prst="ellipse">
            <a:avLst/>
          </a:prstGeom>
          <a:solidFill>
            <a:srgbClr val="A33B38"/>
          </a:solidFill>
          <a:ln w="12700">
            <a:solidFill>
              <a:srgbClr val="A33B38"/>
            </a:solidFill>
          </a:ln>
        </p:spPr>
        <p:txBody>
          <a:bodyPr wrap="square" lIns="0" tIns="0" rIns="0" bIns="0" anchor="ctr"/>
          <a:lstStyle/>
          <a:p>
            <a:pPr algn="ctr">
              <a:lnSpc>
                <a:spcPct val="100000"/>
              </a:lnSpc>
              <a:buNone/>
            </a:pPr>
            <a:r>
              <a:rPr lang="zh-CN" altLang="en-US" sz="1800" b="1">
                <a:solidFill>
                  <a:srgbClr val="FFFFFF"/>
                </a:solidFill>
                <a:latin typeface="微软雅黑"/>
                <a:ea typeface="微软雅黑"/>
              </a:rPr>
              <a:t>2</a:t>
            </a:r>
            <a:endParaRPr lang="zh-CN" sz="1800">
              <a:latin typeface="微软雅黑"/>
              <a:ea typeface="微软雅黑"/>
            </a:endParaRPr>
          </a:p>
        </p:txBody>
      </p:sp>
      <p:sp>
        <p:nvSpPr>
          <p:cNvPr id="104" name="fig"/>
          <p:cNvSpPr/>
          <p:nvPr/>
        </p:nvSpPr>
        <p:spPr>
          <a:xfrm>
            <a:off x="1005840" y="2377440"/>
            <a:ext cx="7726680" cy="786384"/>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标注使用范围：AI 辅助解释日志与提出建议，</a:t>
            </a:r>
            <a:br>
              <a:rPr lang="zh-CN" sz="2000">
                <a:latin typeface="微软雅黑"/>
                <a:ea typeface="微软雅黑"/>
              </a:rPr>
            </a:br>
            <a:r>
              <a:rPr lang="zh-CN" altLang="en-US" sz="2000" b="0">
                <a:solidFill>
                  <a:srgbClr val="262626"/>
                </a:solidFill>
                <a:latin typeface="微软雅黑"/>
                <a:ea typeface="微软雅黑"/>
              </a:rPr>
              <a:t>人工决定采用范围。</a:t>
            </a:r>
            <a:endParaRPr lang="zh-CN" sz="2000">
              <a:latin typeface="微软雅黑"/>
              <a:ea typeface="微软雅黑"/>
            </a:endParaRPr>
          </a:p>
        </p:txBody>
      </p:sp>
      <p:sp>
        <p:nvSpPr>
          <p:cNvPr id="105" name="fig-d"/>
          <p:cNvSpPr/>
          <p:nvPr/>
        </p:nvSpPr>
        <p:spPr>
          <a:xfrm>
            <a:off x="411480" y="3456432"/>
            <a:ext cx="457200" cy="457200"/>
          </a:xfrm>
          <a:prstGeom prst="ellipse">
            <a:avLst/>
          </a:prstGeom>
          <a:solidFill>
            <a:srgbClr val="A33B38"/>
          </a:solidFill>
          <a:ln w="12700">
            <a:solidFill>
              <a:srgbClr val="A33B38"/>
            </a:solidFill>
          </a:ln>
        </p:spPr>
        <p:txBody>
          <a:bodyPr wrap="square" lIns="0" tIns="0" rIns="0" bIns="0" anchor="ctr"/>
          <a:lstStyle/>
          <a:p>
            <a:pPr algn="ctr">
              <a:lnSpc>
                <a:spcPct val="100000"/>
              </a:lnSpc>
              <a:buNone/>
            </a:pPr>
            <a:r>
              <a:rPr lang="zh-CN" altLang="en-US" sz="1800" b="1">
                <a:solidFill>
                  <a:srgbClr val="FFFFFF"/>
                </a:solidFill>
                <a:latin typeface="微软雅黑"/>
                <a:ea typeface="微软雅黑"/>
              </a:rPr>
              <a:t>3</a:t>
            </a:r>
            <a:endParaRPr lang="zh-CN" sz="1800">
              <a:latin typeface="微软雅黑"/>
              <a:ea typeface="微软雅黑"/>
            </a:endParaRPr>
          </a:p>
        </p:txBody>
      </p:sp>
      <p:sp>
        <p:nvSpPr>
          <p:cNvPr id="106" name="fig"/>
          <p:cNvSpPr/>
          <p:nvPr/>
        </p:nvSpPr>
        <p:spPr>
          <a:xfrm>
            <a:off x="1005840" y="3273552"/>
            <a:ext cx="7726680" cy="786384"/>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留协作记录：保存工具、建议、采纳或拒绝理由、</a:t>
            </a:r>
            <a:br>
              <a:rPr lang="zh-CN" sz="2000">
                <a:latin typeface="微软雅黑"/>
                <a:ea typeface="微软雅黑"/>
              </a:rPr>
            </a:br>
            <a:r>
              <a:rPr lang="zh-CN" altLang="en-US" sz="2000" b="0">
                <a:solidFill>
                  <a:srgbClr val="262626"/>
                </a:solidFill>
                <a:latin typeface="微软雅黑"/>
                <a:ea typeface="微软雅黑"/>
              </a:rPr>
              <a:t>执行命令与实际日志。</a:t>
            </a:r>
            <a:endParaRPr lang="zh-CN" sz="2000">
              <a:latin typeface="微软雅黑"/>
              <a:ea typeface="微软雅黑"/>
            </a:endParaRPr>
          </a:p>
        </p:txBody>
      </p:sp>
      <p:sp>
        <p:nvSpPr>
          <p:cNvPr id="107" name="fig-d"/>
          <p:cNvSpPr/>
          <p:nvPr/>
        </p:nvSpPr>
        <p:spPr>
          <a:xfrm>
            <a:off x="411480" y="4352544"/>
            <a:ext cx="457200" cy="457200"/>
          </a:xfrm>
          <a:prstGeom prst="ellipse">
            <a:avLst/>
          </a:prstGeom>
          <a:solidFill>
            <a:srgbClr val="A33B38"/>
          </a:solidFill>
          <a:ln w="12700">
            <a:solidFill>
              <a:srgbClr val="A33B38"/>
            </a:solidFill>
          </a:ln>
        </p:spPr>
        <p:txBody>
          <a:bodyPr wrap="square" lIns="0" tIns="0" rIns="0" bIns="0" anchor="ctr"/>
          <a:lstStyle/>
          <a:p>
            <a:pPr algn="ctr">
              <a:lnSpc>
                <a:spcPct val="100000"/>
              </a:lnSpc>
              <a:buNone/>
            </a:pPr>
            <a:r>
              <a:rPr lang="zh-CN" altLang="en-US" sz="1800" b="1">
                <a:solidFill>
                  <a:srgbClr val="FFFFFF"/>
                </a:solidFill>
                <a:latin typeface="微软雅黑"/>
                <a:ea typeface="微软雅黑"/>
              </a:rPr>
              <a:t>4</a:t>
            </a:r>
            <a:endParaRPr lang="zh-CN" sz="1800">
              <a:latin typeface="微软雅黑"/>
              <a:ea typeface="微软雅黑"/>
            </a:endParaRPr>
          </a:p>
        </p:txBody>
      </p:sp>
      <p:sp>
        <p:nvSpPr>
          <p:cNvPr id="108" name="fig"/>
          <p:cNvSpPr/>
          <p:nvPr/>
        </p:nvSpPr>
        <p:spPr>
          <a:xfrm>
            <a:off x="1005840" y="4169664"/>
            <a:ext cx="7726680" cy="786384"/>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逐项核对：区分已验证结论与未完成检查，</a:t>
            </a:r>
            <a:br>
              <a:rPr lang="zh-CN" sz="2000">
                <a:latin typeface="微软雅黑"/>
                <a:ea typeface="微软雅黑"/>
              </a:rPr>
            </a:br>
            <a:r>
              <a:rPr lang="zh-CN" altLang="en-US" sz="2000" b="0">
                <a:solidFill>
                  <a:srgbClr val="262626"/>
                </a:solidFill>
                <a:latin typeface="微软雅黑"/>
                <a:ea typeface="微软雅黑"/>
              </a:rPr>
              <a:t>再提交结果。</a:t>
            </a:r>
            <a:endParaRPr lang="zh-CN" sz="2000">
              <a:latin typeface="微软雅黑"/>
              <a:ea typeface="微软雅黑"/>
            </a:endParaRPr>
          </a:p>
        </p:txBody>
      </p:sp>
      <p:sp>
        <p:nvSpPr>
          <p:cNvPr id="109" name="fig"/>
          <p:cNvSpPr/>
          <p:nvPr/>
        </p:nvSpPr>
        <p:spPr>
          <a:xfrm>
            <a:off x="411480" y="5120640"/>
            <a:ext cx="8321040" cy="640080"/>
          </a:xfrm>
          <a:prstGeom prst="rect">
            <a:avLst/>
          </a:prstGeom>
          <a:solidFill>
            <a:srgbClr val="A33B38"/>
          </a:solidFill>
          <a:ln w="28575">
            <a:solidFill>
              <a:srgbClr val="A33B38"/>
            </a:solidFill>
          </a:ln>
        </p:spPr>
        <p:txBody>
          <a:bodyPr wrap="square" lIns="73152" tIns="36576" rIns="73152" bIns="36576" anchor="ctr"/>
          <a:lstStyle/>
          <a:p>
            <a:pPr algn="ctr">
              <a:lnSpc>
                <a:spcPct val="100000"/>
              </a:lnSpc>
              <a:buNone/>
            </a:pPr>
            <a:r>
              <a:rPr lang="zh-CN" altLang="en-US" sz="2000" b="1">
                <a:solidFill>
                  <a:srgbClr val="FFFFFF"/>
                </a:solidFill>
                <a:latin typeface="微软雅黑"/>
                <a:ea typeface="微软雅黑"/>
              </a:rPr>
              <a:t>打包成功不等于业务测试通过，结论须对应实际证据。</a:t>
            </a:r>
            <a:endParaRPr lang="zh-CN" sz="2000">
              <a:latin typeface="微软雅黑"/>
              <a:ea typeface="微软雅黑"/>
            </a:endParaRPr>
          </a:p>
        </p:txBody>
      </p:sp>
      <p:sp>
        <p:nvSpPr>
          <p:cNvPr id="110"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小结与布置</a:t>
            </a:r>
          </a:p>
        </p:txBody>
      </p:sp>
    </p:spTree>
    <p:extLst>
      <p:ext uri="{BB962C8B-B14F-4D97-AF65-F5344CB8AC3E}">
        <p14:creationId xmlns:p14="http://schemas.microsoft.com/office/powerpoint/2010/main" val="34413647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dirty="0">
                <a:solidFill>
                  <a:srgbClr val="A33B38"/>
                </a:solidFill>
                <a:latin typeface="微软雅黑"/>
                <a:ea typeface="微软雅黑"/>
                <a:cs typeface="微软雅黑"/>
              </a:rPr>
              <a:t>按四项原则核对修改 </a:t>
            </a:r>
            <a:r>
              <a:rPr lang="en-US" altLang="zh-CN" sz="2800" b="1" dirty="0" err="1">
                <a:solidFill>
                  <a:srgbClr val="A33B38"/>
                </a:solidFill>
                <a:latin typeface="微软雅黑"/>
                <a:ea typeface="微软雅黑"/>
                <a:cs typeface="微软雅黑"/>
              </a:rPr>
              <a:t>docker.host</a:t>
            </a:r>
            <a:r>
              <a:rPr lang="en-US" altLang="zh-CN" sz="2800" b="1" dirty="0">
                <a:solidFill>
                  <a:srgbClr val="A33B38"/>
                </a:solidFill>
                <a:latin typeface="微软雅黑"/>
                <a:ea typeface="微软雅黑"/>
                <a:cs typeface="微软雅黑"/>
              </a:rPr>
              <a:t> </a:t>
            </a:r>
            <a:r>
              <a:rPr lang="zh-CN" altLang="en-US" sz="2800" b="1" dirty="0">
                <a:solidFill>
                  <a:srgbClr val="A33B38"/>
                </a:solidFill>
                <a:latin typeface="微软雅黑"/>
                <a:ea typeface="微软雅黑"/>
                <a:cs typeface="微软雅黑"/>
              </a:rPr>
              <a:t>的建议</a:t>
            </a:r>
          </a:p>
        </p:txBody>
      </p:sp>
      <p:sp>
        <p:nvSpPr>
          <p:cNvPr id="101" name="fig-d"/>
          <p:cNvSpPr/>
          <p:nvPr/>
        </p:nvSpPr>
        <p:spPr>
          <a:xfrm>
            <a:off x="411480" y="1645920"/>
            <a:ext cx="457200" cy="457200"/>
          </a:xfrm>
          <a:prstGeom prst="rect">
            <a:avLst/>
          </a:prstGeom>
          <a:solidFill>
            <a:srgbClr val="FFFFFF"/>
          </a:solidFill>
          <a:ln w="19050">
            <a:solidFill>
              <a:srgbClr val="A33B38"/>
            </a:solidFill>
          </a:ln>
        </p:spPr>
        <p:txBody>
          <a:bodyPr wrap="square" lIns="0" tIns="0" rIns="0" bIns="0" anchor="ctr"/>
          <a:lstStyle/>
          <a:p>
            <a:pPr algn="ctr">
              <a:lnSpc>
                <a:spcPct val="100000"/>
              </a:lnSpc>
              <a:buNone/>
            </a:pPr>
            <a:r>
              <a:rPr lang="zh-CN" altLang="en-US" sz="2000" b="1">
                <a:solidFill>
                  <a:srgbClr val="A33B38"/>
                </a:solidFill>
                <a:latin typeface="微软雅黑"/>
                <a:ea typeface="微软雅黑"/>
              </a:rPr>
              <a:t>√</a:t>
            </a:r>
            <a:endParaRPr lang="zh-CN" sz="2000">
              <a:latin typeface="微软雅黑"/>
              <a:ea typeface="微软雅黑"/>
            </a:endParaRPr>
          </a:p>
        </p:txBody>
      </p:sp>
      <p:sp>
        <p:nvSpPr>
          <p:cNvPr id="102" name="fig"/>
          <p:cNvSpPr/>
          <p:nvPr/>
        </p:nvSpPr>
        <p:spPr>
          <a:xfrm>
            <a:off x="1005840" y="1481328"/>
            <a:ext cx="7726680" cy="786384"/>
          </a:xfrm>
          <a:prstGeom prst="rect">
            <a:avLst/>
          </a:prstGeom>
          <a:solidFill>
            <a:srgbClr val="FFFFFF"/>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核对引用是否存在：</a:t>
            </a:r>
            <a:br>
              <a:rPr lang="zh-CN" sz="2000">
                <a:latin typeface="微软雅黑"/>
                <a:ea typeface="微软雅黑"/>
              </a:rPr>
            </a:br>
            <a:r>
              <a:rPr lang="zh-CN" altLang="en-US" sz="2000" b="0">
                <a:solidFill>
                  <a:srgbClr val="262626"/>
                </a:solidFill>
                <a:latin typeface="微软雅黑"/>
                <a:ea typeface="微软雅黑"/>
              </a:rPr>
              <a:t>查看基线 pom.xml 第 36 行和第 226 行。</a:t>
            </a:r>
            <a:endParaRPr lang="zh-CN" sz="2000">
              <a:latin typeface="微软雅黑"/>
              <a:ea typeface="微软雅黑"/>
            </a:endParaRPr>
          </a:p>
        </p:txBody>
      </p:sp>
      <p:sp>
        <p:nvSpPr>
          <p:cNvPr id="103" name="fig-d"/>
          <p:cNvSpPr/>
          <p:nvPr/>
        </p:nvSpPr>
        <p:spPr>
          <a:xfrm>
            <a:off x="411480" y="2542032"/>
            <a:ext cx="457200" cy="457200"/>
          </a:xfrm>
          <a:prstGeom prst="rect">
            <a:avLst/>
          </a:prstGeom>
          <a:solidFill>
            <a:srgbClr val="FFFFFF"/>
          </a:solidFill>
          <a:ln w="19050">
            <a:solidFill>
              <a:srgbClr val="A33B38"/>
            </a:solidFill>
          </a:ln>
        </p:spPr>
        <p:txBody>
          <a:bodyPr wrap="square" lIns="0" tIns="0" rIns="0" bIns="0" anchor="ctr"/>
          <a:lstStyle/>
          <a:p>
            <a:pPr algn="ctr">
              <a:lnSpc>
                <a:spcPct val="100000"/>
              </a:lnSpc>
              <a:buNone/>
            </a:pPr>
            <a:r>
              <a:rPr lang="zh-CN" altLang="en-US" sz="2000" b="1">
                <a:solidFill>
                  <a:srgbClr val="A33B38"/>
                </a:solidFill>
                <a:latin typeface="微软雅黑"/>
                <a:ea typeface="微软雅黑"/>
              </a:rPr>
              <a:t>√</a:t>
            </a:r>
            <a:endParaRPr lang="zh-CN" sz="2000">
              <a:latin typeface="微软雅黑"/>
              <a:ea typeface="微软雅黑"/>
            </a:endParaRPr>
          </a:p>
        </p:txBody>
      </p:sp>
      <p:sp>
        <p:nvSpPr>
          <p:cNvPr id="104" name="fig"/>
          <p:cNvSpPr/>
          <p:nvPr/>
        </p:nvSpPr>
        <p:spPr>
          <a:xfrm>
            <a:off x="1005840" y="2377440"/>
            <a:ext cx="7726680" cy="786384"/>
          </a:xfrm>
          <a:prstGeom prst="rect">
            <a:avLst/>
          </a:prstGeom>
          <a:solidFill>
            <a:srgbClr val="FFFFFF"/>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核对运行时事实：</a:t>
            </a:r>
            <a:br>
              <a:rPr lang="zh-CN" sz="2000">
                <a:latin typeface="微软雅黑"/>
                <a:ea typeface="微软雅黑"/>
              </a:rPr>
            </a:br>
            <a:r>
              <a:rPr lang="zh-CN" altLang="en-US" sz="2000" b="0">
                <a:solidFill>
                  <a:srgbClr val="262626"/>
                </a:solidFill>
                <a:latin typeface="微软雅黑"/>
                <a:ea typeface="微软雅黑"/>
              </a:rPr>
              <a:t>查看失败日志，核对实际执行命令与结果。</a:t>
            </a:r>
            <a:endParaRPr lang="zh-CN" sz="2000">
              <a:latin typeface="微软雅黑"/>
              <a:ea typeface="微软雅黑"/>
            </a:endParaRPr>
          </a:p>
        </p:txBody>
      </p:sp>
      <p:sp>
        <p:nvSpPr>
          <p:cNvPr id="105" name="fig-d"/>
          <p:cNvSpPr/>
          <p:nvPr/>
        </p:nvSpPr>
        <p:spPr>
          <a:xfrm>
            <a:off x="411480" y="3438144"/>
            <a:ext cx="457200" cy="457200"/>
          </a:xfrm>
          <a:prstGeom prst="rect">
            <a:avLst/>
          </a:prstGeom>
          <a:solidFill>
            <a:srgbClr val="FFFFFF"/>
          </a:solidFill>
          <a:ln w="19050">
            <a:solidFill>
              <a:srgbClr val="A33B38"/>
            </a:solidFill>
          </a:ln>
        </p:spPr>
        <p:txBody>
          <a:bodyPr wrap="square" lIns="0" tIns="0" rIns="0" bIns="0" anchor="ctr"/>
          <a:lstStyle/>
          <a:p>
            <a:pPr algn="ctr">
              <a:lnSpc>
                <a:spcPct val="100000"/>
              </a:lnSpc>
              <a:buNone/>
            </a:pPr>
            <a:r>
              <a:rPr lang="zh-CN" altLang="en-US" sz="2000" b="1">
                <a:solidFill>
                  <a:srgbClr val="A33B38"/>
                </a:solidFill>
                <a:latin typeface="微软雅黑"/>
                <a:ea typeface="微软雅黑"/>
              </a:rPr>
              <a:t>√</a:t>
            </a:r>
            <a:endParaRPr lang="zh-CN" sz="2000">
              <a:latin typeface="微软雅黑"/>
              <a:ea typeface="微软雅黑"/>
            </a:endParaRPr>
          </a:p>
        </p:txBody>
      </p:sp>
      <p:sp>
        <p:nvSpPr>
          <p:cNvPr id="106" name="fig"/>
          <p:cNvSpPr/>
          <p:nvPr/>
        </p:nvSpPr>
        <p:spPr>
          <a:xfrm>
            <a:off x="1005840" y="3273552"/>
            <a:ext cx="7726680" cy="786384"/>
          </a:xfrm>
          <a:prstGeom prst="rect">
            <a:avLst/>
          </a:prstGeom>
          <a:solidFill>
            <a:srgbClr val="FFFFFF"/>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区分原理与实现：跳过镜像插件可避开该步骤，</a:t>
            </a:r>
            <a:br>
              <a:rPr lang="zh-CN" sz="2000">
                <a:latin typeface="微软雅黑"/>
                <a:ea typeface="微软雅黑"/>
              </a:rPr>
            </a:br>
            <a:r>
              <a:rPr lang="zh-CN" altLang="en-US" sz="2000" b="0">
                <a:solidFill>
                  <a:srgbClr val="262626"/>
                </a:solidFill>
                <a:latin typeface="微软雅黑"/>
                <a:ea typeface="微软雅黑"/>
              </a:rPr>
              <a:t>不证明业务功能正确。</a:t>
            </a:r>
            <a:endParaRPr lang="zh-CN" sz="2000">
              <a:latin typeface="微软雅黑"/>
              <a:ea typeface="微软雅黑"/>
            </a:endParaRPr>
          </a:p>
        </p:txBody>
      </p:sp>
      <p:sp>
        <p:nvSpPr>
          <p:cNvPr id="107" name="fig-d"/>
          <p:cNvSpPr/>
          <p:nvPr/>
        </p:nvSpPr>
        <p:spPr>
          <a:xfrm>
            <a:off x="411480" y="4334256"/>
            <a:ext cx="457200" cy="457200"/>
          </a:xfrm>
          <a:prstGeom prst="rect">
            <a:avLst/>
          </a:prstGeom>
          <a:solidFill>
            <a:srgbClr val="FFFFFF"/>
          </a:solidFill>
          <a:ln w="19050">
            <a:solidFill>
              <a:srgbClr val="A33B38"/>
            </a:solidFill>
          </a:ln>
        </p:spPr>
        <p:txBody>
          <a:bodyPr wrap="square" lIns="0" tIns="0" rIns="0" bIns="0" anchor="ctr"/>
          <a:lstStyle/>
          <a:p>
            <a:pPr algn="ctr">
              <a:lnSpc>
                <a:spcPct val="100000"/>
              </a:lnSpc>
              <a:buNone/>
            </a:pPr>
            <a:r>
              <a:rPr lang="zh-CN" altLang="en-US" sz="2000" b="1">
                <a:solidFill>
                  <a:srgbClr val="A33B38"/>
                </a:solidFill>
                <a:latin typeface="微软雅黑"/>
                <a:ea typeface="微软雅黑"/>
              </a:rPr>
              <a:t>√</a:t>
            </a:r>
            <a:endParaRPr lang="zh-CN" sz="2000">
              <a:latin typeface="微软雅黑"/>
              <a:ea typeface="微软雅黑"/>
            </a:endParaRPr>
          </a:p>
        </p:txBody>
      </p:sp>
      <p:sp>
        <p:nvSpPr>
          <p:cNvPr id="108" name="fig"/>
          <p:cNvSpPr/>
          <p:nvPr/>
        </p:nvSpPr>
        <p:spPr>
          <a:xfrm>
            <a:off x="1005840" y="4169664"/>
            <a:ext cx="7726680" cy="786384"/>
          </a:xfrm>
          <a:prstGeom prst="rect">
            <a:avLst/>
          </a:prstGeom>
          <a:solidFill>
            <a:srgbClr val="FFFFFF"/>
          </a:solidFill>
          <a:ln w="12700">
            <a:solidFill>
              <a:srgbClr val="A6A6A6"/>
            </a:solid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拿原则与规范作依据：保留统一基线，</a:t>
            </a:r>
            <a:br>
              <a:rPr lang="zh-CN" sz="2000">
                <a:latin typeface="微软雅黑"/>
                <a:ea typeface="微软雅黑"/>
              </a:rPr>
            </a:br>
            <a:r>
              <a:rPr lang="zh-CN" altLang="en-US" sz="2000" b="0">
                <a:solidFill>
                  <a:srgbClr val="262626"/>
                </a:solidFill>
                <a:latin typeface="微软雅黑"/>
                <a:ea typeface="微软雅黑"/>
              </a:rPr>
              <a:t>优先用参数表达本机差异。</a:t>
            </a:r>
            <a:endParaRPr lang="zh-CN" sz="2000">
              <a:latin typeface="微软雅黑"/>
              <a:ea typeface="微软雅黑"/>
            </a:endParaRPr>
          </a:p>
        </p:txBody>
      </p:sp>
      <p:sp>
        <p:nvSpPr>
          <p:cNvPr id="109" name="fig"/>
          <p:cNvSpPr/>
          <p:nvPr/>
        </p:nvSpPr>
        <p:spPr>
          <a:xfrm>
            <a:off x="411480" y="5120640"/>
            <a:ext cx="8321040" cy="640080"/>
          </a:xfrm>
          <a:prstGeom prst="rect">
            <a:avLst/>
          </a:prstGeom>
          <a:solidFill>
            <a:srgbClr val="FFFFFF"/>
          </a:solidFill>
          <a:ln w="28575">
            <a:solidFill>
              <a:srgbClr val="A33B38"/>
            </a:solidFill>
          </a:ln>
        </p:spPr>
        <p:txBody>
          <a:bodyPr wrap="square" lIns="73152" tIns="36576" rIns="73152" bIns="36576" anchor="ctr"/>
          <a:lstStyle/>
          <a:p>
            <a:pPr algn="ctr">
              <a:lnSpc>
                <a:spcPct val="100000"/>
              </a:lnSpc>
              <a:buNone/>
            </a:pPr>
            <a:r>
              <a:rPr lang="zh-CN" altLang="en-US" sz="2000" b="1">
                <a:solidFill>
                  <a:srgbClr val="A33B38"/>
                </a:solidFill>
                <a:latin typeface="微软雅黑"/>
                <a:ea typeface="微软雅黑"/>
              </a:rPr>
              <a:t>采纳可核对的诊断，拒绝直接改基线地址；</a:t>
            </a:r>
            <a:br>
              <a:rPr lang="zh-CN" sz="2000">
                <a:latin typeface="微软雅黑"/>
                <a:ea typeface="微软雅黑"/>
              </a:rPr>
            </a:br>
            <a:r>
              <a:rPr lang="zh-CN" altLang="en-US" sz="2000" b="1">
                <a:solidFill>
                  <a:srgbClr val="A33B38"/>
                </a:solidFill>
                <a:latin typeface="微软雅黑"/>
                <a:ea typeface="微软雅黑"/>
              </a:rPr>
              <a:t>执行结果须另行验证。</a:t>
            </a:r>
            <a:endParaRPr lang="zh-CN" sz="2000">
              <a:latin typeface="微软雅黑"/>
              <a:ea typeface="微软雅黑"/>
            </a:endParaRPr>
          </a:p>
        </p:txBody>
      </p:sp>
      <p:sp>
        <p:nvSpPr>
          <p:cNvPr id="110"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小结与布置</a:t>
            </a:r>
          </a:p>
        </p:txBody>
      </p:sp>
    </p:spTree>
    <p:extLst>
      <p:ext uri="{BB962C8B-B14F-4D97-AF65-F5344CB8AC3E}">
        <p14:creationId xmlns:p14="http://schemas.microsoft.com/office/powerpoint/2010/main" val="19138612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小结用五个子特性评价这次构建改动</a:t>
            </a:r>
          </a:p>
        </p:txBody>
      </p:sp>
      <p:graphicFrame>
        <p:nvGraphicFramePr>
          <p:cNvPr id="3" name="table"/>
          <p:cNvGraphicFramePr>
            <a:graphicFrameLocks noGrp="1"/>
          </p:cNvGraphicFramePr>
          <p:nvPr/>
        </p:nvGraphicFramePr>
        <p:xfrm>
          <a:off x="368300" y="1485900"/>
          <a:ext cx="8407400" cy="4229094"/>
        </p:xfrm>
        <a:graphic>
          <a:graphicData uri="http://schemas.openxmlformats.org/drawingml/2006/table">
            <a:tbl>
              <a:tblPr>
                <a:tableStyleId>{2D5ABB26-0587-4C30-8999-92F81FD0307C}</a:tableStyleId>
              </a:tblPr>
              <a:tblGrid>
                <a:gridCol w="1778000">
                  <a:extLst>
                    <a:ext uri="{9D8B030D-6E8A-4147-A177-3AD203B41FA5}">
                      <a16:colId xmlns:a16="http://schemas.microsoft.com/office/drawing/2014/main" val="20000"/>
                    </a:ext>
                  </a:extLst>
                </a:gridCol>
                <a:gridCol w="6629400">
                  <a:extLst>
                    <a:ext uri="{9D8B030D-6E8A-4147-A177-3AD203B41FA5}">
                      <a16:colId xmlns:a16="http://schemas.microsoft.com/office/drawing/2014/main" val="20001"/>
                    </a:ext>
                  </a:extLst>
                </a:gridCol>
              </a:tblGrid>
              <a:tr h="70484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子特性</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对这次构建改动的评价</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70484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模块化</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不改源码文件，本次修改涉及 0 个业务模块</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70484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可复用性</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同一参数可用于相同构建需求，仍受环境前提限制</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70484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易分析性</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参数可说明跳过插件，失败原因须结合日志判断</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70484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易修改性</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保留统一基线，避免每人提交一份主机地址</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r h="704849">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易测试性</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构建须实际运行；该参数不能证明业务测试通过</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5"/>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小结与布置</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问答题：本次课预习题（1—3）</a:t>
            </a:r>
          </a:p>
        </p:txBody>
      </p:sp>
      <p:sp>
        <p:nvSpPr>
          <p:cNvPr id="3" name="quiz"/>
          <p:cNvSpPr>
            <a:spLocks noGrp="1"/>
          </p:cNvSpPr>
          <p:nvPr>
            <p:ph idx="1"/>
          </p:nvPr>
        </p:nvSpPr>
        <p:spPr>
          <a:xfrm>
            <a:off x="237744" y="1444752"/>
            <a:ext cx="8686800" cy="4480560"/>
          </a:xfrm>
        </p:spPr>
        <p:txBody>
          <a:bodyPr wrap="square" lIns="27432" tIns="18288" rIns="27432" bIns="18288"/>
          <a:lstStyle/>
          <a:p>
            <a:pPr algn="l" eaLnBrk="1" hangingPunct="1">
              <a:lnSpc>
                <a:spcPct val="80000"/>
              </a:lnSpc>
              <a:spcBef>
                <a:spcPts val="1400"/>
              </a:spcBef>
              <a:spcAft>
                <a:spcPts val="200"/>
              </a:spcAft>
            </a:pPr>
            <a:r>
              <a:rPr lang="zh-CN" altLang="en-US" sz="2000" b="0">
                <a:latin typeface="微软雅黑"/>
                <a:ea typeface="微软雅黑"/>
                <a:cs typeface="微软雅黑"/>
              </a:rPr>
              <a:t>1）团队租用云主机，在操作系统之上自己安装数据库、中间件和应用，这属于云服务的哪一层？</a:t>
            </a:r>
          </a:p>
          <a:p>
            <a:pPr algn="l" eaLnBrk="1" hangingPunct="1">
              <a:lnSpc>
                <a:spcPct val="80000"/>
              </a:lnSpc>
              <a:spcBef>
                <a:spcPts val="1400"/>
              </a:spcBef>
              <a:spcAft>
                <a:spcPts val="200"/>
              </a:spcAft>
            </a:pPr>
            <a:r>
              <a:rPr lang="zh-CN" altLang="en-US" sz="2000" b="0">
                <a:latin typeface="微软雅黑"/>
                <a:ea typeface="微软雅黑"/>
                <a:cs typeface="微软雅黑"/>
              </a:rPr>
              <a:t>A. IaaS；B. PaaS；C. SaaS；D. 都不属于</a:t>
            </a:r>
          </a:p>
          <a:p>
            <a:pPr algn="l" eaLnBrk="1" hangingPunct="1">
              <a:lnSpc>
                <a:spcPct val="80000"/>
              </a:lnSpc>
              <a:spcBef>
                <a:spcPts val="1400"/>
              </a:spcBef>
              <a:spcAft>
                <a:spcPts val="200"/>
              </a:spcAft>
            </a:pPr>
            <a:r>
              <a:rPr lang="zh-CN" altLang="en-US" sz="2000" b="0">
                <a:latin typeface="微软雅黑"/>
                <a:ea typeface="微软雅黑"/>
                <a:cs typeface="微软雅黑"/>
              </a:rPr>
              <a:t>2）在分层架构中，生成代码模块（如 mall-mbg）的代码应当如何看待？</a:t>
            </a:r>
          </a:p>
          <a:p>
            <a:pPr algn="l" eaLnBrk="1" hangingPunct="1">
              <a:lnSpc>
                <a:spcPct val="80000"/>
              </a:lnSpc>
              <a:spcBef>
                <a:spcPts val="1400"/>
              </a:spcBef>
              <a:spcAft>
                <a:spcPts val="200"/>
              </a:spcAft>
            </a:pPr>
            <a:r>
              <a:rPr lang="zh-CN" altLang="en-US" sz="2000" b="0">
                <a:latin typeface="微软雅黑"/>
                <a:ea typeface="微软雅黑"/>
                <a:cs typeface="微软雅黑"/>
              </a:rPr>
              <a:t>A. 与手写代码同等对待，可随时修改；B. 只能由数据科学家修改</a:t>
            </a:r>
          </a:p>
          <a:p>
            <a:pPr algn="l" eaLnBrk="1" hangingPunct="1">
              <a:lnSpc>
                <a:spcPct val="80000"/>
              </a:lnSpc>
              <a:spcBef>
                <a:spcPts val="1400"/>
              </a:spcBef>
              <a:spcAft>
                <a:spcPts val="200"/>
              </a:spcAft>
            </a:pPr>
            <a:r>
              <a:rPr lang="zh-CN" altLang="en-US" sz="2000" b="0">
                <a:latin typeface="微软雅黑"/>
                <a:ea typeface="微软雅黑"/>
                <a:cs typeface="微软雅黑"/>
              </a:rPr>
              <a:t>C. 属于不得修改的部分，接口与用法需按规定使用，不直接改动生成产物；D. 编译通过就可以改动</a:t>
            </a:r>
          </a:p>
          <a:p>
            <a:pPr algn="l" eaLnBrk="1" hangingPunct="1">
              <a:lnSpc>
                <a:spcPct val="80000"/>
              </a:lnSpc>
              <a:spcBef>
                <a:spcPts val="1400"/>
              </a:spcBef>
              <a:spcAft>
                <a:spcPts val="200"/>
              </a:spcAft>
            </a:pPr>
            <a:r>
              <a:rPr lang="zh-CN" altLang="en-US" sz="2000" b="0">
                <a:latin typeface="微软雅黑"/>
                <a:ea typeface="微软雅黑"/>
                <a:cs typeface="微软雅黑"/>
              </a:rPr>
              <a:t>3）容器化编排相对在服务器上直接部署，主要解决了什么问题？</a:t>
            </a:r>
          </a:p>
          <a:p>
            <a:pPr algn="l" eaLnBrk="1" hangingPunct="1">
              <a:lnSpc>
                <a:spcPct val="80000"/>
              </a:lnSpc>
              <a:spcBef>
                <a:spcPts val="1400"/>
              </a:spcBef>
              <a:spcAft>
                <a:spcPts val="200"/>
              </a:spcAft>
            </a:pPr>
            <a:r>
              <a:rPr lang="zh-CN" altLang="en-US" sz="2000" b="0">
                <a:latin typeface="微软雅黑"/>
                <a:ea typeface="微软雅黑"/>
                <a:cs typeface="微软雅黑"/>
              </a:rPr>
              <a:t>A. 让应用与依赖一起打包，保证各环境运行一致，并支持弹性伸缩与故障恢复；B. 提升算法执行效率；C. 替代数据库的事务能力</a:t>
            </a:r>
          </a:p>
          <a:p>
            <a:pPr algn="l" eaLnBrk="1" hangingPunct="1">
              <a:lnSpc>
                <a:spcPct val="80000"/>
              </a:lnSpc>
              <a:spcBef>
                <a:spcPts val="1400"/>
              </a:spcBef>
              <a:spcAft>
                <a:spcPts val="200"/>
              </a:spcAft>
            </a:pPr>
            <a:r>
              <a:rPr lang="zh-CN" altLang="en-US" sz="2000" b="0">
                <a:latin typeface="微软雅黑"/>
                <a:ea typeface="微软雅黑"/>
                <a:cs typeface="微软雅黑"/>
              </a:rPr>
              <a:t>D. 消除对中间件的依赖</a:t>
            </a:r>
          </a:p>
        </p:txBody>
      </p:sp>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问答题</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问答题（续）：本次课预习题（4—5）</a:t>
            </a:r>
          </a:p>
        </p:txBody>
      </p:sp>
      <p:sp>
        <p:nvSpPr>
          <p:cNvPr id="3" name="quiz"/>
          <p:cNvSpPr>
            <a:spLocks noGrp="1"/>
          </p:cNvSpPr>
          <p:nvPr>
            <p:ph idx="1"/>
          </p:nvPr>
        </p:nvSpPr>
        <p:spPr>
          <a:xfrm>
            <a:off x="237744" y="1444752"/>
            <a:ext cx="8686800" cy="4480560"/>
          </a:xfrm>
        </p:spPr>
        <p:txBody>
          <a:bodyPr wrap="square" lIns="27432" tIns="18288" rIns="27432" bIns="18288"/>
          <a:lstStyle/>
          <a:p>
            <a:pPr algn="l" eaLnBrk="1" hangingPunct="1">
              <a:lnSpc>
                <a:spcPct val="95000"/>
              </a:lnSpc>
              <a:spcBef>
                <a:spcPts val="1400"/>
              </a:spcBef>
              <a:spcAft>
                <a:spcPts val="200"/>
              </a:spcAft>
            </a:pPr>
            <a:r>
              <a:rPr lang="zh-CN" altLang="en-US" sz="2000" b="0">
                <a:latin typeface="微软雅黑"/>
                <a:ea typeface="微软雅黑"/>
                <a:cs typeface="微软雅黑"/>
              </a:rPr>
              <a:t>4）既有系统的“构建方式”（如何编译、打包、启动）信息，通常记录在哪个文件里？</a:t>
            </a:r>
          </a:p>
          <a:p>
            <a:pPr algn="l" eaLnBrk="1" hangingPunct="1">
              <a:lnSpc>
                <a:spcPct val="95000"/>
              </a:lnSpc>
              <a:spcBef>
                <a:spcPts val="1400"/>
              </a:spcBef>
              <a:spcAft>
                <a:spcPts val="200"/>
              </a:spcAft>
            </a:pPr>
            <a:r>
              <a:rPr lang="zh-CN" altLang="en-US" sz="2000" b="0">
                <a:latin typeface="微软雅黑"/>
                <a:ea typeface="微软雅黑"/>
                <a:cs typeface="微软雅黑"/>
              </a:rPr>
              <a:t>A. .gitignore；B. 构建配置文件，例如 Maven 的 pom.xml 或 Gradle 的 build.gradle；C. README 的目录结构说明</a:t>
            </a:r>
          </a:p>
          <a:p>
            <a:pPr algn="l" eaLnBrk="1" hangingPunct="1">
              <a:lnSpc>
                <a:spcPct val="95000"/>
              </a:lnSpc>
              <a:spcBef>
                <a:spcPts val="1400"/>
              </a:spcBef>
              <a:spcAft>
                <a:spcPts val="200"/>
              </a:spcAft>
            </a:pPr>
            <a:r>
              <a:rPr lang="zh-CN" altLang="en-US" sz="2000" b="0">
                <a:latin typeface="微软雅黑"/>
                <a:ea typeface="微软雅黑"/>
                <a:cs typeface="微软雅黑"/>
              </a:rPr>
              <a:t>D. 数据库初始化脚本</a:t>
            </a:r>
          </a:p>
          <a:p>
            <a:pPr algn="l" eaLnBrk="1" hangingPunct="1">
              <a:lnSpc>
                <a:spcPct val="95000"/>
              </a:lnSpc>
              <a:spcBef>
                <a:spcPts val="1400"/>
              </a:spcBef>
              <a:spcAft>
                <a:spcPts val="200"/>
              </a:spcAft>
            </a:pPr>
            <a:r>
              <a:rPr lang="zh-CN" altLang="en-US" sz="2000" b="0">
                <a:latin typeface="微软雅黑"/>
                <a:ea typeface="微软雅黑"/>
                <a:cs typeface="微软雅黑"/>
              </a:rPr>
              <a:t>5）mall 取消订单的补偿（还库存、还券等）在超时取消和用户取消两处逐行复制。按信息隐藏原则，更合理的做法是：</a:t>
            </a:r>
          </a:p>
          <a:p>
            <a:pPr algn="l" eaLnBrk="1" hangingPunct="1">
              <a:lnSpc>
                <a:spcPct val="95000"/>
              </a:lnSpc>
              <a:spcBef>
                <a:spcPts val="1400"/>
              </a:spcBef>
              <a:spcAft>
                <a:spcPts val="200"/>
              </a:spcAft>
            </a:pPr>
            <a:r>
              <a:rPr lang="zh-CN" altLang="en-US" sz="2000" b="0">
                <a:latin typeface="微软雅黑"/>
                <a:ea typeface="微软雅黑"/>
                <a:cs typeface="微软雅黑"/>
              </a:rPr>
              <a:t>A. 把“关单要补偿什么”这一设计决定藏进一个模块，各取消入口都调用它；B. 在两处补偿代码旁加注释，提醒以后同步修改</a:t>
            </a:r>
          </a:p>
          <a:p>
            <a:pPr algn="l" eaLnBrk="1" hangingPunct="1">
              <a:lnSpc>
                <a:spcPct val="95000"/>
              </a:lnSpc>
              <a:spcBef>
                <a:spcPts val="1400"/>
              </a:spcBef>
              <a:spcAft>
                <a:spcPts val="200"/>
              </a:spcAft>
            </a:pPr>
            <a:r>
              <a:rPr lang="zh-CN" altLang="en-US" sz="2000" b="0">
                <a:latin typeface="微软雅黑"/>
                <a:ea typeface="微软雅黑"/>
                <a:cs typeface="微软雅黑"/>
              </a:rPr>
              <a:t>C. 按流程步骤拆成“改状态”“还库存”“还券”三个类；D. 保持两处不动，后台关闭订单时再复制一份</a:t>
            </a:r>
          </a:p>
        </p:txBody>
      </p:sp>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问答题</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本次课要点与下次课预告</a:t>
            </a:r>
          </a:p>
        </p:txBody>
      </p:sp>
      <p:sp>
        <p:nvSpPr>
          <p:cNvPr id="101" name="fig-d"/>
          <p:cNvSpPr/>
          <p:nvPr/>
        </p:nvSpPr>
        <p:spPr>
          <a:xfrm>
            <a:off x="411480" y="1600200"/>
            <a:ext cx="914400" cy="822960"/>
          </a:xfrm>
          <a:prstGeom prst="rect">
            <a:avLst/>
          </a:prstGeom>
          <a:noFill/>
          <a:ln>
            <a:noFill/>
          </a:ln>
        </p:spPr>
        <p:txBody>
          <a:bodyPr wrap="square" lIns="18288" tIns="9144" rIns="18288" bIns="9144" anchor="ctr"/>
          <a:lstStyle/>
          <a:p>
            <a:pPr algn="l">
              <a:lnSpc>
                <a:spcPct val="100000"/>
              </a:lnSpc>
              <a:buNone/>
            </a:pPr>
            <a:r>
              <a:rPr lang="zh-CN" altLang="en-US" sz="3200" b="1">
                <a:solidFill>
                  <a:srgbClr val="A33B38"/>
                </a:solidFill>
                <a:latin typeface="微软雅黑"/>
                <a:ea typeface="微软雅黑"/>
              </a:rPr>
              <a:t>01</a:t>
            </a:r>
            <a:endParaRPr lang="zh-CN" sz="3200">
              <a:latin typeface="微软雅黑"/>
              <a:ea typeface="微软雅黑"/>
            </a:endParaRPr>
          </a:p>
        </p:txBody>
      </p:sp>
      <p:sp>
        <p:nvSpPr>
          <p:cNvPr id="102" name="fig"/>
          <p:cNvSpPr/>
          <p:nvPr/>
        </p:nvSpPr>
        <p:spPr>
          <a:xfrm>
            <a:off x="1325880" y="1600200"/>
            <a:ext cx="7406640" cy="822960"/>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要点一：运行形态由需求与代价决定，组件多不等于设计好</a:t>
            </a:r>
            <a:endParaRPr lang="zh-CN" sz="2000">
              <a:latin typeface="微软雅黑"/>
              <a:ea typeface="微软雅黑"/>
            </a:endParaRPr>
          </a:p>
        </p:txBody>
      </p:sp>
      <p:sp>
        <p:nvSpPr>
          <p:cNvPr id="103" name="fig-d"/>
          <p:cNvSpPr/>
          <p:nvPr/>
        </p:nvSpPr>
        <p:spPr>
          <a:xfrm>
            <a:off x="411480" y="2606040"/>
            <a:ext cx="914400" cy="822960"/>
          </a:xfrm>
          <a:prstGeom prst="rect">
            <a:avLst/>
          </a:prstGeom>
          <a:noFill/>
          <a:ln>
            <a:noFill/>
          </a:ln>
        </p:spPr>
        <p:txBody>
          <a:bodyPr wrap="square" lIns="18288" tIns="9144" rIns="18288" bIns="9144" anchor="ctr"/>
          <a:lstStyle/>
          <a:p>
            <a:pPr algn="l">
              <a:lnSpc>
                <a:spcPct val="100000"/>
              </a:lnSpc>
              <a:buNone/>
            </a:pPr>
            <a:r>
              <a:rPr lang="zh-CN" altLang="en-US" sz="3200" b="1">
                <a:solidFill>
                  <a:srgbClr val="A33B38"/>
                </a:solidFill>
                <a:latin typeface="微软雅黑"/>
                <a:ea typeface="微软雅黑"/>
              </a:rPr>
              <a:t>02</a:t>
            </a:r>
            <a:endParaRPr lang="zh-CN" sz="3200">
              <a:latin typeface="微软雅黑"/>
              <a:ea typeface="微软雅黑"/>
            </a:endParaRPr>
          </a:p>
        </p:txBody>
      </p:sp>
      <p:sp>
        <p:nvSpPr>
          <p:cNvPr id="104" name="fig"/>
          <p:cNvSpPr/>
          <p:nvPr/>
        </p:nvSpPr>
        <p:spPr>
          <a:xfrm>
            <a:off x="1325880" y="2606040"/>
            <a:ext cx="7406640" cy="822960"/>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要点二：运行环境是物理视图的约束来源；</a:t>
            </a:r>
            <a:br>
              <a:rPr lang="zh-CN" sz="2000">
                <a:latin typeface="微软雅黑"/>
                <a:ea typeface="微软雅黑"/>
              </a:rPr>
            </a:br>
            <a:r>
              <a:rPr lang="zh-CN" altLang="en-US" sz="2000" b="0">
                <a:solidFill>
                  <a:srgbClr val="262626"/>
                </a:solidFill>
                <a:latin typeface="微软雅黑"/>
                <a:ea typeface="微软雅黑"/>
              </a:rPr>
              <a:t>构建加 -Ddocker.skip=true，不改基线文件</a:t>
            </a:r>
            <a:endParaRPr lang="zh-CN" sz="2000">
              <a:latin typeface="微软雅黑"/>
              <a:ea typeface="微软雅黑"/>
            </a:endParaRPr>
          </a:p>
        </p:txBody>
      </p:sp>
      <p:sp>
        <p:nvSpPr>
          <p:cNvPr id="105" name="fig-d"/>
          <p:cNvSpPr/>
          <p:nvPr/>
        </p:nvSpPr>
        <p:spPr>
          <a:xfrm>
            <a:off x="411480" y="3611880"/>
            <a:ext cx="914400" cy="822960"/>
          </a:xfrm>
          <a:prstGeom prst="rect">
            <a:avLst/>
          </a:prstGeom>
          <a:noFill/>
          <a:ln>
            <a:noFill/>
          </a:ln>
        </p:spPr>
        <p:txBody>
          <a:bodyPr wrap="square" lIns="18288" tIns="9144" rIns="18288" bIns="9144" anchor="ctr"/>
          <a:lstStyle/>
          <a:p>
            <a:pPr algn="l">
              <a:lnSpc>
                <a:spcPct val="100000"/>
              </a:lnSpc>
              <a:buNone/>
            </a:pPr>
            <a:r>
              <a:rPr lang="zh-CN" altLang="en-US" sz="3200" b="1">
                <a:solidFill>
                  <a:srgbClr val="A33B38"/>
                </a:solidFill>
                <a:latin typeface="微软雅黑"/>
                <a:ea typeface="微软雅黑"/>
              </a:rPr>
              <a:t>03</a:t>
            </a:r>
            <a:endParaRPr lang="zh-CN" sz="3200">
              <a:latin typeface="微软雅黑"/>
              <a:ea typeface="微软雅黑"/>
            </a:endParaRPr>
          </a:p>
        </p:txBody>
      </p:sp>
      <p:sp>
        <p:nvSpPr>
          <p:cNvPr id="106" name="fig"/>
          <p:cNvSpPr/>
          <p:nvPr/>
        </p:nvSpPr>
        <p:spPr>
          <a:xfrm>
            <a:off x="1325880" y="3611880"/>
            <a:ext cx="7406640" cy="822960"/>
          </a:xfrm>
          <a:prstGeom prst="rect">
            <a:avLst/>
          </a:prstGeom>
          <a:solidFill>
            <a:srgbClr val="F5F5F5"/>
          </a:solidFill>
          <a:ln>
            <a:noFill/>
          </a:ln>
        </p:spPr>
        <p:txBody>
          <a:bodyPr wrap="square" lIns="91440" tIns="45720" rIns="91440" bIns="45720" anchor="ctr"/>
          <a:lstStyle/>
          <a:p>
            <a:pPr algn="l">
              <a:lnSpc>
                <a:spcPct val="100000"/>
              </a:lnSpc>
              <a:buNone/>
            </a:pPr>
            <a:r>
              <a:rPr lang="zh-CN" altLang="en-US" sz="2000" b="0">
                <a:solidFill>
                  <a:srgbClr val="262626"/>
                </a:solidFill>
                <a:latin typeface="微软雅黑"/>
                <a:ea typeface="微软雅黑"/>
              </a:rPr>
              <a:t>要点三：模块化按藏起的设计决定划分，追求高内聚、低耦合</a:t>
            </a:r>
            <a:endParaRPr lang="zh-CN" sz="2000">
              <a:latin typeface="微软雅黑"/>
              <a:ea typeface="微软雅黑"/>
            </a:endParaRPr>
          </a:p>
        </p:txBody>
      </p:sp>
      <p:sp>
        <p:nvSpPr>
          <p:cNvPr id="107" name="fig"/>
          <p:cNvSpPr/>
          <p:nvPr/>
        </p:nvSpPr>
        <p:spPr>
          <a:xfrm>
            <a:off x="411480" y="4800600"/>
            <a:ext cx="8321040" cy="822960"/>
          </a:xfrm>
          <a:prstGeom prst="rect">
            <a:avLst/>
          </a:prstGeom>
          <a:solidFill>
            <a:srgbClr val="A33B38"/>
          </a:solidFill>
          <a:ln w="28575">
            <a:solidFill>
              <a:srgbClr val="A33B38"/>
            </a:solidFill>
          </a:ln>
        </p:spPr>
        <p:txBody>
          <a:bodyPr wrap="square" lIns="73152" tIns="36576" rIns="73152" bIns="36576" anchor="ctr"/>
          <a:lstStyle/>
          <a:p>
            <a:pPr algn="ctr">
              <a:lnSpc>
                <a:spcPct val="100000"/>
              </a:lnSpc>
              <a:buNone/>
            </a:pPr>
            <a:r>
              <a:rPr lang="zh-CN" altLang="en-US" sz="2000" b="1">
                <a:solidFill>
                  <a:srgbClr val="FFFFFF"/>
                </a:solidFill>
                <a:latin typeface="微软雅黑"/>
                <a:ea typeface="微软雅黑"/>
              </a:rPr>
              <a:t>下次课：第 4 次课，实验 E2 体系结构建模与方案评价；T3 课前完成 T3 预习题</a:t>
            </a:r>
            <a:endParaRPr lang="zh-CN" sz="2000">
              <a:latin typeface="微软雅黑"/>
              <a:ea typeface="微软雅黑"/>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本章参考资料</a:t>
            </a:r>
          </a:p>
        </p:txBody>
      </p:sp>
      <p:graphicFrame>
        <p:nvGraphicFramePr>
          <p:cNvPr id="3" name="table"/>
          <p:cNvGraphicFramePr>
            <a:graphicFrameLocks noGrp="1"/>
          </p:cNvGraphicFramePr>
          <p:nvPr/>
        </p:nvGraphicFramePr>
        <p:xfrm>
          <a:off x="368300" y="1485900"/>
          <a:ext cx="8407400" cy="3594099"/>
        </p:xfrm>
        <a:graphic>
          <a:graphicData uri="http://schemas.openxmlformats.org/drawingml/2006/table">
            <a:tbl>
              <a:tblPr>
                <a:tableStyleId>{2D5ABB26-0587-4C30-8999-92F81FD0307C}</a:tableStyleId>
              </a:tblPr>
              <a:tblGrid>
                <a:gridCol w="736600">
                  <a:extLst>
                    <a:ext uri="{9D8B030D-6E8A-4147-A177-3AD203B41FA5}">
                      <a16:colId xmlns:a16="http://schemas.microsoft.com/office/drawing/2014/main" val="20000"/>
                    </a:ext>
                  </a:extLst>
                </a:gridCol>
                <a:gridCol w="4953000">
                  <a:extLst>
                    <a:ext uri="{9D8B030D-6E8A-4147-A177-3AD203B41FA5}">
                      <a16:colId xmlns:a16="http://schemas.microsoft.com/office/drawing/2014/main" val="20001"/>
                    </a:ext>
                  </a:extLst>
                </a:gridCol>
                <a:gridCol w="2717800">
                  <a:extLst>
                    <a:ext uri="{9D8B030D-6E8A-4147-A177-3AD203B41FA5}">
                      <a16:colId xmlns:a16="http://schemas.microsoft.com/office/drawing/2014/main" val="20002"/>
                    </a:ext>
                  </a:extLst>
                </a:gridCol>
              </a:tblGrid>
              <a:tr h="635304">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编号</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题名</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链接或 DOI</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986265">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[21]</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Mell、Grance（2011）</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The NIST Definition of</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Cloud Computing</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10.6028/NIST.SP.800-145</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986265">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[22]</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Parnas（1972）</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On the criteria to be used in</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decomposing systems into modules</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10.1145/361598.361623</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986265">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[27]</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Le 等（2015）</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An empirical study of architectural</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change in open-source software systems</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10.1109/MSR.2015.29</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bl>
          </a:graphicData>
        </a:graphic>
      </p:graphicFrame>
      <p:sp>
        <p:nvSpPr>
          <p:cNvPr id="4" name="fn"/>
          <p:cNvSpPr txBox="1"/>
          <p:nvPr/>
        </p:nvSpPr>
        <p:spPr>
          <a:xfrm>
            <a:off x="406400" y="5575300"/>
            <a:ext cx="8318500" cy="381000"/>
          </a:xfrm>
          <a:prstGeom prst="rect">
            <a:avLst/>
          </a:prstGeom>
          <a:noFill/>
        </p:spPr>
        <p:txBody>
          <a:bodyPr wrap="square" lIns="54864" tIns="18288" rIns="54864" bIns="18288">
            <a:spAutoFit/>
          </a:bodyPr>
          <a:lstStyle/>
          <a:p>
            <a:pPr algn="l" eaLnBrk="1" hangingPunct="1">
              <a:lnSpc>
                <a:spcPct val="100000"/>
              </a:lnSpc>
              <a:spcBef>
                <a:spcPts val="0"/>
              </a:spcBef>
              <a:spcAft>
                <a:spcPts val="0"/>
              </a:spcAft>
              <a:buNone/>
            </a:pPr>
            <a:r>
              <a:rPr lang="zh-CN" altLang="en-US" sz="2000" b="0">
                <a:latin typeface="微软雅黑"/>
                <a:ea typeface="微软雅黑"/>
                <a:cs typeface="微软雅黑"/>
              </a:rPr>
              <a:t>数字对象唯一标识符（Digital Object Identifier，DOI）</a:t>
            </a:r>
          </a:p>
        </p:txBody>
      </p:sp>
      <p:sp>
        <p:nvSpPr>
          <p:cNvPr id="5"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本章参考资料</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lIns="54864" tIns="18288" rIns="54864" bIns="18288"/>
          <a:lstStyle/>
          <a:p>
            <a:pPr algn="l" eaLnBrk="1" hangingPunct="1">
              <a:lnSpc>
                <a:spcPct val="100000"/>
              </a:lnSpc>
              <a:spcBef>
                <a:spcPts val="600"/>
              </a:spcBef>
              <a:spcAft>
                <a:spcPts val="200"/>
              </a:spcAft>
              <a:buNone/>
            </a:pPr>
            <a:r>
              <a:rPr lang="zh-CN" altLang="en-US" sz="2800" b="1">
                <a:solidFill>
                  <a:srgbClr val="A33B38"/>
                </a:solidFill>
                <a:latin typeface="微软雅黑"/>
                <a:ea typeface="微软雅黑"/>
                <a:cs typeface="微软雅黑"/>
              </a:rPr>
              <a:t>本章参考资料（续）</a:t>
            </a:r>
          </a:p>
        </p:txBody>
      </p:sp>
      <p:graphicFrame>
        <p:nvGraphicFramePr>
          <p:cNvPr id="3" name="table"/>
          <p:cNvGraphicFramePr>
            <a:graphicFrameLocks noGrp="1"/>
          </p:cNvGraphicFramePr>
          <p:nvPr/>
        </p:nvGraphicFramePr>
        <p:xfrm>
          <a:off x="368300" y="1485900"/>
          <a:ext cx="8407400" cy="3594099"/>
        </p:xfrm>
        <a:graphic>
          <a:graphicData uri="http://schemas.openxmlformats.org/drawingml/2006/table">
            <a:tbl>
              <a:tblPr>
                <a:tableStyleId>{2D5ABB26-0587-4C30-8999-92F81FD0307C}</a:tableStyleId>
              </a:tblPr>
              <a:tblGrid>
                <a:gridCol w="7366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4241800">
                  <a:extLst>
                    <a:ext uri="{9D8B030D-6E8A-4147-A177-3AD203B41FA5}">
                      <a16:colId xmlns:a16="http://schemas.microsoft.com/office/drawing/2014/main" val="20002"/>
                    </a:ext>
                  </a:extLst>
                </a:gridCol>
              </a:tblGrid>
              <a:tr h="647302">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编号</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题名</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链接或 DOI</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0"/>
                  </a:ext>
                </a:extLst>
              </a:tr>
              <a:tr h="1004891">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[43]</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加州大学伯克利分校</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（University of California, Berkeley）</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Large Language Model Agents</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llmagents-learning.org</a:t>
                      </a:r>
                    </a:p>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（系列课程现迁至 agenticai-learning.org）</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1"/>
                  </a:ext>
                </a:extLst>
              </a:tr>
              <a:tr h="647302">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[45]</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macrozheng《mall》</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github.com/macrozheng/mall</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2"/>
                  </a:ext>
                </a:extLst>
              </a:tr>
              <a:tr h="647302">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[46]</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macrozheng</a:t>
                      </a:r>
                    </a:p>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mall-swarm</a:t>
                      </a:r>
                    </a:p>
                  </a:txBody>
                  <a:tcPr marL="109728" marR="109728" anchor="ctr">
                    <a:lnL w="9525">
                      <a:noFill/>
                    </a:lnL>
                    <a:lnR w="9525">
                      <a:noFill/>
                    </a:lnR>
                    <a:lnT w="9525">
                      <a:solidFill>
                        <a:srgbClr val="D9D9D9"/>
                      </a:solidFill>
                    </a:lnT>
                    <a:lnB w="9525">
                      <a:solidFill>
                        <a:srgbClr val="D9D9D9"/>
                      </a:solidFill>
                    </a:lnB>
                    <a:solidFill>
                      <a:srgbClr val="FFFFFF"/>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github.com/macrozheng/mall-swarm</a:t>
                      </a:r>
                    </a:p>
                  </a:txBody>
                  <a:tcPr marL="109728" marR="109728" anchor="ctr">
                    <a:lnL w="9525">
                      <a:noFill/>
                    </a:lnL>
                    <a:lnR w="9525">
                      <a:noFill/>
                    </a:lnR>
                    <a:lnT w="9525">
                      <a:solidFill>
                        <a:srgbClr val="D9D9D9"/>
                      </a:solidFill>
                    </a:lnT>
                    <a:lnB w="9525">
                      <a:solidFill>
                        <a:srgbClr val="D9D9D9"/>
                      </a:solidFill>
                    </a:lnB>
                    <a:solidFill>
                      <a:srgbClr val="FFFFFF"/>
                    </a:solidFill>
                  </a:tcPr>
                </a:tc>
                <a:extLst>
                  <a:ext uri="{0D108BD9-81ED-4DB2-BD59-A6C34878D82A}">
                    <a16:rowId xmlns:a16="http://schemas.microsoft.com/office/drawing/2014/main" val="10003"/>
                  </a:ext>
                </a:extLst>
              </a:tr>
              <a:tr h="647302">
                <a:tc>
                  <a:txBody>
                    <a:bodyPr/>
                    <a:lstStyle/>
                    <a:p>
                      <a:pPr algn="l" eaLnBrk="1" hangingPunct="1">
                        <a:lnSpc>
                          <a:spcPct val="90000"/>
                        </a:lnSpc>
                        <a:spcBef>
                          <a:spcPts val="200"/>
                        </a:spcBef>
                        <a:spcAft>
                          <a:spcPts val="200"/>
                        </a:spcAft>
                        <a:buNone/>
                      </a:pPr>
                      <a:r>
                        <a:rPr lang="zh-CN" altLang="en-US" sz="2000" b="1">
                          <a:solidFill>
                            <a:srgbClr val="262626"/>
                          </a:solidFill>
                          <a:latin typeface="微软雅黑"/>
                          <a:ea typeface="微软雅黑"/>
                          <a:cs typeface="微软雅黑"/>
                        </a:rPr>
                        <a:t>[47]</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2000" b="0">
                          <a:solidFill>
                            <a:srgbClr val="262626"/>
                          </a:solidFill>
                          <a:latin typeface="微软雅黑"/>
                          <a:ea typeface="微软雅黑"/>
                          <a:cs typeface="微软雅黑"/>
                        </a:rPr>
                        <a:t>课程组《AI 协作与产出验收规范》</a:t>
                      </a:r>
                    </a:p>
                  </a:txBody>
                  <a:tcPr marL="109728" marR="109728" anchor="ctr">
                    <a:lnL w="9525">
                      <a:noFill/>
                    </a:lnL>
                    <a:lnR w="9525">
                      <a:noFill/>
                    </a:lnR>
                    <a:lnT w="9525">
                      <a:solidFill>
                        <a:srgbClr val="D9D9D9"/>
                      </a:solidFill>
                    </a:lnT>
                    <a:lnB w="9525">
                      <a:solidFill>
                        <a:srgbClr val="D9D9D9"/>
                      </a:solidFill>
                    </a:lnB>
                    <a:solidFill>
                      <a:srgbClr val="FBF3F2"/>
                    </a:solidFill>
                  </a:tcPr>
                </a:tc>
                <a:tc>
                  <a:txBody>
                    <a:bodyPr/>
                    <a:lstStyle/>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资料/附录-AI协作与</a:t>
                      </a:r>
                    </a:p>
                    <a:p>
                      <a:pPr algn="l" eaLnBrk="1" hangingPunct="1">
                        <a:lnSpc>
                          <a:spcPct val="90000"/>
                        </a:lnSpc>
                        <a:spcBef>
                          <a:spcPts val="200"/>
                        </a:spcBef>
                        <a:spcAft>
                          <a:spcPts val="200"/>
                        </a:spcAft>
                        <a:buNone/>
                      </a:pPr>
                      <a:r>
                        <a:rPr lang="zh-CN" altLang="en-US" sz="1600" b="0">
                          <a:solidFill>
                            <a:srgbClr val="262626"/>
                          </a:solidFill>
                          <a:latin typeface="微软雅黑"/>
                          <a:ea typeface="微软雅黑"/>
                          <a:cs typeface="微软雅黑"/>
                        </a:rPr>
                        <a:t>产出验收规范.docx</a:t>
                      </a:r>
                    </a:p>
                  </a:txBody>
                  <a:tcPr marL="109728" marR="109728" anchor="ctr">
                    <a:lnL w="9525">
                      <a:noFill/>
                    </a:lnL>
                    <a:lnR w="9525">
                      <a:noFill/>
                    </a:lnR>
                    <a:lnT w="9525">
                      <a:solidFill>
                        <a:srgbClr val="D9D9D9"/>
                      </a:solidFill>
                    </a:lnT>
                    <a:lnB w="9525">
                      <a:solidFill>
                        <a:srgbClr val="D9D9D9"/>
                      </a:solidFill>
                    </a:lnB>
                    <a:solidFill>
                      <a:srgbClr val="FBF3F2"/>
                    </a:solidFill>
                  </a:tcPr>
                </a:tc>
                <a:extLst>
                  <a:ext uri="{0D108BD9-81ED-4DB2-BD59-A6C34878D82A}">
                    <a16:rowId xmlns:a16="http://schemas.microsoft.com/office/drawing/2014/main" val="10004"/>
                  </a:ext>
                </a:extLst>
              </a:tr>
            </a:tbl>
          </a:graphicData>
        </a:graphic>
      </p:graphicFrame>
      <p:sp>
        <p:nvSpPr>
          <p:cNvPr id="4" name="sec-label"/>
          <p:cNvSpPr txBox="1"/>
          <p:nvPr/>
        </p:nvSpPr>
        <p:spPr>
          <a:xfrm>
            <a:off x="576072" y="36576"/>
            <a:ext cx="8001000" cy="246888"/>
          </a:xfrm>
          <a:prstGeom prst="rect">
            <a:avLst/>
          </a:prstGeom>
          <a:noFill/>
        </p:spPr>
        <p:txBody>
          <a:bodyPr wrap="square" lIns="91440" tIns="0" rIns="91440" bIns="0" anchor="b"/>
          <a:lstStyle/>
          <a:p>
            <a:pPr algn="l"/>
            <a:r>
              <a:rPr lang="zh-CN" altLang="en-US" sz="1200" b="0">
                <a:solidFill>
                  <a:srgbClr val="595959"/>
                </a:solidFill>
                <a:latin typeface="微软雅黑"/>
                <a:ea typeface="微软雅黑"/>
              </a:rPr>
              <a:t>本章参考资料</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OMMONDATA" val="eyJoZGlkIjoiZDkzYzZkNDRlZDllNjdlNTFlNDRjOWFlMDM3NGQyOTAifQ=="/>
</p:tagLst>
</file>

<file path=ppt/theme/theme1.xml><?xml version="1.0" encoding="utf-8"?>
<a:theme xmlns:a="http://schemas.openxmlformats.org/drawingml/2006/main" name="2_985平台">
  <a:themeElements>
    <a:clrScheme name="SDC-2026">
      <a:dk1>
        <a:srgbClr val="262626"/>
      </a:dk1>
      <a:lt1>
        <a:srgbClr val="FFFFFF"/>
      </a:lt1>
      <a:dk2>
        <a:srgbClr val="A33B38"/>
      </a:dk2>
      <a:lt2>
        <a:srgbClr val="F6E8E6"/>
      </a:lt2>
      <a:accent1>
        <a:srgbClr val="A33B38"/>
      </a:accent1>
      <a:accent2>
        <a:srgbClr val="A33B38"/>
      </a:accent2>
      <a:accent3>
        <a:srgbClr val="595959"/>
      </a:accent3>
      <a:accent4>
        <a:srgbClr val="2E7D32"/>
      </a:accent4>
      <a:accent5>
        <a:srgbClr val="B26A00"/>
      </a:accent5>
      <a:accent6>
        <a:srgbClr val="D9D9D9"/>
      </a:accent6>
      <a:hlink>
        <a:srgbClr val="A33B38"/>
      </a:hlink>
      <a:folHlink>
        <a:srgbClr val="7F7F7F"/>
      </a:folHlink>
    </a:clrScheme>
    <a:fontScheme name="SDC-2026">
      <a:majorFont>
        <a:latin typeface="微软雅黑"/>
        <a:ea typeface="微软雅黑"/>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微软雅黑"/>
        <a:ea typeface="微软雅黑"/>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gradFill rotWithShape="0">
          <a:gsLst>
            <a:gs pos="0">
              <a:schemeClr val="bg1">
                <a:gamma/>
                <a:shade val="46275"/>
                <a:invGamma/>
              </a:schemeClr>
            </a:gs>
            <a:gs pos="50000">
              <a:schemeClr val="bg1"/>
            </a:gs>
            <a:gs pos="100000">
              <a:schemeClr val="bg1">
                <a:gamma/>
                <a:shade val="46275"/>
                <a:invGamma/>
              </a:schemeClr>
            </a:gs>
          </a:gsLst>
          <a:lin ang="5400000" scaled="1"/>
        </a:gradFill>
        <a:ln w="38100" cap="flat" cmpd="sng" algn="ctr">
          <a:solidFill>
            <a:srgbClr val="3366FF"/>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en-US"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xfrm>
          <a:off x="0" y="0"/>
          <a:ext cx="1" cy="1"/>
        </a:xfrm>
        <a:custGeom>
          <a:avLst/>
          <a:gdLst/>
          <a:ahLst/>
          <a:cxnLst/>
          <a:rect l="0" t="0" r="0" b="0"/>
          <a:pathLst/>
        </a:custGeom>
        <a:gradFill rotWithShape="0">
          <a:gsLst>
            <a:gs pos="0">
              <a:schemeClr val="bg1">
                <a:gamma/>
                <a:shade val="46275"/>
                <a:invGamma/>
              </a:schemeClr>
            </a:gs>
            <a:gs pos="50000">
              <a:schemeClr val="bg1"/>
            </a:gs>
            <a:gs pos="100000">
              <a:schemeClr val="bg1">
                <a:gamma/>
                <a:shade val="46275"/>
                <a:invGamma/>
              </a:schemeClr>
            </a:gs>
          </a:gsLst>
          <a:lin ang="5400000" scaled="1"/>
        </a:gradFill>
        <a:ln w="38100" cap="flat" cmpd="sng" algn="ctr">
          <a:solidFill>
            <a:srgbClr val="3366FF"/>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en-US"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lnDef>
  </a:objectDefaults>
  <a:extraClrSchemeLst>
    <a:extraClrScheme>
      <a:clrScheme name="2_985平台 1">
        <a:dk1>
          <a:srgbClr val="A50021"/>
        </a:dk1>
        <a:lt1>
          <a:srgbClr val="FFFFFF"/>
        </a:lt1>
        <a:dk2>
          <a:srgbClr val="800000"/>
        </a:dk2>
        <a:lt2>
          <a:srgbClr val="FFFFFF"/>
        </a:lt2>
        <a:accent1>
          <a:srgbClr val="FF9900"/>
        </a:accent1>
        <a:accent2>
          <a:srgbClr val="FF3300"/>
        </a:accent2>
        <a:accent3>
          <a:srgbClr val="C0AAAA"/>
        </a:accent3>
        <a:accent4>
          <a:srgbClr val="DADADA"/>
        </a:accent4>
        <a:accent5>
          <a:srgbClr val="FFCAAA"/>
        </a:accent5>
        <a:accent6>
          <a:srgbClr val="E72D00"/>
        </a:accent6>
        <a:hlink>
          <a:srgbClr val="FFFFCC"/>
        </a:hlink>
        <a:folHlink>
          <a:srgbClr val="FFCC99"/>
        </a:folHlink>
      </a:clrScheme>
      <a:clrMap bg1="dk2" tx1="lt1" bg2="dk1" tx2="lt2" accent1="accent1" accent2="accent2" accent3="accent3" accent4="accent4" accent5="accent5" accent6="accent6" hlink="hlink" folHlink="folHlink"/>
    </a:extraClrScheme>
    <a:extraClrScheme>
      <a:clrScheme name="2_985平台 2">
        <a:dk1>
          <a:srgbClr val="3C001E"/>
        </a:dk1>
        <a:lt1>
          <a:srgbClr val="FFFFFF"/>
        </a:lt1>
        <a:dk2>
          <a:srgbClr val="51072E"/>
        </a:dk2>
        <a:lt2>
          <a:srgbClr val="FFFFFF"/>
        </a:lt2>
        <a:accent1>
          <a:srgbClr val="89A38F"/>
        </a:accent1>
        <a:accent2>
          <a:srgbClr val="666699"/>
        </a:accent2>
        <a:accent3>
          <a:srgbClr val="B3AAAD"/>
        </a:accent3>
        <a:accent4>
          <a:srgbClr val="DADADA"/>
        </a:accent4>
        <a:accent5>
          <a:srgbClr val="C4CEC6"/>
        </a:accent5>
        <a:accent6>
          <a:srgbClr val="5C5C8A"/>
        </a:accent6>
        <a:hlink>
          <a:srgbClr val="808000"/>
        </a:hlink>
        <a:folHlink>
          <a:srgbClr val="666633"/>
        </a:folHlink>
      </a:clrScheme>
      <a:clrMap bg1="dk2" tx1="lt1" bg2="dk1" tx2="lt2" accent1="accent1" accent2="accent2" accent3="accent3" accent4="accent4" accent5="accent5" accent6="accent6" hlink="hlink" folHlink="folHlink"/>
    </a:extraClrScheme>
    <a:extraClrScheme>
      <a:clrScheme name="2_985平台 3">
        <a:dk1>
          <a:srgbClr val="333333"/>
        </a:dk1>
        <a:lt1>
          <a:srgbClr val="FFFFFF"/>
        </a:lt1>
        <a:dk2>
          <a:srgbClr val="000000"/>
        </a:dk2>
        <a:lt2>
          <a:srgbClr val="FFFFFF"/>
        </a:lt2>
        <a:accent1>
          <a:srgbClr val="3399FF"/>
        </a:accent1>
        <a:accent2>
          <a:srgbClr val="CC0000"/>
        </a:accent2>
        <a:accent3>
          <a:srgbClr val="AAAAAA"/>
        </a:accent3>
        <a:accent4>
          <a:srgbClr val="DADADA"/>
        </a:accent4>
        <a:accent5>
          <a:srgbClr val="ADCAFF"/>
        </a:accent5>
        <a:accent6>
          <a:srgbClr val="B90000"/>
        </a:accent6>
        <a:hlink>
          <a:srgbClr val="666699"/>
        </a:hlink>
        <a:folHlink>
          <a:srgbClr val="6600CC"/>
        </a:folHlink>
      </a:clrScheme>
      <a:clrMap bg1="dk2" tx1="lt1" bg2="dk1" tx2="lt2" accent1="accent1" accent2="accent2" accent3="accent3" accent4="accent4" accent5="accent5" accent6="accent6" hlink="hlink" folHlink="folHlink"/>
    </a:extraClrScheme>
    <a:extraClrScheme>
      <a:clrScheme name="2_985平台 4">
        <a:dk1>
          <a:srgbClr val="4B3D1B"/>
        </a:dk1>
        <a:lt1>
          <a:srgbClr val="FFFFFF"/>
        </a:lt1>
        <a:dk2>
          <a:srgbClr val="330000"/>
        </a:dk2>
        <a:lt2>
          <a:srgbClr val="FFFFFF"/>
        </a:lt2>
        <a:accent1>
          <a:srgbClr val="CC9900"/>
        </a:accent1>
        <a:accent2>
          <a:srgbClr val="CC6600"/>
        </a:accent2>
        <a:accent3>
          <a:srgbClr val="ADAAAA"/>
        </a:accent3>
        <a:accent4>
          <a:srgbClr val="DADADA"/>
        </a:accent4>
        <a:accent5>
          <a:srgbClr val="E2CAAA"/>
        </a:accent5>
        <a:accent6>
          <a:srgbClr val="B95C00"/>
        </a:accent6>
        <a:hlink>
          <a:srgbClr val="666699"/>
        </a:hlink>
        <a:folHlink>
          <a:srgbClr val="CCCC00"/>
        </a:folHlink>
      </a:clrScheme>
      <a:clrMap bg1="dk2" tx1="lt1" bg2="dk1" tx2="lt2" accent1="accent1" accent2="accent2" accent3="accent3" accent4="accent4" accent5="accent5" accent6="accent6" hlink="hlink" folHlink="folHlink"/>
    </a:extraClrScheme>
    <a:extraClrScheme>
      <a:clrScheme name="2_985平台 5">
        <a:dk1>
          <a:srgbClr val="006666"/>
        </a:dk1>
        <a:lt1>
          <a:srgbClr val="FFFFFF"/>
        </a:lt1>
        <a:dk2>
          <a:srgbClr val="003366"/>
        </a:dk2>
        <a:lt2>
          <a:srgbClr val="FFFFFF"/>
        </a:lt2>
        <a:accent1>
          <a:srgbClr val="0099CC"/>
        </a:accent1>
        <a:accent2>
          <a:srgbClr val="6666FF"/>
        </a:accent2>
        <a:accent3>
          <a:srgbClr val="AAADB8"/>
        </a:accent3>
        <a:accent4>
          <a:srgbClr val="DADADA"/>
        </a:accent4>
        <a:accent5>
          <a:srgbClr val="AACAE2"/>
        </a:accent5>
        <a:accent6>
          <a:srgbClr val="5C5CE7"/>
        </a:accent6>
        <a:hlink>
          <a:srgbClr val="FFFFCC"/>
        </a:hlink>
        <a:folHlink>
          <a:srgbClr val="FFCC00"/>
        </a:folHlink>
      </a:clrScheme>
      <a:clrMap bg1="dk2" tx1="lt1" bg2="dk1" tx2="lt2" accent1="accent1" accent2="accent2" accent3="accent3" accent4="accent4" accent5="accent5" accent6="accent6" hlink="hlink" folHlink="folHlink"/>
    </a:extraClrScheme>
    <a:extraClrScheme>
      <a:clrScheme name="2_985平台 6">
        <a:dk1>
          <a:srgbClr val="003366"/>
        </a:dk1>
        <a:lt1>
          <a:srgbClr val="FFFFFF"/>
        </a:lt1>
        <a:dk2>
          <a:srgbClr val="006666"/>
        </a:dk2>
        <a:lt2>
          <a:srgbClr val="FFFFFF"/>
        </a:lt2>
        <a:accent1>
          <a:srgbClr val="6699FF"/>
        </a:accent1>
        <a:accent2>
          <a:srgbClr val="00CCFF"/>
        </a:accent2>
        <a:accent3>
          <a:srgbClr val="AAB8B8"/>
        </a:accent3>
        <a:accent4>
          <a:srgbClr val="DADADA"/>
        </a:accent4>
        <a:accent5>
          <a:srgbClr val="B8CAFF"/>
        </a:accent5>
        <a:accent6>
          <a:srgbClr val="00B9E7"/>
        </a:accent6>
        <a:hlink>
          <a:srgbClr val="FFFFCC"/>
        </a:hlink>
        <a:folHlink>
          <a:srgbClr val="33CCCC"/>
        </a:folHlink>
      </a:clrScheme>
      <a:clrMap bg1="dk2" tx1="lt1" bg2="dk1" tx2="lt2" accent1="accent1" accent2="accent2" accent3="accent3" accent4="accent4" accent5="accent5" accent6="accent6" hlink="hlink" folHlink="folHlink"/>
    </a:extraClrScheme>
    <a:extraClrScheme>
      <a:clrScheme name="2_985平台 7">
        <a:dk1>
          <a:srgbClr val="000000"/>
        </a:dk1>
        <a:lt1>
          <a:srgbClr val="619CB1"/>
        </a:lt1>
        <a:dk2>
          <a:srgbClr val="FFFFFF"/>
        </a:dk2>
        <a:lt2>
          <a:srgbClr val="4E899E"/>
        </a:lt2>
        <a:accent1>
          <a:srgbClr val="FFCC00"/>
        </a:accent1>
        <a:accent2>
          <a:srgbClr val="B6523E"/>
        </a:accent2>
        <a:accent3>
          <a:srgbClr val="B7CBD5"/>
        </a:accent3>
        <a:accent4>
          <a:srgbClr val="000000"/>
        </a:accent4>
        <a:accent5>
          <a:srgbClr val="FFE2AA"/>
        </a:accent5>
        <a:accent6>
          <a:srgbClr val="A54937"/>
        </a:accent6>
        <a:hlink>
          <a:srgbClr val="99CC00"/>
        </a:hlink>
        <a:folHlink>
          <a:srgbClr val="666699"/>
        </a:folHlink>
      </a:clrScheme>
      <a:clrMap bg1="lt1" tx1="dk1" bg2="lt2" tx2="dk2" accent1="accent1" accent2="accent2" accent3="accent3" accent4="accent4" accent5="accent5" accent6="accent6" hlink="hlink" folHlink="folHlink"/>
    </a:extraClrScheme>
    <a:extraClrScheme>
      <a:clrScheme name="2_985平台 8">
        <a:dk1>
          <a:srgbClr val="598600"/>
        </a:dk1>
        <a:lt1>
          <a:srgbClr val="FFFFFF"/>
        </a:lt1>
        <a:dk2>
          <a:srgbClr val="336600"/>
        </a:dk2>
        <a:lt2>
          <a:srgbClr val="FFFFFF"/>
        </a:lt2>
        <a:accent1>
          <a:srgbClr val="33CC33"/>
        </a:accent1>
        <a:accent2>
          <a:srgbClr val="99CC00"/>
        </a:accent2>
        <a:accent3>
          <a:srgbClr val="ADB8AA"/>
        </a:accent3>
        <a:accent4>
          <a:srgbClr val="DADADA"/>
        </a:accent4>
        <a:accent5>
          <a:srgbClr val="ADE2AD"/>
        </a:accent5>
        <a:accent6>
          <a:srgbClr val="8AB900"/>
        </a:accent6>
        <a:hlink>
          <a:srgbClr val="FFCC00"/>
        </a:hlink>
        <a:folHlink>
          <a:srgbClr val="FFFF99"/>
        </a:folHlink>
      </a:clrScheme>
      <a:clrMap bg1="dk2" tx1="lt1" bg2="dk1" tx2="lt2" accent1="accent1" accent2="accent2" accent3="accent3" accent4="accent4" accent5="accent5" accent6="accent6" hlink="hlink" folHlink="folHlink"/>
    </a:extraClrScheme>
    <a:extraClrScheme>
      <a:clrScheme name="2_985平台 9">
        <a:dk1>
          <a:srgbClr val="000000"/>
        </a:dk1>
        <a:lt1>
          <a:srgbClr val="FFFFFF"/>
        </a:lt1>
        <a:dk2>
          <a:srgbClr val="000000"/>
        </a:dk2>
        <a:lt2>
          <a:srgbClr val="DDDDDD"/>
        </a:lt2>
        <a:accent1>
          <a:srgbClr val="A3B2C1"/>
        </a:accent1>
        <a:accent2>
          <a:srgbClr val="CC0000"/>
        </a:accent2>
        <a:accent3>
          <a:srgbClr val="FFFFFF"/>
        </a:accent3>
        <a:accent4>
          <a:srgbClr val="000000"/>
        </a:accent4>
        <a:accent5>
          <a:srgbClr val="CED5DD"/>
        </a:accent5>
        <a:accent6>
          <a:srgbClr val="B90000"/>
        </a:accent6>
        <a:hlink>
          <a:srgbClr val="336699"/>
        </a:hlink>
        <a:folHlink>
          <a:srgbClr val="003366"/>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966</TotalTime>
  <Words>18133</Words>
  <Application>Microsoft Macintosh PowerPoint</Application>
  <PresentationFormat>全屏显示(4:3)</PresentationFormat>
  <Paragraphs>1257</Paragraphs>
  <Slides>62</Slides>
  <Notes>62</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62</vt:i4>
      </vt:variant>
    </vt:vector>
  </HeadingPairs>
  <TitlesOfParts>
    <vt:vector size="71" baseType="lpstr">
      <vt:lpstr>微软雅黑</vt:lpstr>
      <vt:lpstr>微软雅黑</vt:lpstr>
      <vt:lpstr>Microsoft YaHei UI</vt:lpstr>
      <vt:lpstr>Arial</vt:lpstr>
      <vt:lpstr>Calibri</vt:lpstr>
      <vt:lpstr>Consolas</vt:lpstr>
      <vt:lpstr>Times New Roman</vt:lpstr>
      <vt:lpstr>Wingdings</vt:lpstr>
      <vt:lpstr>2_985平台</vt:lpstr>
      <vt:lpstr>软件设计与规范</vt:lpstr>
      <vt:lpstr>目录</vt:lpstr>
      <vt:lpstr>本次课目标：重点与难点</vt:lpstr>
      <vt:lpstr>本次课目标：了解环境并运行既有系统</vt:lpstr>
      <vt:lpstr>衔接：E1 常见环境问题</vt:lpstr>
      <vt:lpstr>运行环境：形态随需求与代价而定</vt:lpstr>
      <vt:lpstr>虚拟化：一台物理机承载多台相互隔离的逻辑机</vt:lpstr>
      <vt:lpstr>云服务三层的差别在于哪些职责交给提供方</vt:lpstr>
      <vt:lpstr>云服务模式决定提供方与使用方的责任边界</vt:lpstr>
      <vt:lpstr>把基础设施交给云服务，换来弹性并增加依赖</vt:lpstr>
      <vt:lpstr>单体的结构</vt:lpstr>
      <vt:lpstr>SOA 的结构</vt:lpstr>
      <vt:lpstr>单体与 SOA：边界未稳定时单体足够</vt:lpstr>
      <vt:lpstr>微服务：独立伸缩与团队并行，换来分布式代价</vt:lpstr>
      <vt:lpstr>容器化：应用与依赖一同打包，启动方式一致</vt:lpstr>
      <vt:lpstr>边车：横切功能移出业务代码，代价是多一个进程</vt:lpstr>
      <vt:lpstr>无服务：按事件伸缩并计费，换来平台依赖</vt:lpstr>
      <vt:lpstr>运行形态各回应一类需求，也各带来代价</vt:lpstr>
      <vt:lpstr>奶茶连锁：形态由规模与出餐速度决定</vt:lpstr>
      <vt:lpstr>运行环境与体系结构：环境约束物理视图</vt:lpstr>
      <vt:lpstr>mall 应用运行需要 Java 环境与中间件</vt:lpstr>
      <vt:lpstr>mall 应用分别连接所需中间件</vt:lpstr>
      <vt:lpstr>mall-swarm 增加网关与注册配置中心</vt:lpstr>
      <vt:lpstr>局部放大：注册配置、网关与数据存储</vt:lpstr>
      <vt:lpstr>对照与取舍：每个拆分都有代价</vt:lpstr>
      <vt:lpstr>组件数量与设计水平无关，形态由需求决定</vt:lpstr>
      <vt:lpstr>讨论：部署形态改变后哪张视图变化最大</vt:lpstr>
      <vt:lpstr>实验环境：每个组件回应一条需求</vt:lpstr>
      <vt:lpstr>文档库、对象存储与 Nginx 回应存取与入口需求</vt:lpstr>
      <vt:lpstr>主数据库保证事务边界，缓存减少重复读取</vt:lpstr>
      <vt:lpstr>异步消息与搜索索引分别增加验证责任</vt:lpstr>
      <vt:lpstr>文档与对象存储承担不同的数据职责</vt:lpstr>
      <vt:lpstr>Nginx 统一入口，也增加配置与故障责任</vt:lpstr>
      <vt:lpstr>超时取消（E2-00）：发送端只投递消息</vt:lpstr>
      <vt:lpstr>超时取消（E2-00）：接收端到期才取消订单</vt:lpstr>
      <vt:lpstr>课堂环境只保留四项并改了宿主端口</vt:lpstr>
      <vt:lpstr>配置与密钥：用 profile 切换环境，密钥不入库</vt:lpstr>
      <vt:lpstr>讨论：中间件换成云服务后少管什么、多管什么</vt:lpstr>
      <vt:lpstr>七个模块的依赖方向无环</vt:lpstr>
      <vt:lpstr>构建时跳过镜像插件，不改 pom.xml 第 36 行</vt:lpstr>
      <vt:lpstr>使用约定：同一基线，只读取教师仓库</vt:lpstr>
      <vt:lpstr>生成代码、共用表结构与对外接口须保持兼容</vt:lpstr>
      <vt:lpstr>模块化原则：先抽象，再逐步求精</vt:lpstr>
      <vt:lpstr>抽象便于理解，逐步求精服务于验证</vt:lpstr>
      <vt:lpstr>模块划分兼顾局部复杂度与协作成本</vt:lpstr>
      <vt:lpstr>信息隐藏：模块只暴露接口，藏起会变的决定</vt:lpstr>
      <vt:lpstr>讨论：关单补偿该藏在哪里</vt:lpstr>
      <vt:lpstr>内聚与耦合：追求高内聚、低耦合</vt:lpstr>
      <vt:lpstr>用七个模块的依赖方向判定耦合</vt:lpstr>
      <vt:lpstr>可维护性：模块化与可复用性对应本讲原则</vt:lpstr>
      <vt:lpstr>可维护性：分析、修改与测试按可观察指标判定</vt:lpstr>
      <vt:lpstr>需求如何转为设计方案：质量特性是需求的语言</vt:lpstr>
      <vt:lpstr>网关、认证与注册配置中心回应不同需求</vt:lpstr>
      <vt:lpstr>AI 辅助排障：先核对建议再动手</vt:lpstr>
      <vt:lpstr>AI 排障先定验收准则，再保存协作记录</vt:lpstr>
      <vt:lpstr>按四项原则核对修改 docker.host 的建议</vt:lpstr>
      <vt:lpstr>小结：用五个子特性评价这次构建改动</vt:lpstr>
      <vt:lpstr>问答题：本次课预习题（1—3）</vt:lpstr>
      <vt:lpstr>问答题（续）：本次课预习题（4—5）</vt:lpstr>
      <vt:lpstr>本次课要点与下次课预告</vt:lpstr>
      <vt:lpstr>本章参考资料</vt:lpstr>
      <vt:lpstr>本章参考资料（续）</vt:lpstr>
    </vt:vector>
  </TitlesOfParts>
  <Company>sei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1-1课程简介</dc:title>
  <dc:creator>李萌</dc:creator>
  <cp:lastModifiedBy>lemon li</cp:lastModifiedBy>
  <cp:revision>1062</cp:revision>
  <cp:lastPrinted>2003-09-14T10:10:00Z</cp:lastPrinted>
  <dcterms:created xsi:type="dcterms:W3CDTF">2003-08-28T12:03:00Z</dcterms:created>
  <dcterms:modified xsi:type="dcterms:W3CDTF">2026-10-22T07:10:16Z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6B7E428AAD9D47FD86FE404DDCE365B0_12</vt:lpwstr>
  </property>
  <property fmtid="{D5CDD505-2E9C-101B-9397-08002B2CF9AE}" pid="3" name="KSOProductBuildVer">
    <vt:lpwstr>2052-12.1.0.16250</vt:lpwstr>
  </property>
</Properties>
</file>