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48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</p:sldIdLst>
  <p:sldSz cx="9144000" cy="6858000" type="screen4x3"/>
  <p:notesSz cx="6760845" cy="9931400"/>
  <p:custDataLst>
    <p:tags r:id="rId52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4D4D"/>
    <a:srgbClr val="FF3300"/>
    <a:srgbClr val="CC0000"/>
    <a:srgbClr val="FFFFCC"/>
    <a:srgbClr val="FFCCFF"/>
    <a:srgbClr val="FFFFFF"/>
    <a:srgbClr val="3399FF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73" autoAdjust="0"/>
    <p:restoredTop sz="86423" autoAdjust="0"/>
  </p:normalViewPr>
  <p:slideViewPr>
    <p:cSldViewPr showGuides="1">
      <p:cViewPr varScale="1">
        <p:scale>
          <a:sx n="93" d="100"/>
          <a:sy n="93" d="100"/>
        </p:scale>
        <p:origin x="812" y="64"/>
      </p:cViewPr>
      <p:guideLst>
        <p:guide orient="horz" pos="2160"/>
        <p:guide pos="288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>
        <p:scale>
          <a:sx n="100" d="100"/>
          <a:sy n="100" d="100"/>
        </p:scale>
        <p:origin x="1662" y="-1344"/>
      </p:cViewPr>
      <p:guideLst>
        <p:guide orient="horz" pos="3129"/>
        <p:guide pos="213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8" Type="http://schemas.openxmlformats.org/officeDocument/2006/relationships/handoutMaster" Target="handoutMasters/handout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ableStyles" Target="tableStyles.xml"/><Relationship Id="rId52" Type="http://schemas.openxmlformats.org/officeDocument/2006/relationships/tags" Target="tags/tag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718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t" anchorCtr="0" compatLnSpc="1"/>
          <a:lstStyle>
            <a:lvl1pPr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720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63975" y="0"/>
            <a:ext cx="289718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t" anchorCtr="0" compatLnSpc="1"/>
          <a:lstStyle>
            <a:lvl1pPr algn="r"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20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09113"/>
            <a:ext cx="289718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b" anchorCtr="0" compatLnSpc="1"/>
          <a:lstStyle>
            <a:lvl1pPr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20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63975" y="9409113"/>
            <a:ext cx="289718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b" anchorCtr="0" compatLnSpc="1"/>
          <a:lstStyle>
            <a:lvl1pPr algn="r"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9BFF2AA-1B51-48D4-AF79-5A13FE5BDCE2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0525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>
            <a:lvl1pPr defTabSz="954405" eaLnBrk="1" hangingPunct="1">
              <a:defRPr sz="1200"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27463" y="0"/>
            <a:ext cx="2932112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>
            <a:lvl1pPr algn="r" defTabSz="954405" eaLnBrk="1" hangingPunct="1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98525" y="744538"/>
            <a:ext cx="4967288" cy="37258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4688" y="4719638"/>
            <a:ext cx="5411787" cy="44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  <a:endParaRPr lang="en-US" altLang="zh-CN" noProof="0"/>
          </a:p>
          <a:p>
            <a:pPr lvl="1"/>
            <a:r>
              <a:rPr lang="en-US" altLang="zh-CN" noProof="0"/>
              <a:t>Second level</a:t>
            </a:r>
            <a:endParaRPr lang="en-US" altLang="zh-CN" noProof="0"/>
          </a:p>
          <a:p>
            <a:pPr lvl="2"/>
            <a:r>
              <a:rPr lang="en-US" altLang="zh-CN" noProof="0"/>
              <a:t>Third level</a:t>
            </a:r>
            <a:endParaRPr lang="en-US" altLang="zh-CN" noProof="0"/>
          </a:p>
          <a:p>
            <a:pPr lvl="3"/>
            <a:r>
              <a:rPr lang="en-US" altLang="zh-CN" noProof="0"/>
              <a:t>Fourth level</a:t>
            </a:r>
            <a:endParaRPr lang="en-US" altLang="zh-CN" noProof="0"/>
          </a:p>
          <a:p>
            <a:pPr lvl="4"/>
            <a:r>
              <a:rPr lang="en-US" altLang="zh-CN" noProof="0"/>
              <a:t>Fifth level</a:t>
            </a:r>
            <a:endParaRPr lang="en-US" altLang="zh-CN" noProof="0"/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338"/>
            <a:ext cx="2930525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b" anchorCtr="0" compatLnSpc="1"/>
          <a:lstStyle>
            <a:lvl1pPr defTabSz="954405" eaLnBrk="1" hangingPunct="1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27463" y="9431338"/>
            <a:ext cx="2932112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b" anchorCtr="0" compatLnSpc="1"/>
          <a:lstStyle>
            <a:lvl1pPr algn="r" defTabSz="954405" eaLnBrk="1" hangingPunct="1">
              <a:defRPr sz="1200" smtClean="0"/>
            </a:lvl1pPr>
          </a:lstStyle>
          <a:p>
            <a:pPr>
              <a:defRPr/>
            </a:pPr>
            <a:fld id="{BF21029A-2C2D-4ABF-B6A0-347AF3B9548E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节：运行环境</a:t>
            </a:r>
          </a:p>
          <a:p>
            <a:r>
              <a:t>本节 25 分钟</a:t>
            </a:r>
          </a:p>
          <a:p>
            <a:r>
              <a:t>定义：这一讲讲软件跑在哪里，以及环境怎样约束部署。</a:t>
            </a:r>
          </a:p>
          <a:p>
            <a:r>
              <a:t>代价：环境没对齐，后面的实验会耗在起不来上。</a:t>
            </a:r>
          </a:p>
          <a:p>
            <a:r>
              <a:t>判定：开场先点明这是第 3 次课，讲运行环境。</a:t>
            </a:r>
          </a:p>
          <a:p>
            <a:r>
              <a:t>权衡：三个班周次不同，口头交代各班时间，课上只强调课次。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节：运行环境</a:t>
            </a:r>
          </a:p>
          <a:p>
            <a:r>
              <a:t>时长见本节首页（本节 25 分钟）</a:t>
            </a:r>
          </a:p>
          <a:p>
            <a:r>
              <a:t>定义：五条对应了解、理解、掌握，都落在环境和载体上。</a:t>
            </a:r>
          </a:p>
          <a:p>
            <a:r>
              <a:t>代价：少一条，后面就没有同一套词来讲部署和约束。</a:t>
            </a:r>
          </a:p>
          <a:p>
            <a:r>
              <a:t>判定：能否分别说出三个层次、物理视图、组件边界、不得修改的部分，以及怎么把既有系统跑起来。</a:t>
            </a:r>
          </a:p>
          <a:p>
            <a:r>
              <a:t>权衡：时间不够时，先保住责任怎么分、哪些文件不能改。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节：运行环境</a:t>
            </a:r>
          </a:p>
          <a:p>
            <a:r>
              <a:t>时长见本节首页（本节 25 分钟）</a:t>
            </a:r>
          </a:p>
          <a:p>
            <a:r>
              <a:t>定义：这四行取自学生手册「卡住时先做什么」，不是本班计数。</a:t>
            </a:r>
          </a:p>
          <a:p>
            <a:r>
              <a:t>代价：把环境问题当成代码缺陷，会去改不该改的文件。</a:t>
            </a:r>
          </a:p>
          <a:p>
            <a:r>
              <a:t>判定：现象对得上时，先做表里的最短处理，再决定要不要改代码。</a:t>
            </a:r>
          </a:p>
          <a:p>
            <a:r>
              <a:t>权衡：本班还有哪些情况，由教师口头补充，不写进表。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节：运行环境</a:t>
            </a:r>
          </a:p>
          <a:p>
            <a:r>
              <a:t>时长见本节首页（本节 25 分钟）</a:t>
            </a:r>
          </a:p>
          <a:p>
            <a:r>
              <a:t>定义：开发环境产出构建结果，运行环境把这个结果跑起来。</a:t>
            </a:r>
          </a:p>
          <a:p>
            <a:r>
              <a:t>代价：混在一起，会把本机调试通过当成已经可以部署。</a:t>
            </a:r>
          </a:p>
          <a:p>
            <a:r>
              <a:t>判定：问这个动作是在改代码，还是在跑已经构建的程序。</a:t>
            </a:r>
          </a:p>
          <a:p>
            <a:r>
              <a:t>权衡：课程机器可以兼做两头，角色仍然要分开说。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节：运行环境</a:t>
            </a:r>
          </a:p>
          <a:p>
            <a:r>
              <a:t>时长见本节首页（本节 25 分钟）</a:t>
            </a:r>
          </a:p>
          <a:p>
            <a:r>
              <a:t>定义：虚拟化用软件把一台物理机划成多台逻辑机。</a:t>
            </a:r>
          </a:p>
          <a:p>
            <a:r>
              <a:t>代价：分不清逻辑机和物理机，会把资源争用当成应用自己的缺陷。</a:t>
            </a:r>
          </a:p>
          <a:p>
            <a:r>
              <a:t>判定：看是不是多个操作系统在同一台物理机上互相隔离地跑。</a:t>
            </a:r>
          </a:p>
          <a:p>
            <a:r>
              <a:t>权衡：隔离更强，镜像和调度也更重。产品名来自 2024 第 4-1 讲第 23 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节：运行环境</a:t>
            </a:r>
          </a:p>
          <a:p>
            <a:r>
              <a:t>时长见本节首页（本节 25 分钟）</a:t>
            </a:r>
          </a:p>
          <a:p>
            <a:r>
              <a:t>定义：三个层次的差别，是这一层以下的事交给谁管。</a:t>
            </a:r>
          </a:p>
          <a:p>
            <a:r>
              <a:t>代价：层次说反了，会去管已经交给服务商的机器，或漏管仍归自己的应用。</a:t>
            </a:r>
          </a:p>
          <a:p>
            <a:r>
              <a:t>判定：问操作系统、应用、配置这三样，哪几样还在自己手里。</a:t>
            </a:r>
          </a:p>
          <a:p>
            <a:r>
              <a:t>权衡：交出去的越多，本机安装越少，配额、账单和故障界面越多。标准是 NIST SP 800-145。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节：运行环境</a:t>
            </a:r>
          </a:p>
          <a:p>
            <a:r>
              <a:t>时长见本节首页（本节 25 分钟）</a:t>
            </a:r>
          </a:p>
          <a:p>
            <a:r>
              <a:t>定义：这三步看部署单元怎么变小，不看某一家云的产品名。</a:t>
            </a:r>
          </a:p>
          <a:p>
            <a:r>
              <a:t>代价：把名字当成先进，会在还没边界时先拆进程。</a:t>
            </a:r>
          </a:p>
          <a:p>
            <a:r>
              <a:t>判定：问一次发布动的是一个进程，还是多个可以分开部署的服务。</a:t>
            </a:r>
          </a:p>
          <a:p>
            <a:r>
              <a:t>权衡：单元越小，独立发布越容易，网络和失败点越多。名称来自 2024 第 4-1 讲第 28–31 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节：运行环境</a:t>
            </a:r>
          </a:p>
          <a:p>
            <a:r>
              <a:t>时长见本节首页（本节 25 分钟）</a:t>
            </a:r>
          </a:p>
          <a:p>
            <a:r>
              <a:t>定义：边车贴在服务旁边转发流量。数据从服务到边车再到其他服务；控制面只把配置下发给边车。</a:t>
            </a:r>
          </a:p>
          <a:p>
            <a:r>
              <a:t>代价：把控制面画进数据路径，排障会去查一个不转发业务流量的进程。</a:t>
            </a:r>
          </a:p>
          <a:p>
            <a:r>
              <a:t>判定：问这条线是数据流还是配置下发；控制面是否站在数据路径外面。</a:t>
            </a:r>
          </a:p>
          <a:p>
            <a:r>
              <a:t>权衡：业务代码更干净，每多一个边车就多一个要部署和升级的进程。名称来自 2024 第 4-1 讲第 32 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节：运行环境</a:t>
            </a:r>
          </a:p>
          <a:p>
            <a:r>
              <a:t>时长见本节首页（本节 25 分钟）</a:t>
            </a:r>
          </a:p>
          <a:p>
            <a:r>
              <a:t>定义：无服务是平台按请求或事件调度并伸缩执行实例，团队不长期管理服务器。</a:t>
            </a:r>
          </a:p>
          <a:p>
            <a:r>
              <a:t>代价：以为什么都不用管，配置、配额和调用结果仍然要自己看。</a:t>
            </a:r>
          </a:p>
          <a:p>
            <a:r>
              <a:t>判定：问执行实例是不是平台在调度和伸缩，而不是团队长期守着服务器。</a:t>
            </a:r>
          </a:p>
          <a:p>
            <a:r>
              <a:t>权衡：少管主机，多管配额、冷启动和调用是否成功。名称来自 2024 第 4-1 讲第 33 页。NIST SP 800-145 没有定义这一层。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节：运行环境</a:t>
            </a:r>
          </a:p>
          <a:p>
            <a:r>
              <a:t>时长见本节首页（本节 25 分钟）</a:t>
            </a:r>
          </a:p>
          <a:p>
            <a:r>
              <a:t>定义：容器化是把应用和依赖打成一份，换机器仍按同一方式启动。</a:t>
            </a:r>
          </a:p>
          <a:p>
            <a:r>
              <a:t>代价：只在本机装依赖，换环境就会缺库、缺配置。</a:t>
            </a:r>
          </a:p>
          <a:p>
            <a:r>
              <a:t>判定：问换一台机器之后，启动命令和依赖是否还要重装一遍。</a:t>
            </a:r>
          </a:p>
          <a:p>
            <a:r>
              <a:t>权衡：比虚拟机轻，隔离也弱一些，因为共享宿主内核。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节：运行环境与体系结构</a:t>
            </a:r>
          </a:p>
          <a:p>
            <a:r>
              <a:t>本节 15 分钟</a:t>
            </a:r>
          </a:p>
          <a:p>
            <a:r>
              <a:t>定义：运行环境是物理视图的约束来源：机器、网络和进程边界定了，图才能画。</a:t>
            </a:r>
          </a:p>
          <a:p>
            <a:r>
              <a:t>代价：环境变了还沿用旧的物理视图，会把调用当成在同一台机器里。</a:t>
            </a:r>
          </a:p>
          <a:p>
            <a:r>
              <a:t>判定：问这张图回答的是职责、模块、进程，还是节点和网络。</a:t>
            </a:r>
          </a:p>
          <a:p>
            <a:r>
              <a:t>权衡：Le 等 2015 的题目是开源软件系统中的体系结构变更。它没有回答哪个视图变化最大，那是讨论题。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节：运行环境与体系结构</a:t>
            </a:r>
          </a:p>
          <a:p>
            <a:r>
              <a:t>时长见本节首页（本节 15 分钟）</a:t>
            </a:r>
          </a:p>
          <a:p>
            <a:r>
              <a:t>定义：这是 mall 官方系统架构图的整图，先用来定位三个应用和消息、数据库。</a:t>
            </a:r>
          </a:p>
          <a:p>
            <a:r>
              <a:t>代价：只看缩略，会把图上的前端和其他存储漏掉。</a:t>
            </a:r>
          </a:p>
          <a:p>
            <a:r>
              <a:t>判定：能在整图上指出应用、消息队列和数据库的大致位置。</a:t>
            </a:r>
          </a:p>
          <a:p>
            <a:r>
              <a:t>权衡：整图投影时字小，细节留到对照页。出处是 macrozheng/mall 的系统架构图。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节：运行环境与体系结构</a:t>
            </a:r>
          </a:p>
          <a:p>
            <a:r>
              <a:t>时长见本节首页（本节 15 分钟）</a:t>
            </a:r>
          </a:p>
          <a:p>
            <a:r>
              <a:t>定义：这张是 mall-swarm 官方微服务架构图的整图，先用来定位，小字留到局部再读。</a:t>
            </a:r>
          </a:p>
          <a:p>
            <a:r>
              <a:t>代价：只看缩略，会把注册中心和数据存储的位置记反。</a:t>
            </a:r>
          </a:p>
          <a:p>
            <a:r>
              <a:t>判定：能说出下一页要放大的是注册与配置、网关、数据存储。</a:t>
            </a:r>
          </a:p>
          <a:p>
            <a:r>
              <a:t>权衡：整图投影时字小，所以只作定位。出处是 macrozheng/mall-swarm 该提交的架构图。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节：运行环境与体系结构</a:t>
            </a:r>
          </a:p>
          <a:p>
            <a:r>
              <a:t>时长见本节首页（本节 15 分钟）</a:t>
            </a:r>
          </a:p>
          <a:p>
            <a:r>
              <a:t>定义：这三块摘自 mall-swarm 官方架构图，用来看注册、配置、网关和数据存储。</a:t>
            </a:r>
          </a:p>
          <a:p>
            <a:r>
              <a:t>代价：把局部当成整图，会漏掉图上其余服务。</a:t>
            </a:r>
          </a:p>
          <a:p>
            <a:r>
              <a:t>判定：能指出注册与配置、网关，以及数据存储里的数据库。</a:t>
            </a:r>
          </a:p>
          <a:p>
            <a:r>
              <a:t>权衡：标注写在图下，不盖住原图文字。两套代码是同一业务域的两种实现形态，不是同一版本迁移前后。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节：运行环境与体系结构</a:t>
            </a:r>
          </a:p>
          <a:p>
            <a:r>
              <a:t>时长见本节首页（本节 15 分钟）</a:t>
            </a:r>
          </a:p>
          <a:p>
            <a:r>
              <a:t>定义：左边是 mall 的三个应用，右边是 mall-swarm 拆出的网关和认证。</a:t>
            </a:r>
          </a:p>
          <a:p>
            <a:r>
              <a:t>代价：讲成同一次迁移的前后，会让人以为必须先拆完才能做实验。</a:t>
            </a:r>
          </a:p>
          <a:p>
            <a:r>
              <a:t>判定：对照四件事：网关、认证、注册与配置中心、服务拆分。</a:t>
            </a:r>
          </a:p>
          <a:p>
            <a:r>
              <a:t>权衡：mall-gateway 与 mall-auth 的 pom 依赖 nacos-discovery 和 nacos-config。提交 04c442fe。两套代码是同一业务域的两种实现形态，不是同一版本迁移前后。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节：运行环境与体系结构</a:t>
            </a:r>
          </a:p>
          <a:p>
            <a:r>
              <a:t>时长见本节首页（本节 15 分钟）</a:t>
            </a:r>
          </a:p>
          <a:p>
            <a:r>
              <a:t>定义：讨论部署形态一变，四张视图里哪一张要重画得最多。</a:t>
            </a:r>
          </a:p>
          <a:p>
            <a:r>
              <a:t>代价：答成“都变了”，就分不清该改模块图还是改部署图。</a:t>
            </a:r>
          </a:p>
          <a:p>
            <a:r>
              <a:t>判定：回答要指出哪一张视图，并说出变的是进程、节点还是代码模块。</a:t>
            </a:r>
          </a:p>
          <a:p>
            <a:r>
              <a:t>权衡：开发视图里的模块可以还在；物理视图上的节点和网络通常要重画。</a:t>
            </a:r>
          </a:p>
          <a:p>
            <a:r>
              <a:t>参考要点：在本题设定下，通常是物理视图；部署单元从进程内调用变成可分开部署的服务。</a:t>
            </a:r>
          </a:p>
          <a:p>
            <a:r>
              <a:t>依据：大纲「运行环境与体系结构」：运行环境是物理视图的约束来源。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节：实验环境</a:t>
            </a:r>
          </a:p>
          <a:p>
            <a:r>
              <a:t>本节 20 分钟</a:t>
            </a:r>
          </a:p>
          <a:p>
            <a:r>
              <a:t>定义：这些是实验环境里的中间件，各管一类数据或一次投递。Nginx 在上游环境里做反向代理和静态资源入口。</a:t>
            </a:r>
          </a:p>
          <a:p>
            <a:r>
              <a:t>代价：边界画错，会到 MySQL 里找检索，或到搜索服务里找订单。</a:t>
            </a:r>
          </a:p>
          <a:p>
            <a:r>
              <a:t>判定：问这条数据落在主库、缓存、消息、检索、文档还是对象存储。</a:t>
            </a:r>
          </a:p>
          <a:p>
            <a:r>
              <a:t>权衡：admin 的 pom 里还有阿里云 OSS，对象存储不只有 MinIO 一种实现。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节：实验环境</a:t>
            </a:r>
          </a:p>
          <a:p>
            <a:r>
              <a:t>时长见本节首页（本节 20 分钟）</a:t>
            </a:r>
          </a:p>
          <a:p>
            <a:r>
              <a:t>定义：超时取消先由 CancelOrderSender 把订单号放进延迟队列，消息到期前订单不变。</a:t>
            </a:r>
          </a:p>
          <a:p>
            <a:r>
              <a:t>代价：把 HTTP 取消理解成立刻改订单，会漏掉这段等待。</a:t>
            </a:r>
          </a:p>
          <a:p>
            <a:r>
              <a:t>判定：发送端第 25 行是否只 convertAndSend；第 29 行是否设置过期时间。</a:t>
            </a:r>
          </a:p>
          <a:p>
            <a:r>
              <a:t>权衡：延迟放在消息过期时间上。第 25 行是投递，第 29 行是 setExpiration。两行分开贴，因为中间还有匿名类。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节：实验环境</a:t>
            </a:r>
          </a:p>
          <a:p>
            <a:r>
              <a:t>时长见本节首页（本节 20 分钟）</a:t>
            </a:r>
          </a:p>
          <a:p>
            <a:r>
              <a:t>定义：到期的消息由 CancelOrderReceiver 接收，它调用订单服务取消订单。</a:t>
            </a:r>
          </a:p>
          <a:p>
            <a:r>
              <a:t>代价：只看发送端，会以为队列自己会改订单。</a:t>
            </a:r>
          </a:p>
          <a:p>
            <a:r>
              <a:t>判定：监听端是否才调用 cancelOrder；队列本身不执行业务代码。</a:t>
            </a:r>
          </a:p>
          <a:p>
            <a:r>
              <a:t>权衡：发送与取消分在两个类里，中间隔着队列的过期时间；排查超时取消要两处一起看。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节：实验环境</a:t>
            </a:r>
          </a:p>
          <a:p>
            <a:r>
              <a:t>时长见本节首页（本节 20 分钟）</a:t>
            </a:r>
          </a:p>
          <a:p>
            <a:r>
              <a:t>定义：这九个服务来自基线 document/docker/docker-compose-env.yml 的 ports。</a:t>
            </a:r>
          </a:p>
          <a:p>
            <a:r>
              <a:t>代价：漏掉 Nginx 或检索，本地整站和搜索会对不上上游文档。</a:t>
            </a:r>
          </a:p>
          <a:p>
            <a:r>
              <a:t>判定：对照该文件的 services，九个名字和宿主端口是否都在。</a:t>
            </a:r>
          </a:p>
          <a:p>
            <a:r>
              <a:t>权衡：RabbitMQ 还有管理端口 15672，MinIO 控制台是 9001。页上只标主端口。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节：实验环境</a:t>
            </a:r>
          </a:p>
          <a:p>
            <a:r>
              <a:t>时长见本节首页（本节 20 分钟）</a:t>
            </a:r>
          </a:p>
          <a:p>
            <a:r>
              <a:t>定义：课堂文件只有四个服务，灰色的是上游有、课堂不部署的。</a:t>
            </a:r>
          </a:p>
          <a:p>
            <a:r>
              <a:t>代价：把灰色组件当成课堂已经拉起，搜索和对象存储会连接失败。</a:t>
            </a:r>
          </a:p>
          <a:p>
            <a:r>
              <a:t>判定：宿主端口只核 13306、16379、27018、5673 这四项。</a:t>
            </a:r>
          </a:p>
          <a:p>
            <a:r>
              <a:t>权衡：RabbitMQ 管理端口在课堂文件里是 15673。口令写在该文件中，页上不抄口令。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节：实验环境</a:t>
            </a:r>
          </a:p>
          <a:p>
            <a:r>
              <a:t>时长见本节首页（本节 20 分钟）</a:t>
            </a:r>
          </a:p>
          <a:p>
            <a:r>
              <a:t>定义：profile 用来切换环境；密钥不该进仓库。</a:t>
            </a:r>
          </a:p>
          <a:p>
            <a:r>
              <a:t>代价：把仓库里的 jwt.secret 当成可以公开的配置，令牌会跟着提交走。</a:t>
            </a:r>
          </a:p>
          <a:p>
            <a:r>
              <a:t>判定：看 active 指向哪个 profile；密钥是在文件里，还是在环境变量里。</a:t>
            </a:r>
          </a:p>
          <a:p>
            <a:r>
              <a:t>权衡：基线已经把 jwt.secret 写在第 17 行。这是反例，不照搬，也不把值投影出来。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节：实验环境</a:t>
            </a:r>
          </a:p>
          <a:p>
            <a:r>
              <a:t>时长见本节首页（本节 20 分钟）</a:t>
            </a:r>
          </a:p>
          <a:p>
            <a:r>
              <a:t>定义：讨论把中间件交给云之后，责任怎么搬家。</a:t>
            </a:r>
          </a:p>
          <a:p>
            <a:r>
              <a:t>代价：只说“省事了”，会漏掉配额、账单和故障时找谁。</a:t>
            </a:r>
          </a:p>
          <a:p>
            <a:r>
              <a:t>判定：回答要各举少了的事和多了的事，而且对得上这一层交给别人的设施。</a:t>
            </a:r>
          </a:p>
          <a:p>
            <a:r>
              <a:t>权衡：安装和磁盘少了；配置、配额和出了故障找谁多了。对照 NIST SP 800-145 的服务模式。</a:t>
            </a:r>
          </a:p>
          <a:p>
            <a:r>
              <a:t>参考要点：少了安装、升级和本机磁盘；多了配额、账单和故障时找谁。</a:t>
            </a:r>
          </a:p>
          <a:p>
            <a:r>
              <a:t>依据：大纲「实验环境」：中间件换成云服务后团队少管什么、多管什么。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节：实例项目</a:t>
            </a:r>
          </a:p>
          <a:p>
            <a:r>
              <a:t>本节 20 分钟</a:t>
            </a:r>
          </a:p>
          <a:p>
            <a:r>
              <a:t>定义：H1 到 H7 是硬门槛，缺一条就淘汰，先不评分。</a:t>
            </a:r>
          </a:p>
          <a:p>
            <a:r>
              <a:t>代价：用 GPL 或付费外网接口，实验会卡在许可和网络上。</a:t>
            </a:r>
          </a:p>
          <a:p>
            <a:r>
              <a:t>判定：问这一条是许可、构建、离线还是栈。H3 允许 H2 或 Testcontainers，不要求必须上外网。</a:t>
            </a:r>
          </a:p>
          <a:p>
            <a:r>
              <a:t>权衡：严格按原构建命令，报告里的仓库都未入评分。口径见筛选报告第 1 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节：实例项目</a:t>
            </a:r>
          </a:p>
          <a:p>
            <a:r>
              <a:t>时长见本节首页（本节 20 分钟）</a:t>
            </a:r>
          </a:p>
          <a:p>
            <a:r>
              <a:t>定义：H5 到 H7 仍是硬门槛：中文语境、业务能讲清、最近还在维护。</a:t>
            </a:r>
          </a:p>
          <a:p>
            <a:r>
              <a:t>代价：全英文或没人回复 Issue，实验会停在读不懂和问不到。</a:t>
            </a:r>
          </a:p>
          <a:p>
            <a:r>
              <a:t>判定：问中文注释或说明是否至少有一项，以及近 12 个月有没有提交和 Issue 响应。</a:t>
            </a:r>
          </a:p>
          <a:p>
            <a:r>
              <a:t>权衡：H7 要同时看到近期提交和维护者对 Issue 的响应。口径见筛选报告第 1 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节：实例项目</a:t>
            </a:r>
          </a:p>
          <a:p>
            <a:r>
              <a:t>时长见本节首页（本节 20 分钟）</a:t>
            </a:r>
          </a:p>
          <a:p>
            <a:r>
              <a:t>定义：64 分低于建议线，仍选它，是因为分层原料够开实验。</a:t>
            </a:r>
          </a:p>
          <a:p>
            <a:r>
              <a:t>代价：改去拿 65 分的整库，一次实验装不下五十多万行。</a:t>
            </a:r>
          </a:p>
          <a:p>
            <a:r>
              <a:t>判定：问低分低在规模和测试，还是低在没有业务。</a:t>
            </a:r>
          </a:p>
          <a:p>
            <a:r>
              <a:t>权衡：ruoyi-vue-pro 只拿一个业务模块作对照，不把整库当作业。数字见筛选报告第 4、7 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节：实例项目</a:t>
            </a:r>
          </a:p>
          <a:p>
            <a:r>
              <a:t>时长见本节首页（本节 20 分钟）</a:t>
            </a:r>
          </a:p>
          <a:p>
            <a:r>
              <a:t>定义：这是放宽 H2 之后的教学分，不是严格门槛下的正式分。</a:t>
            </a:r>
          </a:p>
          <a:p>
            <a:r>
              <a:t>代价：只看合计，会看不出 mall 低在规模和测试，ruoyi 低在分层。</a:t>
            </a:r>
          </a:p>
          <a:p>
            <a:r>
              <a:t>判定：合计是 64 和 65；分层一列 mall 17、对照 8。</a:t>
            </a:r>
          </a:p>
          <a:p>
            <a:r>
              <a:t>权衡：严格门槛下两家都未入评分。这张表只说明放行之后为什么仍不到 70。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节：实例项目</a:t>
            </a:r>
          </a:p>
          <a:p>
            <a:r>
              <a:t>时长见本节首页（本节 20 分钟）</a:t>
            </a:r>
          </a:p>
          <a:p>
            <a:r>
              <a:t>定义：七个模块和依赖方向来自各模块 pom 的 artifactId。箭头从上指向下。</a:t>
            </a:r>
          </a:p>
          <a:p>
            <a:r>
              <a:t>代价：把 search 画成依赖 security，调用链会多出一条不存在的边。</a:t>
            </a:r>
          </a:p>
          <a:p>
            <a:r>
              <a:t>判定：问这个模块的 pom 里有没有 mall-mbg、mall-security 或 mall-common。</a:t>
            </a:r>
          </a:p>
          <a:p>
            <a:r>
              <a:t>权衡：订单在 admin 和 portal 各写一份，所以模块分是 10 不是 15。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节：实例项目</a:t>
            </a:r>
          </a:p>
          <a:p>
            <a:r>
              <a:t>时长见本节首页（本节 20 分钟）</a:t>
            </a:r>
          </a:p>
          <a:p>
            <a:r>
              <a:t>定义：构建要绕开写死的 docker.host，而不是改基线文件。</a:t>
            </a:r>
          </a:p>
          <a:p>
            <a:r>
              <a:t>代价：改掉第 36 行，每个人的本机地址会进提交。</a:t>
            </a:r>
          </a:p>
          <a:p>
            <a:r>
              <a:t>判定：命令里有没有 -Ddocker.skip=true，以及第 36 行是否还是原来的地址。</a:t>
            </a:r>
          </a:p>
          <a:p>
            <a:r>
              <a:t>权衡：跳过插件不改文件；改 docker.host 会动基线。插件绑在 package 上，所以要显式跳过。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节：实例项目</a:t>
            </a:r>
          </a:p>
          <a:p>
            <a:r>
              <a:t>时长见本节首页（本节 20 分钟）</a:t>
            </a:r>
          </a:p>
          <a:p>
            <a:r>
              <a:t>定义：全课程对着同一份上游提交，不跟浮动分支。</a:t>
            </a:r>
          </a:p>
          <a:p>
            <a:r>
              <a:t>代价：各做各的提交，行号和课堂对不上。</a:t>
            </a:r>
          </a:p>
          <a:p>
            <a:r>
              <a:t>判定：问自己的分支是否从 baseline-dcaa93b3 拉出，有没有把示例分支并进去。</a:t>
            </a:r>
          </a:p>
          <a:p>
            <a:r>
              <a:t>权衡：示例可以看，不合并；作业留在个人分支。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节：实例项目</a:t>
            </a:r>
          </a:p>
          <a:p>
            <a:r>
              <a:t>时长见本节首页（本节 20 分钟）</a:t>
            </a:r>
          </a:p>
          <a:p>
            <a:r>
              <a:t>定义：这三处是全课程都不改的部分。</a:t>
            </a:r>
          </a:p>
          <a:p>
            <a:r>
              <a:t>代价：改生成代码或共用表，admin 和 portal 会一起对不上。</a:t>
            </a:r>
          </a:p>
          <a:p>
            <a:r>
              <a:t>判定：改动是否落在 mall-mbg、共用表或已经公开的接口上。</a:t>
            </a:r>
          </a:p>
          <a:p>
            <a:r>
              <a:t>权衡：业务代码可以在个人分支里改；这三处保持和基线一致。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节：AI for SE 与小结</a:t>
            </a:r>
          </a:p>
          <a:p>
            <a:r>
              <a:t>本节 10 分钟</a:t>
            </a:r>
          </a:p>
          <a:p>
            <a:r>
              <a:t>定义：两条建议都要先核对，再决定动不动文件。</a:t>
            </a:r>
          </a:p>
          <a:p>
            <a:r>
              <a:t>代价：照着改第 36 行，每个人的地址会进提交。</a:t>
            </a:r>
          </a:p>
          <a:p>
            <a:r>
              <a:t>判定：建议有没有改 pom；有没有碰到生成代码、共用表或对外接口。</a:t>
            </a:r>
          </a:p>
          <a:p>
            <a:r>
              <a:t>权衡：跳过插件不改文件。两条建议都没直接改那三处不得修改的部分，要拒绝的是把本机地址写回基线。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节：AI for SE 与小结</a:t>
            </a:r>
          </a:p>
          <a:p>
            <a:r>
              <a:t>时长见本节首页（本节 10 分钟）</a:t>
            </a:r>
          </a:p>
          <a:p>
            <a:r>
              <a:t>定义：这一讲收成责任怎么分、两套形态、课堂环境和不得修改的部分。</a:t>
            </a:r>
          </a:p>
          <a:p>
            <a:r>
              <a:t>代价：把两套形态记成同一次迁移的前后，后面的视图会画错。</a:t>
            </a:r>
          </a:p>
          <a:p>
            <a:r>
              <a:t>判定：能否说出三个层次、四个课堂中间件，以及三处不改的部分。</a:t>
            </a:r>
          </a:p>
          <a:p>
            <a:r>
              <a:t>权衡：时间不够时，先记住标灰的组件和 baseline-dcaa93b3。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节：AI for SE 与小结</a:t>
            </a:r>
          </a:p>
          <a:p>
            <a:r>
              <a:t>时长见本节首页（本节 10 分钟）</a:t>
            </a:r>
          </a:p>
          <a:p>
            <a:r>
              <a:t>题目页</a:t>
            </a:r>
          </a:p>
          <a:p>
            <a:r>
              <a:t>答案：1C 2B 3A</a:t>
            </a:r>
          </a:p>
          <a:p>
            <a:r>
              <a:t>定义：这三题是实验 E2 前的预习，课前按客观题完成。</a:t>
            </a:r>
          </a:p>
          <a:p>
            <a:r>
              <a:t>代价：未做计零分。视图选错，下一讲的图会对错关注点。</a:t>
            </a:r>
          </a:p>
          <a:p>
            <a:r>
              <a:t>判定：开发视图看模块；事务注解写在实现类上并不因此一定生效。</a:t>
            </a:r>
          </a:p>
          <a:p>
            <a:r>
              <a:t>权衡：业务判断写在控制器里，归到逻辑泄漏。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节：AI for SE 与小结</a:t>
            </a:r>
          </a:p>
          <a:p>
            <a:r>
              <a:t>时长见本节首页（本节 10 分钟）</a:t>
            </a:r>
          </a:p>
          <a:p>
            <a:r>
              <a:t>题目页</a:t>
            </a:r>
          </a:p>
          <a:p>
            <a:r>
              <a:t>答案：4D 5A</a:t>
            </a:r>
          </a:p>
          <a:p>
            <a:r>
              <a:t>定义：第 4、5 题问的是约束怎么被检查，以及决策记录要写什么。</a:t>
            </a:r>
          </a:p>
          <a:p>
            <a:r>
              <a:t>代价：把检查规则理解成补测试，后面会漏掉架构约束被改坏。</a:t>
            </a:r>
          </a:p>
          <a:p>
            <a:r>
              <a:t>判定：规则用来在后续修改里发现约束被违背；决策记录要含被否决的方案。</a:t>
            </a:r>
          </a:p>
          <a:p>
            <a:r>
              <a:t>权衡：记录要写上下文、决定、后果，以及被否决的方案。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节：AI for SE 与小结</a:t>
            </a:r>
          </a:p>
          <a:p>
            <a:r>
              <a:t>时长见本节首页（本节 10 分钟）</a:t>
            </a:r>
          </a:p>
          <a:p>
            <a:r>
              <a:t>定义：课后按作业第 2 条核对这些文献。</a:t>
            </a:r>
          </a:p>
          <a:p>
            <a:r>
              <a:t>代价：不读 NIST SP 800-145，三个层次的责任边界只能停在转述。</a:t>
            </a:r>
          </a:p>
          <a:p>
            <a:r>
              <a:t>判定：页上要能对上 NIST SP 800-145、Le 等 2015 和 mall-swarm。</a:t>
            </a:r>
          </a:p>
          <a:p>
            <a:r>
              <a:t>权衡：先读云的定义和体系结构变更那篇，再看 mall 与 mall-swarm 的差别。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 descr="usc_r5_c1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715000"/>
            <a:ext cx="4572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3" descr="usc_r5_c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9300" y="5715000"/>
            <a:ext cx="4572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3" descr="（白底）中文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228600"/>
            <a:ext cx="16764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816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524000"/>
            <a:ext cx="7772400" cy="1371600"/>
          </a:xfrm>
        </p:spPr>
        <p:txBody>
          <a:bodyPr/>
          <a:lstStyle>
            <a:lvl1pPr>
              <a:defRPr sz="4500"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11816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066800" y="3429000"/>
            <a:ext cx="70104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000"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smtClean="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200" smtClean="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smtClean="0">
                <a:latin typeface="+mn-lt"/>
              </a:defRPr>
            </a:lvl1pPr>
          </a:lstStyle>
          <a:p>
            <a:pPr>
              <a:defRPr/>
            </a:pPr>
            <a:fld id="{13B25BE5-3F7A-4904-922D-A053C7DF175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image" Target="../media/image4.jpeg"/><Relationship Id="rId13" Type="http://schemas.openxmlformats.org/officeDocument/2006/relationships/image" Target="../media/image1.jpeg"/><Relationship Id="rId14" Type="http://schemas.openxmlformats.org/officeDocument/2006/relationships/image" Target="../media/image2.jpeg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96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609600" y="1295400"/>
            <a:ext cx="7958138" cy="109538"/>
          </a:xfrm>
          <a:custGeom>
            <a:avLst/>
            <a:gdLst>
              <a:gd name="T0" fmla="*/ 0 w 1000"/>
              <a:gd name="T1" fmla="*/ 0 h 1000"/>
              <a:gd name="T2" fmla="*/ 4655511 w 1000"/>
              <a:gd name="T3" fmla="*/ 0 h 1000"/>
              <a:gd name="T4" fmla="*/ 4655511 w 1000"/>
              <a:gd name="T5" fmla="*/ 109538 h 1000"/>
              <a:gd name="T6" fmla="*/ 0 w 1000"/>
              <a:gd name="T7" fmla="*/ 109538 h 1000"/>
              <a:gd name="T8" fmla="*/ 0 w 1000"/>
              <a:gd name="T9" fmla="*/ 0 h 1000"/>
              <a:gd name="T10" fmla="*/ 7958138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0" name="Text Box 6"/>
          <p:cNvSpPr txBox="1">
            <a:spLocks noChangeArrowheads="1"/>
          </p:cNvSpPr>
          <p:nvPr/>
        </p:nvSpPr>
        <p:spPr bwMode="auto">
          <a:xfrm>
            <a:off x="5548313" y="6308725"/>
            <a:ext cx="36718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>
                <a:solidFill>
                  <a:srgbClr val="009900"/>
                </a:solidFill>
                <a:latin typeface="Verdana" panose="020B0604030504040204" pitchFamily="34" charset="0"/>
                <a:ea typeface="隶书" panose="02010509060101010101" pitchFamily="49" charset="-122"/>
              </a:rPr>
              <a:t>计算机科学与技术学院</a:t>
            </a:r>
            <a:endParaRPr lang="zh-CN" altLang="en-US">
              <a:solidFill>
                <a:srgbClr val="009900"/>
              </a:solidFill>
              <a:latin typeface="Verdana" panose="020B0604030504040204" pitchFamily="34" charset="0"/>
              <a:ea typeface="隶书" panose="02010509060101010101" pitchFamily="49" charset="-122"/>
            </a:endParaRPr>
          </a:p>
        </p:txBody>
      </p:sp>
      <p:pic>
        <p:nvPicPr>
          <p:cNvPr id="1031" name="Picture 8" descr="计算机学院logo-1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6413" y="6261100"/>
            <a:ext cx="509587" cy="50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9" descr="usc_r5_c1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138" y="6221413"/>
            <a:ext cx="2217737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13" descr="usc_r5_c2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1938" y="6219825"/>
            <a:ext cx="2227262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accent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32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88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l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304925" indent="-39560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3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94180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942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3200" b="0" lang="zh-CN" altLang="en-US">
                <a:latin typeface="微软雅黑"/>
                <a:ea typeface="微软雅黑"/>
                <a:cs typeface="微软雅黑"/>
              </a:rPr>
              <a:t>软件设计与规范</a:t>
            </a:r>
          </a:p>
        </p:txBody>
      </p:sp>
      <p:sp>
        <p:nvSpPr>
          <p:cNvPr id="3" name="body"/>
          <p:cNvSpPr>
            <a:spLocks noGrp="1"/>
          </p:cNvSpPr>
          <p:nvPr>
            <p:ph type="subTitle" idx="1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第 3 次课｜运行环境</a:t>
            </a:r>
          </a:p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李萌</a:t>
            </a:r>
          </a:p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计算机科学与技术学院</a:t>
            </a:r>
          </a:p>
        </p:txBody>
      </p:sp>
    </p:spTree>
  </p:cSld>
  <p:clrMapOvr>
    <a:masterClrMapping/>
  </p:clrMapOvr>
  <p:hf sldNum="0" hdr="0" ftr="0" dt="0"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本次目标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365760" y="1481328"/>
          <a:ext cx="85039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6766560"/>
              </a:tblGrid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条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这次课要达到</a:t>
                      </a:r>
                    </a:p>
                  </a:txBody>
                  <a:tcPr anchor="ctr"/>
                </a:tc>
              </a:tr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了解运行环境的主要形态，以及云服务三个层次</a:t>
                      </a:r>
                    </a:p>
                  </a:txBody>
                  <a:tcPr anchor="ctr"/>
                </a:tc>
              </a:tr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理解运行环境是物理视图的约束来源</a:t>
                      </a:r>
                    </a:p>
                  </a:txBody>
                  <a:tcPr anchor="ctr"/>
                </a:tc>
              </a:tr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理解实验环境里各组件的位置与边界</a:t>
                      </a:r>
                    </a:p>
                  </a:txBody>
                  <a:tcPr anchor="ctr"/>
                </a:tc>
              </a:tr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掌握选取原则、使用约定，以及不得修改的部分</a:t>
                      </a:r>
                    </a:p>
                  </a:txBody>
                  <a:tcPr anchor="ctr"/>
                </a:tc>
              </a:tr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能在给定环境中搭建、编译并运行既有系统</a:t>
                      </a:r>
                    </a:p>
                  </a:txBody>
                  <a:tcPr anchor="ctr"/>
                </a:tc>
              </a:tr>
              <a:tr h="613956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衔接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上接 E1 把 mall 跑起来；下接 E2 画它的物理视图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hf sldNum="0" hdr="0" ftr="0" dt="0"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E1 常见环境问题（非本班统计）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365760" y="1481328"/>
          <a:ext cx="850392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6766560"/>
              </a:tblGrid>
              <a:tr h="749807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现象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最短处理</a:t>
                      </a:r>
                    </a:p>
                  </a:txBody>
                  <a:tcPr anchor="ctr"/>
                </a:tc>
              </a:tr>
              <a:tr h="749807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编译版本错误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看 mvn -version 是否Java17，再看IDEA Runner；不要重装整个工程</a:t>
                      </a:r>
                    </a:p>
                  </a:txBody>
                  <a:tcPr anchor="ctr"/>
                </a:tc>
              </a:tr>
              <a:tr h="749807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下载失败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请助教处理网络/缓存，或换已准备好的课程机器；不是代码缺陷证据</a:t>
                      </a:r>
                    </a:p>
                  </a:txBody>
                  <a:tcPr anchor="ctr"/>
                </a:tc>
              </a:tr>
              <a:tr h="749807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数据库/模型连接失败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先做离线测试和分析，记录未完成部分，再补实际运行</a:t>
                      </a:r>
                    </a:p>
                  </a:txBody>
                  <a:tcPr anchor="ctr"/>
                </a:tc>
              </a:tr>
              <a:tr h="749811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找不到模块或类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确认在 mall 根目录，测试类在被测模块的 src/test/java；用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code-cmd"/>
          <p:cNvSpPr txBox="1"/>
          <p:nvPr/>
        </p:nvSpPr>
        <p:spPr>
          <a:xfrm>
            <a:off x="502920" y="5303520"/>
            <a:ext cx="8138160" cy="420624"/>
          </a:xfrm>
          <a:prstGeom prst="rect">
            <a:avLst/>
          </a:prstGeom>
          <a:solidFill>
            <a:srgbClr val="F0F0F0"/>
          </a:solidFill>
        </p:spPr>
        <p:txBody>
          <a:bodyPr wrap="square" lIns="18288" rIns="18288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-pl &lt;模块&gt; -am -DskipTests=false -Dtest=&lt;测试类&gt; test</a:t>
            </a:r>
          </a:p>
        </p:txBody>
      </p:sp>
    </p:spTree>
  </p:cSld>
  <p:clrMapOvr>
    <a:masterClrMapping/>
  </p:clrMapOvr>
  <p:hf sldNum="0" hdr="0" ftr="0" dt="0"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开发环境与运行环境</a:t>
            </a:r>
          </a:p>
        </p:txBody>
      </p:sp>
      <p:sp>
        <p:nvSpPr>
          <p:cNvPr id="3" name="fig"/>
          <p:cNvSpPr/>
          <p:nvPr/>
        </p:nvSpPr>
        <p:spPr>
          <a:xfrm>
            <a:off x="365760" y="1572768"/>
            <a:ext cx="4114800" cy="6400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开发环境</a:t>
            </a:r>
          </a:p>
        </p:txBody>
      </p:sp>
      <p:sp>
        <p:nvSpPr>
          <p:cNvPr id="4" name="fig"/>
          <p:cNvSpPr/>
          <p:nvPr/>
        </p:nvSpPr>
        <p:spPr>
          <a:xfrm>
            <a:off x="4663440" y="1572768"/>
            <a:ext cx="4114800" cy="6400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运行环境</a:t>
            </a:r>
          </a:p>
        </p:txBody>
      </p:sp>
      <p:sp>
        <p:nvSpPr>
          <p:cNvPr id="5" name="fig"/>
          <p:cNvSpPr/>
          <p:nvPr/>
        </p:nvSpPr>
        <p:spPr>
          <a:xfrm>
            <a:off x="365760" y="2350008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改代码、编译、调试</a:t>
            </a:r>
          </a:p>
        </p:txBody>
      </p:sp>
      <p:sp>
        <p:nvSpPr>
          <p:cNvPr id="6" name="fig"/>
          <p:cNvSpPr/>
          <p:nvPr/>
        </p:nvSpPr>
        <p:spPr>
          <a:xfrm>
            <a:off x="4663440" y="2350008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跑已经构建的程序</a:t>
            </a:r>
          </a:p>
        </p:txBody>
      </p:sp>
      <p:sp>
        <p:nvSpPr>
          <p:cNvPr id="7" name="fig"/>
          <p:cNvSpPr/>
          <p:nvPr/>
        </p:nvSpPr>
        <p:spPr>
          <a:xfrm>
            <a:off x="365760" y="3520439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JDK 17 与 Maven</a:t>
            </a:r>
          </a:p>
        </p:txBody>
      </p:sp>
      <p:sp>
        <p:nvSpPr>
          <p:cNvPr id="8" name="fig"/>
          <p:cNvSpPr/>
          <p:nvPr/>
        </p:nvSpPr>
        <p:spPr>
          <a:xfrm>
            <a:off x="4663440" y="3520439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进程、中间件、网络</a:t>
            </a:r>
          </a:p>
        </p:txBody>
      </p:sp>
      <p:sp>
        <p:nvSpPr>
          <p:cNvPr id="9" name="fig"/>
          <p:cNvSpPr/>
          <p:nvPr/>
        </p:nvSpPr>
        <p:spPr>
          <a:xfrm>
            <a:off x="365760" y="4690872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事实看编译和测试</a:t>
            </a:r>
          </a:p>
        </p:txBody>
      </p:sp>
      <p:sp>
        <p:nvSpPr>
          <p:cNvPr id="10" name="fig"/>
          <p:cNvSpPr/>
          <p:nvPr/>
        </p:nvSpPr>
        <p:spPr>
          <a:xfrm>
            <a:off x="4663440" y="4690872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容器或另一台机器</a:t>
            </a:r>
          </a:p>
        </p:txBody>
      </p:sp>
    </p:spTree>
  </p:cSld>
  <p:clrMapOvr>
    <a:masterClrMapping/>
  </p:clrMapOvr>
  <p:hf sldNum="0" hdr="0" ftr="0" dt="0"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虚拟化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把物理资源抽象成虚拟的逻辑资源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一台机器上同时跑多个逻辑计算机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各逻辑机可跑不同操作系统，互不影响</a:t>
            </a:r>
          </a:p>
        </p:txBody>
      </p:sp>
      <p:sp>
        <p:nvSpPr>
          <p:cNvPr id="6" name="fig"/>
          <p:cNvSpPr/>
          <p:nvPr/>
        </p:nvSpPr>
        <p:spPr>
          <a:xfrm>
            <a:off x="164592" y="4816602"/>
            <a:ext cx="8814816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例子：VMware、Hyper-V、VirtualBox</a:t>
            </a:r>
          </a:p>
        </p:txBody>
      </p:sp>
    </p:spTree>
  </p:cSld>
  <p:clrMapOvr>
    <a:masterClrMapping/>
  </p:clrMapOvr>
  <p:hf sldNum="0" hdr="0" ftr="0" dt="0"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云服务三个层次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572768"/>
            <a:ext cx="8321040" cy="786384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控制边界引自 NIST SP 800-145 的三种服务模式</a:t>
            </a:r>
          </a:p>
        </p:txBody>
      </p:sp>
      <p:sp>
        <p:nvSpPr>
          <p:cNvPr id="4" name="fig"/>
          <p:cNvSpPr/>
          <p:nvPr/>
        </p:nvSpPr>
        <p:spPr>
          <a:xfrm>
            <a:off x="411480" y="2432304"/>
            <a:ext cx="8321040" cy="1008887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IaaS：自己管操作系统和应用，云设施交给别人</a:t>
            </a:r>
          </a:p>
        </p:txBody>
      </p:sp>
      <p:sp>
        <p:nvSpPr>
          <p:cNvPr id="5" name="fig"/>
          <p:cNvSpPr/>
          <p:nvPr/>
        </p:nvSpPr>
        <p:spPr>
          <a:xfrm>
            <a:off x="612648" y="3587496"/>
            <a:ext cx="7918704" cy="1008887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PaaS：自己管应用，操作系统和服务器交给别人</a:t>
            </a:r>
          </a:p>
        </p:txBody>
      </p:sp>
      <p:sp>
        <p:nvSpPr>
          <p:cNvPr id="6" name="fig"/>
          <p:cNvSpPr/>
          <p:nvPr/>
        </p:nvSpPr>
        <p:spPr>
          <a:xfrm>
            <a:off x="813816" y="4742688"/>
            <a:ext cx="7516367" cy="1008887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SaaS：用别人的应用，最多改自己的配置</a:t>
            </a:r>
          </a:p>
        </p:txBody>
      </p:sp>
    </p:spTree>
  </p:cSld>
  <p:clrMapOvr>
    <a:masterClrMapping/>
  </p:clrMapOvr>
  <p:hf sldNum="0" hdr="0" ftr="0" dt="0"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从单体到微服务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572768"/>
            <a:ext cx="8321040" cy="786384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相关运行形态，不是必经的线性升级路线</a:t>
            </a:r>
          </a:p>
        </p:txBody>
      </p:sp>
      <p:sp>
        <p:nvSpPr>
          <p:cNvPr id="4" name="fig"/>
          <p:cNvSpPr/>
          <p:nvPr/>
        </p:nvSpPr>
        <p:spPr>
          <a:xfrm>
            <a:off x="411480" y="2432304"/>
            <a:ext cx="8321040" cy="1008887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单体：一个部署单元，模块在进程内调用</a:t>
            </a:r>
          </a:p>
        </p:txBody>
      </p:sp>
      <p:sp>
        <p:nvSpPr>
          <p:cNvPr id="5" name="fig"/>
          <p:cNvSpPr/>
          <p:nvPr/>
        </p:nvSpPr>
        <p:spPr>
          <a:xfrm>
            <a:off x="612648" y="3587496"/>
            <a:ext cx="7918704" cy="1008887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SOA：按服务划分，服务之间约定接口</a:t>
            </a:r>
          </a:p>
        </p:txBody>
      </p:sp>
      <p:sp>
        <p:nvSpPr>
          <p:cNvPr id="6" name="fig"/>
          <p:cNvSpPr/>
          <p:nvPr/>
        </p:nvSpPr>
        <p:spPr>
          <a:xfrm>
            <a:off x="813816" y="4742688"/>
            <a:ext cx="7516367" cy="1008887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微服务：服务可以各自部署</a:t>
            </a:r>
          </a:p>
        </p:txBody>
      </p:sp>
    </p:spTree>
  </p:cSld>
  <p:clrMapOvr>
    <a:masterClrMapping/>
  </p:clrMapOvr>
  <p:hf sldNum="0" hdr="0" ftr="0" dt="0"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边车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572768"/>
            <a:ext cx="8321040" cy="1847087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相关运行形态，不是必经的线性升级路线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此处指服务网格中的 sidecar 代理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实线是数据流；虚线是配置下发，控制面不在数据路径上</a:t>
            </a:r>
          </a:p>
        </p:txBody>
      </p:sp>
      <p:sp>
        <p:nvSpPr>
          <p:cNvPr id="4" name="fig"/>
          <p:cNvSpPr/>
          <p:nvPr/>
        </p:nvSpPr>
        <p:spPr>
          <a:xfrm>
            <a:off x="3611880" y="3493007"/>
            <a:ext cx="1874519" cy="53035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网格控制面</a:t>
            </a:r>
          </a:p>
        </p:txBody>
      </p:sp>
      <p:sp>
        <p:nvSpPr>
          <p:cNvPr id="5" name="fig"/>
          <p:cNvSpPr/>
          <p:nvPr/>
        </p:nvSpPr>
        <p:spPr>
          <a:xfrm>
            <a:off x="320040" y="4544567"/>
            <a:ext cx="1874519" cy="65836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服务</a:t>
            </a:r>
          </a:p>
        </p:txBody>
      </p:sp>
      <p:sp>
        <p:nvSpPr>
          <p:cNvPr id="6" name="fig"/>
          <p:cNvSpPr/>
          <p:nvPr/>
        </p:nvSpPr>
        <p:spPr>
          <a:xfrm>
            <a:off x="3611880" y="4544567"/>
            <a:ext cx="1874519" cy="65836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边车</a:t>
            </a:r>
          </a:p>
        </p:txBody>
      </p:sp>
      <p:sp>
        <p:nvSpPr>
          <p:cNvPr id="7" name="fig"/>
          <p:cNvSpPr/>
          <p:nvPr/>
        </p:nvSpPr>
        <p:spPr>
          <a:xfrm>
            <a:off x="6903720" y="4544567"/>
            <a:ext cx="1874519" cy="65836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其他服务</a:t>
            </a:r>
          </a:p>
        </p:txBody>
      </p:sp>
      <p:sp>
        <p:nvSpPr>
          <p:cNvPr id="8" name="fig"/>
          <p:cNvSpPr/>
          <p:nvPr/>
        </p:nvSpPr>
        <p:spPr>
          <a:xfrm>
            <a:off x="2304288" y="4773167"/>
            <a:ext cx="1197864" cy="201168"/>
          </a:xfrm>
          <a:prstGeom prst="leftRight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ig"/>
          <p:cNvSpPr/>
          <p:nvPr/>
        </p:nvSpPr>
        <p:spPr>
          <a:xfrm>
            <a:off x="5596128" y="4773167"/>
            <a:ext cx="1197863" cy="201168"/>
          </a:xfrm>
          <a:prstGeom prst="leftRight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fig"/>
          <p:cNvCxnSpPr/>
          <p:nvPr/>
        </p:nvCxnSpPr>
        <p:spPr>
          <a:xfrm>
            <a:off x="4549140" y="4059935"/>
            <a:ext cx="0" cy="466344"/>
          </a:xfrm>
          <a:prstGeom prst="line">
            <a:avLst/>
          </a:prstGeom>
          <a:ln w="22225">
            <a:solidFill>
              <a:srgbClr val="C05A5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sldNum="0" hdr="0" ftr="0" dt="0"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无服务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572768"/>
            <a:ext cx="8321040" cy="786384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相关运行形态，不是必经的线性升级路线</a:t>
            </a:r>
          </a:p>
        </p:txBody>
      </p:sp>
      <p:sp>
        <p:nvSpPr>
          <p:cNvPr id="4" name="fig"/>
          <p:cNvSpPr/>
          <p:nvPr/>
        </p:nvSpPr>
        <p:spPr>
          <a:xfrm>
            <a:off x="411480" y="2432304"/>
            <a:ext cx="8321040" cy="1008887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平台按请求或事件调度执行实例</a:t>
            </a:r>
          </a:p>
        </p:txBody>
      </p:sp>
      <p:sp>
        <p:nvSpPr>
          <p:cNvPr id="5" name="fig"/>
          <p:cNvSpPr/>
          <p:nvPr/>
        </p:nvSpPr>
        <p:spPr>
          <a:xfrm>
            <a:off x="612648" y="3587496"/>
            <a:ext cx="7918704" cy="1008887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实例随负载自动伸缩</a:t>
            </a:r>
          </a:p>
        </p:txBody>
      </p:sp>
      <p:sp>
        <p:nvSpPr>
          <p:cNvPr id="6" name="fig"/>
          <p:cNvSpPr/>
          <p:nvPr/>
        </p:nvSpPr>
        <p:spPr>
          <a:xfrm>
            <a:off x="813816" y="4742688"/>
            <a:ext cx="7516367" cy="1008887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团队不长期管理服务器</a:t>
            </a:r>
          </a:p>
        </p:txBody>
      </p:sp>
    </p:spTree>
  </p:cSld>
  <p:clrMapOvr>
    <a:masterClrMapping/>
  </p:clrMapOvr>
  <p:hf sldNum="0" hdr="0" ftr="0" dt="0"/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容器化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容器把应用和依赖打在一起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换一台机器，启动方式仍一致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编排一次拉起一组容器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和虚拟机不同：容器共享宿主内核</a:t>
            </a:r>
          </a:p>
        </p:txBody>
      </p:sp>
    </p:spTree>
  </p:cSld>
  <p:clrMapOvr>
    <a:masterClrMapping/>
  </p:clrMapOvr>
  <p:hf sldNum="0" hdr="0" ftr="0" dt="0"/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运行环境约束物理视图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572768"/>
            <a:ext cx="8321040" cy="1847087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环境变了，进程落在哪、怎么连，要重画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Le 等 2015 只说明：开源系统里体系结构会变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四张视图的展开留到体系结构那一讲</a:t>
            </a:r>
          </a:p>
        </p:txBody>
      </p:sp>
      <p:sp>
        <p:nvSpPr>
          <p:cNvPr id="4" name="fig"/>
          <p:cNvSpPr/>
          <p:nvPr/>
        </p:nvSpPr>
        <p:spPr>
          <a:xfrm>
            <a:off x="411480" y="3493007"/>
            <a:ext cx="4091939" cy="1088136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逻辑视图：职责怎么分</a:t>
            </a:r>
          </a:p>
        </p:txBody>
      </p:sp>
      <p:sp>
        <p:nvSpPr>
          <p:cNvPr id="5" name="fig"/>
          <p:cNvSpPr/>
          <p:nvPr/>
        </p:nvSpPr>
        <p:spPr>
          <a:xfrm>
            <a:off x="4640580" y="3493007"/>
            <a:ext cx="4091939" cy="1088136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进程视图：运行时有哪些进程</a:t>
            </a:r>
          </a:p>
        </p:txBody>
      </p:sp>
      <p:sp>
        <p:nvSpPr>
          <p:cNvPr id="6" name="fig"/>
          <p:cNvSpPr/>
          <p:nvPr/>
        </p:nvSpPr>
        <p:spPr>
          <a:xfrm>
            <a:off x="411480" y="4718303"/>
            <a:ext cx="4091939" cy="1088136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开发视图：代码怎么分成模块</a:t>
            </a:r>
          </a:p>
        </p:txBody>
      </p:sp>
      <p:sp>
        <p:nvSpPr>
          <p:cNvPr id="7" name="fig"/>
          <p:cNvSpPr/>
          <p:nvPr/>
        </p:nvSpPr>
        <p:spPr>
          <a:xfrm>
            <a:off x="4640580" y="4718303"/>
            <a:ext cx="4091939" cy="1088136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物理视图：进程落在哪些节点</a:t>
            </a:r>
          </a:p>
        </p:txBody>
      </p:sp>
    </p:spTree>
  </p:cSld>
  <p:clrMapOvr>
    <a:masterClrMapping/>
  </p:clrMapOvr>
  <p:hf sldNum="0" hdr="0" ftr="0" dt="0"/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mall 系统架构整图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7132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整图缩略，用来和下一页的 mall-swarm 对照</a:t>
            </a:r>
          </a:p>
        </p:txBody>
      </p:sp>
      <p:pic>
        <p:nvPicPr>
          <p:cNvPr id="4" name="pic#mall#full#baseline-dcaa93b3#document/resource/re_mall_system_arch.jpg" descr="re_mall_system_ar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800" y="2267712"/>
            <a:ext cx="5020398" cy="2852927"/>
          </a:xfrm>
          <a:prstGeom prst="rect">
            <a:avLst/>
          </a:prstGeom>
        </p:spPr>
      </p:pic>
      <p:sp>
        <p:nvSpPr>
          <p:cNvPr id="5" name="ann"/>
          <p:cNvSpPr/>
          <p:nvPr/>
        </p:nvSpPr>
        <p:spPr>
          <a:xfrm>
            <a:off x="365760" y="5157216"/>
            <a:ext cx="2731007" cy="402336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36576" rIns="36576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三个应用</a:t>
            </a:r>
          </a:p>
        </p:txBody>
      </p:sp>
      <p:sp>
        <p:nvSpPr>
          <p:cNvPr id="6" name="ann"/>
          <p:cNvSpPr/>
          <p:nvPr/>
        </p:nvSpPr>
        <p:spPr>
          <a:xfrm>
            <a:off x="3206495" y="5157216"/>
            <a:ext cx="2731007" cy="402336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36576" rIns="36576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消息与数据库</a:t>
            </a:r>
          </a:p>
        </p:txBody>
      </p:sp>
      <p:sp>
        <p:nvSpPr>
          <p:cNvPr id="7" name="ann"/>
          <p:cNvSpPr/>
          <p:nvPr/>
        </p:nvSpPr>
        <p:spPr>
          <a:xfrm>
            <a:off x="6047232" y="5157216"/>
            <a:ext cx="2731007" cy="402336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36576" rIns="36576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前端与其余存储</a:t>
            </a:r>
          </a:p>
        </p:txBody>
      </p:sp>
      <p:sp>
        <p:nvSpPr>
          <p:cNvPr id="8" name="fn"/>
          <p:cNvSpPr txBox="1"/>
          <p:nvPr/>
        </p:nvSpPr>
        <p:spPr>
          <a:xfrm>
            <a:off x="411480" y="5614416"/>
            <a:ext cx="8321040" cy="292608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整图。图片来源：macrozheng/​mall，Apache-2.0</a:t>
            </a:r>
          </a:p>
        </p:txBody>
      </p:sp>
    </p:spTree>
  </p:cSld>
  <p:clrMapOvr>
    <a:masterClrMapping/>
  </p:clrMapOvr>
  <p:hf sldNum="0" hdr="0" ftr="0" dt="0"/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mall-swarm 架构整图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7132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整图缩略，用来定位；下面三块在下一页放大</a:t>
            </a:r>
          </a:p>
        </p:txBody>
      </p:sp>
      <p:pic>
        <p:nvPicPr>
          <p:cNvPr id="4" name="pic#swarm#full#04c442fe318356bae4445a109dde7af297ce1e84#document/resource/mall_micro_service_arch.jpg" descr="mall_micro_service_ar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478" y="2267712"/>
            <a:ext cx="3889042" cy="2852927"/>
          </a:xfrm>
          <a:prstGeom prst="rect">
            <a:avLst/>
          </a:prstGeom>
        </p:spPr>
      </p:pic>
      <p:sp>
        <p:nvSpPr>
          <p:cNvPr id="5" name="ann"/>
          <p:cNvSpPr/>
          <p:nvPr/>
        </p:nvSpPr>
        <p:spPr>
          <a:xfrm>
            <a:off x="365760" y="5157216"/>
            <a:ext cx="2731007" cy="402336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36576" rIns="36576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注册与配置</a:t>
            </a:r>
          </a:p>
        </p:txBody>
      </p:sp>
      <p:sp>
        <p:nvSpPr>
          <p:cNvPr id="6" name="ann"/>
          <p:cNvSpPr/>
          <p:nvPr/>
        </p:nvSpPr>
        <p:spPr>
          <a:xfrm>
            <a:off x="3206495" y="5157216"/>
            <a:ext cx="2731007" cy="402336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36576" rIns="36576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网关</a:t>
            </a:r>
          </a:p>
        </p:txBody>
      </p:sp>
      <p:sp>
        <p:nvSpPr>
          <p:cNvPr id="7" name="ann"/>
          <p:cNvSpPr/>
          <p:nvPr/>
        </p:nvSpPr>
        <p:spPr>
          <a:xfrm>
            <a:off x="6047232" y="5157216"/>
            <a:ext cx="2731007" cy="402336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36576" rIns="36576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数据存储</a:t>
            </a:r>
          </a:p>
        </p:txBody>
      </p:sp>
      <p:sp>
        <p:nvSpPr>
          <p:cNvPr id="8" name="fn"/>
          <p:cNvSpPr txBox="1"/>
          <p:nvPr/>
        </p:nvSpPr>
        <p:spPr>
          <a:xfrm>
            <a:off x="411480" y="5614416"/>
            <a:ext cx="8321040" cy="292608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整图。图片来源：macrozheng/​mall-swarm，mall_micro_service_arch.jpg，04c442fe，Apache-2.0</a:t>
            </a:r>
          </a:p>
        </p:txBody>
      </p:sp>
    </p:spTree>
  </p:cSld>
  <p:clrMapOvr>
    <a:masterClrMapping/>
  </p:clrMapOvr>
  <p:hf sldNum="0" hdr="0" ftr="0" dt="0"/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mall-swarm 架构局部</a:t>
            </a:r>
          </a:p>
        </p:txBody>
      </p:sp>
      <p:pic>
        <p:nvPicPr>
          <p:cNvPr id="3" name="pic#swarm#crop#04c442fe318356bae4445a109dde7af297ce1e84#document/resource/mall_micro_service_arch.jpg#swarm-local.png" descr="swarm-lo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627632"/>
            <a:ext cx="8631936" cy="1418948"/>
          </a:xfrm>
          <a:prstGeom prst="rect">
            <a:avLst/>
          </a:prstGeom>
        </p:spPr>
      </p:pic>
      <p:sp>
        <p:nvSpPr>
          <p:cNvPr id="4" name="ann"/>
          <p:cNvSpPr/>
          <p:nvPr/>
        </p:nvSpPr>
        <p:spPr>
          <a:xfrm>
            <a:off x="365760" y="3913632"/>
            <a:ext cx="4468922" cy="402336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36576" rIns="36576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注册与配置</a:t>
            </a:r>
          </a:p>
        </p:txBody>
      </p:sp>
      <p:sp>
        <p:nvSpPr>
          <p:cNvPr id="5" name="ann"/>
          <p:cNvSpPr/>
          <p:nvPr/>
        </p:nvSpPr>
        <p:spPr>
          <a:xfrm>
            <a:off x="4944410" y="3913632"/>
            <a:ext cx="910335" cy="402336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36576" rIns="36576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网关</a:t>
            </a:r>
          </a:p>
        </p:txBody>
      </p:sp>
      <p:sp>
        <p:nvSpPr>
          <p:cNvPr id="6" name="ann"/>
          <p:cNvSpPr/>
          <p:nvPr/>
        </p:nvSpPr>
        <p:spPr>
          <a:xfrm>
            <a:off x="5964474" y="3913632"/>
            <a:ext cx="2813765" cy="402336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36576" rIns="36576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数据存储</a:t>
            </a:r>
          </a:p>
        </p:txBody>
      </p:sp>
      <p:sp>
        <p:nvSpPr>
          <p:cNvPr id="7" name="body"/>
          <p:cNvSpPr txBox="1"/>
          <p:nvPr/>
        </p:nvSpPr>
        <p:spPr>
          <a:xfrm>
            <a:off x="365760" y="4352544"/>
            <a:ext cx="8412480" cy="1207007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左起注册与配置，中间是网关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右侧数据存储含 MySQL、Redis、MongoDB、Elasticsearch</a:t>
            </a:r>
          </a:p>
        </p:txBody>
      </p:sp>
      <p:sp>
        <p:nvSpPr>
          <p:cNvPr id="8" name="fn"/>
          <p:cNvSpPr txBox="1"/>
          <p:nvPr/>
        </p:nvSpPr>
        <p:spPr>
          <a:xfrm>
            <a:off x="411480" y="5614416"/>
            <a:ext cx="8321040" cy="292608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局部。图片来源：macrozheng/​mall-swarm，mall_micro_service_arch.jpg，04c442fe，Apache-2.0</a:t>
            </a:r>
          </a:p>
        </p:txBody>
      </p:sp>
    </p:spTree>
  </p:cSld>
  <p:clrMapOvr>
    <a:masterClrMapping/>
  </p:clrMapOvr>
  <p:hf sldNum="0" hdr="0" ftr="0" dt="0"/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简化部署对照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572768"/>
            <a:ext cx="8321040" cy="786384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同一业务域的两种实现形态，不是同一版本迁移前后</a:t>
            </a:r>
          </a:p>
        </p:txBody>
      </p:sp>
      <p:sp>
        <p:nvSpPr>
          <p:cNvPr id="4" name="fig"/>
          <p:cNvSpPr/>
          <p:nvPr/>
        </p:nvSpPr>
        <p:spPr>
          <a:xfrm>
            <a:off x="365760" y="2432304"/>
            <a:ext cx="4114800" cy="6400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mall</a:t>
            </a:r>
          </a:p>
        </p:txBody>
      </p:sp>
      <p:sp>
        <p:nvSpPr>
          <p:cNvPr id="5" name="fig"/>
          <p:cNvSpPr/>
          <p:nvPr/>
        </p:nvSpPr>
        <p:spPr>
          <a:xfrm>
            <a:off x="4663440" y="2432304"/>
            <a:ext cx="4114800" cy="6400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mall-swarm</a:t>
            </a:r>
          </a:p>
        </p:txBody>
      </p:sp>
      <p:sp>
        <p:nvSpPr>
          <p:cNvPr id="6" name="fig"/>
          <p:cNvSpPr/>
          <p:nvPr/>
        </p:nvSpPr>
        <p:spPr>
          <a:xfrm>
            <a:off x="365760" y="3209544"/>
            <a:ext cx="4114800" cy="566927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无独立网关</a:t>
            </a:r>
          </a:p>
        </p:txBody>
      </p:sp>
      <p:sp>
        <p:nvSpPr>
          <p:cNvPr id="7" name="fig"/>
          <p:cNvSpPr/>
          <p:nvPr/>
        </p:nvSpPr>
        <p:spPr>
          <a:xfrm>
            <a:off x="4663440" y="3209544"/>
            <a:ext cx="4114800" cy="566927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网关 mall-gateway</a:t>
            </a:r>
          </a:p>
        </p:txBody>
      </p:sp>
      <p:sp>
        <p:nvSpPr>
          <p:cNvPr id="8" name="fig"/>
          <p:cNvSpPr/>
          <p:nvPr/>
        </p:nvSpPr>
        <p:spPr>
          <a:xfrm>
            <a:off x="365760" y="3867912"/>
            <a:ext cx="4114800" cy="566927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认证在 mall-security</a:t>
            </a:r>
          </a:p>
        </p:txBody>
      </p:sp>
      <p:sp>
        <p:nvSpPr>
          <p:cNvPr id="9" name="fig"/>
          <p:cNvSpPr/>
          <p:nvPr/>
        </p:nvSpPr>
        <p:spPr>
          <a:xfrm>
            <a:off x="4663440" y="3867912"/>
            <a:ext cx="4114800" cy="566927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认证 mall-auth</a:t>
            </a:r>
          </a:p>
        </p:txBody>
      </p:sp>
      <p:sp>
        <p:nvSpPr>
          <p:cNvPr id="10" name="fig"/>
          <p:cNvSpPr/>
          <p:nvPr/>
        </p:nvSpPr>
        <p:spPr>
          <a:xfrm>
            <a:off x="365760" y="4526280"/>
            <a:ext cx="4114800" cy="566927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无注册与配置中心</a:t>
            </a:r>
          </a:p>
        </p:txBody>
      </p:sp>
      <p:sp>
        <p:nvSpPr>
          <p:cNvPr id="11" name="fig"/>
          <p:cNvSpPr/>
          <p:nvPr/>
        </p:nvSpPr>
        <p:spPr>
          <a:xfrm>
            <a:off x="4663440" y="4526280"/>
            <a:ext cx="4114800" cy="566927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注册与配置中心用 Nacos</a:t>
            </a:r>
          </a:p>
        </p:txBody>
      </p:sp>
      <p:sp>
        <p:nvSpPr>
          <p:cNvPr id="12" name="fig"/>
          <p:cNvSpPr/>
          <p:nvPr/>
        </p:nvSpPr>
        <p:spPr>
          <a:xfrm>
            <a:off x="365760" y="5184648"/>
            <a:ext cx="4114800" cy="566927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三个应用，未再拆服务</a:t>
            </a:r>
          </a:p>
        </p:txBody>
      </p:sp>
      <p:sp>
        <p:nvSpPr>
          <p:cNvPr id="13" name="fig"/>
          <p:cNvSpPr/>
          <p:nvPr/>
        </p:nvSpPr>
        <p:spPr>
          <a:xfrm>
            <a:off x="4663440" y="5184648"/>
            <a:ext cx="4114800" cy="566927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服务拆分出 gateway、auth</a:t>
            </a:r>
          </a:p>
        </p:txBody>
      </p:sp>
    </p:spTree>
  </p:cSld>
  <p:clrMapOvr>
    <a:masterClrMapping/>
  </p:clrMapOvr>
  <p:hf sldNum="0" hdr="0" ftr="0" dt="0"/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讨论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417880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同一套代码从单体部署改到微服务部署，哪个视图变化最大？</a:t>
            </a:r>
          </a:p>
        </p:txBody>
      </p:sp>
    </p:spTree>
  </p:cSld>
  <p:clrMapOvr>
    <a:masterClrMapping/>
  </p:clrMapOvr>
  <p:hf sldNum="0" hdr="0" ftr="0" dt="0"/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组件放在哪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572768"/>
            <a:ext cx="8321040" cy="786384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Nginx：反向代理 / 静态资源入口</a:t>
            </a:r>
          </a:p>
        </p:txBody>
      </p:sp>
      <p:sp>
        <p:nvSpPr>
          <p:cNvPr id="4" name="fig"/>
          <p:cNvSpPr/>
          <p:nvPr/>
        </p:nvSpPr>
        <p:spPr>
          <a:xfrm>
            <a:off x="411480" y="2432304"/>
            <a:ext cx="4091939" cy="1033271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MySQL：主库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灌入 mall.sql</a:t>
            </a:r>
          </a:p>
        </p:txBody>
      </p:sp>
      <p:sp>
        <p:nvSpPr>
          <p:cNvPr id="5" name="fig"/>
          <p:cNvSpPr/>
          <p:nvPr/>
        </p:nvSpPr>
        <p:spPr>
          <a:xfrm>
            <a:off x="4640580" y="2432304"/>
            <a:ext cx="4091939" cy="1033271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Redis：portal、security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与 search 的缓存</a:t>
            </a:r>
          </a:p>
        </p:txBody>
      </p:sp>
      <p:sp>
        <p:nvSpPr>
          <p:cNvPr id="6" name="fig"/>
          <p:cNvSpPr/>
          <p:nvPr/>
        </p:nvSpPr>
        <p:spPr>
          <a:xfrm>
            <a:off x="411480" y="3602736"/>
            <a:ext cx="4091939" cy="1033271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RabbitMQ：portal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用它做延迟消息</a:t>
            </a:r>
          </a:p>
        </p:txBody>
      </p:sp>
      <p:sp>
        <p:nvSpPr>
          <p:cNvPr id="7" name="fig"/>
          <p:cNvSpPr/>
          <p:nvPr/>
        </p:nvSpPr>
        <p:spPr>
          <a:xfrm>
            <a:off x="4640580" y="3602736"/>
            <a:ext cx="4091939" cy="1033271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Elasticsearch：mall-search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负责检索</a:t>
            </a:r>
          </a:p>
        </p:txBody>
      </p:sp>
      <p:sp>
        <p:nvSpPr>
          <p:cNvPr id="8" name="fig"/>
          <p:cNvSpPr/>
          <p:nvPr/>
        </p:nvSpPr>
        <p:spPr>
          <a:xfrm>
            <a:off x="411480" y="4773168"/>
            <a:ext cx="4091939" cy="1033271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MongoDB：mall-portal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的文档库</a:t>
            </a:r>
          </a:p>
        </p:txBody>
      </p:sp>
      <p:sp>
        <p:nvSpPr>
          <p:cNvPr id="9" name="fig"/>
          <p:cNvSpPr/>
          <p:nvPr/>
        </p:nvSpPr>
        <p:spPr>
          <a:xfrm>
            <a:off x="4640580" y="4773168"/>
            <a:ext cx="4091939" cy="1033271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MinIO：mall-admin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的对象存储</a:t>
            </a:r>
          </a:p>
        </p:txBody>
      </p:sp>
    </p:spTree>
  </p:cSld>
  <p:clrMapOvr>
    <a:masterClrMapping/>
  </p:clrMapOvr>
  <p:hf sldNum="0" hdr="0" ftr="0" dt="0"/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超时取消：发送端只投递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7132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CancelOrderSender 只投递，并给消息设过期时间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411480" y="2267712"/>
            <a:ext cx="8138160" cy="987551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1"/>
          <a:lstStyle/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amqpTemplate.​convertAndSend(​QueueEnum.​QUEUE_TTL_ORDER_CANCEL.​</a:t>
            </a:r>
            <a:br/>
            <a:r>
              <a:rPr sz="1600" b="0" lang="zh-CN" altLang="en-US">
                <a:latin typeface="Consolas"/>
                <a:ea typeface="Consolas"/>
                <a:cs typeface="Consolas"/>
              </a:rPr>
              <a:t>getExchange(​),​ QueueEnum.​QUEUE_TTL_ORDER_CANCEL.​</a:t>
            </a:r>
            <a:br/>
            <a:r>
              <a:rPr sz="1600" b="0" lang="zh-CN" altLang="en-US">
                <a:latin typeface="Consolas"/>
                <a:ea typeface="Consolas"/>
                <a:cs typeface="Consolas"/>
              </a:rPr>
              <a:t>getRouteKey(​),​ orderId,​ new MessagePostProcessor(​) {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3273552"/>
            <a:ext cx="8321040" cy="2560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出处：mall-portal/​src/​main/​java/​com/​macro/​mall/​portal/​component/​CancelOrderSender.java:​25-25</a:t>
            </a:r>
          </a:p>
        </p:txBody>
      </p:sp>
      <p:sp>
        <p:nvSpPr>
          <p:cNvPr id="6" name="code"/>
          <p:cNvSpPr txBox="1"/>
          <p:nvPr/>
        </p:nvSpPr>
        <p:spPr>
          <a:xfrm>
            <a:off x="411480" y="3547872"/>
            <a:ext cx="8138160" cy="859536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1"/>
          <a:lstStyle/>
          <a:p>
            <a:pPr algn="l" eaLnBrk="1" hangingPunct="1" marL="2235200" indent="-223520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    message.​getMessageProperties(​).​setExpiration(​String.​</a:t>
            </a:r>
            <a:br/>
            <a:r>
              <a:rPr sz="1600" b="0" lang="zh-CN" altLang="en-US">
                <a:latin typeface="Consolas"/>
                <a:ea typeface="Consolas"/>
                <a:cs typeface="Consolas"/>
              </a:rPr>
              <a:t>valueOf(​delayTimes));</a:t>
            </a:r>
          </a:p>
        </p:txBody>
      </p:sp>
      <p:sp>
        <p:nvSpPr>
          <p:cNvPr id="7" name="fn"/>
          <p:cNvSpPr txBox="1"/>
          <p:nvPr/>
        </p:nvSpPr>
        <p:spPr>
          <a:xfrm>
            <a:off x="411480" y="4425696"/>
            <a:ext cx="8321040" cy="2560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出处：mall-portal/​src/​main/​java/​com/​macro/​mall/​portal/​component/​CancelOrderSender.java:​29-29</a:t>
            </a:r>
          </a:p>
        </p:txBody>
      </p:sp>
    </p:spTree>
  </p:cSld>
  <p:clrMapOvr>
    <a:masterClrMapping/>
  </p:clrMapOvr>
  <p:hf sldNum="0" hdr="0" ftr="0" dt="0"/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超时取消：接收端才取消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28016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消息到期后，CancelOrderReceiver 才调用 cancelOrder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它监听的是 mall.order.cancel 队列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411480" y="2834640"/>
            <a:ext cx="8138160" cy="987551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1"/>
          <a:lstStyle/>
          <a:p>
            <a:pPr algn="l" eaLnBrk="1" hangingPunct="1" marL="447040" indent="-44704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@Component</a:t>
            </a:r>
          </a:p>
          <a:p>
            <a:pPr algn="l" eaLnBrk="1" hangingPunct="1" marL="447040" indent="-44704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@RabbitListener(​queues ​= ​"mall.​order.​cancel")</a:t>
            </a:r>
          </a:p>
          <a:p>
            <a:pPr algn="l" eaLnBrk="1" hangingPunct="1" marL="447040" indent="-44704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public class CancelOrderReceiver {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3840480"/>
            <a:ext cx="8321040" cy="2560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出处：mall-portal/​src/​main/​java/​com/​macro/​mall/​portal/​component/​CancelOrderReceiver.java:​15-17</a:t>
            </a:r>
          </a:p>
        </p:txBody>
      </p:sp>
      <p:sp>
        <p:nvSpPr>
          <p:cNvPr id="6" name="code"/>
          <p:cNvSpPr txBox="1"/>
          <p:nvPr/>
        </p:nvSpPr>
        <p:spPr>
          <a:xfrm>
            <a:off x="411480" y="4114800"/>
            <a:ext cx="8138160" cy="1536191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1"/>
          <a:lstStyle/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@RabbitHandler</a:t>
            </a:r>
          </a:p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public void handle(​Long orderId){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portalOrderService.​cancelOrder(​orderId);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LOGGER.​info(​"process orderId:{}",​orderId);</a:t>
            </a:r>
          </a:p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}</a:t>
            </a:r>
          </a:p>
        </p:txBody>
      </p:sp>
      <p:sp>
        <p:nvSpPr>
          <p:cNvPr id="7" name="fn"/>
          <p:cNvSpPr txBox="1"/>
          <p:nvPr/>
        </p:nvSpPr>
        <p:spPr>
          <a:xfrm>
            <a:off x="411480" y="5669279"/>
            <a:ext cx="8321040" cy="2560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出处：mall-portal/​src/​main/​java/​com/​macro/​mall/​portal/​component/​CancelOrderReceiver.java:​21-25</a:t>
            </a:r>
          </a:p>
        </p:txBody>
      </p:sp>
    </p:spTree>
  </p:cSld>
  <p:clrMapOvr>
    <a:masterClrMapping/>
  </p:clrMapOvr>
  <p:hf sldNum="0" hdr="0" ftr="0" dt="0"/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上游完整环境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4091939" cy="737006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MySQL 3306</a:t>
            </a:r>
          </a:p>
        </p:txBody>
      </p:sp>
      <p:sp>
        <p:nvSpPr>
          <p:cNvPr id="4" name="fig"/>
          <p:cNvSpPr/>
          <p:nvPr/>
        </p:nvSpPr>
        <p:spPr>
          <a:xfrm>
            <a:off x="4640580" y="1572768"/>
            <a:ext cx="4091939" cy="737006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Redis 6379</a:t>
            </a:r>
          </a:p>
        </p:txBody>
      </p:sp>
      <p:sp>
        <p:nvSpPr>
          <p:cNvPr id="5" name="fig"/>
          <p:cNvSpPr/>
          <p:nvPr/>
        </p:nvSpPr>
        <p:spPr>
          <a:xfrm>
            <a:off x="411480" y="2446934"/>
            <a:ext cx="4091939" cy="737006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Nginx 80：反向代理</a:t>
            </a:r>
          </a:p>
        </p:txBody>
      </p:sp>
      <p:sp>
        <p:nvSpPr>
          <p:cNvPr id="6" name="fig"/>
          <p:cNvSpPr/>
          <p:nvPr/>
        </p:nvSpPr>
        <p:spPr>
          <a:xfrm>
            <a:off x="4640580" y="2446934"/>
            <a:ext cx="4091939" cy="737006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Nginx：静态资源入口</a:t>
            </a:r>
          </a:p>
        </p:txBody>
      </p:sp>
      <p:sp>
        <p:nvSpPr>
          <p:cNvPr id="7" name="fig"/>
          <p:cNvSpPr/>
          <p:nvPr/>
        </p:nvSpPr>
        <p:spPr>
          <a:xfrm>
            <a:off x="411480" y="3321100"/>
            <a:ext cx="4091939" cy="737006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RabbitMQ 5672</a:t>
            </a:r>
          </a:p>
        </p:txBody>
      </p:sp>
      <p:sp>
        <p:nvSpPr>
          <p:cNvPr id="8" name="fig"/>
          <p:cNvSpPr/>
          <p:nvPr/>
        </p:nvSpPr>
        <p:spPr>
          <a:xfrm>
            <a:off x="4640580" y="3321100"/>
            <a:ext cx="4091939" cy="737006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Elasticsearch 9200</a:t>
            </a:r>
          </a:p>
        </p:txBody>
      </p:sp>
      <p:sp>
        <p:nvSpPr>
          <p:cNvPr id="9" name="fig"/>
          <p:cNvSpPr/>
          <p:nvPr/>
        </p:nvSpPr>
        <p:spPr>
          <a:xfrm>
            <a:off x="411480" y="4195267"/>
            <a:ext cx="4091939" cy="737006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Logstash 4560：日志采集</a:t>
            </a:r>
          </a:p>
        </p:txBody>
      </p:sp>
      <p:sp>
        <p:nvSpPr>
          <p:cNvPr id="10" name="fig"/>
          <p:cNvSpPr/>
          <p:nvPr/>
        </p:nvSpPr>
        <p:spPr>
          <a:xfrm>
            <a:off x="4640580" y="4195267"/>
            <a:ext cx="4091939" cy="737006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Kibana 5601：日志查看</a:t>
            </a:r>
          </a:p>
        </p:txBody>
      </p:sp>
      <p:sp>
        <p:nvSpPr>
          <p:cNvPr id="11" name="fig"/>
          <p:cNvSpPr/>
          <p:nvPr/>
        </p:nvSpPr>
        <p:spPr>
          <a:xfrm>
            <a:off x="411480" y="5069433"/>
            <a:ext cx="4091939" cy="737006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Mongo 27017</a:t>
            </a:r>
          </a:p>
        </p:txBody>
      </p:sp>
      <p:sp>
        <p:nvSpPr>
          <p:cNvPr id="12" name="fig"/>
          <p:cNvSpPr/>
          <p:nvPr/>
        </p:nvSpPr>
        <p:spPr>
          <a:xfrm>
            <a:off x="4640580" y="5069433"/>
            <a:ext cx="4091939" cy="737006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MinIO 9090</a:t>
            </a:r>
          </a:p>
        </p:txBody>
      </p:sp>
    </p:spTree>
  </p:cSld>
  <p:clrMapOvr>
    <a:masterClrMapping/>
  </p:clrMapOvr>
  <p:hf sldNum="0" hdr="0" ftr="0" dt="0"/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课堂精简环境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572768"/>
            <a:ext cx="8321040" cy="1316736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课堂 compose 只列出上面四项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灰色的不在课堂文件里</a:t>
            </a:r>
          </a:p>
        </p:txBody>
      </p:sp>
      <p:sp>
        <p:nvSpPr>
          <p:cNvPr id="4" name="fig"/>
          <p:cNvSpPr/>
          <p:nvPr/>
        </p:nvSpPr>
        <p:spPr>
          <a:xfrm>
            <a:off x="411480" y="2962656"/>
            <a:ext cx="4091939" cy="45902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MySQL 宿主 13306</a:t>
            </a:r>
          </a:p>
        </p:txBody>
      </p:sp>
      <p:sp>
        <p:nvSpPr>
          <p:cNvPr id="5" name="fig"/>
          <p:cNvSpPr/>
          <p:nvPr/>
        </p:nvSpPr>
        <p:spPr>
          <a:xfrm>
            <a:off x="4640580" y="2962656"/>
            <a:ext cx="4091939" cy="45902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Redis 宿主 16379</a:t>
            </a:r>
          </a:p>
        </p:txBody>
      </p:sp>
      <p:sp>
        <p:nvSpPr>
          <p:cNvPr id="6" name="fig"/>
          <p:cNvSpPr/>
          <p:nvPr/>
        </p:nvSpPr>
        <p:spPr>
          <a:xfrm>
            <a:off x="411480" y="3558844"/>
            <a:ext cx="4091939" cy="45902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MongoDB 宿主 27018</a:t>
            </a:r>
          </a:p>
        </p:txBody>
      </p:sp>
      <p:sp>
        <p:nvSpPr>
          <p:cNvPr id="7" name="fig"/>
          <p:cNvSpPr/>
          <p:nvPr/>
        </p:nvSpPr>
        <p:spPr>
          <a:xfrm>
            <a:off x="4640580" y="3558844"/>
            <a:ext cx="4091939" cy="45902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RabbitMQ 宿主 5673</a:t>
            </a:r>
          </a:p>
        </p:txBody>
      </p:sp>
      <p:sp>
        <p:nvSpPr>
          <p:cNvPr id="8" name="fig"/>
          <p:cNvSpPr/>
          <p:nvPr/>
        </p:nvSpPr>
        <p:spPr>
          <a:xfrm>
            <a:off x="411480" y="4155033"/>
            <a:ext cx="4091939" cy="459028"/>
          </a:xfrm>
          <a:prstGeom prst="roundRect">
            <a:avLst/>
          </a:prstGeom>
          <a:solidFill>
            <a:srgbClr val="D0D0D0"/>
          </a:solidFill>
          <a:ln>
            <a:solidFill>
              <a:srgbClr val="88888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Elasticsearch 标灰</a:t>
            </a:r>
          </a:p>
        </p:txBody>
      </p:sp>
      <p:sp>
        <p:nvSpPr>
          <p:cNvPr id="9" name="fig"/>
          <p:cNvSpPr/>
          <p:nvPr/>
        </p:nvSpPr>
        <p:spPr>
          <a:xfrm>
            <a:off x="4640580" y="4155033"/>
            <a:ext cx="4091939" cy="459028"/>
          </a:xfrm>
          <a:prstGeom prst="roundRect">
            <a:avLst/>
          </a:prstGeom>
          <a:solidFill>
            <a:srgbClr val="D0D0D0"/>
          </a:solidFill>
          <a:ln>
            <a:solidFill>
              <a:srgbClr val="88888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MinIO 标灰</a:t>
            </a:r>
          </a:p>
        </p:txBody>
      </p:sp>
      <p:sp>
        <p:nvSpPr>
          <p:cNvPr id="10" name="fig"/>
          <p:cNvSpPr/>
          <p:nvPr/>
        </p:nvSpPr>
        <p:spPr>
          <a:xfrm>
            <a:off x="411480" y="4751222"/>
            <a:ext cx="4091939" cy="459028"/>
          </a:xfrm>
          <a:prstGeom prst="roundRect">
            <a:avLst/>
          </a:prstGeom>
          <a:solidFill>
            <a:srgbClr val="D0D0D0"/>
          </a:solidFill>
          <a:ln>
            <a:solidFill>
              <a:srgbClr val="88888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Nginx 标灰</a:t>
            </a:r>
          </a:p>
        </p:txBody>
      </p:sp>
      <p:sp>
        <p:nvSpPr>
          <p:cNvPr id="11" name="fig"/>
          <p:cNvSpPr/>
          <p:nvPr/>
        </p:nvSpPr>
        <p:spPr>
          <a:xfrm>
            <a:off x="4640580" y="4751222"/>
            <a:ext cx="4091939" cy="459028"/>
          </a:xfrm>
          <a:prstGeom prst="roundRect">
            <a:avLst/>
          </a:prstGeom>
          <a:solidFill>
            <a:srgbClr val="D0D0D0"/>
          </a:solidFill>
          <a:ln>
            <a:solidFill>
              <a:srgbClr val="88888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Logstash 标灰</a:t>
            </a:r>
          </a:p>
        </p:txBody>
      </p:sp>
      <p:sp>
        <p:nvSpPr>
          <p:cNvPr id="12" name="fig"/>
          <p:cNvSpPr/>
          <p:nvPr/>
        </p:nvSpPr>
        <p:spPr>
          <a:xfrm>
            <a:off x="2526030" y="5347411"/>
            <a:ext cx="4091939" cy="459028"/>
          </a:xfrm>
          <a:prstGeom prst="roundRect">
            <a:avLst/>
          </a:prstGeom>
          <a:solidFill>
            <a:srgbClr val="D0D0D0"/>
          </a:solidFill>
          <a:ln>
            <a:solidFill>
              <a:srgbClr val="88888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Kibana 标灰</a:t>
            </a:r>
          </a:p>
        </p:txBody>
      </p:sp>
    </p:spTree>
  </p:cSld>
  <p:clrMapOvr>
    <a:masterClrMapping/>
  </p:clrMapOvr>
  <p:hf sldNum="0" hdr="0" ftr="0" dt="0"/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配置与密钥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847088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mall-portal 默认 profile 是 dev，写在 application.yml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同一文件第 17 行把 jwt.secret 写进了仓库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原则是密钥不入库：不要把令牌抄进提交，也不要投影出来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411480" y="3401568"/>
            <a:ext cx="8138160" cy="7132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1"/>
          <a:lstStyle/>
          <a:p>
            <a:pPr algn="l" eaLnBrk="1" hangingPunct="1" marL="670560" indent="-6705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profiles:</a:t>
            </a:r>
          </a:p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active: ​dev #默认为开发环境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4133088"/>
            <a:ext cx="8321040" cy="2560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出处：mall-portal/​src/​main/​resources/​application.yml:​4-5</a:t>
            </a:r>
          </a:p>
        </p:txBody>
      </p:sp>
    </p:spTree>
  </p:cSld>
  <p:clrMapOvr>
    <a:masterClrMapping/>
  </p:clrMapOvr>
  <p:hf sldNum="0" hdr="0" ftr="0" dt="0"/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讨论</a:t>
            </a:r>
          </a:p>
        </p:txBody>
      </p:sp>
      <p:sp>
        <p:nvSpPr>
          <p:cNvPr id="3" name="fig"/>
          <p:cNvSpPr/>
          <p:nvPr/>
        </p:nvSpPr>
        <p:spPr>
          <a:xfrm>
            <a:off x="164592" y="1572768"/>
            <a:ext cx="8814816" cy="417880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把中间件换成云服务后，团队要自己负责的事情少了哪些、多了哪些？</a:t>
            </a:r>
          </a:p>
        </p:txBody>
      </p:sp>
    </p:spTree>
  </p:cSld>
  <p:clrMapOvr>
    <a:masterClrMapping/>
  </p:clrMapOvr>
  <p:hf sldNum="0" hdr="0" ftr="0" dt="0"/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选取原则 H1–H4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572768"/>
            <a:ext cx="8321040" cy="786384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七条都过才进入评分；严格门槛下没有仓库入评分</a:t>
            </a:r>
          </a:p>
        </p:txBody>
      </p:sp>
      <p:sp>
        <p:nvSpPr>
          <p:cNvPr id="4" name="fig"/>
          <p:cNvSpPr/>
          <p:nvPr/>
        </p:nvSpPr>
        <p:spPr>
          <a:xfrm>
            <a:off x="164592" y="2432304"/>
            <a:ext cx="8814816" cy="72008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H1 许可：MIT、Apache-2.0、BSD-3-Clause、EPL-2.0</a:t>
            </a:r>
          </a:p>
        </p:txBody>
      </p:sp>
      <p:sp>
        <p:nvSpPr>
          <p:cNvPr id="5" name="fig"/>
          <p:cNvSpPr/>
          <p:nvPr/>
        </p:nvSpPr>
        <p:spPr>
          <a:xfrm>
            <a:off x="612648" y="3298698"/>
            <a:ext cx="7918704" cy="72008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H2 构建：根目录一条命令要成功</a:t>
            </a:r>
          </a:p>
        </p:txBody>
      </p:sp>
      <p:sp>
        <p:nvSpPr>
          <p:cNvPr id="6" name="fig"/>
          <p:cNvSpPr/>
          <p:nvPr/>
        </p:nvSpPr>
        <p:spPr>
          <a:xfrm>
            <a:off x="813816" y="4165091"/>
            <a:ext cx="7516367" cy="72008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H3 离线：Compose，或 H2/Testcontainers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核心业务不硬依赖外网付费服务</a:t>
            </a:r>
          </a:p>
        </p:txBody>
      </p:sp>
      <p:sp>
        <p:nvSpPr>
          <p:cNvPr id="7" name="fig"/>
          <p:cNvSpPr/>
          <p:nvPr/>
        </p:nvSpPr>
        <p:spPr>
          <a:xfrm>
            <a:off x="1014984" y="5031486"/>
            <a:ext cx="7114031" cy="72008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H4 栈：Java，Boot 2.7 或 3.x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MyBatis 或 JPA，加 MySQL，前端 Vue 或 React</a:t>
            </a:r>
          </a:p>
        </p:txBody>
      </p:sp>
    </p:spTree>
  </p:cSld>
  <p:clrMapOvr>
    <a:masterClrMapping/>
  </p:clrMapOvr>
  <p:hf sldNum="0" hdr="0" ftr="0" dt="0"/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选取原则 H5–H7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129539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H5 中文：中文 README、中文注释、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中文业务域至少一项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3014472"/>
            <a:ext cx="7918704" cy="129539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H6 业务：能用普通话讲清</a:t>
            </a:r>
          </a:p>
        </p:txBody>
      </p:sp>
      <p:sp>
        <p:nvSpPr>
          <p:cNvPr id="5" name="fig"/>
          <p:cNvSpPr/>
          <p:nvPr/>
        </p:nvSpPr>
        <p:spPr>
          <a:xfrm>
            <a:off x="164592" y="4456176"/>
            <a:ext cx="8814816" cy="129539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H7 维护：近 12 个月有提交，且 Issue 有维护者响应</a:t>
            </a:r>
          </a:p>
        </p:txBody>
      </p:sp>
    </p:spTree>
  </p:cSld>
  <p:clrMapOvr>
    <a:masterClrMapping/>
  </p:clrMapOvr>
  <p:hf sldNum="0" hdr="0" ftr="0" dt="0"/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为什么 64 分仍选 mall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mall 教学分 64，建议线是 70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低在约 1.6 万行，规模只得 11/20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测试类 5 个，测试现状 2/10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ruoyi-vue-pro 对照分 65，只作对照</a:t>
            </a:r>
          </a:p>
        </p:txBody>
      </p:sp>
    </p:spTree>
  </p:cSld>
  <p:clrMapOvr>
    <a:masterClrMapping/>
  </p:clrMapOvr>
  <p:hf sldNum="0" hdr="0" ftr="0" dt="0"/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教学分对照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365760" y="1481328"/>
          <a:ext cx="813816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2240280"/>
                <a:gridCol w="2468880"/>
                <a:gridCol w="2377440"/>
              </a:tblGrid>
              <a:tr h="47752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维度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权重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mall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ruoyi-vue-pro</a:t>
                      </a:r>
                    </a:p>
                  </a:txBody>
                  <a:tcPr anchor="ctr"/>
                </a:tc>
              </a:tr>
              <a:tr h="47752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分层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25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17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8</a:t>
                      </a:r>
                    </a:p>
                  </a:txBody>
                  <a:tcPr anchor="ctr"/>
                </a:tc>
              </a:tr>
              <a:tr h="47752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业务代码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18</a:t>
                      </a:r>
                    </a:p>
                  </a:txBody>
                  <a:tcPr anchor="ctr"/>
                </a:tc>
              </a:tr>
              <a:tr h="47752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模块边界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13</a:t>
                      </a:r>
                    </a:p>
                  </a:txBody>
                  <a:tcPr anchor="ctr"/>
                </a:tc>
              </a:tr>
              <a:tr h="47752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不可变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13</a:t>
                      </a:r>
                    </a:p>
                  </a:txBody>
                  <a:tcPr anchor="ctr"/>
                </a:tc>
              </a:tr>
              <a:tr h="47752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测试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anchor="ctr"/>
                </a:tc>
              </a:tr>
              <a:tr h="47752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任务空间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anchor="ctr"/>
                </a:tc>
              </a:tr>
              <a:tr h="47752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工具链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anchor="ctr"/>
                </a:tc>
              </a:tr>
              <a:tr h="47752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合计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100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64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65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hf sldNum="0" hdr="0" ftr="0" dt="0"/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七个模块与依赖方向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572768"/>
            <a:ext cx="8321040" cy="1847087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admin、portal 连向 security 和 mbg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search、demo 只连向 mbg，不连 security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security、mbg 连向 common</a:t>
            </a:r>
          </a:p>
        </p:txBody>
      </p:sp>
      <p:sp>
        <p:nvSpPr>
          <p:cNvPr id="4" name="fig"/>
          <p:cNvSpPr/>
          <p:nvPr/>
        </p:nvSpPr>
        <p:spPr>
          <a:xfrm>
            <a:off x="182880" y="3493007"/>
            <a:ext cx="2057400" cy="585216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mall-admin</a:t>
            </a:r>
          </a:p>
        </p:txBody>
      </p:sp>
      <p:sp>
        <p:nvSpPr>
          <p:cNvPr id="5" name="fig"/>
          <p:cNvSpPr/>
          <p:nvPr/>
        </p:nvSpPr>
        <p:spPr>
          <a:xfrm>
            <a:off x="2331720" y="3493007"/>
            <a:ext cx="2057400" cy="585216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mall-portal</a:t>
            </a:r>
          </a:p>
        </p:txBody>
      </p:sp>
      <p:sp>
        <p:nvSpPr>
          <p:cNvPr id="6" name="fig"/>
          <p:cNvSpPr/>
          <p:nvPr/>
        </p:nvSpPr>
        <p:spPr>
          <a:xfrm>
            <a:off x="4617720" y="3493007"/>
            <a:ext cx="2057400" cy="585216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mall-search</a:t>
            </a:r>
          </a:p>
        </p:txBody>
      </p:sp>
      <p:sp>
        <p:nvSpPr>
          <p:cNvPr id="7" name="fig"/>
          <p:cNvSpPr/>
          <p:nvPr/>
        </p:nvSpPr>
        <p:spPr>
          <a:xfrm>
            <a:off x="6812280" y="3493007"/>
            <a:ext cx="2057400" cy="585216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mall-demo</a:t>
            </a:r>
          </a:p>
        </p:txBody>
      </p:sp>
      <p:sp>
        <p:nvSpPr>
          <p:cNvPr id="8" name="fig"/>
          <p:cNvSpPr/>
          <p:nvPr/>
        </p:nvSpPr>
        <p:spPr>
          <a:xfrm>
            <a:off x="4892040" y="4334255"/>
            <a:ext cx="2057400" cy="585216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mall-mbg</a:t>
            </a:r>
          </a:p>
        </p:txBody>
      </p:sp>
      <p:sp>
        <p:nvSpPr>
          <p:cNvPr id="9" name="fig"/>
          <p:cNvSpPr/>
          <p:nvPr/>
        </p:nvSpPr>
        <p:spPr>
          <a:xfrm>
            <a:off x="411480" y="4334255"/>
            <a:ext cx="2057400" cy="585216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mall-security</a:t>
            </a:r>
          </a:p>
        </p:txBody>
      </p:sp>
      <p:sp>
        <p:nvSpPr>
          <p:cNvPr id="10" name="fig"/>
          <p:cNvSpPr/>
          <p:nvPr/>
        </p:nvSpPr>
        <p:spPr>
          <a:xfrm>
            <a:off x="3246120" y="5175503"/>
            <a:ext cx="2057400" cy="585216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mall-common</a:t>
            </a:r>
          </a:p>
        </p:txBody>
      </p:sp>
      <p:cxnSp>
        <p:nvCxnSpPr>
          <p:cNvPr id="11" name="fig"/>
          <p:cNvCxnSpPr/>
          <p:nvPr/>
        </p:nvCxnSpPr>
        <p:spPr>
          <a:xfrm>
            <a:off x="1211580" y="4078223"/>
            <a:ext cx="228600" cy="256032"/>
          </a:xfrm>
          <a:prstGeom prst="line">
            <a:avLst/>
          </a:prstGeom>
          <a:ln w="22225">
            <a:solidFill>
              <a:srgbClr val="C05A5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fig"/>
          <p:cNvCxnSpPr/>
          <p:nvPr/>
        </p:nvCxnSpPr>
        <p:spPr>
          <a:xfrm flipH="1">
            <a:off x="1440180" y="4078223"/>
            <a:ext cx="1920240" cy="256032"/>
          </a:xfrm>
          <a:prstGeom prst="line">
            <a:avLst/>
          </a:prstGeom>
          <a:ln w="22225">
            <a:solidFill>
              <a:srgbClr val="C05A5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fig"/>
          <p:cNvCxnSpPr/>
          <p:nvPr/>
        </p:nvCxnSpPr>
        <p:spPr>
          <a:xfrm>
            <a:off x="1211580" y="4078223"/>
            <a:ext cx="4709160" cy="256032"/>
          </a:xfrm>
          <a:prstGeom prst="line">
            <a:avLst/>
          </a:prstGeom>
          <a:ln w="22225">
            <a:solidFill>
              <a:srgbClr val="C05A5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fig"/>
          <p:cNvCxnSpPr/>
          <p:nvPr/>
        </p:nvCxnSpPr>
        <p:spPr>
          <a:xfrm>
            <a:off x="3360420" y="4078223"/>
            <a:ext cx="2560320" cy="256032"/>
          </a:xfrm>
          <a:prstGeom prst="line">
            <a:avLst/>
          </a:prstGeom>
          <a:ln w="22225">
            <a:solidFill>
              <a:srgbClr val="C05A5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fig"/>
          <p:cNvCxnSpPr/>
          <p:nvPr/>
        </p:nvCxnSpPr>
        <p:spPr>
          <a:xfrm>
            <a:off x="5646420" y="4078223"/>
            <a:ext cx="274320" cy="256032"/>
          </a:xfrm>
          <a:prstGeom prst="line">
            <a:avLst/>
          </a:prstGeom>
          <a:ln w="22225">
            <a:solidFill>
              <a:srgbClr val="C05A5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fig"/>
          <p:cNvCxnSpPr/>
          <p:nvPr/>
        </p:nvCxnSpPr>
        <p:spPr>
          <a:xfrm flipH="1">
            <a:off x="5920740" y="4078223"/>
            <a:ext cx="1920239" cy="256032"/>
          </a:xfrm>
          <a:prstGeom prst="line">
            <a:avLst/>
          </a:prstGeom>
          <a:ln w="22225">
            <a:solidFill>
              <a:srgbClr val="C05A5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ig"/>
          <p:cNvCxnSpPr/>
          <p:nvPr/>
        </p:nvCxnSpPr>
        <p:spPr>
          <a:xfrm>
            <a:off x="1440180" y="4919471"/>
            <a:ext cx="2834640" cy="256032"/>
          </a:xfrm>
          <a:prstGeom prst="line">
            <a:avLst/>
          </a:prstGeom>
          <a:ln w="22225">
            <a:solidFill>
              <a:srgbClr val="C05A5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ig"/>
          <p:cNvCxnSpPr/>
          <p:nvPr/>
        </p:nvCxnSpPr>
        <p:spPr>
          <a:xfrm flipH="1">
            <a:off x="4274820" y="4919471"/>
            <a:ext cx="1645920" cy="256032"/>
          </a:xfrm>
          <a:prstGeom prst="line">
            <a:avLst/>
          </a:prstGeom>
          <a:ln w="22225">
            <a:solidFill>
              <a:srgbClr val="C05A5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sldNum="0" hdr="0" ftr="0" dt="0"/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构建方式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847088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根 pom.xml 第 36 行写死了 docker.host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构建加 -Ddocker.skip=true，不改这一行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先起 MySQL、Redis、MongoDB、RabbitMQ，再启动 mall</a:t>
            </a:r>
          </a:p>
        </p:txBody>
      </p:sp>
      <p:sp>
        <p:nvSpPr>
          <p:cNvPr id="4" name="code-cmd"/>
          <p:cNvSpPr txBox="1"/>
          <p:nvPr/>
        </p:nvSpPr>
        <p:spPr>
          <a:xfrm>
            <a:off x="502920" y="3712464"/>
            <a:ext cx="8138160" cy="420624"/>
          </a:xfrm>
          <a:prstGeom prst="rect">
            <a:avLst/>
          </a:prstGeom>
          <a:solidFill>
            <a:srgbClr val="F0F0F0"/>
          </a:solidFill>
        </p:spPr>
        <p:txBody>
          <a:bodyPr wrap="square" lIns="18288" rIns="18288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mvn -B -DskipTests -Ddocker.skip=true -pl mall-portal -am package</a:t>
            </a:r>
          </a:p>
        </p:txBody>
      </p:sp>
      <p:sp>
        <p:nvSpPr>
          <p:cNvPr id="5" name="code"/>
          <p:cNvSpPr txBox="1"/>
          <p:nvPr/>
        </p:nvSpPr>
        <p:spPr>
          <a:xfrm>
            <a:off x="411480" y="4169664"/>
            <a:ext cx="8138160" cy="43891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1"/>
          <a:lstStyle/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​&lt;docker.​host&gt;http://192.​168.​3.​101:2375&lt;/docker.​host&gt;</a:t>
            </a:r>
          </a:p>
        </p:txBody>
      </p:sp>
      <p:sp>
        <p:nvSpPr>
          <p:cNvPr id="6" name="fn"/>
          <p:cNvSpPr txBox="1"/>
          <p:nvPr/>
        </p:nvSpPr>
        <p:spPr>
          <a:xfrm>
            <a:off x="411480" y="4626864"/>
            <a:ext cx="8321040" cy="2560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出处：pom.xml:​36-36</a:t>
            </a:r>
          </a:p>
        </p:txBody>
      </p:sp>
    </p:spTree>
  </p:cSld>
  <p:clrMapOvr>
    <a:masterClrMapping/>
  </p:clrMapOvr>
  <p:hf sldNum="0" hdr="0" ftr="0" dt="0"/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使用约定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统一基线是标签 baseline-dcaa93b3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上游提交是 dcaa93b3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示例分支不合并进基线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学生在个人分支上做</a:t>
            </a:r>
          </a:p>
        </p:txBody>
      </p:sp>
    </p:spTree>
  </p:cSld>
  <p:clrMapOvr>
    <a:masterClrMapping/>
  </p:clrMapOvr>
  <p:hf sldNum="0" hdr="0" ftr="0" dt="0"/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不得修改的部分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129539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mall-mbg 的生成代码，不手改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3014472"/>
            <a:ext cx="7918704" cy="129539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admin 与 portal 共用的表结构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4456176"/>
            <a:ext cx="7516367" cy="129539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对外接口，前端按它调用</a:t>
            </a:r>
          </a:p>
        </p:txBody>
      </p:sp>
    </p:spTree>
  </p:cSld>
  <p:clrMapOvr>
    <a:masterClrMapping/>
  </p:clrMapOvr>
  <p:hf sldNum="0" hdr="0" ftr="0" dt="0"/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排障建议先核对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572768"/>
            <a:ext cx="8321040" cy="1847087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先核对运行时事实：第 36 行写死了地址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改这一行会让基线分叉，所以不采纳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不得修改的仍是生成代码、共用表、对外接口</a:t>
            </a:r>
          </a:p>
        </p:txBody>
      </p:sp>
      <p:sp>
        <p:nvSpPr>
          <p:cNvPr id="4" name="fig"/>
          <p:cNvSpPr/>
          <p:nvPr/>
        </p:nvSpPr>
        <p:spPr>
          <a:xfrm>
            <a:off x="365760" y="3493007"/>
            <a:ext cx="4114800" cy="6400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改 docker.host</a:t>
            </a:r>
          </a:p>
        </p:txBody>
      </p:sp>
      <p:sp>
        <p:nvSpPr>
          <p:cNvPr id="5" name="fig"/>
          <p:cNvSpPr/>
          <p:nvPr/>
        </p:nvSpPr>
        <p:spPr>
          <a:xfrm>
            <a:off x="4663440" y="3493007"/>
            <a:ext cx="4114800" cy="6400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加 -Ddocker.skip=true</a:t>
            </a:r>
          </a:p>
        </p:txBody>
      </p:sp>
      <p:sp>
        <p:nvSpPr>
          <p:cNvPr id="6" name="fig"/>
          <p:cNvSpPr/>
          <p:nvPr/>
        </p:nvSpPr>
        <p:spPr>
          <a:xfrm>
            <a:off x="365760" y="4270247"/>
            <a:ext cx="4114800" cy="71323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改写第 36 行</a:t>
            </a:r>
          </a:p>
        </p:txBody>
      </p:sp>
      <p:sp>
        <p:nvSpPr>
          <p:cNvPr id="7" name="fig"/>
          <p:cNvSpPr/>
          <p:nvPr/>
        </p:nvSpPr>
        <p:spPr>
          <a:xfrm>
            <a:off x="4663440" y="4270247"/>
            <a:ext cx="4114800" cy="71323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不改第 36 行</a:t>
            </a:r>
          </a:p>
        </p:txBody>
      </p:sp>
      <p:sp>
        <p:nvSpPr>
          <p:cNvPr id="8" name="fig"/>
          <p:cNvSpPr/>
          <p:nvPr/>
        </p:nvSpPr>
        <p:spPr>
          <a:xfrm>
            <a:off x="365760" y="5074919"/>
            <a:ext cx="4114800" cy="71323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本机地址进提交</a:t>
            </a:r>
          </a:p>
        </p:txBody>
      </p:sp>
      <p:sp>
        <p:nvSpPr>
          <p:cNvPr id="9" name="fig"/>
          <p:cNvSpPr/>
          <p:nvPr/>
        </p:nvSpPr>
        <p:spPr>
          <a:xfrm>
            <a:off x="4663440" y="5074919"/>
            <a:ext cx="4114800" cy="71323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插件不参与打包</a:t>
            </a:r>
          </a:p>
        </p:txBody>
      </p:sp>
    </p:spTree>
  </p:cSld>
  <p:clrMapOvr>
    <a:masterClrMapping/>
  </p:clrMapOvr>
  <p:hf sldNum="0" hdr="0" ftr="0" dt="0"/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小结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365760" y="1481328"/>
          <a:ext cx="85039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6766560"/>
              </a:tblGrid>
              <a:tr h="71628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记住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要点</a:t>
                      </a:r>
                    </a:p>
                  </a:txBody>
                  <a:tcPr anchor="ctr"/>
                </a:tc>
              </a:tr>
              <a:tr h="71628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三个层次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IaaS、PaaS、SaaS，交出去的是这一层以下</a:t>
                      </a:r>
                    </a:p>
                  </a:txBody>
                  <a:tcPr anchor="ctr"/>
                </a:tc>
              </a:tr>
              <a:tr h="71628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两种形态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mall 与 mall-swarm，不是同一版本迁移前后</a:t>
                      </a:r>
                    </a:p>
                  </a:txBody>
                  <a:tcPr anchor="ctr"/>
                </a:tc>
              </a:tr>
              <a:tr h="71628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课堂环境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四个中间件；Elasticsearch、MinIO、Nginx、Logstash、Kibana 标灰</a:t>
                      </a:r>
                    </a:p>
                  </a:txBody>
                  <a:tcPr anchor="ctr"/>
                </a:tc>
              </a:tr>
              <a:tr h="71628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载体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基线 baseline-dcaa93b3；教学分 64 仍选 mall</a:t>
                      </a:r>
                    </a:p>
                  </a:txBody>
                  <a:tcPr anchor="ctr"/>
                </a:tc>
              </a:tr>
              <a:tr h="71628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不改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mall-mbg、共用表、对外接口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hf sldNum="0" hdr="0" ftr="0" dt="0"/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预习题（1—3）</a:t>
            </a:r>
          </a:p>
        </p:txBody>
      </p:sp>
      <p:sp>
        <p:nvSpPr>
          <p:cNvPr id="3" name="quiz"/>
          <p:cNvSpPr>
            <a:spLocks noGrp="1"/>
          </p:cNvSpPr>
          <p:nvPr>
            <p:ph idx="1"/>
          </p:nvPr>
        </p:nvSpPr>
        <p:spPr>
          <a:xfrm>
            <a:off x="237744" y="1444752"/>
            <a:ext cx="8686800" cy="4480560"/>
          </a:xfrm>
        </p:spPr>
        <p:txBody>
          <a:bodyPr wrap="square" lIns="27432" rIns="27432" tIns="18288" bIns="18288" eaLnBrk="1" hangingPunct="1" latinLnBrk="0"/>
          <a:lstStyle/>
          <a:p>
            <a:pPr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实验 E2 开始前完成这五题，题干和选项与课前作业一致，做完再听</a:t>
            </a:r>
          </a:p>
          <a:p>
            <a:pPr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下一讲再讲体系结构</a:t>
            </a:r>
          </a:p>
          <a:p>
            <a:pPr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1. 用来表达“代码如何组织成模块”的是哪一个视图？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A. 逻辑视图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B. 进程视图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C. 开发视图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D. 物理视图</a:t>
            </a:r>
          </a:p>
          <a:p>
            <a:pPr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2. 事务注解只要写在实现类的方法上，事务就一定生效。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A. 正确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B. 错误</a:t>
            </a:r>
          </a:p>
          <a:p>
            <a:pPr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3. “业务判断写在控制器中”属于分层被违背的哪种形态？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A. 逻辑泄漏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B. 跨层调用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C. 循环依赖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D. 依赖生成代码</a:t>
            </a:r>
          </a:p>
        </p:txBody>
      </p:sp>
    </p:spTree>
  </p:cSld>
  <p:clrMapOvr>
    <a:masterClrMapping/>
  </p:clrMapOvr>
  <p:hf sldNum="0" hdr="0" ftr="0" dt="0"/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预习题（4—5）</a:t>
            </a:r>
          </a:p>
        </p:txBody>
      </p:sp>
      <p:sp>
        <p:nvSpPr>
          <p:cNvPr id="3" name="quiz"/>
          <p:cNvSpPr>
            <a:spLocks noGrp="1"/>
          </p:cNvSpPr>
          <p:nvPr>
            <p:ph idx="1"/>
          </p:nvPr>
        </p:nvSpPr>
        <p:spPr>
          <a:xfrm>
            <a:off x="237744" y="1444752"/>
            <a:ext cx="8686800" cy="4480560"/>
          </a:xfrm>
        </p:spPr>
        <p:txBody>
          <a:bodyPr wrap="square" lIns="27432" rIns="27432" tIns="18288" bIns="18288" eaLnBrk="1" hangingPunct="1" latinLnBrk="0"/>
          <a:lstStyle/>
          <a:p>
            <a:pPr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4. 把依赖方向写成可自动执行的检查规则，主要解决什么问题？</a:t>
            </a:r>
          </a:p>
          <a:p>
            <a:pPr lvl="1"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A. 提升编译速度</a:t>
            </a:r>
          </a:p>
          <a:p>
            <a:pPr lvl="1"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B. 自动补全缺失的测试</a:t>
            </a:r>
          </a:p>
          <a:p>
            <a:pPr lvl="1"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C. 减少生成代码的体积</a:t>
            </a:r>
          </a:p>
          <a:p>
            <a:pPr lvl="1"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D. 在后续修改中自动发现架构约束被违背，而不依赖人工复查</a:t>
            </a:r>
          </a:p>
          <a:p>
            <a:pPr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5. 架构决策记录应当说明上下文、决定与后果，以及被否决的方案。</a:t>
            </a:r>
          </a:p>
          <a:p>
            <a:pPr lvl="1"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A. 正确</a:t>
            </a:r>
          </a:p>
          <a:p>
            <a:pPr lvl="1"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B. 错误</a:t>
            </a:r>
          </a:p>
        </p:txBody>
      </p:sp>
    </p:spTree>
  </p:cSld>
  <p:clrMapOvr>
    <a:masterClrMapping/>
  </p:clrMapOvr>
  <p:hf sldNum="0" hdr="0" ftr="0" dt="0"/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课后阅读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365760" y="1481328"/>
          <a:ext cx="85039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6766560"/>
              </a:tblGrid>
              <a:tr h="71628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编号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文献</a:t>
                      </a:r>
                    </a:p>
                  </a:txBody>
                  <a:tcPr anchor="ctr"/>
                </a:tc>
              </a:tr>
              <a:tr h="71628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[21]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NIST SP 800-145</a:t>
                      </a:r>
                    </a:p>
                  </a:txBody>
                  <a:tcPr anchor="ctr"/>
                </a:tc>
              </a:tr>
              <a:tr h="71628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[27]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Le 等 2015</a:t>
                      </a:r>
                    </a:p>
                  </a:txBody>
                  <a:tcPr anchor="ctr"/>
                </a:tc>
              </a:tr>
              <a:tr h="71628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[43]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UC Berkeley《Large Language Model Agents》</a:t>
                      </a:r>
                    </a:p>
                  </a:txBody>
                  <a:tcPr anchor="ctr"/>
                </a:tc>
              </a:tr>
              <a:tr h="71628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[45]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课程实例项目 mall</a:t>
                      </a:r>
                    </a:p>
                  </a:txBody>
                  <a:tcPr anchor="ctr"/>
                </a:tc>
              </a:tr>
              <a:tr h="71628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[46]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mall 的微服务版本 mall-swarm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hf sldNum="0" hdr="0" ftr="0" dt="0"/>
</p:sld>
</file>

<file path=ppt/tags/tag7.xml><?xml version="1.0" encoding="utf-8"?>
<p:tagLst xmlns:p="http://schemas.openxmlformats.org/presentationml/2006/main">
  <p:tag name="commondata" val="eyJoZGlkIjoiZDkzYzZkNDRlZDllNjdlNTFlNDRjOWFlMDM3NGQyOTAifQ=="/>
</p:tagLst>
</file>

<file path=ppt/theme/theme1.xml><?xml version="1.0" encoding="utf-8"?>
<a:theme xmlns:a="http://schemas.openxmlformats.org/drawingml/2006/main" name="2_985平台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mbria-Calibri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bg1">
                <a:gamma/>
                <a:shade val="46275"/>
                <a:invGamma/>
              </a:schemeClr>
            </a:gs>
            <a:gs pos="50000">
              <a:schemeClr val="bg1"/>
            </a:gs>
            <a:gs pos="100000">
              <a:schemeClr val="bg1">
                <a:gamma/>
                <a:shade val="46275"/>
                <a:invGamma/>
              </a:schemeClr>
            </a:gs>
          </a:gsLst>
          <a:lin ang="5400000" scaled="1"/>
        </a:gradFill>
        <a:ln w="38100" cap="flat" cmpd="sng" algn="ctr">
          <a:solidFill>
            <a:srgbClr val="3366FF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bg1">
                <a:gamma/>
                <a:shade val="46275"/>
                <a:invGamma/>
              </a:schemeClr>
            </a:gs>
            <a:gs pos="50000">
              <a:schemeClr val="bg1"/>
            </a:gs>
            <a:gs pos="100000">
              <a:schemeClr val="bg1">
                <a:gamma/>
                <a:shade val="46275"/>
                <a:invGamma/>
              </a:schemeClr>
            </a:gs>
          </a:gsLst>
          <a:lin ang="5400000" scaled="1"/>
        </a:gradFill>
        <a:ln w="38100" cap="flat" cmpd="sng" algn="ctr">
          <a:solidFill>
            <a:srgbClr val="3366FF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985平台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985平台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3022</Words>
  <Application>WPS 演示</Application>
  <PresentationFormat>全屏显示(4:3)</PresentationFormat>
  <Paragraphs>283</Paragraphs>
  <Slides>44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9" baseType="lpstr">
      <vt:lpstr>Arial</vt:lpstr>
      <vt:lpstr>宋体</vt:lpstr>
      <vt:lpstr>Wingdings</vt:lpstr>
      <vt:lpstr>Verdana</vt:lpstr>
      <vt:lpstr>隶书</vt:lpstr>
      <vt:lpstr>Cambria</vt:lpstr>
      <vt:lpstr>黑体</vt:lpstr>
      <vt:lpstr>Times New Roman</vt:lpstr>
      <vt:lpstr>新宋体</vt:lpstr>
      <vt:lpstr>Tahoma</vt:lpstr>
      <vt:lpstr>微软雅黑</vt:lpstr>
      <vt:lpstr>Arial Unicode MS</vt:lpstr>
      <vt:lpstr>Calibri</vt:lpstr>
      <vt:lpstr>华文行楷</vt:lpstr>
      <vt:lpstr>2_985平台</vt:lpstr>
      <vt:lpstr>软件设计与规范 </vt:lpstr>
      <vt:lpstr>自我介绍</vt:lpstr>
      <vt:lpstr>超星学习通</vt:lpstr>
      <vt:lpstr>超星学习通</vt:lpstr>
      <vt:lpstr>教材</vt:lpstr>
      <vt:lpstr>推荐参考书</vt:lpstr>
      <vt:lpstr>参考书</vt:lpstr>
      <vt:lpstr>课程定位</vt:lpstr>
      <vt:lpstr>PowerPoint 演示文稿</vt:lpstr>
      <vt:lpstr>PowerPoint 演示文稿</vt:lpstr>
      <vt:lpstr>解决两大难题</vt:lpstr>
      <vt:lpstr>教学困难--实践能力</vt:lpstr>
      <vt:lpstr>PowerPoint 演示文稿</vt:lpstr>
      <vt:lpstr>PowerPoint 演示文稿</vt:lpstr>
      <vt:lpstr>PowerPoint 演示文稿</vt:lpstr>
      <vt:lpstr>教学困难--解决问题的能力</vt:lpstr>
      <vt:lpstr>PowerPoint 演示文稿</vt:lpstr>
      <vt:lpstr>PowerPoint 演示文稿</vt:lpstr>
      <vt:lpstr>教学改革</vt:lpstr>
      <vt:lpstr>PowerPoint 演示文稿</vt:lpstr>
      <vt:lpstr>PowerPoint 演示文稿</vt:lpstr>
      <vt:lpstr>教学设计</vt:lpstr>
      <vt:lpstr>翻转课堂学习绩效</vt:lpstr>
      <vt:lpstr>考核安排</vt:lpstr>
      <vt:lpstr>PowerPoint 演示文稿</vt:lpstr>
      <vt:lpstr>PowerPoint 演示文稿</vt:lpstr>
      <vt:lpstr>优秀</vt:lpstr>
      <vt:lpstr>课程网站扩展项目</vt:lpstr>
      <vt:lpstr>课程设计</vt:lpstr>
      <vt:lpstr>课程网站案例分类</vt:lpstr>
      <vt:lpstr>案例的使用</vt:lpstr>
      <vt:lpstr>授课方式</vt:lpstr>
      <vt:lpstr>PowerPoint 演示文稿</vt:lpstr>
      <vt:lpstr>课程网站</vt:lpstr>
      <vt:lpstr>能力构成</vt:lpstr>
      <vt:lpstr>环境</vt:lpstr>
      <vt:lpstr>助教</vt:lpstr>
      <vt:lpstr>SWOT分析</vt:lpstr>
      <vt:lpstr>课后阅读</vt:lpstr>
      <vt:lpstr>课后练习</vt:lpstr>
      <vt:lpstr>作业</vt:lpstr>
      <vt:lpstr>Tips</vt:lpstr>
      <vt:lpstr>Tips（续）</vt:lpstr>
      <vt:lpstr>PowerPoint 演示文稿</vt:lpstr>
    </vt:vector>
  </TitlesOfParts>
  <Company>sei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1-1课程简介</dc:title>
  <dc:creator>李萌</dc:creator>
  <cp:lastModifiedBy>lemon 牛</cp:lastModifiedBy>
  <cp:revision>1036</cp:revision>
  <cp:lastPrinted>2003-09-14T10:10:00Z</cp:lastPrinted>
  <dcterms:created xsi:type="dcterms:W3CDTF">2003-08-28T12:03:00Z</dcterms:created>
  <dcterms:modified xsi:type="dcterms:W3CDTF">2024-02-25T15:12:44Z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6B7E428AAD9D47FD86FE404DDCE365B0_12</vt:lpwstr>
  </property>
  <property fmtid="{D5CDD505-2E9C-101B-9397-08002B2CF9AE}" pid="3" name="KSOProductBuildVer">
    <vt:lpwstr>2052-12.1.0.16250</vt:lpwstr>
  </property>
</Properties>
</file>