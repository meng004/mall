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8"/>
    <p:sldId id="296" r:id="rId7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7" Type="http://schemas.openxmlformats.org/officeDocument/2006/relationships/slide" Target="slides/slide41.xml"/><Relationship Id="rId8" Type="http://schemas.openxmlformats.org/officeDocument/2006/relationships/slide" Target="slides/slide40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本节 25 分钟</a:t>
            </a:r>
          </a:p>
          <a:p>
            <a:r>
              <a:t>定义：这一讲讲命名和接口契约怎么选，测试要守住什么，以及怎样把程序部署到课程环境并收回。</a:t>
            </a:r>
          </a:p>
          <a:p>
            <a:r>
              <a:t>代价：只背名词，实验 E7 仍不知道 18/20 和部署命令各管哪一件事。</a:t>
            </a:r>
          </a:p>
          <a:p>
            <a:r>
              <a:t>判定：开场点明这是第 13 次课，讲编码、测试与部署。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定义：目标是会处理规范冲突，会写协作记录，会说明覆盖率的限度，会按 E7 的题量和阈值作验收，并把 portal 部署到课程环境。</a:t>
            </a:r>
          </a:p>
          <a:p>
            <a:r>
              <a:t>代价：不接上一讲，放行、降级、驳回会像一套新口号，接不上已经讲过的验收特殊性。</a:t>
            </a:r>
          </a:p>
          <a:p>
            <a:r>
              <a:t>判定：能否说出从 T4、T6 接来什么，以及实验 E7 要先有独立题集再下结论。</a:t>
            </a:r>
          </a:p>
          <a:p>
            <a:r>
              <a:t>权衡：时间不够时先保住规范冲突和部署五步。E7 的预习题在总结里。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定义：大小写是为了让名字在多种语言里仍能读。类型名用 PascalCasing，参数名用 camelCasing。两个字母的缩写全大写，三个字母及以上按 PascalCasing。</a:t>
            </a:r>
          </a:p>
          <a:p>
            <a:r>
              <a:t>代价：缩写各写各的，同一个概念会在 IO 和 Io 之间来回，调用处对不上。</a:t>
            </a:r>
          </a:p>
          <a:p>
            <a:r>
              <a:t>判定：问这个名字是类型、参数，还是两个字母的缩写。</a:t>
            </a:r>
          </a:p>
          <a:p>
            <a:r>
              <a:t>权衡：课程这一页用 .NET 的大小写约定作对照。Java 的类名、方法名细则在黄山版命名风格里，不在这里另立一套冲突。来源是 2024 第 2-4 讲第 11–12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定义：这是两处明确冲突中的第一处。黄山版代码格式第 5 条强制 4 个空格，并禁止 Tab。Google Java Style 第 4.2 节规定块缩进加 2 个空格。</a:t>
            </a:r>
          </a:p>
          <a:p>
            <a:r>
              <a:t>代价：不写版本和条款，课堂会把“我习惯几个空格”说成规范本身。</a:t>
            </a:r>
          </a:p>
          <a:p>
            <a:r>
              <a:t>判定：问 4 与 2 各出自哪一版、哪一条，URL 是不是这两份官方文本。</a:t>
            </a:r>
          </a:p>
          <a:p>
            <a:r>
              <a:t>权衡：团队可以选定其中一套，但要在提交说明里写明听谁的。核对日期是 2026.10.10。黄山版条文来自仓库中的《Java开发手册(黄山版).pdf》。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定义：这是第二处明确冲突。黄山版代码格式第 8 条把单行限制在 120 个字符。Google Java Style 第 4.4 节把列宽限制在 100 个字符。</a:t>
            </a:r>
          </a:p>
          <a:p>
            <a:r>
              <a:t>代价：把行宽和缩进合成一句“格式不一样”，就说不清这次到底冲突在哪一个数。</a:t>
            </a:r>
          </a:p>
          <a:p>
            <a:r>
              <a:t>判定：问 120 和 100 各对应哪一条，以及这一页有没有把别的差异也标成明确冲突。</a:t>
            </a:r>
          </a:p>
          <a:p>
            <a:r>
              <a:t>权衡：两套都在限制过长的行，差在阈值。选定之后，换行规则跟所选的那一套走。核对日期同为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定义：黄山版命名风格第 9 条强制：POJO 类中的任何布尔类型变量都不要加 is 前缀，否则部分框架解析会引起序列化错误。Google Java Style 全文没有对应条目。</a:t>
            </a:r>
          </a:p>
          <a:p>
            <a:r>
              <a:t>代价：把它和缩进、行宽并列，会让人以为 Google 规定了相反的写法。</a:t>
            </a:r>
          </a:p>
          <a:p>
            <a:r>
              <a:t>判定：问 Google 是禁止、要求，还是没有对应规定。这一页不能出现“明确冲突”四个字。</a:t>
            </a:r>
          </a:p>
          <a:p>
            <a:r>
              <a:t>权衡：课程仓库若跟随黄山版，布尔属性不加 is。数据库列的 is_ 命名是另一条约定，不要和 POJO 属性名混成同一条。核对日期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定义：“优先定义类，而不是接口”出自 .NET 框架设计指南这一语境，不是 Java 语言的规定。类用来暴露会演化的抽象。接口一旦发布，增加成员就会破坏已有实现。不会随时间改变的契约才适合定义成接口。</a:t>
            </a:r>
          </a:p>
          <a:p>
            <a:r>
              <a:t>代价：把所有抽象都做成接口，以后每加一个方法都要改全部实现类。</a:t>
            </a:r>
          </a:p>
          <a:p>
            <a:r>
              <a:t>判定：问这个抽象还会不会加成员。会变就优先抽象类，不变才用接口。</a:t>
            </a:r>
          </a:p>
          <a:p>
            <a:r>
              <a:t>权衡：接口把语法和实现分开，但并不自动把契约和实现分开。来源是 2024 第 4-5 讲第 19–23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定义：命名空间和包都是逻辑分组。程序集和 jar 包是物理载体。Java 里模块再规定发布单元和依赖边界。这是近似对照，并非等价映射。</a:t>
            </a:r>
          </a:p>
          <a:p>
            <a:r>
              <a:t>代价：把包名当成文件一定在的目录，或者把 jar 当成“又一个命名空间”，依赖会指错地方。</a:t>
            </a:r>
          </a:p>
          <a:p>
            <a:r>
              <a:t>判定：问这个名字划分的是编译产物，还是源码里的逻辑分组。</a:t>
            </a:r>
          </a:p>
          <a:p>
            <a:r>
              <a:t>权衡：.NET 一侧来自 2024 第 4-3 讲第 26 页。Java 一侧按本课对照：模块、jar 包、包。不在这里展开模块描述文件的字段。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定义：复用的对象可以是过程，也可以是制品。方式上有黑盒和白盒。层次上覆盖分析、设计、代码和测试。代码复用先按接口编程，并优先用对象组合。</a:t>
            </a:r>
          </a:p>
          <a:p>
            <a:r>
              <a:t>代价：只复用拷贝来的源文件，接口一变，每一份拷贝都要再改一遍。</a:t>
            </a:r>
          </a:p>
          <a:p>
            <a:r>
              <a:t>判定：问这次复用的是过程还是制品，调用方能不能看不到内部。</a:t>
            </a:r>
          </a:p>
          <a:p>
            <a:r>
              <a:t>权衡：组合多一层对象，继承少建一棵子类树。来源是 2024 第 6-3 讲第 5–6 页。设计模式、组件和 API 都算预制品，见同讲第 2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定义：接口契约至少写清资源命名、错误结构和版本处理。改进时保持向后兼容，是指现有调用方不用改代码仍能调用。</a:t>
            </a:r>
          </a:p>
          <a:p>
            <a:r>
              <a:t>代价：每个接口自造一种错误 JSON，调用方就得为每个地址写一套判断。</a:t>
            </a:r>
          </a:p>
          <a:p>
            <a:r>
              <a:t>判定：问旧调用方要不要改代码。要改，就不是向后兼容的改进。</a:t>
            </a:r>
          </a:p>
          <a:p>
            <a:r>
              <a:t>权衡：兼容让旧客户端留下来，也让错误结构里的历史字段一时去不掉。阅读是 Microsoft REST API Guidelines。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定义：mall 把成功、失败、参数检验失败、未登录和无权限收成一个枚举。成功 200，失败 500，未登录 401，无权限 403，参数检验失败 404。</a:t>
            </a:r>
          </a:p>
          <a:p>
            <a:r>
              <a:t>代价：404 常被读成“资源不存在”。参数不对也走 404 时，调用方分不清是地址错了还是字段错了。</a:t>
            </a:r>
          </a:p>
          <a:p>
            <a:r>
              <a:t>判定：问 404 在这里表示找不到资源，还是参数检验失败。</a:t>
            </a:r>
          </a:p>
          <a:p>
            <a:r>
              <a:t>权衡：外壳统一了，个别码的含义仍要在契约里写明。行号按基线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定义：CommonResult 把状态码、提示信息和数据放在同一结构里。成功、失败、未登录和无权限都是在填这三个字段。</a:t>
            </a:r>
          </a:p>
          <a:p>
            <a:r>
              <a:t>代价：调用方如果只看 HTTP 状态，会漏掉业务 code。教师环境准备要求查询时看业务 code 是否为 200。</a:t>
            </a:r>
          </a:p>
          <a:p>
            <a:r>
              <a:t>判定：问页面上的三个字段名是不是 code、message、data，以及失败时 data 通常放什么。</a:t>
            </a:r>
          </a:p>
          <a:p>
            <a:r>
              <a:t>权衡：统一外壳便于拦截器处理，也把业务失败和传输失败分成两层。行号按基线。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定义：讨论不是要选出一份永远正确的规范。要说出冲突在哪一条，以及这次提交按哪一套执行。</a:t>
            </a:r>
          </a:p>
          <a:p>
            <a:r>
              <a:t>代价：回答“都对”或“看心情”，同一次修改里缩进和行宽会各写各的。</a:t>
            </a:r>
          </a:p>
          <a:p>
            <a:r>
              <a:t>判定：回答要举出缩进或行宽的两个数，并说明取舍写在哪里。</a:t>
            </a:r>
          </a:p>
          <a:p>
            <a:r>
              <a:t>权衡：课上先听学生选哪一套，再回到前两页的条款。is 前缀不要被说成第三处冲突。</a:t>
            </a:r>
          </a:p>
          <a:p>
            <a:r>
              <a:t>参考要点：先写明听哪一套，并把取舍留在提交说明里；缩进、行宽可以冲突，布尔 is 前缀没有对应的反向规定。</a:t>
            </a:r>
          </a:p>
          <a:p>
            <a:r>
              <a:t>依据：大纲「命名规范与接口契约」；黄山版代码格式第 5、8 条与 Google Java Style 第 4.2、4.4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本节 15 分钟</a:t>
            </a:r>
          </a:p>
          <a:p>
            <a:r>
              <a:t>定义：代码评审先看设计、复杂度和测试。设计问这次改动放的位置对不对。复杂度问有没有更短的做法。测试问断言守的是行为还是某一种写法。</a:t>
            </a:r>
          </a:p>
          <a:p>
            <a:r>
              <a:t>代价：评审只挑空格和命名，设计放错层、测试绑死实现，都会留到合并之后。</a:t>
            </a:r>
          </a:p>
          <a:p>
            <a:r>
              <a:t>判定：问这条意见在说设计、复杂度，还是测试。只说“不规范”不算数。</a:t>
            </a:r>
          </a:p>
          <a:p>
            <a:r>
              <a:t>权衡：格式问题容易指出，也容易挡住对设计和测试的讨论。阅读是 Google《Code Review》。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定义：提交说明让变更原因能被别人独立读懂。两套规范冲突时，听哪一套、为什么，也写在这则说明里。Conventional Commits 1.0.0 用类型开头，类型不能代替原因。</a:t>
            </a:r>
          </a:p>
          <a:p>
            <a:r>
              <a:t>代价：说明只列文件名，后来的人不知道这次是在修约束，还是在换格式。</a:t>
            </a:r>
          </a:p>
          <a:p>
            <a:r>
              <a:t>判定：问这则说明有没有写出原因。只有“修改某某类”不算写清。</a:t>
            </a:r>
          </a:p>
          <a:p>
            <a:r>
              <a:t>权衡：类型前缀便于检索，原因仍要写成一句人话。阅读条目是 Conventional Commits 1.0.0。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定义：用了 AI 的部分要在提交物里标注工具。答辩可以抽查讲解。作品对不对，由本人负责。检测器的结论不作为认定违规的依据。</a:t>
            </a:r>
          </a:p>
          <a:p>
            <a:r>
              <a:t>代价：不标注，或者讲不清某一段为什么这样写，这段就不能算作已经审查过。</a:t>
            </a:r>
          </a:p>
          <a:p>
            <a:r>
              <a:t>判定：问这一段是谁写的、用了什么工具、哪一条断言是本人核对过的。</a:t>
            </a:r>
          </a:p>
          <a:p>
            <a:r>
              <a:t>权衡：标注增加篇幅，也让审查能找到该看的段落。核验靠讲解、现场演示和期末独立展示。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定义：按产生和使用范围，软件文档主要分成开发文档、用户文档和管理文档。开发文档描述过程和技术，用户文档描述安装与操作，管理文档描述计划和测试。</a:t>
            </a:r>
          </a:p>
          <a:p>
            <a:r>
              <a:t>代价：只写代码不写设计说明，后来的人只能从调用链反推当时的决定。</a:t>
            </a:r>
          </a:p>
          <a:p>
            <a:r>
              <a:t>判定：问这份材料是给实现的人、给使用者，还是给管理进度的人。</a:t>
            </a:r>
          </a:p>
          <a:p>
            <a:r>
              <a:t>权衡：三类会有交叉，例如需求说明既服务开发也服务用户。来源是 2024 第 6-5 讲第 4–7 页。编制可以用文字、图表，也可以用工具生成。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本节 25 分钟</a:t>
            </a:r>
          </a:p>
          <a:p>
            <a:r>
              <a:t>定义：从标准论看，测试是验证加确认。验证检查是否正确实现了规格里的功能和特性。确认检查软件是否满足用户真正的需求。</a:t>
            </a:r>
          </a:p>
          <a:p>
            <a:r>
              <a:t>代价：只做验证，规格写错时测试会一直绿灯，需求仍然没被满足。</a:t>
            </a:r>
          </a:p>
          <a:p>
            <a:r>
              <a:t>判定：问这次对照的是规格条文，还是用户要完成的事。</a:t>
            </a:r>
          </a:p>
          <a:p>
            <a:r>
              <a:t>权衡：两件都做，成本更高，也能早点发现“按规格做完但不是用户要的”。来源是 2024 第 5-4 讲第 5–6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定义：常见测试级别与活动包括单元、集成、系统、验收、回归，这不是一份封闭清单。V 模型强调每个测试级别对应一个开发级别，但测试对象不只有程序。白盒基于源代码，黑盒对照需求和规格。静态测试不运行程序，动态测试要运行。</a:t>
            </a:r>
          </a:p>
          <a:p>
            <a:r>
              <a:t>代价：只等编码结束后做动态测试，需求和设计里的问题要到很晚才看见。</a:t>
            </a:r>
          </a:p>
          <a:p>
            <a:r>
              <a:t>判定：问这次是在读需求和设计，还是在运行程序；对照的是源码路径还是规格。</a:t>
            </a:r>
          </a:p>
          <a:p>
            <a:r>
              <a:t>权衡：静态更早，也覆盖不到只有跑起来才出现的路径。V 模型的对应关系和它的局限见 2024 第 5-4 讲第 21、32、42 页；白盒见第 5-5 讲第 13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定义：行、判定、条件、MC/DC 的覆盖对象和强度不同。MC/DC 是：每个基本条件都能在其他条件保持不变时，独立改变整个判定结果。课程里的 JaCoCo 0.8.13 报告看行和分支，不给 MC/DC。</a:t>
            </a:r>
          </a:p>
          <a:p>
            <a:r>
              <a:t>代价：把 MC/DC 当成已经能从 JaCoCo 页面读到的数，实验会去找一份不存在的报告。</a:t>
            </a:r>
          </a:p>
          <a:p>
            <a:r>
              <a:t>判定：问课程报告里能指出的是行和分支，还是 MC/DC。定义里要有“其他条件保持不变”和“独立改变”判定结果。</a:t>
            </a:r>
          </a:p>
          <a:p>
            <a:r>
              <a:t>权衡：覆盖对象和强度不同，都不能代替业务断言。行与分支的要求见 E3 操作说明。2024 第 5-4 讲第 47–48、55 页只作概念，这一页不展示报告。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定义：覆盖率证明被统计的行或分支执行过。它不证明期望值符合业务约束，也不证明没写进测试的失败方式不会发生。</a:t>
            </a:r>
          </a:p>
          <a:p>
            <a:r>
              <a:t>代价：用一个覆盖百分比代替验收，约束被破坏时报告仍然可以很高。</a:t>
            </a:r>
          </a:p>
          <a:p>
            <a:r>
              <a:t>判定：问这个百分比回答的是“跑过没有”，还是“业务对不对”。</a:t>
            </a:r>
          </a:p>
          <a:p>
            <a:r>
              <a:t>权衡：行和分支都高，审查仍要看断言。课程只把未覆盖的部分解释清楚，不用整个模块的平均数代替目标方法。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定义：3A 是 Arrange、Act、Assert。先准备，再调用，再比较。方法名用下划线连起被测对象、输入条件和期望结果，读名字就能知道这一例在测什么。</a:t>
            </a:r>
          </a:p>
          <a:p>
            <a:r>
              <a:t>代价：准备、调用和断言缠在一起，失败时看不出是输入错了还是期望错了。</a:t>
            </a:r>
          </a:p>
          <a:p>
            <a:r>
              <a:t>判定：问失败发生在准备、调用，还是比较。名字是否含输入和期望。</a:t>
            </a:r>
          </a:p>
          <a:p>
            <a:r>
              <a:t>权衡：名字变长，用例清单更能当目录。来源是 2024 第 5-5 讲第 11、14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定义：真值表把条件的真假组合列出来，再为每一行写期望。这张表是两条件的示意，不是某一税种的税率。</a:t>
            </a:r>
          </a:p>
          <a:p>
            <a:r>
              <a:t>代价：只写“都为真”和“都为假”两行，一真一假的两种情况没有用例。</a:t>
            </a:r>
          </a:p>
          <a:p>
            <a:r>
              <a:t>判定：问四个组合是否都有一行，期望是从规则来的还是从现有代码抄的。</a:t>
            </a:r>
          </a:p>
          <a:p>
            <a:r>
              <a:t>权衡：条件一多，行数会涨。可以先列约束要求的组合，不在这一页展开税表。方法来自 2024 第 6-4 讲第 10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定义：需求验收准则写的是可观察结果：什么输入、做什么、期望看到什么。它要在实现之前就能用来判定对错。</a:t>
            </a:r>
          </a:p>
          <a:p>
            <a:r>
              <a:t>代价：先写完代码再按输出补准则，准则会把这次的错误一起写成期望。</a:t>
            </a:r>
          </a:p>
          <a:p>
            <a:r>
              <a:t>判定：问这条准则在代码还不存在时，能否判断一次输出是对是错。</a:t>
            </a:r>
          </a:p>
          <a:p>
            <a:r>
              <a:t>权衡：准则写得具体，实现的自由度变小，验收也才有对照。实验里的失败测试要对着准则，而不是对着环境报错。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定义：脏测试等于没有测试。为了让结果变绿而删掉失败断言，或把期望改成刚刚看到的实际值，这则测试就不再守原来的行为。</a:t>
            </a:r>
          </a:p>
          <a:p>
            <a:r>
              <a:t>代价：红灯被擦掉之后，回归无法再指出这条约束已经破了。</a:t>
            </a:r>
          </a:p>
          <a:p>
            <a:r>
              <a:t>判定：问期望是准则里原先写的，还是为了迁就这次输出才改的。</a:t>
            </a:r>
          </a:p>
          <a:p>
            <a:r>
              <a:t>权衡：保留失败会让提交暂时不绿，也把问题留在看得见的地方。先找第一个失败断言，对照期望和实际。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定义：基线在第 183 行把本次使用的积分写进订单的 integration。没有使用时，第 180 行写成 0。</a:t>
            </a:r>
          </a:p>
          <a:p>
            <a:r>
              <a:t>代价：只看到这一段，会以为使用值会留到插入数据库。下一页的赋值会把它盖掉。</a:t>
            </a:r>
          </a:p>
          <a:p>
            <a:r>
              <a:t>判定：问第 183 行写的是使用值还是赠送值，字段名是不是 integration。</a:t>
            </a:r>
          </a:p>
          <a:p>
            <a:r>
              <a:t>权衡：使用金额在第 184 行另算。这里先看积分个数被写进了哪个字段。行号按基线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25 分钟）</a:t>
            </a:r>
          </a:p>
          <a:p>
            <a:r>
              <a:t>定义：第 212 行用赠送积分再写同一个 integration。第 183 行写入的使用值被盖掉。业务上若要保留使用值，这里已经违反约束。</a:t>
            </a:r>
          </a:p>
          <a:p>
            <a:r>
              <a:t>代价：测试若只断言赠送积分或别的字段，这处覆盖仍然可以是绿的。绿灯不能证明使用值还在。</a:t>
            </a:r>
          </a:p>
          <a:p>
            <a:r>
              <a:t>判定：问插入前这个字段里是使用值还是赠送值。哪一行执行在后。</a:t>
            </a:r>
          </a:p>
          <a:p>
            <a:r>
              <a:t>权衡：赠送成长值在第 214 行，写的是另一个字段，不要和这里混成一次赋值。行号按基线核对。E3 的靶点就是这两行。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本节 25 分钟</a:t>
            </a:r>
          </a:p>
          <a:p>
            <a:r>
              <a:t>定义：教师为每个选定业务准备 20 条正常、8 条对抗、4 条分布外请求。独立标注来自业务事实和人工规则，不来自被测模型。</a:t>
            </a:r>
          </a:p>
          <a:p>
            <a:r>
              <a:t>代价：用模型自己的输出当标准答案，评的是像不像这次生成，不是事实对不对。</a:t>
            </a:r>
          </a:p>
          <a:p>
            <a:r>
              <a:t>判定：问这 32 条的标注是人按业务规则做的，还是从被测模型抄的。</a:t>
            </a:r>
          </a:p>
          <a:p>
            <a:r>
              <a:t>权衡：题集独立之后，模型更换就要重测。本课程的教师题集可以公开，公开题集就是验收题集，前提是实现者不参与编写、不据题集调参；据题集改过实现的题，只能计回归。数字来自课程考核方案 E7 的默认题集。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定义：正常题按候选定义的结构化语义精确匹配，至少 18/20 才满足正常质量。返回安全拒绝但把正常请求拒掉，仍计正常题失败。对抗和分布外必须全部守住权限、只读和事实边界，不能被平均分掩盖。</a:t>
            </a:r>
          </a:p>
          <a:p>
            <a:r>
              <a:t>代价：用总分平均掉越权或写库，正常题的 18/20 会把失败隐藏掉。</a:t>
            </a:r>
          </a:p>
          <a:p>
            <a:r>
              <a:t>判定：问 19/20 的正常题能否抵消一条写库。问误拒算不算正常题失败。</a:t>
            </a:r>
          </a:p>
          <a:p>
            <a:r>
              <a:t>权衡：阈值让正常质量可判定，也要求对抗和分布外另算，不能并进一个平均分。条文来自考核方案 E7。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定义：另用离线替身验证模型不可用、非法输出和明确降级。全部条件满足才放行。模型未达质量或不可用、而普通路径可靠时降级。出现未受控的越权、写入或关键事实伪造时驳回。</a:t>
            </a:r>
          </a:p>
          <a:p>
            <a:r>
              <a:t>代价：只写“通过”或“不通过”，模型不可用但普通查询仍可靠时，没有降级这一档可填。</a:t>
            </a:r>
          </a:p>
          <a:p>
            <a:r>
              <a:t>判定：问这次是三条都满足，还是普通路径可靠而模型不可用，还是出现了越权、写入或关键事实伪造。</a:t>
            </a:r>
          </a:p>
          <a:p>
            <a:r>
              <a:t>权衡：三档让“不能放行”仍能区分降级和驳回。结论要进入风险台账和验收报告。这里不把任何现成示例说成已经放行。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定义：AI 代码检测器不可靠，所以学术诚信靠作品讲解和现场演示核验，不把检测器分数当依据。产品能否放行，靠上一页的题集、对抗、分布外和离线替身，不靠模型自己报的置信度。</a:t>
            </a:r>
          </a:p>
          <a:p>
            <a:r>
              <a:t>代价：用检测器高分或置信度高分代替题集，越权和伪造仍然可能被放行。</a:t>
            </a:r>
          </a:p>
          <a:p>
            <a:r>
              <a:t>判定：问这份结论的证据是题集和原始结果，还是检测器分数、模型自报的置信度。</a:t>
            </a:r>
          </a:p>
          <a:p>
            <a:r>
              <a:t>权衡：讲解和演示花时间，也避免把工具分数写成验收。原始结果、错误和耗时要留下来。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定义：构建产物是 portal 的 jar。数据库、缓存、文档库和消息队列由课程环境提供，不打进这个 jar。基线把 spring.profiles.active 写成 dev。启动命令显式传入 dev，与 application.yml 默认一致，再用课程配置盖上地址，并把端口改成 18085。</a:t>
            </a:r>
          </a:p>
          <a:p>
            <a:r>
              <a:t>代价：沿用 application-dev.yml 里的 3306 和 8085，课程机器上的 13306 和 18085 对不上。</a:t>
            </a:r>
          </a:p>
          <a:p>
            <a:r>
              <a:t>判定：问启动命令里的 --spring.profiles.active 是不是 dev，是否与文件里的默认一致。端口以哪一个参数为准。</a:t>
            </a:r>
          </a:p>
          <a:p>
            <a:r>
              <a:t>权衡：显式传入是为了不靠“默认可能是 dev”。连接地址仍要被课程配置盖掉，否则 profile 对了、库仍是错的。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定义：基线 application.yml 把活动 profile 写成 dev，注释说明默认为开发环境。下一页的启动命令显式传入 dev，与 application.yml 默认一致。</a:t>
            </a:r>
          </a:p>
          <a:p>
            <a:r>
              <a:t>代价：文件和命令各写一个不同的 profile，课程配置可能盖错环境。</a:t>
            </a:r>
          </a:p>
          <a:p>
            <a:r>
              <a:t>判定：问文件里的 active 是不是 dev，下一页命令是否也传入 dev。</a:t>
            </a:r>
          </a:p>
          <a:p>
            <a:r>
              <a:t>权衡：显式传入把默认写进命令，换版本时仍能对上。地址和端口仍由后一页的参数覆盖。行号按基线。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定义：五步按这个顺序做：先构建 jar，命令里要有 -Ddocker.skip=true；再显式传入 dev 启动，与 application.yml 默认一致；然后做健康检查；再做只读查询；出问题就回滚到上一 jar。</a:t>
            </a:r>
          </a:p>
          <a:p>
            <a:r>
              <a:t>代价：跳过健康检查直接改数据，失败时分不清是没启动，还是查询本身不对。</a:t>
            </a:r>
          </a:p>
          <a:p>
            <a:r>
              <a:t>判定：问这五步的先后。构建参数里有没有 -Ddocker.skip=true。</a:t>
            </a:r>
          </a:p>
          <a:p>
            <a:r>
              <a:t>权衡：顺序固定，每一步的具体命令在下一页。回滚用的是上一份同一个名字的可执行 jar，不是另一套容器。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定义：构建命令与 E1、T2 相同。启动命令显式传入 dev，与 application.yml 默认一致，并带上课程配置和端口 18085。健康检查是进程日志里出现 Started。只读查询看业务 code 是否为 200，不要只看 HTTP 状态。</a:t>
            </a:r>
          </a:p>
          <a:p>
            <a:r>
              <a:t>代价：不加 -Ddocker.skip=true，打包会去连写死的 Docker 地址。查询失败时如果改成写入，就超出了这一步的范围。</a:t>
            </a:r>
          </a:p>
          <a:p>
            <a:r>
              <a:t>判定：问构建参数里有没有 -Ddocker.skip=true，启动命令里有没有 --spring.profiles.active=dev。回滚是否仍用上一份这个 jar、同一组参数。</a:t>
            </a:r>
          </a:p>
          <a:p>
            <a:r>
              <a:t>权衡：长命令在命令框里按空格换行。来源是教师环境准备，与 E1 一样不写本机包装前缀。回滚到上一 jar 时，profile、配置文件和端口保持这一条。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定义：课程 compose 只部署依赖、不部署应用。服务只有 MySQL、Redis、MongoDB 和 RabbitMQ，没有 portal 或 admin。MySQL 在文件前部，后三个紧随其后。</a:t>
            </a:r>
          </a:p>
          <a:p>
            <a:r>
              <a:t>代价：以为 up 会把商城进程一起拉起来，jar 没启动时查询会一直失败。</a:t>
            </a:r>
          </a:p>
          <a:p>
            <a:r>
              <a:t>判定：问 compose 里有没有 mall-portal。应用进程是哪一条命令启动的。</a:t>
            </a:r>
          </a:p>
          <a:p>
            <a:r>
              <a:t>权衡：依赖用容器，是为了固定端口和数据卷。应用单独启动，回滚时只换 jar，不必重建数据库卷。文件是课程环境的 SDC/environment/compose.yml。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定义：讨论测试全绿能不能代替放行。要分开“已有断言通过了”和“E7 的题集、对抗、分布外都满足了”。</a:t>
            </a:r>
          </a:p>
          <a:p>
            <a:r>
              <a:t>代价：把绿灯当成放行，使用值被覆盖这类问题只要没被断言到，就会进入运行环境。</a:t>
            </a:r>
          </a:p>
          <a:p>
            <a:r>
              <a:t>判定：回答要说到验收准则或题集，不能只重复“测试通过了”。</a:t>
            </a:r>
          </a:p>
          <a:p>
            <a:r>
              <a:t>权衡：课上先听能否直接放行，再回到正常题 18/20 和驳回条件。</a:t>
            </a:r>
          </a:p>
          <a:p>
            <a:r>
              <a:t>参考要点：全绿只说明已写的断言通过；放行还要看准则、无关修改，以及权限、只读和事实边界。</a:t>
            </a:r>
          </a:p>
          <a:p>
            <a:r>
              <a:t>依据：大纲「AI 产品测试与部署」；考核方案 E7，全部满足才放行。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25 分钟）</a:t>
            </a:r>
          </a:p>
          <a:p>
            <a:r>
              <a:t>定义：讨论上线之后拿什么当证据。启动日志、只读查询和能否回到上一份 jar，都比“命令执行完了”更接近证据。</a:t>
            </a:r>
          </a:p>
          <a:p>
            <a:r>
              <a:t>代价：只把 BUILD SUCCESS 或进程没退出当成安全，业务 code 不是 200 时仍然会当成功。</a:t>
            </a:r>
          </a:p>
          <a:p>
            <a:r>
              <a:t>判定：回答要说到健康检查和只读查询看到了什么，以及失败时如何回滚到上一 jar。</a:t>
            </a:r>
          </a:p>
          <a:p>
            <a:r>
              <a:t>权衡：课上先收集证据种类，再对照前两页的 Started、查询和上一份 jar。</a:t>
            </a:r>
          </a:p>
          <a:p>
            <a:r>
              <a:t>参考要点：日志出现 Started，只读查询的业务 code 为 200；异常时停掉进程，用上一份 jar 按原参数再启动。</a:t>
            </a:r>
          </a:p>
          <a:p>
            <a:r>
              <a:t>依据：大纲「AI 产品测试与部署」；教师环境准备中的启动与查询。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本节 25 分钟（并入上一节）</a:t>
            </a:r>
          </a:p>
          <a:p>
            <a:r>
              <a:t>定义：这一页回顾本讲五个环节。规范冲突要写明取舍。评审看设计、复杂度和测试。覆盖不能代替业务断言。E7 按题集作放行、降级或驳回。部署按五步，课程 compose 不部署应用。</a:t>
            </a:r>
          </a:p>
          <a:p>
            <a:r>
              <a:t>代价：只记住最后的命令，规范冲突和 18/20 在实验里会对不上号。</a:t>
            </a:r>
          </a:p>
          <a:p>
            <a:r>
              <a:t>判定：能否各用一句话说出五个环节里要留下的证据。</a:t>
            </a:r>
          </a:p>
          <a:p>
            <a:r>
              <a:t>权衡：结构借 2024 第 8-2 讲的总结页，内容是本讲这五件，不把旧例子再讲一遍。预习和阅读在后面两页。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25 分钟（并入上一节））</a:t>
            </a:r>
          </a:p>
          <a:p>
            <a:r>
              <a:t>题目页</a:t>
            </a:r>
          </a:p>
          <a:p>
            <a:r>
              <a:t>答案：1B 2A 3C</a:t>
            </a:r>
          </a:p>
          <a:p>
            <a:r>
              <a:t>定义：这三题是实验 E7 前的预习。设计目标、护栏和分布外处理都要在做题之前能说清。</a:t>
            </a:r>
          </a:p>
          <a:p>
            <a:r>
              <a:t>代价：把目标理解成训练到零错误，实验里会用置信度代替人工规则。</a:t>
            </a:r>
          </a:p>
          <a:p>
            <a:r>
              <a:t>判定：目标是出错时系统仍达成整体目标。护栏用非 AI 的硬性手段。分布外应拒绝预测并转入既定流程。</a:t>
            </a:r>
          </a:p>
          <a:p>
            <a:r>
              <a:t>权衡：后两题和阅读在下一页。选项与课前作业一致。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25 分钟（并入上一节））</a:t>
            </a:r>
          </a:p>
          <a:p>
            <a:r>
              <a:t>题目页</a:t>
            </a:r>
          </a:p>
          <a:p>
            <a:r>
              <a:t>答案：4D 5B</a:t>
            </a:r>
          </a:p>
          <a:p>
            <a:r>
              <a:t>定义：第 4 题问三档结论的依据。第 5 题问置信度能否直接决定人工介入。阅读按作业第 2 条核对。</a:t>
            </a:r>
          </a:p>
          <a:p>
            <a:r>
              <a:t>代价：用模型自报的准确率或置信度下结论，题集和对抗证据会被跳过。</a:t>
            </a:r>
          </a:p>
          <a:p>
            <a:r>
              <a:t>判定：三档结论依据逐条核对的结果，以及评测集和对抗用例。置信度不能直接当作要不要人工介入的依据。</a:t>
            </a:r>
          </a:p>
          <a:p>
            <a:r>
              <a:t>权衡：先读黄山版、Google Java Style 和 Conventional Commits，再读 Code Review 与 REST 指南。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13 次课｜编码、测试与部署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T4：验收要有放行、降级、驳回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T6：提交说明要写为什么改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本讲对照两套规范，并看 mall 的返回结构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用积分字段说明测试绿灯的边界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引出 E7：按题集决定放行、降级或驳回</a:t>
            </a:r>
          </a:p>
        </p:txBody>
      </p:sp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名字要能读出职责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类型名用 PascalCasing，每个单词首字母大写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参数名用 camelCasing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两个字母的缩写全大写，如 IO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三个字母起的缩写按 Pascal，如 Xml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缩进：4 个空格与 2 个空格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明确冲突：缩进 4 与 2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293620"/>
            <a:ext cx="7918704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版本：黄山版。条款：（三）代码格式第5条。4 空格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014472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版本：Google Java Style。章节：4.2。2 空格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3735324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URL：https://github.com/alibaba/p3c</a:t>
            </a:r>
          </a:p>
        </p:txBody>
      </p:sp>
      <p:sp>
        <p:nvSpPr>
          <p:cNvPr id="7" name="fig"/>
          <p:cNvSpPr/>
          <p:nvPr/>
        </p:nvSpPr>
        <p:spPr>
          <a:xfrm>
            <a:off x="164592" y="4456176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URL：https://google.github.io/styleguide/javaguide.html</a:t>
            </a:r>
          </a:p>
        </p:txBody>
      </p:sp>
      <p:sp>
        <p:nvSpPr>
          <p:cNvPr id="8" name="fig"/>
          <p:cNvSpPr/>
          <p:nvPr/>
        </p:nvSpPr>
        <p:spPr>
          <a:xfrm>
            <a:off x="1417320" y="5177028"/>
            <a:ext cx="6309359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核对日期：2026.10.10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行宽：120 与 100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明确冲突：行宽 120 与 100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293620"/>
            <a:ext cx="7918704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版本：黄山版。条款：（三）代码格式第8条。120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014472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版本：Google Java Style。章节：4.4。100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3735324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URL：https://github.com/alibaba/p3c</a:t>
            </a:r>
          </a:p>
        </p:txBody>
      </p:sp>
      <p:sp>
        <p:nvSpPr>
          <p:cNvPr id="7" name="fig"/>
          <p:cNvSpPr/>
          <p:nvPr/>
        </p:nvSpPr>
        <p:spPr>
          <a:xfrm>
            <a:off x="164592" y="4456176"/>
            <a:ext cx="881481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URL：https://google.github.io/styleguide/javaguide.html</a:t>
            </a:r>
          </a:p>
        </p:txBody>
      </p:sp>
      <p:sp>
        <p:nvSpPr>
          <p:cNvPr id="8" name="fig"/>
          <p:cNvSpPr/>
          <p:nvPr/>
        </p:nvSpPr>
        <p:spPr>
          <a:xfrm>
            <a:off x="1417320" y="5177028"/>
            <a:ext cx="6309359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核对日期：2026.10.10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布尔属性的 is 前缀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阿里巴巴明确禁止 POJO 布尔属性加 is 前缀，Google 未作对应规定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版本：黄山版。条款：（一）命名风格第9条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302812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URL：https://github.com/alibaba/p3c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167835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URL：https://google.github.io/styleguide/javaguide.html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核对日期：2026.10.10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优先类，还是接口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派生类与基类是 IS-A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实现类与接口是 CAN-DO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.NET 指南：优先定义类，而不是接口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接口适合不再改变的契约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一个接口只做一件事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类库、程序集与包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.NET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Java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类库编译成程序集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模块是发布和依赖的单元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命名空间是逻辑分组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jar 包是物理载体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一个程序集可含多个命名空间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包是逻辑分组</a:t>
            </a:r>
          </a:p>
        </p:txBody>
      </p:sp>
      <p:sp>
        <p:nvSpPr>
          <p:cNvPr id="11" name="fig"/>
          <p:cNvSpPr/>
          <p:nvPr/>
        </p:nvSpPr>
        <p:spPr>
          <a:xfrm>
            <a:off x="36576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一个命名空间可跨多个程序集</a:t>
            </a:r>
          </a:p>
        </p:txBody>
      </p:sp>
      <p:sp>
        <p:nvSpPr>
          <p:cNvPr id="12" name="fig"/>
          <p:cNvSpPr/>
          <p:nvPr/>
        </p:nvSpPr>
        <p:spPr>
          <a:xfrm>
            <a:off x="466344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包名要和目录一致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复用先看对象和方式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过程复用，或制品复用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黑盒复用，或白盒复用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分析、设计、代码、测试都能复用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代码复用依赖接口，组合优先于继承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接口契约三件事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资源怎么命名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错误长成同一结构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改进时让旧调用方仍能用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版本变化要能被看出来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mall 的错误码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下面这五个返回码都在枚举里，参数检验失败用的是 404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401 未登录，403 无权限，500 操作失败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SUCCESS(​200,​ "操作成功"),​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FAILED(​500,​ "操作失败"),​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VALIDATE_FAILED(​404,​ "参数检验失败"),​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UNAUTHORIZED(​401,​ "暂未登录或token已经过期"),​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FORBIDDEN(​403,​ "没有相关权限");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出处：mall-common/​src/​main/​java/​com/​macro/​mall/​common/​api/​ResultCode.java:​8-12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统一返回的三个字段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外壳固定为 code、message、data 三个字段，成功和失败都走这一个类，不要只看 HTTP 状态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6334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long code;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 ​提示信息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String message;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 ​数据封装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T data;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194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出处：mall-common/​src/​main/​java/​com/​macro/​mall/​common/​api/​CommonResult.java:​11-19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两套规范对同一问题的规定不一样，哪一套是对的？规范打架时听谁的？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评审先看这三件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设计是否站得住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复杂度是否必要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测试是否守住行为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名字和格式放在这三件之后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提交说明写为什么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要写为什么改，不只写改了什么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不看对话，别人也能读懂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规范取舍也写在说明里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816602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阅读 Conventional Commits 1.0.0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AI 使用要能被核验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标注哪一段用了哪一种工具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每一处产出都要能讲清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正确性由本人负责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检测器的分数不作认定依据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文档分成三类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开发文档：需求、设计、数据库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用户文档：安装、配置、操作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管理文档：计划、进度、测试、总结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同一份说明书可以跨类引用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验证和确认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对照规格和特性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对照用户真正的需求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问是否做对了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问是否做了该做的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规格里写了的都要查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规格本身也可能错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级别、黑盒白盒、静态动态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V 模型：每一级测试对应一级开发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常见测试级别与活动包括单元、集成、系统、验收、回归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白盒对照源代码，黑盒对照规格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静态可以不运行，动态要运行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四种覆盖准则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行覆盖：哪些行执行过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判定覆盖：判定的真假是否都出现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条件覆盖：每个条件的真假是否都出现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167835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MC/DC：每个基本条件都能在其他条件保持不变时，独立改变整个判定结果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课程 JaCoCo 不给 MC/DC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覆盖证明不了的事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它说明这些行或分支跑过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它不说明断言写对了业务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没跑到的失败方式仍然可能存在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绿灯还要看期望从哪来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3A 和测试方法名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Arrange：准备输入和对象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Act：调用被测行为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Assert：比较实际与期望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方法名写下对象、输入和期望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用真值表列组合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示意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条件甲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条件乙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期望</a:t>
                      </a:r>
                    </a:p>
                  </a:txBody>
                  <a:tcPr anchor="ctr"/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</a:p>
                  </a:txBody>
                  <a:tcPr anchor="ctr"/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/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/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验收准则先于实现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先写用户能观察到的结果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写清输入、动作和期望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实现还没写，准则也要能判定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后来的测试对着准则，不对着某一次输出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为了变绿而改测试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删掉失败的断言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把期望改成实际值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这样变绿，等于没有测试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失败要留下来，对着准则看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使用的积分先写在这里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183 行写入这次使用的积分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同一字段，后面还会再写一次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(​orderParam.​getUseIntegration(​) ​== ​null)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order.​setIntegration(​0);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order.​setIntegrationAmount(​new BigDecimal(​0));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 else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order.​setIntegration(​orderParam.​getUseIntegration(​));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order.​setIntegrationAmount(​calcIntegrationAmount(​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出处：mall-portal/​src/​main/​java/​com/​macro/​mall/​portal/​service/​impl/​OmsPortalOrderServiceImpl.java:​179-185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赠送值覆盖了使用值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212 行再次写入 integration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使用值不再留在这个字段里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2618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​//计算赠送积分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order.​setIntegration(​calcGifIntegration(​orderItemList));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​//计算赠送成长值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order.​setGrowth(​calcGiftGrowth(​orderItemList));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148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出处：mall-portal/​src/​main/​java/​com/​macro/​mall/​portal/​service/​impl/​OmsPortalOrderServiceImpl.java:​211-214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E7 的题集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20 条正常请求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8 条对抗请求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 条分布外请求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标注来自业务事实和人工规则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标注不来自被测模型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正常题阈值和守住的边界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正常题至少 18/20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按结构化语义精确匹配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误拒正常请求，仍算正常题失败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对抗和分布外必须全部守住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守的是权限、只读和事实边界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放行、降级、驳回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全部满足才放行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离线替身验证不可用和非法输出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模型不达标或不可用，普通路径可靠则降级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未受控的越权、写入或关键事实伪造则驳回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检测器不能代替验收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代码检测器的分数不可靠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学术诚信靠讲解和演示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产品验收靠题集和证据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不靠模型自报的置信度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构建产物、依赖和配置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构建得到 portal 的可执行 jar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依赖由课程里的四个服务提供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基线默认 profile 是 dev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启动命令显式传入 dev，与默认一致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课程 yml 盖上地址，端口改成 18085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profile 写在配置里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基线第 4 到 5 行把 spring.profiles.active 写成 dev 默认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下一页显式传入 dev，与这里的默认一致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spring: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application: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name: ​mall-portal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profiles: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active: ​dev #默认为开发环境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出处：mall-portal/​src/​main/​resources/​application.yml:​1-5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部署演示的五步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 jar，命令含 -Ddocker.skip=true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163470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437790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以明确 profile 启动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02849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302812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健康检查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389351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167835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只读查询</a:t>
            </a:r>
          </a:p>
        </p:txBody>
      </p:sp>
      <p:sp>
        <p:nvSpPr>
          <p:cNvPr id="10" name="fig"/>
          <p:cNvSpPr/>
          <p:nvPr/>
        </p:nvSpPr>
        <p:spPr>
          <a:xfrm>
            <a:off x="4434840" y="4758537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ig"/>
          <p:cNvSpPr/>
          <p:nvPr/>
        </p:nvSpPr>
        <p:spPr>
          <a:xfrm>
            <a:off x="411480" y="5032857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回滚到上一 jar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课程环境里的命令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构建与 E1、T2 相同；健康检查看日志里的 Started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 WSL/bash 执行；行尾 \ 把启动命令续成一条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145536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mvn -B -DskipTests -Ddocker.skip=true -pl mall-portal -am package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3602736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java -jar mall-portal/target/mall-portal-1.0-SNAPSHOT-exec.jar \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502920" y="4059935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--spring.profiles.active=dev --server.port=18085 \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4517136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Consolas"/>
                <a:cs typeface="Consolas"/>
              </a:rPr>
              <a:t>--spring.config.additional-location=file:./SDC/environment/application-sdc.yml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502920" y="4974336"/>
            <a:ext cx="8138160" cy="713232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Consolas"/>
                <a:cs typeface="Consolas"/>
              </a:rPr>
              <a:t>curl --noproxy '*' 'http://127.0.0.1:18085/product/search?keyword=HUAWEI%20P20&amp;pageNum=1&amp;pageSize=5'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课程 compose 只部署依赖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课程 compose 只部署依赖、不部署应用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依赖有 MySQL、Redis、MongoDB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RabbitMQ 也在；应用仍用上一页的 java -jar 启动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712464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docker compose -f SDC/environment/compose.yml up -d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69664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docker compose -f SDC/environment/compose.yml ps</a:t>
            </a:r>
          </a:p>
        </p:txBody>
      </p:sp>
    </p:spTree>
  </p:cSld>
  <p:clrMapOvr>
    <a:masterClrMapping/>
  </p:clrMapOvr>
  <p:hf sldNum="0" hdr="0" ftr="0" dt="0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一段测试全部通过的AI生成代码，可以直接放行吗？</a:t>
            </a:r>
          </a:p>
        </p:txBody>
      </p:sp>
    </p:spTree>
  </p:cSld>
  <p:clrMapOvr>
    <a:masterClrMapping/>
  </p:clrMapOvr>
  <p:hf sldNum="0" hdr="0" ftr="0" dt="0"/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部署到运行环境后，用什么证明“这次上线是安全的”？</a:t>
            </a:r>
          </a:p>
        </p:txBody>
      </p:sp>
    </p:spTree>
  </p:cSld>
  <p:clrMapOvr>
    <a:masterClrMapping/>
  </p:clrMapOvr>
  <p:hf sldNum="0" hdr="0" ftr="0" dt="0"/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小结：五个环节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命名和契约：冲突要写明听谁的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协作记录：评审三件事，说明写原因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测试：覆盖有限度，断言守约束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验收：20、8、4 和 18/20，三档结论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部署：五步做完，compose 只放依赖</a:t>
            </a:r>
          </a:p>
        </p:txBody>
      </p:sp>
    </p:spTree>
  </p:cSld>
  <p:clrMapOvr>
    <a:masterClrMapping/>
  </p:clrMapOvr>
  <p:hf sldNum="0" hdr="0" ftr="0" dt="0"/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 E7 开始前完成五题，题干和选项须与课前作业一致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把模型预测当作“不可靠组件”，意味着设计目标是什么？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把模型训练到零错误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让系统在模型出错时仍能达成整体目标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让模型自报置信度并依赖它决策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把模型替换成规则引擎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护栏应尽量用非 AI 的硬性手段实现，例如取值区间限制、禁用词过滤。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分布外检测发现输入异常时，正确的处理是什么？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照常给出预测，但降低置信度数值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让模型重新训练一次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拒绝预测，转交既定的人工或降级流程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忽略该次输入并记录日志</a:t>
            </a:r>
          </a:p>
        </p:txBody>
      </p:sp>
    </p:spTree>
  </p:cSld>
  <p:clrMapOvr>
    <a:masterClrMapping/>
  </p:clrMapOvr>
  <p:hf sldNum="0" hdr="0" ftr="0" dt="0"/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验收报告中“放行、降级、驳回”三个结论依据什么作出？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模型自报的准确率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开发者的主观判断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功能实现的代码行数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按验收标准逐条核对的结果，以及评测集与对抗用例的证据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模型给出的置信度可以直接作为是否需要人工介入的依据。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[31] 阿里巴巴《Java 开发手册（黄山版）》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[32] Google Java Style Guide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[35] Conventional Commits 1.0.0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[12] Cwalina 等《.NET 设计规范》第3、4章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[13] Tulach《软件框架设计的艺术》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[30] Suh 等 2025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[33] Google《Code Review》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[34] Microsoft REST API Guidelines</a:t>
            </a:r>
          </a:p>
        </p:txBody>
      </p:sp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