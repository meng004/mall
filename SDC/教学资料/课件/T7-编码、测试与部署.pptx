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302" r:id="rId58"/>
    <p:sldId id="257" r:id="rId10"/>
    <p:sldId id="300" r:id="rId56"/>
    <p:sldId id="299" r:id="rId55"/>
    <p:sldId id="298" r:id="rId54"/>
    <p:sldId id="258" r:id="rId11"/>
    <p:sldId id="259" r:id="rId12"/>
    <p:sldId id="260" r:id="rId13"/>
    <p:sldId id="261" r:id="rId14"/>
    <p:sldId id="268" r:id="rId21"/>
    <p:sldId id="262" r:id="rId15"/>
    <p:sldId id="263" r:id="rId16"/>
    <p:sldId id="264" r:id="rId17"/>
    <p:sldId id="265" r:id="rId18"/>
    <p:sldId id="266" r:id="rId19"/>
    <p:sldId id="267" r:id="rId20"/>
    <p:sldId id="269" r:id="rId22"/>
    <p:sldId id="270" r:id="rId23"/>
    <p:sldId id="271" r:id="rId24"/>
    <p:sldId id="272" r:id="rId25"/>
    <p:sldId id="273" r:id="rId26"/>
    <p:sldId id="274" r:id="rId27"/>
    <p:sldId id="301" r:id="rId57"/>
    <p:sldId id="275" r:id="rId28"/>
    <p:sldId id="276" r:id="rId29"/>
    <p:sldId id="277" r:id="rId30"/>
    <p:sldId id="278" r:id="rId31"/>
    <p:sldId id="279" r:id="rId32"/>
    <p:sldId id="281" r:id="rId34"/>
    <p:sldId id="282" r:id="rId35"/>
    <p:sldId id="280" r:id="rId33"/>
    <p:sldId id="304" r:id="rId6"/>
    <p:sldId id="305" r:id="rId5"/>
    <p:sldId id="306" r:id="rId3"/>
    <p:sldId id="307" r:id="rId60"/>
    <p:sldId id="310" r:id="rId63"/>
    <p:sldId id="311" r:id="rId64"/>
    <p:sldId id="308" r:id="rId61"/>
    <p:sldId id="309" r:id="rId62"/>
    <p:sldId id="283" r:id="rId36"/>
    <p:sldId id="284" r:id="rId37"/>
    <p:sldId id="285" r:id="rId38"/>
    <p:sldId id="286" r:id="rId39"/>
    <p:sldId id="292" r:id="rId45"/>
    <p:sldId id="287" r:id="rId40"/>
    <p:sldId id="288" r:id="rId41"/>
    <p:sldId id="289" r:id="rId42"/>
    <p:sldId id="290" r:id="rId43"/>
    <p:sldId id="291" r:id="rId44"/>
    <p:sldId id="297" r:id="rId53"/>
    <p:sldId id="293" r:id="rId46"/>
    <p:sldId id="294" r:id="rId47"/>
    <p:sldId id="295" r:id="rId8"/>
    <p:sldId id="296" r:id="rId7"/>
    <p:sldId id="303" r:id="rId59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35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34.xml"/><Relationship Id="rId6" Type="http://schemas.openxmlformats.org/officeDocument/2006/relationships/slide" Target="slides/slide33.xml"/><Relationship Id="rId7" Type="http://schemas.openxmlformats.org/officeDocument/2006/relationships/slide" Target="slides/slide55.xml"/><Relationship Id="rId8" Type="http://schemas.openxmlformats.org/officeDocument/2006/relationships/slide" Target="slides/slide54.xml"/><Relationship Id="rId9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1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2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41.xml"/><Relationship Id="rId37" Type="http://schemas.openxmlformats.org/officeDocument/2006/relationships/slide" Target="slides/slide42.xml"/><Relationship Id="rId38" Type="http://schemas.openxmlformats.org/officeDocument/2006/relationships/slide" Target="slides/slide43.xml"/><Relationship Id="rId39" Type="http://schemas.openxmlformats.org/officeDocument/2006/relationships/slide" Target="slides/slide44.xml"/><Relationship Id="rId40" Type="http://schemas.openxmlformats.org/officeDocument/2006/relationships/slide" Target="slides/slide46.xml"/><Relationship Id="rId41" Type="http://schemas.openxmlformats.org/officeDocument/2006/relationships/slide" Target="slides/slide47.xml"/><Relationship Id="rId42" Type="http://schemas.openxmlformats.org/officeDocument/2006/relationships/slide" Target="slides/slide48.xml"/><Relationship Id="rId43" Type="http://schemas.openxmlformats.org/officeDocument/2006/relationships/slide" Target="slides/slide49.xml"/><Relationship Id="rId44" Type="http://schemas.openxmlformats.org/officeDocument/2006/relationships/slide" Target="slides/slide50.xml"/><Relationship Id="rId45" Type="http://schemas.openxmlformats.org/officeDocument/2006/relationships/slide" Target="slides/slide45.xml"/><Relationship Id="rId46" Type="http://schemas.openxmlformats.org/officeDocument/2006/relationships/slide" Target="slides/slide52.xml"/><Relationship Id="rId47" Type="http://schemas.openxmlformats.org/officeDocument/2006/relationships/slide" Target="slides/slide53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Relationship Id="rId53" Type="http://schemas.openxmlformats.org/officeDocument/2006/relationships/slide" Target="slides/slide51.xml"/><Relationship Id="rId54" Type="http://schemas.openxmlformats.org/officeDocument/2006/relationships/slide" Target="slides/slide6.xml"/><Relationship Id="rId55" Type="http://schemas.openxmlformats.org/officeDocument/2006/relationships/slide" Target="slides/slide5.xml"/><Relationship Id="rId56" Type="http://schemas.openxmlformats.org/officeDocument/2006/relationships/slide" Target="slides/slide4.xml"/><Relationship Id="rId57" Type="http://schemas.openxmlformats.org/officeDocument/2006/relationships/slide" Target="slides/slide24.xml"/><Relationship Id="rId58" Type="http://schemas.openxmlformats.org/officeDocument/2006/relationships/slide" Target="slides/slide2.xml"/><Relationship Id="rId59" Type="http://schemas.openxmlformats.org/officeDocument/2006/relationships/slide" Target="slides/slide56.xml"/><Relationship Id="rId60" Type="http://schemas.openxmlformats.org/officeDocument/2006/relationships/slide" Target="slides/slide36.xml"/><Relationship Id="rId61" Type="http://schemas.openxmlformats.org/officeDocument/2006/relationships/slide" Target="slides/slide39.xml"/><Relationship Id="rId62" Type="http://schemas.openxmlformats.org/officeDocument/2006/relationships/slide" Target="slides/slide40.xml"/><Relationship Id="rId63" Type="http://schemas.openxmlformats.org/officeDocument/2006/relationships/slide" Target="slides/slide37.xml"/><Relationship Id="rId64" Type="http://schemas.openxmlformats.org/officeDocument/2006/relationships/slide" Target="slides/slide3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节：封面</a:t>
            </a:r>
          </a:p>
          <a:p>
            <a:r>
              <a:t>本节 15 分钟</a:t>
            </a:r>
          </a:p>
          <a:p>
            <a:r>
              <a:t>定义：这一讲讲命名和接口契约怎么选，测试要守住什么，以及怎样把程序部署到课程环境并收回。</a:t>
            </a:r>
          </a:p>
          <a:p>
            <a:r>
              <a:t>代价：只背名词，实验 E7 仍不知道 18/20 和部署命令各管哪一件事。</a:t>
            </a:r>
          </a:p>
          <a:p>
            <a:r>
              <a:t>判定：开场点明这是第 13 次课，讲编码、测试与部署。</a:t>
            </a:r>
          </a:p>
          <a:p>
            <a:r>
              <a:t>权衡：三个班周次不同，口头交代各班时间，课上只强调课次。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节：本次课目标</a:t>
            </a:r>
          </a:p>
          <a:p>
            <a:r>
              <a:t>定义：目标是掌握整洁代码的判据，会处理规范冲突，会写协作记录，会说明覆盖率的限度，会按面向不确定性的设计原则和 E7 的题量、阈值作验收，并把 portal 部署到课程环境。</a:t>
            </a:r>
          </a:p>
          <a:p>
            <a:r>
              <a:t>代价：不接上一讲，放行、降级、驳回会像一套新口号，接不上本讲的验收准则。</a:t>
            </a:r>
          </a:p>
          <a:p>
            <a:r>
              <a:t>判定：能否说出从 T6 接来什么，以及实验 E7 要先有独立题集再下结论。</a:t>
            </a:r>
          </a:p>
          <a:p>
            <a:r>
              <a:t>权衡：时间不够时先保住规范冲突和部署五步。本课预习题在总结里逐题讲评。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本节 25 分钟</a:t>
            </a:r>
          </a:p>
          <a:p>
            <a:r>
              <a:t>定义：大小写是为了让名字在多种语言里仍能读。类型名用 PascalCasing，参数名用 camelCasing。两个字母的缩写全大写，三个字母及以上按 PascalCasing。</a:t>
            </a:r>
          </a:p>
          <a:p>
            <a:r>
              <a:t>代价：缩写各写各的，同一个概念会在 IO 和 Io 之间来回，调用处对不上。</a:t>
            </a:r>
          </a:p>
          <a:p>
            <a:r>
              <a:t>判定：问这个名字是类型、参数，还是两个字母的缩写。</a:t>
            </a:r>
          </a:p>
          <a:p>
            <a:r>
              <a:t>权衡：课程这一页用 .NET 的大小写约定作对照。Java 的类名、方法名细则在黄山版命名风格里，不在这里另立一套冲突。来源是 2024 第 2-4 讲第 11–12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定义：这是两处明确冲突中的第一处。黄山版代码格式第 5 条强制 4 个空格，并禁止 Tab。Google Java Style 第 4.2 节规定块缩进加 2 个空格。</a:t>
            </a:r>
          </a:p>
          <a:p>
            <a:r>
              <a:t>代价：不写版本和条款，课堂会把“我习惯几个空格”说成规范本身。</a:t>
            </a:r>
          </a:p>
          <a:p>
            <a:r>
              <a:t>判定：问 4 与 2 各出自哪一版、哪一条，URL 是不是这两份官方文本。</a:t>
            </a:r>
          </a:p>
          <a:p>
            <a:r>
              <a:t>权衡：团队可以选定其中一套，但要在提交说明里写明听谁的。核对日期是 2026.10.10。黄山版条文来自仓库中的《Java开发手册(黄山版).pdf》。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定义：这是第二处明确冲突。黄山版代码格式第 8 条把单行限制在 120 个字符。Google Java Style 第 4.4 节把列宽限制在 100 个字符。</a:t>
            </a:r>
          </a:p>
          <a:p>
            <a:r>
              <a:t>代价：把行宽和缩进合成一句“格式不一样”，就说不清这次到底冲突在哪一个数。</a:t>
            </a:r>
          </a:p>
          <a:p>
            <a:r>
              <a:t>判定：问 120 和 100 各对应哪一条，以及这一页有没有把别的差异也标成明确冲突。</a:t>
            </a:r>
          </a:p>
          <a:p>
            <a:r>
              <a:t>权衡：两套都在限制过长的行，差在阈值。选定之后，换行规则跟所选的那一套走。核对日期同为 2026.10.10。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定义：黄山版命名风格第 9 条强制：POJO 类中的任何布尔类型变量都不要加 is 前缀，否则部分框架解析会引起序列化错误。Google Java Style 全文没有对应条目。</a:t>
            </a:r>
          </a:p>
          <a:p>
            <a:r>
              <a:t>代价：把它和缩进、行宽并列，会让人以为 Google 规定了相反的写法。</a:t>
            </a:r>
          </a:p>
          <a:p>
            <a:r>
              <a:t>判定：问 Google 是禁止、要求，还是没有对应规定。这一页不能出现“明确冲突”四个字。</a:t>
            </a:r>
          </a:p>
          <a:p>
            <a:r>
              <a:t>权衡：课程仓库若跟随黄山版，布尔属性不加 is。数据库列的 is_ 命名是另一条约定，不要和 POJO 属性名混成同一条。核对日期 2026.10.10。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定义：“优先定义类，而不是接口”出自 .NET 框架设计指南这一语境，不是 Java 语言的规定。类用来暴露会演化的抽象。接口一旦发布，增加成员就会破坏已有实现。不会随时间改变的契约才适合定义成接口。</a:t>
            </a:r>
          </a:p>
          <a:p>
            <a:r>
              <a:t>代价：把所有抽象都做成接口，以后每加一个方法都要改全部实现类。</a:t>
            </a:r>
          </a:p>
          <a:p>
            <a:r>
              <a:t>判定：问这个抽象还会不会加成员。会变就优先抽象类，不变才用接口。</a:t>
            </a:r>
          </a:p>
          <a:p>
            <a:r>
              <a:t>权衡：接口把语法和实现分开，但并不自动把契约和实现分开。来源是 2024 第 4-5 讲第 19–23 页。页上两个小类图据 2024 第 4-5 讲第 19 页的例子画（狮子 IS-A 动物，鸽子 CAN-DO 飞翔），原页只有文字。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定义：命名空间和包都是逻辑分组。程序集和 jar 包是物理载体。Java 里模块再规定发布单元和依赖边界。这是近似对照，并非等价映射。</a:t>
            </a:r>
          </a:p>
          <a:p>
            <a:r>
              <a:t>代价：把包名当成文件一定在的目录，或者把 jar 当成“又一个命名空间”，依赖会指错地方。</a:t>
            </a:r>
          </a:p>
          <a:p>
            <a:r>
              <a:t>判定：问这个名字划分的是编译产物，还是源码里的逻辑分组。</a:t>
            </a:r>
          </a:p>
          <a:p>
            <a:r>
              <a:t>权衡：.NET 一侧来自 2024 第 4-3 讲第 26 页。Java 一侧按本课对照：模块、jar 包、包。不在这里展开模块描述文件的字段。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定义：复用的对象可以是过程，也可以是制品。方式上有黑盒和白盒。层次上覆盖分析、设计、代码和测试。代码复用先按接口编程，并优先用对象组合。</a:t>
            </a:r>
          </a:p>
          <a:p>
            <a:r>
              <a:t>代价：只复用拷贝来的源文件，接口一变，每一份拷贝都要再改一遍。</a:t>
            </a:r>
          </a:p>
          <a:p>
            <a:r>
              <a:t>判定：问这次复用的是过程还是制品，调用方能不能看不到内部。</a:t>
            </a:r>
          </a:p>
          <a:p>
            <a:r>
              <a:t>权衡：组合多一层对象，继承少建一棵子类树。来源是 2024 第 6-3 讲第 5–6 页。设计模式、组件和 API 都算预制品，见同讲第 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定义：接口契约至少写清资源命名、错误结构和版本处理。改进时保持向后兼容，是指现有调用方不用改代码仍能调用。</a:t>
            </a:r>
          </a:p>
          <a:p>
            <a:r>
              <a:t>代价：每个接口自造一种错误 JSON，调用方就得为每个地址写一套判断。</a:t>
            </a:r>
          </a:p>
          <a:p>
            <a:r>
              <a:t>判定：问旧调用方要不要改代码。要改，就不是向后兼容的改进。</a:t>
            </a:r>
          </a:p>
          <a:p>
            <a:r>
              <a:t>权衡：兼容让旧客户端留下来，也让错误结构里的历史字段一时去不掉。阅读是 Microsoft REST API Guidelines。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定义：mall 把成功、失败、参数检验失败、未登录和无权限收成一个枚举。成功 200，失败 500，未登录 401，无权限 403，参数检验失败 404。</a:t>
            </a:r>
          </a:p>
          <a:p>
            <a:r>
              <a:t>代价：404 常被读成“资源不存在”。参数不对也走 404 时，调用方分不清是地址错了还是字段错了。</a:t>
            </a:r>
          </a:p>
          <a:p>
            <a:r>
              <a:t>判定：问 404 在这里表示找不到资源，还是参数检验失败。</a:t>
            </a:r>
          </a:p>
          <a:p>
            <a:r>
              <a:t>权衡：外壳统一了，个别码的含义仍要在契约里写明。行号按基线 baseline-dcaa93b3。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定义：CommonResult 把状态码、提示信息和数据放在同一结构里。成功、失败、未登录和无权限都是在填这三个字段。</a:t>
            </a:r>
          </a:p>
          <a:p>
            <a:r>
              <a:t>代价：调用方如果只看 HTTP 状态，会漏掉业务 code。教师环境准备要求查询时看业务 code 是否为 200。</a:t>
            </a:r>
          </a:p>
          <a:p>
            <a:r>
              <a:t>判定：问页面上的三个字段名是不是 code、message、data，以及失败时 data 通常放什么。</a:t>
            </a:r>
          </a:p>
          <a:p>
            <a:r>
              <a:t>权衡：统一外壳便于拦截器处理，也把业务失败和传输失败分成两层。行号按基线。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节：命名规范与接口契约</a:t>
            </a:r>
          </a:p>
          <a:p>
            <a:r>
              <a:t>时长见本节首页（本节 25 分钟）</a:t>
            </a:r>
          </a:p>
          <a:p>
            <a:r>
              <a:t>定义：讨论不是要选出一份永远正确的规范。要说出冲突在哪一条，以及这次提交按哪一套执行。</a:t>
            </a:r>
          </a:p>
          <a:p>
            <a:r>
              <a:t>代价：回答“都对”或“看心情”，同一次修改里缩进和行宽会各写各的。</a:t>
            </a:r>
          </a:p>
          <a:p>
            <a:r>
              <a:t>判定：回答要举出缩进或行宽的两个数，并说明取舍写在哪里。</a:t>
            </a:r>
          </a:p>
          <a:p>
            <a:r>
              <a:t>权衡：课上先听学生选哪一套，再回到缩进和行宽两页的条款。is 前缀不要被说成第三处冲突。</a:t>
            </a:r>
          </a:p>
          <a:p>
            <a:r>
              <a:t>参考要点：先写明听哪一套，并把取舍留在提交说明里；缩进、行宽可以冲突，布尔 is 前缀没有对应的反向规定。</a:t>
            </a:r>
          </a:p>
          <a:p>
            <a:r>
              <a:t>依据：大纲「命名规范与接口契约」；黄山版代码格式第 5、8 条与 Google Java Style 第 4.2、4.4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节：协作记录</a:t>
            </a:r>
          </a:p>
          <a:p>
            <a:r>
              <a:t>本节 15 分钟</a:t>
            </a:r>
          </a:p>
          <a:p>
            <a:r>
              <a:t>定义：代码评审先看设计、复杂度和测试。设计问这次改动放的位置对不对。复杂度问有没有更短的做法。测试问断言守的是行为还是某一种写法。</a:t>
            </a:r>
          </a:p>
          <a:p>
            <a:r>
              <a:t>代价：评审只挑空格和命名，设计放错层、测试绑死实现，都会留到合并之后。</a:t>
            </a:r>
          </a:p>
          <a:p>
            <a:r>
              <a:t>判定：问这条意见在说设计、复杂度，还是测试。只说“不规范”不算数。</a:t>
            </a:r>
          </a:p>
          <a:p>
            <a:r>
              <a:t>权衡：格式问题容易指出，也容易挡住对设计和测试的讨论。阅读是 Google《Code Review》。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节：协作记录</a:t>
            </a:r>
          </a:p>
          <a:p>
            <a:r>
              <a:t>时长见本节首页（本节 15 分钟）</a:t>
            </a:r>
          </a:p>
          <a:p>
            <a:r>
              <a:t>定义：提交说明让变更原因能被别人独立读懂。两套规范冲突时，听哪一套、为什么，也写在这则说明里。Conventional Commits 1.0.0 用类型开头，类型不能代替原因。</a:t>
            </a:r>
          </a:p>
          <a:p>
            <a:r>
              <a:t>代价：说明只列文件名，后来的人不知道这次是在修约束，还是在换格式。</a:t>
            </a:r>
          </a:p>
          <a:p>
            <a:r>
              <a:t>判定：问这则说明有没有写出原因。只有“修改某某类”不算写清。</a:t>
            </a:r>
          </a:p>
          <a:p>
            <a:r>
              <a:t>权衡：类型前缀便于检索，原因仍要写成一句人话。阅读条目是 Conventional Commits 1.0.0。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节：协作记录</a:t>
            </a:r>
          </a:p>
          <a:p>
            <a:r>
              <a:t>时长见本节首页（本节 15 分钟）</a:t>
            </a:r>
          </a:p>
          <a:p>
            <a:r>
              <a:t>定义：用了 AI 的部分要在提交物里标注工具。答辩可以抽查讲解。作品对不对，由本人负责。检测器的结论不作为认定违规的依据。</a:t>
            </a:r>
          </a:p>
          <a:p>
            <a:r>
              <a:t>代价：不标注，或者讲不清某一段为什么这样写，这段就不能算作已经审查过。</a:t>
            </a:r>
          </a:p>
          <a:p>
            <a:r>
              <a:t>判定：问这一段是谁写的、用了什么工具、哪一条断言是本人核对过的。</a:t>
            </a:r>
          </a:p>
          <a:p>
            <a:r>
              <a:t>权衡：标注增加篇幅，也让审查能找到该看的段落。核验靠讲解、现场演示和期末独立展示。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节：协作记录</a:t>
            </a:r>
          </a:p>
          <a:p>
            <a:r>
              <a:t>时长见本节首页（本节 15 分钟）</a:t>
            </a:r>
          </a:p>
          <a:p>
            <a:r>
              <a:t>定义：按产生和使用范围，软件文档主要分成开发文档、用户文档和管理文档。开发文档描述过程和技术，用户文档描述安装与操作，管理文档描述计划和测试。</a:t>
            </a:r>
          </a:p>
          <a:p>
            <a:r>
              <a:t>代价：只写代码不写设计说明，后来的人只能从调用链反推当时的决定。</a:t>
            </a:r>
          </a:p>
          <a:p>
            <a:r>
              <a:t>判定：问这份材料是给实现的人、给使用者，还是给管理进度的人。</a:t>
            </a:r>
          </a:p>
          <a:p>
            <a:r>
              <a:t>权衡：三类会有交叉，例如需求说明既服务开发也服务用户。来源是 2024 第 6-5 讲第 4–7 页。编制可以用文字、图表，也可以用工具生成。三栏下的文档名取自 2024 第 6-5 讲第 5–7 页的列表，只作举例，不是完整清单。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本节 15 分钟</a:t>
            </a:r>
          </a:p>
          <a:p>
            <a:r>
              <a:t>定义：从标准论看，测试是验证加确认。验证检查是否正确实现了规格里的功能和特性。确认检查软件是否满足用户真正的需求。</a:t>
            </a:r>
          </a:p>
          <a:p>
            <a:r>
              <a:t>代价：只做验证，规格写错时测试会一直绿灯，需求仍然没被满足。</a:t>
            </a:r>
          </a:p>
          <a:p>
            <a:r>
              <a:t>判定：问这次对照的是规格条文，还是用户要完成的事。</a:t>
            </a:r>
          </a:p>
          <a:p>
            <a:r>
              <a:t>权衡：两件都做，成本更高，也能早点发现“按规格做完但不是用户要的”。来源是 2024 第 5-4 讲第 5–6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定义：常见测试级别与活动包括单元、集成、系统、验收、回归，这不是一份封闭清单。V 模型强调每个测试级别对应一个开发级别，但测试对象不只有程序。白盒基于源代码，黑盒对照需求和规格。静态测试不运行程序，动态测试要运行。</a:t>
            </a:r>
          </a:p>
          <a:p>
            <a:r>
              <a:t>代价：只等编码结束后做动态测试，需求和设计里的问题要到很晚才看见。</a:t>
            </a:r>
          </a:p>
          <a:p>
            <a:r>
              <a:t>判定：问这次是在读需求和设计，还是在运行程序；对照的是源码路径还是规格。</a:t>
            </a:r>
          </a:p>
          <a:p>
            <a:r>
              <a:t>权衡：静态更早，也覆盖不到只有跑起来才出现的路径。V 模型的对应关系和它的局限见 2024 第 5-4 讲第 21、32、42 页；白盒见第 5-5 讲第 13 页。页上图按 2024 第 5-4 讲第 24–25 页的 W 模型重画：在 V 模型上加入与各开发阶段同步的测试设计；开发一支与右侧测试执行一支合起来就是 V 模型的逐级对应。原图“单元设计测试”按第 24 页文意写作“单元测试设计”。2024 没有单独的 V 模型图。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定义：行、判定、条件、MC/DC 的覆盖对象和强度不同。MC/DC 是：每个基本条件都能在其他条件保持不变时，独立改变整个判定结果。课程里的 JaCoCo 0.8.13 报告看行和分支，不给 MC/DC。</a:t>
            </a:r>
          </a:p>
          <a:p>
            <a:r>
              <a:t>代价：把 MC/DC 当成已经能从 JaCoCo 页面读到的数，实验会去找一份不存在的报告。</a:t>
            </a:r>
          </a:p>
          <a:p>
            <a:r>
              <a:t>判定：问课程报告里能指出的是行和分支，还是 MC/DC。定义里要有“其他条件保持不变”和“独立改变”判定结果。</a:t>
            </a:r>
          </a:p>
          <a:p>
            <a:r>
              <a:t>权衡：覆盖对象和强度不同，都不能代替业务断言。行与分支的要求见 E3 操作说明。2024 第 5-4 讲第 47–48、55 页只作概念，这一页不展示报告。左侧判定图沿用第 27 页真值表的条件甲、条件乙，只作示意。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定义：覆盖率证明被统计的行或分支执行过。它不证明期望值符合业务约束，也不证明没写进测试的失败方式不会发生。</a:t>
            </a:r>
          </a:p>
          <a:p>
            <a:r>
              <a:t>代价：用一个覆盖百分比代替验收，约束被破坏时报告仍然可以很高。</a:t>
            </a:r>
          </a:p>
          <a:p>
            <a:r>
              <a:t>判定：问这个百分比回答的是“跑过没有”，还是“业务对不对”。</a:t>
            </a:r>
          </a:p>
          <a:p>
            <a:r>
              <a:t>权衡：行和分支都高，审查仍要看断言。课程只把未覆盖的部分解释清楚，不用整个模块的平均数代替目标方法。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定义：3A 是 Arrange、Act、Assert。先准备，再调用，再比较。方法名用下划线连起被测对象、输入条件和期望结果，读名字就能知道这一例在测什么。</a:t>
            </a:r>
          </a:p>
          <a:p>
            <a:r>
              <a:t>代价：准备、调用和断言缠在一起，失败时看不出是输入错了还是期望错了。</a:t>
            </a:r>
          </a:p>
          <a:p>
            <a:r>
              <a:t>判定：问失败发生在准备、调用，还是比较。名字是否含输入和期望。</a:t>
            </a:r>
          </a:p>
          <a:p>
            <a:r>
              <a:t>权衡：名字变长，用例清单更能当目录。来源是 2024 第 5-5 讲第 11、14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定义：真值表把条件的真假组合列出来，再为每一行写期望。这张表是两条件的示意，不是某一税种的税率。</a:t>
            </a:r>
          </a:p>
          <a:p>
            <a:r>
              <a:t>代价：只写“都为真”和“都为假”两行，一真一假的两种情况没有用例。</a:t>
            </a:r>
          </a:p>
          <a:p>
            <a:r>
              <a:t>判定：问四个组合是否都有一行，期望是从规则来的还是从现有代码抄的。</a:t>
            </a:r>
          </a:p>
          <a:p>
            <a:r>
              <a:t>权衡：条件一多，行数会涨。可以先列约束要求的组合，不在这一页展开税表。方法来自 2024 第 6-4 讲第 10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定义：需求验收准则写的是可观察结果：什么输入、做什么、期望看到什么。它要在实现之前就能用来判定对错。</a:t>
            </a:r>
          </a:p>
          <a:p>
            <a:r>
              <a:t>代价：先写完代码再按输出补准则，准则会把这次的错误一起写成期望。</a:t>
            </a:r>
          </a:p>
          <a:p>
            <a:r>
              <a:t>判定：问这条准则在代码还不存在时，能否判断一次输出是对是错。</a:t>
            </a:r>
          </a:p>
          <a:p>
            <a:r>
              <a:t>权衡：准则写得具体，实现的自由度变小，验收也才有对照。实验里的失败测试要对着准则，而不是对着环境报错。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定义：脏测试等于没有测试。为了让结果变绿而删掉失败断言，或把期望改成刚刚看到的实际值，这则测试就不再守原来的行为。</a:t>
            </a:r>
          </a:p>
          <a:p>
            <a:r>
              <a:t>代价：红灯被擦掉之后，回归无法再指出这条约束已经破了。</a:t>
            </a:r>
          </a:p>
          <a:p>
            <a:r>
              <a:t>判定：问期望是准则里原先写的，还是为了迁就这次输出才改的。</a:t>
            </a:r>
          </a:p>
          <a:p>
            <a:r>
              <a:t>权衡：保留失败会让提交暂时不绿，也把问题留在看得见的地方。先找第一个失败断言，对照期望和实际。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定义：基线在第 183 行把本次使用的积分写进订单的 integration。没有使用时，第 180 行写成 0。</a:t>
            </a:r>
          </a:p>
          <a:p>
            <a:r>
              <a:t>代价：只看到这一段，会以为使用值会留到插入数据库。下一页的赋值会把它盖掉。</a:t>
            </a:r>
          </a:p>
          <a:p>
            <a:r>
              <a:t>判定：问第 183 行写的是使用值还是赠送值，字段名是不是 integration。</a:t>
            </a:r>
          </a:p>
          <a:p>
            <a:r>
              <a:t>权衡：使用金额在第 184 行另算。这里先看积分个数被写进了哪个字段。行号按基线 baseline-dcaa93b3。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节：测试的基本要求</a:t>
            </a:r>
          </a:p>
          <a:p>
            <a:r>
              <a:t>时长见本节首页（本节 15 分钟）</a:t>
            </a:r>
          </a:p>
          <a:p>
            <a:r>
              <a:t>定义：第 212 行用赠送积分再写同一个 integration。第 183 行写入的使用值被盖掉。业务上若要保留使用值，这里已经违反约束。</a:t>
            </a:r>
          </a:p>
          <a:p>
            <a:r>
              <a:t>代价：测试若只断言赠送积分或别的字段，这处覆盖仍然可以是绿的。绿灯不能证明使用值还在。</a:t>
            </a:r>
          </a:p>
          <a:p>
            <a:r>
              <a:t>判定：问插入前这个字段里是使用值还是赠送值。哪一行执行在后。</a:t>
            </a:r>
          </a:p>
          <a:p>
            <a:r>
              <a:t>权衡：赠送成长值在第 214 行，写的是另一个字段，不要和这里混成一次赋值。行号按基线核对。这两行原是 E3 的教师示例，现作公开参考示例（Issue #10）；E3 的教师示例已换为登录与改密的失败契约（Issue #47）。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本节 20 分钟</a:t>
            </a:r>
          </a:p>
          <a:p>
            <a:r>
              <a:t>定义：教师为每个选定业务准备 20 条正常、8 条对抗、4 条分布外请求。独立标注来自业务事实和人工规则，不来自被测模型。</a:t>
            </a:r>
          </a:p>
          <a:p>
            <a:r>
              <a:t>代价：用模型自己的输出当标准答案，评的是像不像这次生成，不是事实对不对。</a:t>
            </a:r>
          </a:p>
          <a:p>
            <a:r>
              <a:t>判定：问这 32 条的标注是人按业务规则做的，还是从被测模型抄的。</a:t>
            </a:r>
          </a:p>
          <a:p>
            <a:r>
              <a:t>权衡：题集独立之后，模型更换就要重测。本课程的教师题集可以公开，公开题集就是验收题集，前提是实现者不参与编写、不据题集调参；据题集改过实现的题，只能计回归。数字来自课程考核方案 E7 的默认题集。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定义：正常题按候选定义的结构化语义精确匹配，至少 18/20 才满足正常质量。返回安全拒绝但把正常请求拒掉，仍计正常题失败。对抗和分布外必须全部守住权限、只读和事实边界，不能被平均分掩盖。</a:t>
            </a:r>
          </a:p>
          <a:p>
            <a:r>
              <a:t>代价：用总分平均掉越权或写库，正常题的 18/20 会把失败隐藏掉。</a:t>
            </a:r>
          </a:p>
          <a:p>
            <a:r>
              <a:t>判定：问 19/20 的正常题能否抵消一条写库。问误拒算不算正常题失败。</a:t>
            </a:r>
          </a:p>
          <a:p>
            <a:r>
              <a:t>权衡：阈值让正常质量可判定，也要求对抗和分布外另算，不能并进一个平均分。条文来自考核方案 E7。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定义：另用离线替身验证模型不可用、非法输出和明确降级。全部条件满足才放行。模型未达质量或不可用、而普通路径可靠时降级。出现没有被拦截的越权、写入或关键事实伪造时驳回。</a:t>
            </a:r>
          </a:p>
          <a:p>
            <a:r>
              <a:t>代价：只写“通过”或“不通过”，模型不可用但普通查询仍可靠时，没有降级这一档可填。</a:t>
            </a:r>
          </a:p>
          <a:p>
            <a:r>
              <a:t>判定：问这次是三条都满足，还是普通路径可靠而模型不可用，还是出现了越权、写入或关键事实伪造。</a:t>
            </a:r>
          </a:p>
          <a:p>
            <a:r>
              <a:t>权衡：三种验收结论让“不能放行”仍能区分降级和驳回。结论要进入风险台账和验收报告。这里不把任何现成示例说成已经放行。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定义：AI 代码检测器不可靠，所以学术诚信靠作品讲解和现场演示核验，不把检测器分数当依据。产品能否放行，靠第 41 页的题集、对抗、分布外和离线替身，不靠模型自己报的置信度。</a:t>
            </a:r>
          </a:p>
          <a:p>
            <a:r>
              <a:t>代价：用检测器高分或置信度高分代替题集，越权和伪造仍然可能被放行。</a:t>
            </a:r>
          </a:p>
          <a:p>
            <a:r>
              <a:t>判定：问这份结论的证据是题集和原始结果，还是检测器分数、模型自报的置信度。</a:t>
            </a:r>
          </a:p>
          <a:p>
            <a:r>
              <a:t>权衡：讲解和演示花时间，也避免把工具分数写成验收。原始结果、错误和耗时要留下来。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定义：构建产物是 portal 的 jar。数据库、缓存、文档库和消息队列由课程环境提供，不打进这个 jar。基线把 spring.profiles.active 写成 dev。启动命令显式传入 dev，与 application.yml 默认一致，再用课程配置盖上地址，并把端口改成 18085。</a:t>
            </a:r>
          </a:p>
          <a:p>
            <a:r>
              <a:t>代价：沿用 application-dev.yml 里的 3306 和 8085，课程机器上的 13306 和 18085 对不上。</a:t>
            </a:r>
          </a:p>
          <a:p>
            <a:r>
              <a:t>判定：问启动命令里的 --spring.profiles.active 是不是 dev，是否与文件里的默认一致。端口以哪一个参数为准。</a:t>
            </a:r>
          </a:p>
          <a:p>
            <a:r>
              <a:t>权衡：显式传入是为了不靠“默认可能是 dev”。连接地址仍要被课程配置盖掉，否则 profile 对了、库仍是错的。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定义：基线 application.yml 把活动 profile 写成 dev，注释说明默认为开发环境。第 49 页的启动命令显式传入 dev，与 application.yml 默认一致。</a:t>
            </a:r>
          </a:p>
          <a:p>
            <a:r>
              <a:t>代价：文件和命令各写一个不同的 profile，课程配置可能盖错环境。</a:t>
            </a:r>
          </a:p>
          <a:p>
            <a:r>
              <a:t>判定：问文件里的 active 是不是 dev，第 49 页命令是否也传入 dev。</a:t>
            </a:r>
          </a:p>
          <a:p>
            <a:r>
              <a:t>权衡：显式传入把默认写进命令，换版本时仍能对上。地址和端口仍由命令页的参数覆盖。行号按基线。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定义：五步按这个顺序做：先构建 jar，命令里要有 -Ddocker.skip=true；再显式传入 dev 启动，与 application.yml 默认一致；然后做健康检查；再做只读查询；出问题就回滚到上一 jar。</a:t>
            </a:r>
          </a:p>
          <a:p>
            <a:r>
              <a:t>代价：跳过健康检查直接改数据，失败时分不清是没启动，还是查询本身不对。</a:t>
            </a:r>
          </a:p>
          <a:p>
            <a:r>
              <a:t>判定：问这五步的先后。构建参数里有没有 -Ddocker.skip=true。</a:t>
            </a:r>
          </a:p>
          <a:p>
            <a:r>
              <a:t>权衡：顺序固定，每一步的具体命令在下一页。回滚用的是上一份同一个名字的可执行 jar，不是另一套容器。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定义：构建命令与 E1、T2 相同。启动命令显式传入 dev，与 application.yml 默认一致，并带上课程配置和端口 18085。健康检查是进程日志里出现 Started。只读查询看业务 code 是否为 200，不要只看 HTTP 状态。</a:t>
            </a:r>
          </a:p>
          <a:p>
            <a:r>
              <a:t>代价：不加 -Ddocker.skip=true，打包会去连写死的 Docker 地址。查询失败时如果改成写入，就超出了这一步的范围。</a:t>
            </a:r>
          </a:p>
          <a:p>
            <a:r>
              <a:t>判定：问构建参数里有没有 -Ddocker.skip=true，启动命令里有没有 --spring.profiles.active=dev。回滚是否仍用上一份这个 jar、同一组参数。</a:t>
            </a:r>
          </a:p>
          <a:p>
            <a:r>
              <a:t>权衡：长命令在命令框里按空格换行。来源是教师环境准备，与 E1 一样不写本机包装前缀。回滚到上一 jar 时，profile、配置文件和端口保持这一条。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定义：课程 compose 只部署依赖、不部署应用。服务只有 MySQL、Redis、MongoDB 和 RabbitMQ，没有 portal 或 admin。MySQL 在文件前部，后三个紧随其后。</a:t>
            </a:r>
          </a:p>
          <a:p>
            <a:r>
              <a:t>代价：以为 up 会把商城进程一起拉起来，jar 没启动时查询会一直失败。</a:t>
            </a:r>
          </a:p>
          <a:p>
            <a:r>
              <a:t>判定：问 compose 里有没有 mall-portal。应用进程是哪一条命令启动的。</a:t>
            </a:r>
          </a:p>
          <a:p>
            <a:r>
              <a:t>权衡：依赖用容器，是为了固定端口和数据卷。应用单独启动，回滚时只换 jar，不必重建数据库卷。文件是课程环境的 SDC/environment/compose.yml。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定义：讨论测试全绿能不能代替放行。要分开“已有断言通过了”和“E7 的题集、对抗、分布外都满足了”。</a:t>
            </a:r>
          </a:p>
          <a:p>
            <a:r>
              <a:t>代价：把绿灯当成放行，使用值被覆盖这类问题只要没被断言到，就会进入运行环境。</a:t>
            </a:r>
          </a:p>
          <a:p>
            <a:r>
              <a:t>判定：回答要说到验收准则或题集，不能只重复“测试通过了”。</a:t>
            </a:r>
          </a:p>
          <a:p>
            <a:r>
              <a:t>权衡：课上先听能否直接放行，再回到正常题 18/20 和驳回条件。</a:t>
            </a:r>
          </a:p>
          <a:p>
            <a:r>
              <a:t>参考要点：全绿只说明已写的断言通过；放行还要看准则、无关修改，以及权限、只读和事实边界。</a:t>
            </a:r>
          </a:p>
          <a:p>
            <a:r>
              <a:t>依据：大纲「AI 产品测试与部署」；考核方案 E7，全部满足才放行。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产品测试与部署</a:t>
            </a:r>
          </a:p>
          <a:p>
            <a:r>
              <a:t>时长见本节首页（本节 20 分钟）</a:t>
            </a:r>
          </a:p>
          <a:p>
            <a:r>
              <a:t>定义：讨论上线之后拿什么当证据。启动日志、只读查询和能否回到上一份 jar，都比“命令执行完了”更接近证据。</a:t>
            </a:r>
          </a:p>
          <a:p>
            <a:r>
              <a:t>代价：只把 BUILD SUCCESS 或进程没退出当成安全，业务 code 不是 200 时仍然会当成功。</a:t>
            </a:r>
          </a:p>
          <a:p>
            <a:r>
              <a:t>判定：回答要说到健康检查和只读查询看到了什么，以及失败时如何回滚到上一 jar。</a:t>
            </a:r>
          </a:p>
          <a:p>
            <a:r>
              <a:t>权衡：课上先收集证据种类，再对照五步和命令两页里的 Started、查询和上一份 jar。</a:t>
            </a:r>
          </a:p>
          <a:p>
            <a:r>
              <a:t>参考要点：日志出现 Started，只读查询的业务 code 为 200；异常时停掉进程，用上一份 jar 按原参数再启动。</a:t>
            </a:r>
          </a:p>
          <a:p>
            <a:r>
              <a:t>依据：大纲「AI 产品测试与部署」；教师环境准备中的启动与查询。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节：总结与布置</a:t>
            </a:r>
          </a:p>
          <a:p>
            <a:r>
              <a:t>本节 20 分钟（并入上一节）</a:t>
            </a:r>
          </a:p>
          <a:p>
            <a:r>
              <a:t>定义：这一页回顾本讲各环节。整洁代码的判据是后续阅读和修改的成本；规范冲突要写明取舍。评审看设计、复杂度和测试。覆盖不能代替业务断言。不确定组件按七条原则设计，验收结论只取放行、降级或驳回。E7 按题集验收。部署按五步，课程 compose 不部署应用。</a:t>
            </a:r>
          </a:p>
          <a:p>
            <a:r>
              <a:t>代价：只记住最后的命令，规范冲突和 18/20 在实验里会对不上号。</a:t>
            </a:r>
          </a:p>
          <a:p>
            <a:r>
              <a:t>判定：能否各用一句话说出五个环节里要留下的证据。</a:t>
            </a:r>
          </a:p>
          <a:p>
            <a:r>
              <a:t>权衡：结构借 2024 第 8-2 讲的总结页，内容是本讲这五件，不把旧例子再讲一遍。预习和阅读在后面两页。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节：总结与布置</a:t>
            </a:r>
          </a:p>
          <a:p>
            <a:r>
              <a:t>时长见本节首页（本节 20 分钟（并入上一节））</a:t>
            </a:r>
          </a:p>
          <a:p>
            <a:r>
              <a:t>题目页</a:t>
            </a:r>
          </a:p>
          <a:p>
            <a:r>
              <a:t>答案：1A 2D 3B</a:t>
            </a:r>
          </a:p>
          <a:p>
            <a:r>
              <a:t>定义：这三题问提交说明写什么、向后兼容的含义、类名与方法名的词性。</a:t>
            </a:r>
          </a:p>
          <a:p>
            <a:r>
              <a:t>代价：未做的话，代码评审中说不清变更原因与兼容范围。</a:t>
            </a:r>
          </a:p>
          <a:p>
            <a:r>
              <a:t>判定：提交说明要写为什么改；向后兼容指现有调用方无需修改；类名用名词、方法名用动词。</a:t>
            </a:r>
          </a:p>
          <a:p>
            <a:r>
              <a:t>权衡：两套规范对同一问题规定不同，课上对照讲。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节：总结与布置</a:t>
            </a:r>
          </a:p>
          <a:p>
            <a:r>
              <a:t>时长见本节首页（本节 20 分钟（并入上一节））</a:t>
            </a:r>
          </a:p>
          <a:p>
            <a:r>
              <a:t>题目页</a:t>
            </a:r>
          </a:p>
          <a:p>
            <a:r>
              <a:t>答案：4C 5D</a:t>
            </a:r>
          </a:p>
          <a:p>
            <a:r>
              <a:t>定义：第 4 题问规范冲突时怎么办；第 5 题问验收结论的依据。</a:t>
            </a:r>
          </a:p>
          <a:p>
            <a:r>
              <a:t>代价：规范冲突时各写各的，提交说明里看不到取舍理由。</a:t>
            </a:r>
          </a:p>
          <a:p>
            <a:r>
              <a:t>判定：按团队统一约定执行并写明理由；验收结论依据逐条核对的结果，以及评测集与对抗用例。</a:t>
            </a:r>
          </a:p>
          <a:p>
            <a:r>
              <a:t>权衡：先读黄山版、Google Java Style 和 Conventional Commits，再读 Code Review 与 REST 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节：AI 产品测试与部署</a:t>
            </a:r>
          </a:p>
          <a:p>
            <a:r>
              <a:rPr lang="zh-CN" dirty="0"/>
              <a:t>时长见本节首页（本节 20 分钟）</a:t>
            </a:r>
          </a:p>
          <a:p>
            <a:r>
              <a:rPr lang="zh-CN" dirty="0"/>
              <a:t>依据：教案 T7 主要知识点第 8 条（AI 结对编程的生成—审查—测试验证；AI 辅助生成测试与部署配置；按 AI 输出的核对内容验证）与教学过程第 5 段；本讲第 24、25 页（准则先于实现、不为变绿改测试）、第 33–36 页（profile、端口、构建参数、五步、compose 只部署依赖）。</a:t>
            </a:r>
          </a:p>
          <a:p>
            <a:r>
              <a:rPr lang="zh-CN" dirty="0"/>
              <a:t>定义：AI 起草的测试和部署配置都要走生成、审查、测试验证三步：先按本讲已有的准则和环境事实逐项审查，再运行验证。</a:t>
            </a:r>
          </a:p>
          <a:p>
            <a:r>
              <a:rPr lang="zh-CN" dirty="0"/>
              <a:t>代价：只看 AI 给的配置能启动，profile 或端口写错时可能连到别的库；只看 AI 写的测试变绿，期望可能就是抄了这一次的输出。</a:t>
            </a:r>
          </a:p>
          <a:p>
            <a:r>
              <a:rPr lang="zh-CN" dirty="0"/>
              <a:t>判定：问审查对照的是验收准则和课程环境事实，还是 AI 自己的说明；验证看到的是 Started 和业务 code，还是命令执行完了。</a:t>
            </a:r>
          </a:p>
          <a:p>
            <a:r>
              <a:rPr lang="zh-CN" dirty="0"/>
              <a:t>权衡：核对内容就是前面几页已经列出的事实，不另立一套清单。AI 省下起草时间，审查和验证的时间省不掉。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节：整洁代码</a:t>
            </a:r>
          </a:p>
          <a:p>
            <a:r>
              <a:rPr lang="zh-CN" dirty="0"/>
              <a:t>时长见本节首页（本节 15 分钟）</a:t>
            </a:r>
          </a:p>
          <a:p>
            <a:r>
              <a:rPr lang="zh-CN" dirty="0"/>
              <a:t>依据：基线 baseline-dcaa93b3 的 UmsMemberCouponService.java:27–30；UmsMemberCouponController.java 第 66–67 行的参数说明“0-&gt;不可用；1-&gt;可用”；E4 课件第 9 页（type=1 返回可用列表，否则返回不可用列表）。</a:t>
            </a:r>
          </a:p>
          <a:p>
            <a:r>
              <a:rPr lang="zh-CN" dirty="0"/>
              <a:t>定义：易分析性看读者能否从名字和签名判断一个接口做什么。listCart 返回的是优惠券历史明细，注释写“可用优惠券”，但 type 为 0 时返回的是不可用的那一组。</a:t>
            </a:r>
          </a:p>
          <a:p>
            <a:r>
              <a:rPr lang="zh-CN" dirty="0"/>
              <a:t>代价：只读接口的读者会以为它在列购物车，或以为它只返回可用券；调用处还要再去实现类里查 type 的含义。</a:t>
            </a:r>
          </a:p>
          <a:p>
            <a:r>
              <a:rPr lang="zh-CN" dirty="0"/>
              <a:t>判定：问名字说的对象和返回类型对不对得上；注释说的范围和参数为 0 时的行为对不对得上。</a:t>
            </a:r>
          </a:p>
          <a:p>
            <a:r>
              <a:rPr lang="zh-CN" dirty="0"/>
              <a:t>权衡：改名或拆成两个方法读起来更清楚，但这是公开接口，控制器和下单服务都在调用；E4 约定不改公开接口，所以课上只做判断，不当场改。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节：整洁代码</a:t>
            </a:r>
          </a:p>
          <a:p>
            <a:r>
              <a:rPr lang="zh-CN" dirty="0"/>
              <a:t>时长见本节首页（本节 15 分钟）</a:t>
            </a:r>
          </a:p>
          <a:p>
            <a:r>
              <a:rPr lang="zh-CN" dirty="0"/>
              <a:t>依据：大纲第五章“整洁代码”（命名、函数、注释、格式、错误处理、边界封装、测试与类的设计；错误抽象的成本往往高于重复代码，过度拆分同样会降低可读性，一切形式要求都服从这一判据）；各项的具体做法见 Martin《代码整洁之道》第 2–5、7–10 章。</a:t>
            </a:r>
          </a:p>
          <a:p>
            <a:r>
              <a:rPr lang="zh-CN" dirty="0"/>
              <a:t>定义：命名、函数、注释、格式、错误处理是整洁代码的常规要求，边界封装、测试与类的设计也在其中；每一项都按上一页的判据衡量。</a:t>
            </a:r>
          </a:p>
          <a:p>
            <a:r>
              <a:rPr lang="zh-CN" dirty="0"/>
              <a:t>代价：把各项当成独立的打分点，为了“函数短”拆出一串只调用一次的小方法，读的人反而要来回跳。</a:t>
            </a:r>
          </a:p>
          <a:p>
            <a:r>
              <a:rPr lang="zh-CN" dirty="0"/>
              <a:t>判定：拿到一条评审意见，问它减少的是后续阅读和修改的成本，还是只让代码看起来更像某条规则。</a:t>
            </a:r>
          </a:p>
          <a:p>
            <a:r>
              <a:rPr lang="zh-CN" dirty="0"/>
              <a:t>权衡：错误处理一项接到后面 mall 的统一返回结构；格式一项接到两套规范的缩进与行宽冲突。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节：整洁代码</a:t>
            </a:r>
          </a:p>
          <a:p>
            <a:r>
              <a:rPr lang="zh-CN" dirty="0"/>
              <a:t>本节 15 分钟</a:t>
            </a:r>
          </a:p>
          <a:p>
            <a:r>
              <a:rPr lang="zh-CN" dirty="0"/>
              <a:t>依据：教案 T7 主要知识点第 1 条；大纲第五章“整洁代码：核心判据是降低后续每一次阅读和修改的成本，即改一个需求需要动几处、读多少行、是否担心碰坏别处”。</a:t>
            </a:r>
          </a:p>
          <a:p>
            <a:r>
              <a:rPr lang="zh-CN" dirty="0"/>
              <a:t>定义：整洁代码只有一个判据：降低后续每一次阅读和修改的成本。具体看三件事：改一个需求动几处、要读多少行、会不会担心碰坏别处。</a:t>
            </a:r>
          </a:p>
          <a:p>
            <a:r>
              <a:rPr lang="zh-CN" dirty="0"/>
              <a:t>代价：把整洁理解成格式漂亮或行数少，会为了形式去拆分和改名，读和改的成本反而上升。</a:t>
            </a:r>
          </a:p>
          <a:p>
            <a:r>
              <a:rPr lang="zh-CN" dirty="0"/>
              <a:t>判定：对一处代码，问下一个人改它时要读多少、改几处、有没有把握不碰坏别处。</a:t>
            </a:r>
          </a:p>
          <a:p>
            <a:r>
              <a:rPr lang="zh-CN" dirty="0"/>
              <a:t>权衡：这一判据也解释了后面两套规范为什么会冲突：它们都在降成本，只是取的阈值不同。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节：测试的基本要求</a:t>
            </a:r>
          </a:p>
          <a:p>
            <a:r>
              <a:rPr lang="zh-CN" altLang="en-US"/>
              <a:t>时长见本节首页（本节 15 分钟）</a:t>
            </a:r>
          </a:p>
          <a:p>
            <a:r>
              <a:rPr lang="zh-CN" altLang="en-US"/>
              <a:t>依据：2024 第 5-4 讲第 40 页（软件测试的三维空间），图按原结构重画。</a:t>
            </a:r>
          </a:p>
          <a:p>
            <a:r>
              <a:rPr lang="zh-CN" altLang="en-US"/>
              <a:t>定义：一次测试可以从三个方向定位：测试阶段或层次（单元、集成、系统、验收），方法（白盒、黑盒），目标或特性（功能、强壮性、性能、适用性、安全性、可靠性）。</a:t>
            </a:r>
          </a:p>
          <a:p>
            <a:r>
              <a:rPr lang="zh-CN" altLang="en-US"/>
              <a:t>代价：把三个方向混成一张清单，会把“系统测试”和“性能测试”当成二选一，漏掉某一层次上的某种特性。</a:t>
            </a:r>
          </a:p>
          <a:p>
            <a:r>
              <a:rPr lang="zh-CN" altLang="en-US"/>
              <a:t>判定：拿到一项测试，分别问它在哪一层、用哪种方法、验证哪个特性。</a:t>
            </a:r>
          </a:p>
          <a:p>
            <a:r>
              <a:rPr lang="zh-CN" altLang="en-US"/>
              <a:t>权衡：上一页按开发阶段讲对应关系，这一页把阶段、方法、目标拆成三个独立方向；三个方向上的取值都不是封闭清单。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节：目录</a:t>
            </a:r>
          </a:p>
          <a:p>
            <a:r>
              <a:rPr lang="zh-CN" altLang="en-US"/>
              <a:t>依据：各页备注“节：”行，按出现顺序编号；目录页由统一视觉脚本生成，不另写内容。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节：结束页</a:t>
            </a:r>
          </a:p>
          <a:p>
            <a:r>
              <a:rPr lang="zh-CN" altLang="en-US"/>
              <a:t>依据：下次课名称取自下一份课件封面的“第 n 次课｜课题”行。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本节 20 分钟</a:t>
            </a:r>
          </a:p>
          <a:p>
            <a:r>
              <a:t>定义：把模型预测当作不可靠组件：不假设它正确，只假设错误不可避免，下面七条都从这里来。</a:t>
            </a:r>
          </a:p>
          <a:p>
            <a:r>
              <a:t>代价：只做准确率，出错时没有人机分工、拒绝和恢复，系统目标会跟着预测一起倒。</a:t>
            </a:r>
          </a:p>
          <a:p>
            <a:r>
              <a:t>判定：问这一条是在假设错误、限制输入输出、复核、拒绝、降级，还是在恢复。</a:t>
            </a:r>
          </a:p>
          <a:p>
            <a:r>
              <a:t>权衡：七条都做，功能会变窄，整体目标在出错时还站得住。条目来自 CMU MLiP 第 7 章，课程收成这七条。具体规则留到测试与部署。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时长见本节首页（本节 20 分钟）</a:t>
            </a:r>
          </a:p>
          <a:p>
            <a:r>
              <a:t>定义：前三条落在系统和界面两侧：预测可以错，高风险留下人，限制用确定规则。</a:t>
            </a:r>
          </a:p>
          <a:p>
            <a:r>
              <a:t>代价：界面把预测显示成已完成，用户会以为库里已经写上了。</a:t>
            </a:r>
          </a:p>
          <a:p>
            <a:r>
              <a:t>判定：问限制是一段确定的规则，还是又叫了一次模型。</a:t>
            </a:r>
          </a:p>
          <a:p>
            <a:r>
              <a:t>权衡：人工确认变慢，换来高风险动作可以停。护栏的例子是取值区间、禁用词过滤、已知输入覆盖。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时长见本节首页（本节 20 分钟）</a:t>
            </a:r>
          </a:p>
          <a:p>
            <a:r>
              <a:t>定义：后四条要求独立复核、拒绝分布外、降级和恢复；检查者不靠模型自报的置信度。</a:t>
            </a:r>
          </a:p>
          <a:p>
            <a:r>
              <a:t>代价：用模型给自己的分数当检查者，分数和预测会一起错。</a:t>
            </a:r>
          </a:p>
          <a:p>
            <a:r>
              <a:t>判定：问拒绝的是输入越界，还是模型暂时不可用；不可用时界面有没有标明降级。</a:t>
            </a:r>
          </a:p>
          <a:p>
            <a:r>
              <a:t>权衡：拒绝和降级让能答的范围变小，避免低置信度的猜测冒充结果。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时长见本节首页（本节 20 分钟）</a:t>
            </a:r>
          </a:p>
          <a:p>
            <a:r>
              <a:t>定义：不可靠组件接在调用方和结果之间：护栏、模型、检查者、降级排成一条，预测不是终点。</a:t>
            </a:r>
          </a:p>
          <a:p>
            <a:r>
              <a:t>代价：调用方直接执行模型原文，权限和写入会跟着预测走。</a:t>
            </a:r>
          </a:p>
          <a:p>
            <a:r>
              <a:t>判定：问事实、权限和写入是模型决定的，还是检查者之后的确定代码决定的。</a:t>
            </a:r>
          </a:p>
          <a:p>
            <a:r>
              <a:t>权衡：多几段确定代码，模型可以换；每段都要有失败时的去向。这是组件关系，不是四张视图。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时长见本节首页（本节 20 分钟）</a:t>
            </a:r>
          </a:p>
          <a:p>
            <a:r>
              <a:t>定义：传统测试追求同一输入同一结果、通过或不通过；这里六条都不成立。</a:t>
            </a:r>
          </a:p>
          <a:p>
            <a:r>
              <a:t>代价：只看现有测试全绿，会把一次碰巧的输出当成可以放行。</a:t>
            </a:r>
          </a:p>
          <a:p>
            <a:r>
              <a:t>判定：问同一输入是否允许多个输出，结论是两种还是三种。</a:t>
            </a:r>
          </a:p>
          <a:p>
            <a:r>
              <a:t>权衡：阈值把准确率、拒答率、延迟、成本和幻觉容忍度写成可比较的数；定得严，可用范围变小。据题集调过参的题只能计回归，不能再当新的验收。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时长见本节首页（本节 20 分钟）</a:t>
            </a:r>
          </a:p>
          <a:p>
            <a:r>
              <a:t>定义：验收报告的结论只取放行／降级／驳回，并记录评测证据与风险。</a:t>
            </a:r>
          </a:p>
          <a:p>
            <a:r>
              <a:t>代价：没有独立标注的评测集，模型可以自己给自己出题、自己判分。</a:t>
            </a:r>
          </a:p>
          <a:p>
            <a:r>
              <a:t>判定：问题目和标准答案是不是独立于被测模型；报告结论是三种里的哪一种。</a:t>
            </a:r>
          </a:p>
          <a:p>
            <a:r>
              <a:t>权衡：四样都要留档，验收变重；没有它们就只剩一次对话记录。具体题量和阈值留到测试与部署。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时长见本节首页（本节 20 分钟）</a:t>
            </a:r>
          </a:p>
          <a:p>
            <a:r>
              <a:t>定义：讨论把预测当作不可靠组件时，设计要保证的是什么。</a:t>
            </a:r>
          </a:p>
          <a:p>
            <a:r>
              <a:t>代价：答成“把准确率做到百分之百”，七条原则就没有着落。</a:t>
            </a:r>
          </a:p>
          <a:p>
            <a:r>
              <a:t>判定：回答要说到出错时系统的整体目标还在不在，而不是只说模型更准。</a:t>
            </a:r>
          </a:p>
          <a:p>
            <a:r>
              <a:t>权衡：目标不是消灭错误，而是出错时整体目标仍然成立。课上先听学生怎么说。</a:t>
            </a:r>
          </a:p>
          <a:p>
            <a:r>
              <a:t>参考要点：设计目标不是消除错误，而是出错时系统的整体目标仍然成立；预测不能直接当成已经提交的事实。</a:t>
            </a:r>
          </a:p>
          <a:p>
            <a:r>
              <a:t>依据：大纲「面向不确定性的设计与 AI 验收的特殊性」；课程把模型预测当作不可靠组件。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</a:t>
            </a:r>
          </a:p>
          <a:p>
            <a:r>
              <a:t>时长见本节首页（本节 20 分钟）</a:t>
            </a:r>
          </a:p>
          <a:p>
            <a:r>
              <a:t>定义：讨论护栏为什么尽量用确定规则，而不是再调用一次模型。</a:t>
            </a:r>
          </a:p>
          <a:p>
            <a:r>
              <a:t>代价：护栏本身也是模型时，限制和预测会一起错，等于没有限位。</a:t>
            </a:r>
          </a:p>
          <a:p>
            <a:r>
              <a:t>判定：回答要举出一种确定规则，并说明它在模型出错时是否还生效。</a:t>
            </a:r>
          </a:p>
          <a:p>
            <a:r>
              <a:t>权衡：取值区间、禁用词过滤、已知输入覆盖都不依赖模型的这次输出。课上先听学生的例子。</a:t>
            </a:r>
          </a:p>
          <a:p>
            <a:r>
              <a:t>参考要点：护栏若也交给模型，会和预测一起失败；取值区间、禁用词过滤和已知输入覆盖用确定规则，模型出错时仍然生效。</a:t>
            </a:r>
          </a:p>
          <a:p>
            <a:r>
              <a:t>依据：大纲「面向不确定性的设计与 AI 验收的特殊性」；七条原则里的护栏要求非模型的硬性手段。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640080"/>
          </a:xfrm>
        </p:spPr>
        <p:txBody>
          <a:bodyPr anchor="b"/>
          <a:lstStyle>
            <a:lvl1pPr algn="l" marL="0" indent="0">
              <a:buNone/>
              <a:defRPr sz="2000" b="1">
                <a:solidFill>
                  <a:srgbClr val="A33B38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5800" y="2377440"/>
            <a:ext cx="7772400" cy="2926080"/>
          </a:xfrm>
        </p:spPr>
        <p:txBody>
          <a:bodyPr/>
          <a:lstStyle>
            <a:lvl1pPr algn="l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dc-toc-band"/>
          <p:cNvSpPr/>
          <p:nvPr userDrawn="1"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1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5623560"/>
            <a:ext cx="822960" cy="822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" y="640080"/>
            <a:ext cx="1828800" cy="914400"/>
          </a:xfrm>
        </p:spPr>
        <p:txBody>
          <a:bodyPr anchor="t"/>
          <a:lstStyle>
            <a:lvl1pPr algn="l" marL="0" indent="0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5120640"/>
          </a:xfrm>
        </p:spPr>
        <p:txBody>
          <a:bodyPr/>
          <a:lstStyle>
            <a:lvl1pPr algn="l" marL="0" indent="0">
              <a:buNone/>
              <a:defRPr sz="2200" b="0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011680"/>
            <a:ext cx="7315200" cy="1005840"/>
          </a:xfrm>
        </p:spPr>
        <p:txBody>
          <a:bodyPr anchor="b"/>
          <a:lstStyle>
            <a:lvl1pPr algn="ctr" marL="0" indent="0">
              <a:buNone/>
              <a:defRPr sz="3600" b="1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3154680"/>
            <a:ext cx="7315200" cy="1280160"/>
          </a:xfrm>
        </p:spPr>
        <p:txBody>
          <a:bodyPr/>
          <a:lstStyle>
            <a:lvl1pPr algn="ctr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sdc-logo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76072" y="301752"/>
            <a:ext cx="8001000" cy="960120"/>
          </a:xfrm>
        </p:spPr>
        <p:txBody>
          <a:bodyPr anchor="b"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6072" y="1600200"/>
            <a:ext cx="8001000" cy="4389120"/>
          </a:xfrm>
        </p:spPr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4" name="sdc-title-bar"/>
          <p:cNvSpPr/>
          <p:nvPr userDrawn="1"/>
        </p:nvSpPr>
        <p:spPr>
          <a:xfrm>
            <a:off x="612648" y="1298448"/>
            <a:ext cx="146304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cxnSp>
        <p:nvCxnSpPr>
          <p:cNvPr id="5" name="sdc-title-line"/>
          <p:cNvCxnSpPr/>
          <p:nvPr userDrawn="1"/>
        </p:nvCxnSpPr>
        <p:spPr>
          <a:xfrm>
            <a:off x="2075688" y="1330452"/>
            <a:ext cx="6492240" cy="0"/>
          </a:xfrm>
          <a:prstGeom prst="line">
            <a:avLst/>
          </a:prstGeom>
          <a:ln w="12700">
            <a:solidFill>
              <a:srgbClr val="E3C4C2"/>
            </a:solidFill>
          </a:ln>
        </p:spPr>
      </p:cxnSp>
      <p:cxnSp>
        <p:nvCxnSpPr>
          <p:cNvPr id="6" name="sdc-footer-line"/>
          <p:cNvCxnSpPr/>
          <p:nvPr userDrawn="1"/>
        </p:nvCxnSpPr>
        <p:spPr>
          <a:xfrm>
            <a:off x="457200" y="6355080"/>
            <a:ext cx="8229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7" name="sdc-footer-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6419088"/>
            <a:ext cx="329184" cy="329184"/>
          </a:xfrm>
          <a:prstGeom prst="rect">
            <a:avLst/>
          </a:prstGeom>
        </p:spPr>
      </p:pic>
      <p:sp>
        <p:nvSpPr>
          <p:cNvPr id="8" name="sdc-footer-college"/>
          <p:cNvSpPr/>
          <p:nvPr userDrawn="1"/>
        </p:nvSpPr>
        <p:spPr>
          <a:xfrm>
            <a:off x="841248" y="6400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</a:rPr>
              <a:t>计算机科学与技术学院</a:t>
            </a:r>
          </a:p>
        </p:txBody>
      </p:sp>
      <p:sp>
        <p:nvSpPr>
          <p:cNvPr id="9" name="sdc-page-number"/>
          <p:cNvSpPr/>
          <p:nvPr userDrawn="1"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fld id="{B6F15528-21DE-4FAA-801E-634DDDAF4B2B}" type="slidenum">
              <a:rPr lang="zh-CN" altLang="en-US" sz="1200">
                <a:solidFill>
                  <a:srgbClr val="595959"/>
                </a:solidFill>
                <a:latin typeface="微软雅黑"/>
                <a:ea typeface="微软雅黑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>
        <a:lnSpc>
          <a:spcPct val="90000"/>
        </a:lnSpc>
        <a:defRPr sz="2800" b="1" kern="1200">
          <a:solidFill>
            <a:srgbClr val="A33B38"/>
          </a:solidFill>
          <a:latin typeface="微软雅黑"/>
          <a:ea typeface="微软雅黑"/>
          <a:cs typeface="微软雅黑"/>
        </a:defRPr>
      </a:lvl1pPr>
    </p:titleStyle>
    <p:bodyStyle>
      <a:lvl1pPr marL="292608" indent="-292608" algn="l" eaLnBrk="1" hangingPunct="1">
        <a:lnSpc>
          <a:spcPct val="110000"/>
        </a:lnSpc>
        <a:spcBef>
          <a:spcPts val="600"/>
        </a:spcBef>
        <a:buClr>
          <a:srgbClr val="A33B38"/>
        </a:buClr>
        <a:buSzPct val="80000"/>
        <a:buFont typeface="Wingdings"/>
        <a:buChar char="n"/>
        <a:defRPr sz="2200" b="0" kern="1200">
          <a:solidFill>
            <a:srgbClr val="262626"/>
          </a:solidFill>
          <a:latin typeface="微软雅黑"/>
          <a:ea typeface="微软雅黑"/>
          <a:cs typeface="微软雅黑"/>
        </a:defRPr>
      </a:lvl1pPr>
      <a:lvl2pPr marL="640080" indent="-256032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2000" b="0" kern="1200">
          <a:solidFill>
            <a:srgbClr val="262626"/>
          </a:solidFill>
          <a:latin typeface="微软雅黑"/>
          <a:ea typeface="微软雅黑"/>
          <a:cs typeface="微软雅黑"/>
        </a:defRPr>
      </a:lvl2pPr>
      <a:lvl3pPr marL="960120" indent="-228600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1800" b="0" kern="1200">
          <a:solidFill>
            <a:srgbClr val="262626"/>
          </a:solidFill>
          <a:latin typeface="微软雅黑"/>
          <a:ea typeface="微软雅黑"/>
          <a:cs typeface="微软雅黑"/>
        </a:defRPr>
      </a:lvl3pPr>
    </p:bodyStyle>
    <p:otherStyle>
      <a:lvl1pPr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0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13 次课｜编码、测试与部署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整洁代码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命名规范与接口契约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协作记录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测试的基本要求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05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面向不确定性的设计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06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AI 产品测试与部署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07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总结与布置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361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承接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1828800"/>
            <a:ext cx="40690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承接 T6：</a:t>
            </a:r>
            <a:b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特征测试先固定现有行为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63440" y="1828800"/>
            <a:ext cx="40690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承接 T6：</a:t>
            </a:r>
            <a:b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提交说明要写为什么改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572000" y="2633472"/>
            <a:ext cx="9144" cy="219456"/>
          </a:xfrm>
          <a:custGeom>
            <a:avLst/>
            <a:gdLst/>
            <a:ahLst/>
            <a:cxnLst/>
            <a:rect l="0" t="0" r="r" b="b"/>
            <a:pathLst>
              <a:path w="9144" h="219456" fill="none">
                <a:moveTo>
                  <a:pt x="0" y="0"/>
                </a:moveTo>
                <a:lnTo>
                  <a:pt x="0" y="219456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2880360"/>
            <a:ext cx="8321040" cy="141732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228600" rIns="228600" tIns="114300" bIns="11430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本讲先讲整洁代码，再对照两套规范</a:t>
            </a:r>
            <a:endParaRPr lang="zh-CN" sz="22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用积分字段说明测试绿灯的边界</a:t>
            </a:r>
            <a:endParaRPr lang="zh-CN" sz="22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再讲面向不确定性的设计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572000" y="4343400"/>
            <a:ext cx="9144" cy="274320"/>
          </a:xfrm>
          <a:custGeom>
            <a:avLst/>
            <a:gdLst/>
            <a:ahLst/>
            <a:cxnLst/>
            <a:rect l="0" t="0" r="r" b="b"/>
            <a:pathLst>
              <a:path w="914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097280" y="4663440"/>
            <a:ext cx="6949440" cy="7315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引出 E7：按题集决定放行、降级或驳回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本次课目标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整洁代码只有一个判据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8321040" cy="9144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600" b="1">
                <a:solidFill>
                  <a:srgbClr val="FFFFFF"/>
                </a:solidFill>
                <a:latin typeface="微软雅黑"/>
                <a:ea typeface="微软雅黑"/>
              </a:rPr>
              <a:t>判据：降低后续每一次阅读和修改的成本</a:t>
            </a:r>
            <a:endParaRPr lang="zh-CN" sz="2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78892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问 1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108960"/>
            <a:ext cx="4069080" cy="11887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改一个需求，</a:t>
            </a:r>
            <a:br>
              <a:rPr lang="zh-CN" sz="2200">
                <a:latin typeface="微软雅黑"/>
                <a:ea typeface="微软雅黑"/>
              </a:rPr>
            </a:b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要动几处、读多少行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663440" y="278892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问 2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3108960"/>
            <a:ext cx="4069080" cy="11887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改的时候，担不担心碰坏别处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572000"/>
            <a:ext cx="832104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各项形式要求，都服从这一判据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整洁代码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整洁代码的各项要求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492240"/>
              </a:tblGrid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要求（都服从同一判据）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命名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名字说出职责，与行为一致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函数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短小，只做一件事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注释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写为什么，代码已说清的不重复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全队一套，缩进与行宽按所选规范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错误处理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失败不吞掉，错误有统一结构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边界、测试、类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第三方边界要封装；测试同样整洁；类职责单一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抽象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错误抽象的代价常高于重复；过度拆分也难读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整洁代码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listCart 的名字与行为不一致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名字说“列购物车”，返回的却是优惠券明细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注释说“可用优惠券”，type 为 0 时返回不可用的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/**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* 根据购物车信息获取可用优惠券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List&lt;SmsCouponHistoryDetail&gt; listCart(​List&lt;CartPromotionItem&gt; cartItemList,​ Integer type);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出处：mall-portal/​src/​main/​java/​com/​macro/​mall/​portal/​service/​UmsMemberCouponService.java:​27-30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整洁代码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名字要能读出职责</a:t>
            </a:r>
          </a:p>
        </p:txBody>
      </p:sp>
      <p:sp>
        <p:nvSpPr>
          <p:cNvPr id="7" name="review"/>
          <p:cNvSpPr txBox="1"/>
          <p:nvPr/>
        </p:nvSpPr>
        <p:spPr>
          <a:xfrm>
            <a:off x="411480" y="5655564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2000">
                <a:solidFill>
                  <a:srgbClr val="A33B38"/>
                </a:solidFill>
                <a:latin typeface="微软雅黑"/>
                <a:ea typeface="微软雅黑"/>
              </a:rPr>
              <a:t>回顾 E6：类名用名词、方法名用动词，规范取舍要在说明里写明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4069080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</a:rPr>
              <a:t>PascalCasing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33172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类型名用 PascalCasing，每个单词首字母大写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663440" y="1645920"/>
            <a:ext cx="4069080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</a:rPr>
              <a:t>camelCasing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233172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参数名用 camelCasing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611880"/>
            <a:ext cx="4069080" cy="6858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IO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29768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两个字母的缩写全大写，如 IO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663440" y="3611880"/>
            <a:ext cx="4069080" cy="6858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Xml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663440" y="429768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三个字母起的缩写按 Pascal，如 Xml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缩进 4 个空格对 2 个空格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00200"/>
            <a:ext cx="8321040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明确冲突：缩进 4 与 2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715768"/>
            <a:ext cx="8321040" cy="9144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版本：黄山版。条款：（三）代码格式第5条。4 空格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URL：https://github.com/alibaba/p3c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995928"/>
            <a:ext cx="83210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版本：Google Java Style。章节：4.2。2 空格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URL：https://google.github.io/styleguide/javaguide.html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502920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核对日期：2026.10.10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501" name="fig-d"/>
          <p:cNvSpPr/>
          <p:nvPr/>
        </p:nvSpPr>
        <p:spPr>
          <a:xfrm>
            <a:off x="411480" y="2423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阿里巴巴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502" name="fig-d"/>
          <p:cNvSpPr/>
          <p:nvPr/>
        </p:nvSpPr>
        <p:spPr>
          <a:xfrm>
            <a:off x="411480" y="3703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595959"/>
                </a:solidFill>
                <a:latin typeface="微软雅黑"/>
                <a:ea typeface="微软雅黑"/>
              </a:rPr>
              <a:t>Google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50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行宽 120 对 100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00200"/>
            <a:ext cx="8321040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明确冲突：行宽 120 与 100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715768"/>
            <a:ext cx="8321040" cy="9144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版本：黄山版。条款：（三）代码格式第8条。120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URL：https://github.com/alibaba/p3c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995928"/>
            <a:ext cx="83210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版本：Google Java Style。章节：4.4。100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URL：https://google.github.io/styleguide/javaguide.html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502920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核对日期：2026.10.10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501" name="fig-d"/>
          <p:cNvSpPr/>
          <p:nvPr/>
        </p:nvSpPr>
        <p:spPr>
          <a:xfrm>
            <a:off x="411480" y="2423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阿里巴巴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502" name="fig-d"/>
          <p:cNvSpPr/>
          <p:nvPr/>
        </p:nvSpPr>
        <p:spPr>
          <a:xfrm>
            <a:off x="411480" y="3703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595959"/>
                </a:solidFill>
                <a:latin typeface="微软雅黑"/>
                <a:ea typeface="微软雅黑"/>
              </a:rPr>
              <a:t>Google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50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布尔属性的 is 前缀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00200"/>
            <a:ext cx="8321040" cy="6858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阿里巴巴明确禁止 POJO 布尔属性加 is 前缀，Google 未作对应规定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715768"/>
            <a:ext cx="8321040" cy="9144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版本：黄山版。条款：（一）命名风格第9条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URL：https://github.com/alibaba/p3c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995928"/>
            <a:ext cx="83210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URL：https://google.github.io/styleguide/javaguide.html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502920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核对日期：2026.10.10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501" name="fig-d"/>
          <p:cNvSpPr/>
          <p:nvPr/>
        </p:nvSpPr>
        <p:spPr>
          <a:xfrm>
            <a:off x="411480" y="24231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阿里巴巴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502" name="fig-d"/>
          <p:cNvSpPr/>
          <p:nvPr/>
        </p:nvSpPr>
        <p:spPr>
          <a:xfrm>
            <a:off x="411480" y="3703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595959"/>
                </a:solidFill>
                <a:latin typeface="微软雅黑"/>
                <a:ea typeface="微软雅黑"/>
              </a:rPr>
              <a:t>Google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50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两套规范对同一问题的规定不一样，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哪一套是对的？规范打架时听谁的？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优先类，还是接口</a:t>
            </a:r>
          </a:p>
        </p:txBody>
      </p:sp>
      <p:sp>
        <p:nvSpPr>
          <p:cNvPr id="101" name="fig-d"/>
          <p:cNvSpPr/>
          <p:nvPr/>
        </p:nvSpPr>
        <p:spPr>
          <a:xfrm>
            <a:off x="640080" y="1691640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动物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339596" y="2075688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440180" y="2240280"/>
            <a:ext cx="9144" cy="777240"/>
          </a:xfrm>
          <a:custGeom>
            <a:avLst/>
            <a:gdLst/>
            <a:ahLst/>
            <a:cxnLst/>
            <a:rect l="0" t="0" r="r" b="b"/>
            <a:pathLst>
              <a:path w="9144" h="777240" fill="none">
                <a:moveTo>
                  <a:pt x="0" y="0"/>
                </a:moveTo>
                <a:lnTo>
                  <a:pt x="0" y="77724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640080" y="3017520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狮子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611880"/>
            <a:ext cx="2057400" cy="960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派生类与基类是 IS-A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2834640" y="1691640"/>
            <a:ext cx="1600200" cy="3840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«接口» 飞翔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3534156" y="2075688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3634740" y="2240280"/>
            <a:ext cx="9144" cy="777240"/>
          </a:xfrm>
          <a:custGeom>
            <a:avLst/>
            <a:gdLst/>
            <a:ahLst/>
            <a:cxnLst/>
            <a:rect l="0" t="0" r="r" b="b"/>
            <a:pathLst>
              <a:path w="9144" h="777240" fill="none">
                <a:moveTo>
                  <a:pt x="0" y="0"/>
                </a:moveTo>
                <a:lnTo>
                  <a:pt x="0" y="777240"/>
                </a:lnTo>
              </a:path>
            </a:pathLst>
          </a:custGeom>
          <a:noFill/>
          <a:ln w="12700">
            <a:solidFill>
              <a:srgbClr val="A33B38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2834640" y="3017520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鸽子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2606040" y="3611880"/>
            <a:ext cx="2057400" cy="9601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实现类与接口是 CAN-DO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11480" y="4663440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实线三角：继承；虚线三角：实现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"/>
          <p:cNvSpPr/>
          <p:nvPr/>
        </p:nvSpPr>
        <p:spPr>
          <a:xfrm>
            <a:off x="4983480" y="1691640"/>
            <a:ext cx="3749040" cy="8686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.NET 指南：优先定义类，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而不是接口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3" name="fig"/>
          <p:cNvSpPr/>
          <p:nvPr/>
        </p:nvSpPr>
        <p:spPr>
          <a:xfrm>
            <a:off x="4983480" y="2743200"/>
            <a:ext cx="3749040" cy="8686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接口适合不再改变的契约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4" name="fig"/>
          <p:cNvSpPr/>
          <p:nvPr/>
        </p:nvSpPr>
        <p:spPr>
          <a:xfrm>
            <a:off x="4983480" y="3794760"/>
            <a:ext cx="3749040" cy="8686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一个接口只做一件事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5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类图：据 2024 版第 4-5 讲第 19 页（类与接口的派生关系）的例子画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类库、程序集与包</a:t>
            </a:r>
          </a:p>
        </p:txBody>
      </p:sp>
      <p:sp>
        <p:nvSpPr>
          <p:cNvPr id="101" name="fig"/>
          <p:cNvSpPr/>
          <p:nvPr/>
        </p:nvSpPr>
        <p:spPr>
          <a:xfrm>
            <a:off x="365760" y="1572768"/>
            <a:ext cx="4114800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.NET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572768"/>
            <a:ext cx="4114800" cy="5486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Java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502920" y="2286000"/>
            <a:ext cx="14173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类库项目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938528" y="2487168"/>
            <a:ext cx="438912" cy="9144"/>
          </a:xfrm>
          <a:custGeom>
            <a:avLst/>
            <a:gdLst/>
            <a:ahLst/>
            <a:cxnLst/>
            <a:rect l="0" t="0" r="r" b="b"/>
            <a:pathLst>
              <a:path w="438912" h="9144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1874520" y="2157984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编译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2377440" y="2286000"/>
            <a:ext cx="914400" cy="4114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程序集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3383280" y="2286000"/>
            <a:ext cx="914400" cy="4114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程序集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2011680" y="315468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  <a:prstDash val="dash"/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命名空间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3291840" y="315468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  <a:prstDash val="dash"/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命名空间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2532888" y="2697480"/>
            <a:ext cx="301752" cy="457200"/>
          </a:xfrm>
          <a:custGeom>
            <a:avLst/>
            <a:gdLst/>
            <a:ahLst/>
            <a:cxnLst/>
            <a:rect l="0" t="0" r="r" b="b"/>
            <a:pathLst>
              <a:path w="301752" h="457200" fill="none">
                <a:moveTo>
                  <a:pt x="301752" y="0"/>
                </a:moveTo>
                <a:lnTo>
                  <a:pt x="0" y="457200"/>
                </a:lnTo>
              </a:path>
            </a:pathLst>
          </a:custGeom>
          <a:noFill/>
          <a:ln w="12700">
            <a:solidFill>
              <a:srgbClr val="59595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2834640" y="2697480"/>
            <a:ext cx="978408" cy="457200"/>
          </a:xfrm>
          <a:custGeom>
            <a:avLst/>
            <a:gdLst/>
            <a:ahLst/>
            <a:cxnLst/>
            <a:rect l="0" t="0" r="r" b="b"/>
            <a:pathLst>
              <a:path w="978408" h="457200" fill="none">
                <a:moveTo>
                  <a:pt x="0" y="0"/>
                </a:moveTo>
                <a:lnTo>
                  <a:pt x="978408" y="457200"/>
                </a:lnTo>
              </a:path>
            </a:pathLst>
          </a:custGeom>
          <a:noFill/>
          <a:ln w="12700">
            <a:solidFill>
              <a:srgbClr val="59595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3813048" y="2697480"/>
            <a:ext cx="27432" cy="457200"/>
          </a:xfrm>
          <a:custGeom>
            <a:avLst/>
            <a:gdLst/>
            <a:ahLst/>
            <a:cxnLst/>
            <a:rect l="0" t="0" r="r" b="b"/>
            <a:pathLst>
              <a:path w="27432" h="457200" fill="none">
                <a:moveTo>
                  <a:pt x="27432" y="0"/>
                </a:moveTo>
                <a:lnTo>
                  <a:pt x="0" y="457200"/>
                </a:lnTo>
              </a:path>
            </a:pathLst>
          </a:custGeom>
          <a:noFill/>
          <a:ln w="12700">
            <a:solidFill>
              <a:srgbClr val="59595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4800600" y="2212848"/>
            <a:ext cx="384048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4846320" y="22311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模块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5074920" y="2560320"/>
            <a:ext cx="3429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5120640" y="257860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jar 包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6172200" y="297180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包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7315200" y="297180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包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9" name="fig"/>
          <p:cNvSpPr/>
          <p:nvPr/>
        </p:nvSpPr>
        <p:spPr>
          <a:xfrm>
            <a:off x="365760" y="3749040"/>
            <a:ext cx="4114800" cy="420624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类库编译成程序集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0" name="fig"/>
          <p:cNvSpPr/>
          <p:nvPr/>
        </p:nvSpPr>
        <p:spPr>
          <a:xfrm>
            <a:off x="4663440" y="3749040"/>
            <a:ext cx="411480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模块是发布和依赖的单元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1" name="fig"/>
          <p:cNvSpPr/>
          <p:nvPr/>
        </p:nvSpPr>
        <p:spPr>
          <a:xfrm>
            <a:off x="365760" y="4224528"/>
            <a:ext cx="4114800" cy="420624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命名空间是逻辑分组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2" name="fig"/>
          <p:cNvSpPr/>
          <p:nvPr/>
        </p:nvSpPr>
        <p:spPr>
          <a:xfrm>
            <a:off x="4663440" y="4224528"/>
            <a:ext cx="411480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jar 包是物理载体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3" name="fig"/>
          <p:cNvSpPr/>
          <p:nvPr/>
        </p:nvSpPr>
        <p:spPr>
          <a:xfrm>
            <a:off x="365760" y="4700016"/>
            <a:ext cx="4114800" cy="420624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一个程序集可含多个命名空间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4" name="fig"/>
          <p:cNvSpPr/>
          <p:nvPr/>
        </p:nvSpPr>
        <p:spPr>
          <a:xfrm>
            <a:off x="4663440" y="4700016"/>
            <a:ext cx="411480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包是逻辑分组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5" name="fig"/>
          <p:cNvSpPr/>
          <p:nvPr/>
        </p:nvSpPr>
        <p:spPr>
          <a:xfrm>
            <a:off x="365760" y="5175504"/>
            <a:ext cx="4114800" cy="420624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一个命名空间可跨多个程序集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6" name="fig"/>
          <p:cNvSpPr/>
          <p:nvPr/>
        </p:nvSpPr>
        <p:spPr>
          <a:xfrm>
            <a:off x="4663440" y="5175504"/>
            <a:ext cx="411480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包名要和目录一致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7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图：.NET 一侧据 2024 版第 4-3 讲第 26 页的说明画；两侧是近似对照，不是等价映射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2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复用先看对象和方式</a:t>
            </a:r>
          </a:p>
        </p:txBody>
      </p:sp>
      <p:sp>
        <p:nvSpPr>
          <p:cNvPr id="101" name="fig-d"/>
          <p:cNvSpPr/>
          <p:nvPr/>
        </p:nvSpPr>
        <p:spPr>
          <a:xfrm>
            <a:off x="3566160" y="1600200"/>
            <a:ext cx="2011680" cy="4572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复用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572000" y="2057400"/>
            <a:ext cx="9144" cy="114300"/>
          </a:xfrm>
          <a:custGeom>
            <a:avLst/>
            <a:gdLst/>
            <a:ahLst/>
            <a:cxnLst/>
            <a:rect l="0" t="0" r="r" b="b"/>
            <a:pathLst>
              <a:path w="9144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2441448" y="2171700"/>
            <a:ext cx="4251960" cy="9144"/>
          </a:xfrm>
          <a:custGeom>
            <a:avLst/>
            <a:gdLst/>
            <a:ahLst/>
            <a:cxnLst/>
            <a:rect l="0" t="0" r="r" b="b"/>
            <a:pathLst>
              <a:path w="4251960" h="9144" fill="none">
                <a:moveTo>
                  <a:pt x="0" y="0"/>
                </a:moveTo>
                <a:lnTo>
                  <a:pt x="425196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2441448" y="2171700"/>
            <a:ext cx="9144" cy="114300"/>
          </a:xfrm>
          <a:custGeom>
            <a:avLst/>
            <a:gdLst/>
            <a:ahLst/>
            <a:cxnLst/>
            <a:rect l="0" t="0" r="r" b="b"/>
            <a:pathLst>
              <a:path w="9144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693408" y="2171700"/>
            <a:ext cx="9144" cy="114300"/>
          </a:xfrm>
          <a:custGeom>
            <a:avLst/>
            <a:gdLst/>
            <a:ahLst/>
            <a:cxnLst/>
            <a:rect l="0" t="0" r="r" b="b"/>
            <a:pathLst>
              <a:path w="9144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2286000"/>
            <a:ext cx="4069080" cy="4572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按对象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27432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过程复用，或制品复用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663440" y="2286000"/>
            <a:ext cx="4069080" cy="4572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按方式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663440" y="27432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黑盒复用，或白盒复用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411480" y="3886200"/>
            <a:ext cx="4069080" cy="4572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按层次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411480" y="43434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分析、设计、代码、测试都能复用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663440" y="3886200"/>
            <a:ext cx="4069080" cy="4572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代码复用原则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3" name="fig"/>
          <p:cNvSpPr/>
          <p:nvPr/>
        </p:nvSpPr>
        <p:spPr>
          <a:xfrm>
            <a:off x="4663440" y="43434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代码复用依赖接口，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组合优先于继承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4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分类：据 2024 版第 6-3 讲第 5–6 页（复用的分类、代码复用原则）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接口契约三件事</a:t>
            </a:r>
          </a:p>
        </p:txBody>
      </p:sp>
      <p:sp>
        <p:nvSpPr>
          <p:cNvPr id="101" name="fig-d"/>
          <p:cNvSpPr/>
          <p:nvPr/>
        </p:nvSpPr>
        <p:spPr>
          <a:xfrm>
            <a:off x="1508760" y="173736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331720"/>
            <a:ext cx="2606040" cy="14630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资源怎么命名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044952" y="3063240"/>
            <a:ext cx="173736" cy="9144"/>
          </a:xfrm>
          <a:custGeom>
            <a:avLst/>
            <a:gdLst/>
            <a:ahLst/>
            <a:cxnLst/>
            <a:rect l="0" t="0" r="r" b="b"/>
            <a:pathLst>
              <a:path w="173736" h="9144" fill="none">
                <a:moveTo>
                  <a:pt x="0" y="0"/>
                </a:moveTo>
                <a:lnTo>
                  <a:pt x="173736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343400" y="173736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3246120" y="2331720"/>
            <a:ext cx="2606040" cy="14630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错误长成同一结构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5879592" y="3063240"/>
            <a:ext cx="173736" cy="9144"/>
          </a:xfrm>
          <a:custGeom>
            <a:avLst/>
            <a:gdLst/>
            <a:ahLst/>
            <a:cxnLst/>
            <a:rect l="0" t="0" r="r" b="b"/>
            <a:pathLst>
              <a:path w="173736" h="9144" fill="none">
                <a:moveTo>
                  <a:pt x="0" y="0"/>
                </a:moveTo>
                <a:lnTo>
                  <a:pt x="173736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7178040" y="173736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6080760" y="2331720"/>
            <a:ext cx="2606040" cy="14630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改进时让旧调用方仍能用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11480" y="4206240"/>
            <a:ext cx="832104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版本变化要能被看出来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mall 的错误码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下面这五个返回码都在枚举里，参数检验失败用的是 404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401 未登录，403 无权限，500 操作失败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53619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SUCCESS(​200,​ "操作成功"),​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FAILED(​500,​ "操作失败"),​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VALIDATE_FAILED(​404,​ "参数检验失败"),​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UNAUTHORIZED(​401,​ "暂未登录或token已经过期"),​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FORBIDDEN(​403,​ "没有相关权限");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38912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出处：mall-common/​src/​main/​java/​com/​macro/​mall/​common/​api/​ResultCode.java:​8-12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统一返回的三个字段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外壳固定为 code、message、data 三个字段，成功和失败都走这一个类，不要只看 HTTP 状态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263347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private long code;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​/**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 ​提示信息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private String message;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​/**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 ​数据封装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private T data;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1947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出处：mall-common/​src/​main/​java/​com/​macro/​mall/​common/​api/​CommonResult.java:​11-19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命名规范与接口契约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评审先看这三件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874520"/>
            <a:ext cx="2651760" cy="23774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第 1 件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设计是否站得住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3200400" y="2377440"/>
            <a:ext cx="2651760" cy="1874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第 2 件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复杂度是否必要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5989320" y="2880360"/>
            <a:ext cx="2651760" cy="1371600"/>
          </a:xfrm>
          <a:prstGeom prst="rect">
            <a:avLst/>
          </a:prstGeom>
          <a:solidFill>
            <a:srgbClr val="FBF3F2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第 3 件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测试是否守住行为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434840"/>
            <a:ext cx="832104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名字和格式放在这三件之后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协作记录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提交说明写为什么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8321040" cy="9144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600" b="1">
                <a:solidFill>
                  <a:srgbClr val="FFFFFF"/>
                </a:solidFill>
                <a:latin typeface="微软雅黑"/>
                <a:ea typeface="微软雅黑"/>
              </a:rPr>
              <a:t>要写为什么改，不只写改了什么</a:t>
            </a:r>
            <a:endParaRPr lang="zh-CN" sz="2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834640"/>
            <a:ext cx="4069080" cy="11887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不看对话，别人也能读懂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63440" y="2834640"/>
            <a:ext cx="4069080" cy="11887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规范取舍也写在说明里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4343400"/>
            <a:ext cx="109728" cy="6858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640080" y="4343400"/>
            <a:ext cx="809244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阅读 Conventional Commits 1.0.0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协作记录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AI 使用要能被核验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4069080" cy="16916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标注哪一段用了哪一种工具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691640"/>
            <a:ext cx="4069080" cy="16916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每一处产出都要能讲清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611880"/>
            <a:ext cx="4069080" cy="16916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正确性由本人负责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3611880"/>
            <a:ext cx="406908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595959"/>
                </a:solidFill>
                <a:latin typeface="微软雅黑"/>
                <a:ea typeface="微软雅黑"/>
              </a:rPr>
              <a:t>04</a:t>
            </a:r>
            <a:endParaRPr lang="zh-CN" sz="28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检测器的分数不作认定依据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协作记录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文档分成三类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45920"/>
            <a:ext cx="2606040" cy="9601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开发文档：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需求、设计、数据库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606040"/>
            <a:ext cx="26060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软件需求说明书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概要设计说明书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详细设计说明书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数据库设计说明书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108960" y="1645920"/>
            <a:ext cx="2514600" cy="9601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用户文档：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安装、配置、操作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3108960" y="2606040"/>
            <a:ext cx="2514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系统安装配置手册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用户操作手册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5715000" y="1645920"/>
            <a:ext cx="301752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管理文档：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计划、进度、测试、总结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5715000" y="2606040"/>
            <a:ext cx="3017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项目开发计划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开发进度月报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测试计划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项目开发总结报告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846320"/>
            <a:ext cx="8321040" cy="594360"/>
          </a:xfrm>
          <a:prstGeom prst="rect">
            <a:avLst/>
          </a:prstGeom>
          <a:noFill/>
          <a:ln w="19050">
            <a:solidFill>
              <a:srgbClr val="A33B38"/>
            </a:solidFill>
            <a:prstDash val="dash"/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A33B38"/>
                </a:solidFill>
                <a:latin typeface="微软雅黑"/>
                <a:ea typeface="微软雅黑"/>
              </a:rPr>
              <a:t>同一份说明书可以跨类引用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各栏文档名：2024 版第 6-5 讲第 5–7 页（开发文档、用户文档、管理文档）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协作记录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验证和确认</a:t>
            </a:r>
          </a:p>
        </p:txBody>
      </p:sp>
      <p:sp>
        <p:nvSpPr>
          <p:cNvPr id="101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验证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确认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65760" y="2322576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对照规格和特性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2322576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对照用户真正的需求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365760" y="3493008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问是否做对了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663440" y="3493008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问是否做了该做的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365760" y="4663440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规格里写了的都要查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663440" y="4663440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规格本身也可能错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级别、黑盒白盒、静态动态</a:t>
            </a:r>
          </a:p>
        </p:txBody>
      </p:sp>
      <p:sp>
        <p:nvSpPr>
          <p:cNvPr id="101" name="fig-d"/>
          <p:cNvSpPr/>
          <p:nvPr/>
        </p:nvSpPr>
        <p:spPr>
          <a:xfrm>
            <a:off x="274320" y="170078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用户需求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502920" y="2235708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需求分析与系统设计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188720" y="277063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概要设计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508760" y="330555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详细设计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2926080" y="379933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编码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2286000" y="1536192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用户需求V&amp;V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2286000" y="1792224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验收测试设计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2697480" y="211226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需求分析与系统设计V&amp;V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2697480" y="2368296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确认与系统测试设计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3154680" y="2688336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概要设计V&amp;V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3154680" y="2944368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集成测试设计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3383280" y="3223260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详细设计V&amp;V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3383280" y="3479292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单元测试设计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5532120" y="3799332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单元测试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5257800" y="3017520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集成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6400800" y="3017520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集成测试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5623560" y="2359152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实施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6675120" y="2235708"/>
            <a:ext cx="1417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确认测试与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系统测试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5943600" y="1700784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交付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6995160" y="1700784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27432" rIns="27432" tIns="13716" bIns="1371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验收测试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1" name="fig-d"/>
          <p:cNvSpPr/>
          <p:nvPr/>
        </p:nvSpPr>
        <p:spPr>
          <a:xfrm>
            <a:off x="731520" y="2048256"/>
            <a:ext cx="731520" cy="187452"/>
          </a:xfrm>
          <a:custGeom>
            <a:avLst/>
            <a:gdLst/>
            <a:ahLst/>
            <a:cxnLst/>
            <a:rect l="0" t="0" r="r" b="b"/>
            <a:pathLst>
              <a:path w="731520" h="187452" fill="none">
                <a:moveTo>
                  <a:pt x="0" y="0"/>
                </a:moveTo>
                <a:lnTo>
                  <a:pt x="731520" y="187452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2" name="fig-d"/>
          <p:cNvSpPr/>
          <p:nvPr/>
        </p:nvSpPr>
        <p:spPr>
          <a:xfrm>
            <a:off x="1463040" y="2583180"/>
            <a:ext cx="182880" cy="187452"/>
          </a:xfrm>
          <a:custGeom>
            <a:avLst/>
            <a:gdLst/>
            <a:ahLst/>
            <a:cxnLst/>
            <a:rect l="0" t="0" r="r" b="b"/>
            <a:pathLst>
              <a:path w="182880" h="187452" fill="none">
                <a:moveTo>
                  <a:pt x="0" y="0"/>
                </a:moveTo>
                <a:lnTo>
                  <a:pt x="182880" y="187452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3" name="fig-d"/>
          <p:cNvSpPr/>
          <p:nvPr/>
        </p:nvSpPr>
        <p:spPr>
          <a:xfrm>
            <a:off x="1645920" y="3118104"/>
            <a:ext cx="320040" cy="187452"/>
          </a:xfrm>
          <a:custGeom>
            <a:avLst/>
            <a:gdLst/>
            <a:ahLst/>
            <a:cxnLst/>
            <a:rect l="0" t="0" r="r" b="b"/>
            <a:pathLst>
              <a:path w="320040" h="187452" fill="none">
                <a:moveTo>
                  <a:pt x="0" y="0"/>
                </a:moveTo>
                <a:lnTo>
                  <a:pt x="320040" y="187452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4" name="fig-d"/>
          <p:cNvSpPr/>
          <p:nvPr/>
        </p:nvSpPr>
        <p:spPr>
          <a:xfrm>
            <a:off x="3086100" y="2048256"/>
            <a:ext cx="822960" cy="64008"/>
          </a:xfrm>
          <a:custGeom>
            <a:avLst/>
            <a:gdLst/>
            <a:ahLst/>
            <a:cxnLst/>
            <a:rect l="0" t="0" r="r" b="b"/>
            <a:pathLst>
              <a:path w="822960" h="64008" fill="none">
                <a:moveTo>
                  <a:pt x="0" y="0"/>
                </a:moveTo>
                <a:lnTo>
                  <a:pt x="822960" y="64008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5" name="fig-d"/>
          <p:cNvSpPr/>
          <p:nvPr/>
        </p:nvSpPr>
        <p:spPr>
          <a:xfrm>
            <a:off x="3909060" y="2624328"/>
            <a:ext cx="45720" cy="64008"/>
          </a:xfrm>
          <a:custGeom>
            <a:avLst/>
            <a:gdLst/>
            <a:ahLst/>
            <a:cxnLst/>
            <a:rect l="0" t="0" r="r" b="b"/>
            <a:pathLst>
              <a:path w="45720" h="64008" fill="none">
                <a:moveTo>
                  <a:pt x="0" y="0"/>
                </a:moveTo>
                <a:lnTo>
                  <a:pt x="45720" y="64008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6" name="fig-d"/>
          <p:cNvSpPr/>
          <p:nvPr/>
        </p:nvSpPr>
        <p:spPr>
          <a:xfrm>
            <a:off x="3954780" y="3200400"/>
            <a:ext cx="228600" cy="22860"/>
          </a:xfrm>
          <a:custGeom>
            <a:avLst/>
            <a:gdLst/>
            <a:ahLst/>
            <a:cxnLst/>
            <a:rect l="0" t="0" r="r" b="b"/>
            <a:pathLst>
              <a:path w="228600" h="22860" fill="none">
                <a:moveTo>
                  <a:pt x="0" y="0"/>
                </a:moveTo>
                <a:lnTo>
                  <a:pt x="228600" y="2286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7" name="fig-d"/>
          <p:cNvSpPr/>
          <p:nvPr/>
        </p:nvSpPr>
        <p:spPr>
          <a:xfrm>
            <a:off x="1965960" y="3653028"/>
            <a:ext cx="960120" cy="320040"/>
          </a:xfrm>
          <a:custGeom>
            <a:avLst/>
            <a:gdLst/>
            <a:ahLst/>
            <a:cxnLst/>
            <a:rect l="0" t="0" r="r" b="b"/>
            <a:pathLst>
              <a:path w="960120" h="320040" fill="none">
                <a:moveTo>
                  <a:pt x="0" y="0"/>
                </a:moveTo>
                <a:lnTo>
                  <a:pt x="960120" y="32004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8" name="fig-d"/>
          <p:cNvSpPr/>
          <p:nvPr/>
        </p:nvSpPr>
        <p:spPr>
          <a:xfrm>
            <a:off x="4983480" y="3479292"/>
            <a:ext cx="548640" cy="493776"/>
          </a:xfrm>
          <a:custGeom>
            <a:avLst/>
            <a:gdLst/>
            <a:ahLst/>
            <a:cxnLst/>
            <a:rect l="0" t="0" r="r" b="b"/>
            <a:pathLst>
              <a:path w="548640" h="493776" fill="none">
                <a:moveTo>
                  <a:pt x="0" y="0"/>
                </a:moveTo>
                <a:lnTo>
                  <a:pt x="548640" y="493776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9" name="fig-d"/>
          <p:cNvSpPr/>
          <p:nvPr/>
        </p:nvSpPr>
        <p:spPr>
          <a:xfrm>
            <a:off x="4160520" y="3364992"/>
            <a:ext cx="1463040" cy="608076"/>
          </a:xfrm>
          <a:custGeom>
            <a:avLst/>
            <a:gdLst/>
            <a:ahLst/>
            <a:cxnLst/>
            <a:rect l="0" t="0" r="r" b="b"/>
            <a:pathLst>
              <a:path w="1463040" h="608076" fill="none">
                <a:moveTo>
                  <a:pt x="0" y="608076"/>
                </a:moveTo>
                <a:lnTo>
                  <a:pt x="146304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0" name="fig-d"/>
          <p:cNvSpPr/>
          <p:nvPr/>
        </p:nvSpPr>
        <p:spPr>
          <a:xfrm>
            <a:off x="5623560" y="2706624"/>
            <a:ext cx="365760" cy="310896"/>
          </a:xfrm>
          <a:custGeom>
            <a:avLst/>
            <a:gdLst/>
            <a:ahLst/>
            <a:cxnLst/>
            <a:rect l="0" t="0" r="r" b="b"/>
            <a:pathLst>
              <a:path w="365760" h="310896" fill="none">
                <a:moveTo>
                  <a:pt x="0" y="310896"/>
                </a:moveTo>
                <a:lnTo>
                  <a:pt x="36576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1" name="fig-d"/>
          <p:cNvSpPr/>
          <p:nvPr/>
        </p:nvSpPr>
        <p:spPr>
          <a:xfrm>
            <a:off x="5989320" y="2048256"/>
            <a:ext cx="320040" cy="310896"/>
          </a:xfrm>
          <a:custGeom>
            <a:avLst/>
            <a:gdLst/>
            <a:ahLst/>
            <a:cxnLst/>
            <a:rect l="0" t="0" r="r" b="b"/>
            <a:pathLst>
              <a:path w="320040" h="310896" fill="none">
                <a:moveTo>
                  <a:pt x="0" y="310896"/>
                </a:moveTo>
                <a:lnTo>
                  <a:pt x="32004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2" name="fig-d"/>
          <p:cNvSpPr/>
          <p:nvPr/>
        </p:nvSpPr>
        <p:spPr>
          <a:xfrm>
            <a:off x="6035040" y="3364992"/>
            <a:ext cx="868680" cy="434340"/>
          </a:xfrm>
          <a:custGeom>
            <a:avLst/>
            <a:gdLst/>
            <a:ahLst/>
            <a:cxnLst/>
            <a:rect l="0" t="0" r="r" b="b"/>
            <a:pathLst>
              <a:path w="868680" h="434340" fill="none">
                <a:moveTo>
                  <a:pt x="0" y="434340"/>
                </a:moveTo>
                <a:lnTo>
                  <a:pt x="86868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3" name="fig-d"/>
          <p:cNvSpPr/>
          <p:nvPr/>
        </p:nvSpPr>
        <p:spPr>
          <a:xfrm>
            <a:off x="6903720" y="2839212"/>
            <a:ext cx="480060" cy="178308"/>
          </a:xfrm>
          <a:custGeom>
            <a:avLst/>
            <a:gdLst/>
            <a:ahLst/>
            <a:cxnLst/>
            <a:rect l="0" t="0" r="r" b="b"/>
            <a:pathLst>
              <a:path w="480060" h="178308" fill="none">
                <a:moveTo>
                  <a:pt x="0" y="178308"/>
                </a:moveTo>
                <a:lnTo>
                  <a:pt x="48006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4" name="fig-d"/>
          <p:cNvSpPr/>
          <p:nvPr/>
        </p:nvSpPr>
        <p:spPr>
          <a:xfrm>
            <a:off x="7383780" y="2048256"/>
            <a:ext cx="114300" cy="187452"/>
          </a:xfrm>
          <a:custGeom>
            <a:avLst/>
            <a:gdLst/>
            <a:ahLst/>
            <a:cxnLst/>
            <a:rect l="0" t="0" r="r" b="b"/>
            <a:pathLst>
              <a:path w="114300" h="187452" fill="none">
                <a:moveTo>
                  <a:pt x="0" y="187452"/>
                </a:moveTo>
                <a:lnTo>
                  <a:pt x="11430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5" name="fig-d"/>
          <p:cNvSpPr/>
          <p:nvPr/>
        </p:nvSpPr>
        <p:spPr>
          <a:xfrm>
            <a:off x="6309360" y="1499616"/>
            <a:ext cx="109728" cy="201168"/>
          </a:xfrm>
          <a:custGeom>
            <a:avLst/>
            <a:gdLst/>
            <a:ahLst/>
            <a:cxnLst/>
            <a:rect l="0" t="0" r="r" b="b"/>
            <a:pathLst>
              <a:path w="109728" h="201168" fill="none">
                <a:moveTo>
                  <a:pt x="0" y="201168"/>
                </a:moveTo>
                <a:lnTo>
                  <a:pt x="109728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6" name="fig-d"/>
          <p:cNvSpPr/>
          <p:nvPr/>
        </p:nvSpPr>
        <p:spPr>
          <a:xfrm>
            <a:off x="7498080" y="1499616"/>
            <a:ext cx="109728" cy="201168"/>
          </a:xfrm>
          <a:custGeom>
            <a:avLst/>
            <a:gdLst/>
            <a:ahLst/>
            <a:cxnLst/>
            <a:rect l="0" t="0" r="r" b="b"/>
            <a:pathLst>
              <a:path w="109728" h="201168" fill="none">
                <a:moveTo>
                  <a:pt x="0" y="201168"/>
                </a:moveTo>
                <a:lnTo>
                  <a:pt x="109728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37" name="fig"/>
          <p:cNvSpPr/>
          <p:nvPr/>
        </p:nvSpPr>
        <p:spPr>
          <a:xfrm>
            <a:off x="411480" y="4224528"/>
            <a:ext cx="4114800" cy="69494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V 模型：每一级测试对应一级开发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38" name="fig"/>
          <p:cNvSpPr/>
          <p:nvPr/>
        </p:nvSpPr>
        <p:spPr>
          <a:xfrm>
            <a:off x="4617720" y="4224528"/>
            <a:ext cx="4114800" cy="69494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常见测试级别与活动包括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单元、集成、系统、验收、回归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39" name="fig"/>
          <p:cNvSpPr/>
          <p:nvPr/>
        </p:nvSpPr>
        <p:spPr>
          <a:xfrm>
            <a:off x="411480" y="4974336"/>
            <a:ext cx="4114800" cy="69494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白盒对照源代码，黑盒对照规格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40" name="fig"/>
          <p:cNvSpPr/>
          <p:nvPr/>
        </p:nvSpPr>
        <p:spPr>
          <a:xfrm>
            <a:off x="4617720" y="4974336"/>
            <a:ext cx="4114800" cy="69494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静态可以不运行，动态要运行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41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5-4 讲第 25 页（W 模型：开发与测试设计同步进行）重画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4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A33B38"/>
                </a:solidFill>
                <a:latin typeface="微软雅黑"/>
                <a:ea typeface="微软雅黑"/>
              </a:rPr>
              <a:t>软件测试的三维空间</a:t>
            </a:r>
          </a:p>
        </p:txBody>
      </p:sp>
      <p:sp>
        <p:nvSpPr>
          <p:cNvPr id="101" name="fig-d"/>
          <p:cNvSpPr/>
          <p:nvPr/>
        </p:nvSpPr>
        <p:spPr>
          <a:xfrm>
            <a:off x="4297680" y="1737360"/>
            <a:ext cx="9144" cy="2148840"/>
          </a:xfrm>
          <a:custGeom>
            <a:avLst/>
            <a:gdLst/>
            <a:ahLst/>
            <a:cxnLst/>
            <a:rect l="0" t="0" r="r" b="b"/>
            <a:pathLst>
              <a:path w="9144" h="2148840" fill="none">
                <a:moveTo>
                  <a:pt x="0" y="214884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297680" y="3886200"/>
            <a:ext cx="3977640" cy="9144"/>
          </a:xfrm>
          <a:custGeom>
            <a:avLst/>
            <a:gdLst/>
            <a:ahLst/>
            <a:cxnLst/>
            <a:rect l="0" t="0" r="r" b="b"/>
            <a:pathLst>
              <a:path w="3977640" h="9144" fill="none">
                <a:moveTo>
                  <a:pt x="0" y="0"/>
                </a:moveTo>
                <a:lnTo>
                  <a:pt x="3977640" y="0"/>
                </a:lnTo>
              </a:path>
            </a:pathLst>
          </a:custGeom>
          <a:noFill/>
          <a:ln w="254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2322576" y="3886200"/>
            <a:ext cx="1975104" cy="1530706"/>
          </a:xfrm>
          <a:custGeom>
            <a:avLst/>
            <a:gdLst/>
            <a:ahLst/>
            <a:cxnLst/>
            <a:rect l="0" t="0" r="r" b="b"/>
            <a:pathLst>
              <a:path w="1975104" h="1530706" fill="none">
                <a:moveTo>
                  <a:pt x="1975104" y="0"/>
                </a:moveTo>
                <a:lnTo>
                  <a:pt x="0" y="1530706"/>
                </a:lnTo>
              </a:path>
            </a:pathLst>
          </a:custGeom>
          <a:noFill/>
          <a:ln w="254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297680" y="2148840"/>
            <a:ext cx="2971800" cy="9144"/>
          </a:xfrm>
          <a:custGeom>
            <a:avLst/>
            <a:gdLst/>
            <a:ahLst/>
            <a:cxnLst/>
            <a:rect l="0" t="0" r="r" b="b"/>
            <a:pathLst>
              <a:path w="2971800" h="9144" fill="none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7269480" y="2148840"/>
            <a:ext cx="9144" cy="1737360"/>
          </a:xfrm>
          <a:custGeom>
            <a:avLst/>
            <a:gdLst/>
            <a:ahLst/>
            <a:cxnLst/>
            <a:rect l="0" t="0" r="r" b="b"/>
            <a:pathLst>
              <a:path w="9144" h="1737360" fill="none">
                <a:moveTo>
                  <a:pt x="0" y="0"/>
                </a:moveTo>
                <a:lnTo>
                  <a:pt x="0" y="173736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2871216" y="3254350"/>
            <a:ext cx="2971800" cy="9144"/>
          </a:xfrm>
          <a:custGeom>
            <a:avLst/>
            <a:gdLst/>
            <a:ahLst/>
            <a:cxnLst/>
            <a:rect l="0" t="0" r="r" b="b"/>
            <a:pathLst>
              <a:path w="2971800" h="9144" fill="none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5843016" y="3254350"/>
            <a:ext cx="9144" cy="1737360"/>
          </a:xfrm>
          <a:custGeom>
            <a:avLst/>
            <a:gdLst/>
            <a:ahLst/>
            <a:cxnLst/>
            <a:rect l="0" t="0" r="r" b="b"/>
            <a:pathLst>
              <a:path w="9144" h="1737360" fill="none">
                <a:moveTo>
                  <a:pt x="0" y="0"/>
                </a:moveTo>
                <a:lnTo>
                  <a:pt x="0" y="173736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2871216" y="4991710"/>
            <a:ext cx="2971800" cy="9144"/>
          </a:xfrm>
          <a:custGeom>
            <a:avLst/>
            <a:gdLst/>
            <a:ahLst/>
            <a:cxnLst/>
            <a:rect l="0" t="0" r="r" b="b"/>
            <a:pathLst>
              <a:path w="2971800" h="9144" fill="none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2871216" y="3254350"/>
            <a:ext cx="9144" cy="1737360"/>
          </a:xfrm>
          <a:custGeom>
            <a:avLst/>
            <a:gdLst/>
            <a:ahLst/>
            <a:cxnLst/>
            <a:rect l="0" t="0" r="r" b="b"/>
            <a:pathLst>
              <a:path w="9144" h="1737360" fill="none">
                <a:moveTo>
                  <a:pt x="0" y="0"/>
                </a:moveTo>
                <a:lnTo>
                  <a:pt x="0" y="173736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2871216" y="2148840"/>
            <a:ext cx="1426464" cy="1105510"/>
          </a:xfrm>
          <a:custGeom>
            <a:avLst/>
            <a:gdLst/>
            <a:ahLst/>
            <a:cxnLst/>
            <a:rect l="0" t="0" r="r" b="b"/>
            <a:pathLst>
              <a:path w="1426464" h="1105510" fill="none">
                <a:moveTo>
                  <a:pt x="1426464" y="0"/>
                </a:moveTo>
                <a:lnTo>
                  <a:pt x="0" y="110551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5843016" y="2148840"/>
            <a:ext cx="1426464" cy="1105510"/>
          </a:xfrm>
          <a:custGeom>
            <a:avLst/>
            <a:gdLst/>
            <a:ahLst/>
            <a:cxnLst/>
            <a:rect l="0" t="0" r="r" b="b"/>
            <a:pathLst>
              <a:path w="1426464" h="1105510" fill="none">
                <a:moveTo>
                  <a:pt x="1426464" y="0"/>
                </a:moveTo>
                <a:lnTo>
                  <a:pt x="0" y="110551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5843016" y="3886200"/>
            <a:ext cx="1426464" cy="1105510"/>
          </a:xfrm>
          <a:custGeom>
            <a:avLst/>
            <a:gdLst/>
            <a:ahLst/>
            <a:cxnLst/>
            <a:rect l="0" t="0" r="r" b="b"/>
            <a:pathLst>
              <a:path w="1426464" h="1105510" fill="none">
                <a:moveTo>
                  <a:pt x="1426464" y="0"/>
                </a:moveTo>
                <a:lnTo>
                  <a:pt x="0" y="1105510"/>
                </a:lnTo>
              </a:path>
            </a:pathLst>
          </a:custGeom>
          <a:noFill/>
          <a:ln w="19050">
            <a:solidFill>
              <a:srgbClr val="B8860B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4114800" y="3703320"/>
            <a:ext cx="365760" cy="365760"/>
          </a:xfrm>
          <a:prstGeom prst="cub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4297680" y="3451860"/>
            <a:ext cx="109728" cy="9144"/>
          </a:xfrm>
          <a:custGeom>
            <a:avLst/>
            <a:gdLst/>
            <a:ahLst/>
            <a:cxnLst/>
            <a:rect l="0" t="0" r="r" b="b"/>
            <a:pathLst>
              <a:path w="109728" h="9144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127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3154680" y="329641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单元测试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4297680" y="3017520"/>
            <a:ext cx="109728" cy="9144"/>
          </a:xfrm>
          <a:custGeom>
            <a:avLst/>
            <a:gdLst/>
            <a:ahLst/>
            <a:cxnLst/>
            <a:rect l="0" t="0" r="r" b="b"/>
            <a:pathLst>
              <a:path w="109728" h="9144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127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3154680" y="286207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集成测试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4297680" y="2583180"/>
            <a:ext cx="109728" cy="9144"/>
          </a:xfrm>
          <a:custGeom>
            <a:avLst/>
            <a:gdLst/>
            <a:ahLst/>
            <a:cxnLst/>
            <a:rect l="0" t="0" r="r" b="b"/>
            <a:pathLst>
              <a:path w="109728" h="9144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127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3154680" y="242773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系统测试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4297680" y="2148840"/>
            <a:ext cx="109728" cy="9144"/>
          </a:xfrm>
          <a:custGeom>
            <a:avLst/>
            <a:gdLst/>
            <a:ahLst/>
            <a:cxnLst/>
            <a:rect l="0" t="0" r="r" b="b"/>
            <a:pathLst>
              <a:path w="109728" h="9144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127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1" name="fig-d"/>
          <p:cNvSpPr/>
          <p:nvPr/>
        </p:nvSpPr>
        <p:spPr>
          <a:xfrm>
            <a:off x="3154680" y="199339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验收测试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2" name="fig-d"/>
          <p:cNvSpPr/>
          <p:nvPr/>
        </p:nvSpPr>
        <p:spPr>
          <a:xfrm>
            <a:off x="5760720" y="3776472"/>
            <a:ext cx="9144" cy="109728"/>
          </a:xfrm>
          <a:custGeom>
            <a:avLst/>
            <a:gdLst/>
            <a:ahLst/>
            <a:cxnLst/>
            <a:rect l="0" t="0" r="r" b="b"/>
            <a:pathLst>
              <a:path w="9144" h="109728" fill="none">
                <a:moveTo>
                  <a:pt x="0" y="0"/>
                </a:moveTo>
                <a:lnTo>
                  <a:pt x="0" y="109728"/>
                </a:lnTo>
              </a:path>
            </a:pathLst>
          </a:custGeom>
          <a:noFill/>
          <a:ln w="127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3" name="fig-d"/>
          <p:cNvSpPr/>
          <p:nvPr/>
        </p:nvSpPr>
        <p:spPr>
          <a:xfrm>
            <a:off x="5212080" y="393192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白盒测试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4" name="fig-d"/>
          <p:cNvSpPr/>
          <p:nvPr/>
        </p:nvSpPr>
        <p:spPr>
          <a:xfrm>
            <a:off x="7589520" y="3776472"/>
            <a:ext cx="9144" cy="109728"/>
          </a:xfrm>
          <a:custGeom>
            <a:avLst/>
            <a:gdLst/>
            <a:ahLst/>
            <a:cxnLst/>
            <a:rect l="0" t="0" r="r" b="b"/>
            <a:pathLst>
              <a:path w="9144" h="109728" fill="none">
                <a:moveTo>
                  <a:pt x="0" y="0"/>
                </a:moveTo>
                <a:lnTo>
                  <a:pt x="0" y="109728"/>
                </a:lnTo>
              </a:path>
            </a:pathLst>
          </a:custGeom>
          <a:noFill/>
          <a:ln w="12700">
            <a:solidFill>
              <a:srgbClr val="26262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5" name="fig-d"/>
          <p:cNvSpPr/>
          <p:nvPr/>
        </p:nvSpPr>
        <p:spPr>
          <a:xfrm>
            <a:off x="7040880" y="393192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黑盒测试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6" name="fig-d"/>
          <p:cNvSpPr/>
          <p:nvPr/>
        </p:nvSpPr>
        <p:spPr>
          <a:xfrm>
            <a:off x="2642616" y="3985870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功能测试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7" name="fig-d"/>
          <p:cNvSpPr/>
          <p:nvPr/>
        </p:nvSpPr>
        <p:spPr>
          <a:xfrm>
            <a:off x="2313432" y="4240987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强壮性测试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8" name="fig-d"/>
          <p:cNvSpPr/>
          <p:nvPr/>
        </p:nvSpPr>
        <p:spPr>
          <a:xfrm>
            <a:off x="1984248" y="4496105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性能测试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9" name="fig-d"/>
          <p:cNvSpPr/>
          <p:nvPr/>
        </p:nvSpPr>
        <p:spPr>
          <a:xfrm>
            <a:off x="1655064" y="475122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适用性测试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0" name="fig-d"/>
          <p:cNvSpPr/>
          <p:nvPr/>
        </p:nvSpPr>
        <p:spPr>
          <a:xfrm>
            <a:off x="1325880" y="5006340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安全性测试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1" name="fig-d"/>
          <p:cNvSpPr/>
          <p:nvPr/>
        </p:nvSpPr>
        <p:spPr>
          <a:xfrm>
            <a:off x="996696" y="526145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可靠性测试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2" name="fig-d"/>
          <p:cNvSpPr/>
          <p:nvPr/>
        </p:nvSpPr>
        <p:spPr>
          <a:xfrm>
            <a:off x="4389120" y="157276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测试阶段或层次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33" name="fig-d"/>
          <p:cNvSpPr/>
          <p:nvPr/>
        </p:nvSpPr>
        <p:spPr>
          <a:xfrm>
            <a:off x="7863840" y="350215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方法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34" name="fig-d"/>
          <p:cNvSpPr/>
          <p:nvPr/>
        </p:nvSpPr>
        <p:spPr>
          <a:xfrm>
            <a:off x="2423160" y="53035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目标/特性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35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5-4 讲第 40 页（软件测试的三维空间）重画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3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四种覆盖准则</a:t>
            </a:r>
          </a:p>
        </p:txBody>
      </p:sp>
      <p:sp>
        <p:nvSpPr>
          <p:cNvPr id="8" name="review"/>
          <p:cNvSpPr txBox="1"/>
          <p:nvPr/>
        </p:nvSpPr>
        <p:spPr>
          <a:xfrm>
            <a:off x="411480" y="5655564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2000">
                <a:solidFill>
                  <a:srgbClr val="A33B38"/>
                </a:solidFill>
                <a:latin typeface="微软雅黑"/>
                <a:ea typeface="微软雅黑"/>
              </a:rPr>
              <a:t>回顾 E3：行与分支覆盖率只说明跑过，不说明断言写对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91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示意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103120"/>
            <a:ext cx="2651760" cy="1051560"/>
          </a:xfrm>
          <a:prstGeom prst="diamond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甲 &amp;&amp; 乙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822960" y="2926080"/>
            <a:ext cx="9144" cy="685800"/>
          </a:xfrm>
          <a:custGeom>
            <a:avLst/>
            <a:gdLst/>
            <a:ahLst/>
            <a:cxnLst/>
            <a:rect l="0" t="0" r="r" b="b"/>
            <a:pathLst>
              <a:path w="9144" h="685800" fill="none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2651760" y="2926080"/>
            <a:ext cx="9144" cy="685800"/>
          </a:xfrm>
          <a:custGeom>
            <a:avLst/>
            <a:gdLst/>
            <a:ahLst/>
            <a:cxnLst/>
            <a:rect l="0" t="0" r="r" b="b"/>
            <a:pathLst>
              <a:path w="9144" h="685800" fill="none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896112" y="31089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真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2724912" y="327355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61188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通过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2194560" y="361188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拒绝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3383280" y="1645920"/>
            <a:ext cx="5349240" cy="5486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行覆盖：哪些行执行过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3383280" y="2286000"/>
            <a:ext cx="5349240" cy="5486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判定覆盖：判定的真假是否都出现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3383280" y="2926080"/>
            <a:ext cx="5349240" cy="5486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条件覆盖：每个条件的真假是否都出现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fig"/>
          <p:cNvSpPr/>
          <p:nvPr/>
        </p:nvSpPr>
        <p:spPr>
          <a:xfrm>
            <a:off x="3383280" y="3566160"/>
            <a:ext cx="534924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MC/DC：每个基本条件都能在其他条件保持不变时，独立改变整个判定结果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3" name="fig"/>
          <p:cNvSpPr/>
          <p:nvPr/>
        </p:nvSpPr>
        <p:spPr>
          <a:xfrm>
            <a:off x="411480" y="4709160"/>
            <a:ext cx="83210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课程 JaCoCo 不给 MC/DC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覆盖证明不了的事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4069080" cy="5029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能说明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663440" y="1645920"/>
            <a:ext cx="4069080" cy="5029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不能说明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2240280"/>
            <a:ext cx="4069080" cy="1965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它说明这些行或分支跑过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2240280"/>
            <a:ext cx="4069080" cy="9144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它不说明断言写对了业务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3291840"/>
            <a:ext cx="4069080" cy="9144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没跑到的失败方式仍然可能存在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434840"/>
            <a:ext cx="832104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600" b="1">
                <a:solidFill>
                  <a:srgbClr val="FFFFFF"/>
                </a:solidFill>
                <a:latin typeface="微软雅黑"/>
                <a:ea typeface="微软雅黑"/>
              </a:rPr>
              <a:t>绿灯还要看期望从哪来</a:t>
            </a:r>
            <a:endParaRPr lang="zh-CN" sz="26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3A 和测试方法名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91640"/>
            <a:ext cx="2606040" cy="640080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Arrange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423160"/>
            <a:ext cx="2606040" cy="13716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Arrange：准备输入和对象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246120" y="1691640"/>
            <a:ext cx="2606040" cy="640080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Act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246120" y="2423160"/>
            <a:ext cx="2606040" cy="13716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Act：调用被测行为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080760" y="1691640"/>
            <a:ext cx="2606040" cy="640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Assert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6080760" y="2423160"/>
            <a:ext cx="2606040" cy="13716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Assert：比较实际与期望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114800"/>
            <a:ext cx="832104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方法名写下对象、输入和期望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用真值表列组合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示意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条件甲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条件乙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期望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验收准则先于实现</a:t>
            </a:r>
          </a:p>
        </p:txBody>
      </p:sp>
      <p:sp>
        <p:nvSpPr>
          <p:cNvPr id="101" name="fig-d"/>
          <p:cNvSpPr/>
          <p:nvPr/>
        </p:nvSpPr>
        <p:spPr>
          <a:xfrm>
            <a:off x="548640" y="2057400"/>
            <a:ext cx="8046720" cy="9144"/>
          </a:xfrm>
          <a:custGeom>
            <a:avLst/>
            <a:gdLst/>
            <a:ahLst/>
            <a:cxnLst/>
            <a:rect l="0" t="0" r="r" b="b"/>
            <a:pathLst>
              <a:path w="8046720" h="9144" fill="none">
                <a:moveTo>
                  <a:pt x="0" y="0"/>
                </a:moveTo>
                <a:lnTo>
                  <a:pt x="804672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554480" y="1920240"/>
            <a:ext cx="274320" cy="27432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155448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准则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2377440"/>
            <a:ext cx="2606040" cy="14173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先写用户能观察到的结果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389120" y="1920240"/>
            <a:ext cx="274320" cy="27432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3246120" y="155448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准则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3246120" y="2377440"/>
            <a:ext cx="2606040" cy="14173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写清输入、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动作和期望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7223760" y="1920240"/>
            <a:ext cx="274320" cy="27432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6080760" y="155448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实现之前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6080760" y="2377440"/>
            <a:ext cx="2606040" cy="14173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实现还没写，准则也要能判定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411480" y="4114800"/>
            <a:ext cx="832104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后来的测试对着准则，不对着某一次输出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使用的积分先写在这里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183 行写入这次使用的积分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同一字段，后面还会再写一次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if (​orderParam.​getUseIntegration(​) ​==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order.​setIntegration(​0);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order.​setIntegrationAmount(​new BigDecimal(​0));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} else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order.​setIntegration(​orderParam.​getUseIntegration(​));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order.​setIntegrationAmount(​calcIntegrationAmount(​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出处：mall-portal/​src/​main/​java/​com/​macro/​mall/​portal/​service/​impl/​OmsPortalOrderServiceImpl.java:​179-185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赠送值覆盖了使用值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212 行再次写入 integration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使用值不再留在这个字段里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26187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​//计算赠送积分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order.​setIntegration(​calcGifIntegration(​orderItemList));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​//计算赠送成长值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order.​setGrowth(​calcGiftGrowth(​orderItemList));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1480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出处：mall-portal/​src/​main/​java/​com/​macro/​mall/​portal/​service/​impl/​OmsPortalOrderServiceImpl.java:​211-214</a:t>
            </a:r>
          </a:p>
        </p:txBody>
      </p:sp>
      <p:sp>
        <p:nvSpPr>
          <p:cNvPr id="101" name="fig-d"/>
          <p:cNvSpPr/>
          <p:nvPr/>
        </p:nvSpPr>
        <p:spPr>
          <a:xfrm>
            <a:off x="6035040" y="2103120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覆盖第 183 行写入的值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6309360" y="2514600"/>
            <a:ext cx="365760" cy="548640"/>
          </a:xfrm>
          <a:custGeom>
            <a:avLst/>
            <a:gdLst/>
            <a:ahLst/>
            <a:cxnLst/>
            <a:rect l="0" t="0" r="r" b="b"/>
            <a:pathLst>
              <a:path w="365760" h="548640" fill="none">
                <a:moveTo>
                  <a:pt x="365760" y="0"/>
                </a:moveTo>
                <a:lnTo>
                  <a:pt x="0" y="54864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为了变绿而改测试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40690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删掉失败的断言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3931920" y="1783080"/>
            <a:ext cx="411480" cy="41148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63440" y="1691640"/>
            <a:ext cx="40690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把期望改成实际值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8183880" y="1783080"/>
            <a:ext cx="411480" cy="41148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572000" y="2880360"/>
            <a:ext cx="9144" cy="274320"/>
          </a:xfrm>
          <a:custGeom>
            <a:avLst/>
            <a:gdLst/>
            <a:ahLst/>
            <a:cxnLst/>
            <a:rect l="0" t="0" r="r" b="b"/>
            <a:pathLst>
              <a:path w="914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3200400"/>
            <a:ext cx="8321040" cy="7772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这样变绿，等于没有测试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206240"/>
            <a:ext cx="832104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失败要留下来，对着准则看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测试的基本要求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七条原则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87452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960120" y="1691640"/>
            <a:ext cx="352044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假设错误不可避免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83464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960120" y="2651760"/>
            <a:ext cx="352044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按后果分级，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决定人机怎么分工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79476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960120" y="3611880"/>
            <a:ext cx="352044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护栏用确定规则，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不交给模型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75488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960120" y="4572000"/>
            <a:ext cx="352044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执行者和检查者分开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663440" y="187452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5212080" y="1691640"/>
            <a:ext cx="352044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分布外就拒绝，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不硬给结果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663440" y="283464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fig"/>
          <p:cNvSpPr/>
          <p:nvPr/>
        </p:nvSpPr>
        <p:spPr>
          <a:xfrm>
            <a:off x="5212080" y="2651760"/>
            <a:ext cx="352044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失效时降级，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而不是整站停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4663440" y="379476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4" name="fig"/>
          <p:cNvSpPr/>
          <p:nvPr/>
        </p:nvSpPr>
        <p:spPr>
          <a:xfrm>
            <a:off x="5212080" y="3611880"/>
            <a:ext cx="352044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检测、纠正和恢复一起设计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前三条的系统与界面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2011680" cy="10972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错误不可避免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2514600" y="1691640"/>
            <a:ext cx="3063240" cy="10972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系统：预测不直接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落成写入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5669280" y="1691640"/>
            <a:ext cx="30632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界面：标成建议，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并允许人改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2971800"/>
            <a:ext cx="2011680" cy="10972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按后果分人机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2514600" y="2971800"/>
            <a:ext cx="3063240" cy="10972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系统：高风险先经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人工确认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5669280" y="2971800"/>
            <a:ext cx="30632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界面：低风险给建议，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并留撤销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251960"/>
            <a:ext cx="2011680" cy="10972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护栏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2514600" y="4251960"/>
            <a:ext cx="3063240" cy="10972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系统：区间、权限、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只读用代码限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5669280" y="4251960"/>
            <a:ext cx="30632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界面：禁用词和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已知输入先滤掉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后四条的系统与界面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4069080" cy="17830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执行者与检查者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事实复核，界面给人看依据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691640"/>
            <a:ext cx="406908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分布外检测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越界就拒绝，界面明确不答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657600"/>
            <a:ext cx="406908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降级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模型不可用走原功能，并标明降级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3657600"/>
            <a:ext cx="4069080" cy="17830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检测与恢复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能回到出错前，界面提供撤销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不可靠组件怎么接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2011680"/>
            <a:ext cx="19202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调用方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只提出问题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2340864" y="2606040"/>
            <a:ext cx="182880" cy="9144"/>
          </a:xfrm>
          <a:custGeom>
            <a:avLst/>
            <a:gdLst/>
            <a:ahLst/>
            <a:cxnLst/>
            <a:rect l="0" t="0" r="r" b="b"/>
            <a:pathLst>
              <a:path w="182880" h="9144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2532888" y="2011680"/>
            <a:ext cx="1920240" cy="11887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护栏先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限制输入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462272" y="2606040"/>
            <a:ext cx="182880" cy="9144"/>
          </a:xfrm>
          <a:custGeom>
            <a:avLst/>
            <a:gdLst/>
            <a:ahLst/>
            <a:cxnLst/>
            <a:rect l="0" t="0" r="r" b="b"/>
            <a:pathLst>
              <a:path w="182880" h="9144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54296" y="20116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  <a:prstDash val="dash"/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模型只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产出预测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6583680" y="2606040"/>
            <a:ext cx="182880" cy="9144"/>
          </a:xfrm>
          <a:custGeom>
            <a:avLst/>
            <a:gdLst/>
            <a:ahLst/>
            <a:cxnLst/>
            <a:rect l="0" t="0" r="r" b="b"/>
            <a:pathLst>
              <a:path w="182880" h="9144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6775704" y="2011680"/>
            <a:ext cx="1920240" cy="11887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检查者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核对事实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663440" y="166420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不可靠组件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7287768" y="3200400"/>
            <a:ext cx="9144" cy="777240"/>
          </a:xfrm>
          <a:custGeom>
            <a:avLst/>
            <a:gdLst/>
            <a:ahLst/>
            <a:cxnLst/>
            <a:rect l="0" t="0" r="r" b="b"/>
            <a:pathLst>
              <a:path w="9144" h="777240" fill="none">
                <a:moveTo>
                  <a:pt x="0" y="0"/>
                </a:moveTo>
                <a:lnTo>
                  <a:pt x="0" y="777240"/>
                </a:lnTo>
              </a:path>
            </a:pathLst>
          </a:custGeom>
          <a:noFill/>
          <a:ln w="19050">
            <a:solidFill>
              <a:srgbClr val="A33B38"/>
            </a:solidFill>
            <a:prstDash val="dash"/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7360920" y="342900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核对不过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5989320" y="3977640"/>
            <a:ext cx="274320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不行就降级返回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把模型预测当作不可靠组件，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设计目标是什么？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护栏为什么应当尽量用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非AI的硬性手段实现？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验收和传统测试不同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051560" y="1645920"/>
            <a:ext cx="7680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同一输入，输出可能不同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0428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051560" y="2304288"/>
            <a:ext cx="7680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没有完备预言，靠独立标注的评测集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2962656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051560" y="2962656"/>
            <a:ext cx="7680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错误用阈值管，含幻觉容忍度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621024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051560" y="3621024"/>
            <a:ext cx="7680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分布外和提示注入，要对抗用例与最小权限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2793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05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051560" y="4279392"/>
            <a:ext cx="7680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模型或提示词一变就重测，据题集调过参的题只计回归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411480" y="5029200"/>
            <a:ext cx="8321040" cy="640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结论是放行、降级或驳回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由此要交的四样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即验收报告的结论只取放行／降级／驳回，</a:t>
            </a:r>
            <a:br>
              <a:rPr lang="zh-CN" sz="2200">
                <a:latin typeface="微软雅黑"/>
                <a:ea typeface="微软雅黑"/>
              </a:rPr>
            </a:b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并记录评测证据与风险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432304"/>
            <a:ext cx="4087368" cy="161848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评测集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独立标注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不由被测模型出题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45152" y="2432304"/>
            <a:ext cx="4087368" cy="161848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对抗用例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守住权限、只读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和事实边界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187952"/>
            <a:ext cx="4087368" cy="161848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风险台账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记下已知出错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不靠平均分盖住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45152" y="4187952"/>
            <a:ext cx="4087368" cy="161848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验收报告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结论只取这三种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并记下证据与风险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面向不确定性的设计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E7 的题集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2606040" cy="11887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5400" b="1">
                <a:solidFill>
                  <a:srgbClr val="FFFFFF"/>
                </a:solidFill>
                <a:latin typeface="微软雅黑"/>
                <a:ea typeface="微软雅黑"/>
              </a:rPr>
              <a:t>20</a:t>
            </a:r>
            <a:endParaRPr lang="zh-CN" sz="54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834640"/>
            <a:ext cx="2606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20 条正常请求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246120" y="1645920"/>
            <a:ext cx="2606040" cy="11887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5400" b="1">
                <a:solidFill>
                  <a:srgbClr val="A33B38"/>
                </a:solidFill>
                <a:latin typeface="微软雅黑"/>
                <a:ea typeface="微软雅黑"/>
              </a:rPr>
              <a:t>8</a:t>
            </a:r>
            <a:endParaRPr lang="zh-CN" sz="54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246120" y="2834640"/>
            <a:ext cx="2606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8 条对抗请求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080760" y="1645920"/>
            <a:ext cx="2606040" cy="11887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5400" b="1">
                <a:solidFill>
                  <a:srgbClr val="A33B38"/>
                </a:solidFill>
                <a:latin typeface="微软雅黑"/>
                <a:ea typeface="微软雅黑"/>
              </a:rPr>
              <a:t>4</a:t>
            </a:r>
            <a:endParaRPr lang="zh-CN" sz="54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6080760" y="2834640"/>
            <a:ext cx="2606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4 条分布外请求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3794760"/>
            <a:ext cx="83210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标注来自业务事实和人工规则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11480" y="4526280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标注不来自被测模型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正常题阈值和守住的边界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45920"/>
            <a:ext cx="3017520" cy="13716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正常题至少 18/20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365760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90906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6052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41198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66344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91490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516636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541782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566928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592074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617220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642366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667512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692658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717804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742950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768096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7932420" y="2057400"/>
            <a:ext cx="201168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8183880" y="2057400"/>
            <a:ext cx="2011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1" name="fig-d"/>
          <p:cNvSpPr/>
          <p:nvPr/>
        </p:nvSpPr>
        <p:spPr>
          <a:xfrm>
            <a:off x="8435340" y="2057400"/>
            <a:ext cx="2011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2" name="fig-d"/>
          <p:cNvSpPr/>
          <p:nvPr/>
        </p:nvSpPr>
        <p:spPr>
          <a:xfrm>
            <a:off x="3657600" y="16916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20 条中至少 18 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3" name="fig"/>
          <p:cNvSpPr/>
          <p:nvPr/>
        </p:nvSpPr>
        <p:spPr>
          <a:xfrm>
            <a:off x="411480" y="3200400"/>
            <a:ext cx="406908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按结构化语义精确匹配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4" name="fig"/>
          <p:cNvSpPr/>
          <p:nvPr/>
        </p:nvSpPr>
        <p:spPr>
          <a:xfrm>
            <a:off x="4663440" y="3200400"/>
            <a:ext cx="406908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误拒正常请求，仍算正常题失败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5" name="fig"/>
          <p:cNvSpPr/>
          <p:nvPr/>
        </p:nvSpPr>
        <p:spPr>
          <a:xfrm>
            <a:off x="411480" y="4069080"/>
            <a:ext cx="8321040" cy="59436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对抗和分布外必须全部守住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6" name="fig"/>
          <p:cNvSpPr/>
          <p:nvPr/>
        </p:nvSpPr>
        <p:spPr>
          <a:xfrm>
            <a:off x="411480" y="4800600"/>
            <a:ext cx="83210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守的是权限、只读和事实边界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放行、降级、驳回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87452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14400" y="193852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先查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645920" y="1691640"/>
            <a:ext cx="7086600" cy="804672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没有被拦截的越权、写入或关键事实伪造则驳回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283464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914400" y="289864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再查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45920" y="2651760"/>
            <a:ext cx="7086600" cy="8046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全部满足才放行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79476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914400" y="385876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再查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1645920" y="3611880"/>
            <a:ext cx="70866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模型不达标或不可用，普通路径可靠则降级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645920" y="4709160"/>
            <a:ext cx="7086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离线替身验证不可用和非法输出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11480" y="487375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旁注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检测器不能代替验收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4069080" cy="5029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不靠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663440" y="1645920"/>
            <a:ext cx="4069080" cy="5029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靠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2240280"/>
            <a:ext cx="4069080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代码检测器的分数不可靠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3657600"/>
            <a:ext cx="4069080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不靠模型自报的置信度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2240280"/>
            <a:ext cx="4069080" cy="13258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学术诚信靠讲解和演示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663440" y="3657600"/>
            <a:ext cx="4069080" cy="13258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产品验收靠题集和证据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一段测试全部通过的AI生成代码，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可以直接放行吗？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构建产物、依赖和配置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45920"/>
            <a:ext cx="3931920" cy="9144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构建得到 portal 的可执行 jar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926080"/>
            <a:ext cx="3931920" cy="731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依赖由课程里的四个服务提供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374904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MySQL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325880" y="3749040"/>
            <a:ext cx="777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Redis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2148840" y="3749040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MongoDB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3246120" y="374904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RabbitMQ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2377440" y="260604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32004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663440" y="160020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配置由下往上叠加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663440" y="1965960"/>
            <a:ext cx="406908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课程 yml 盖上地址，端口改成 18085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4663440" y="2926080"/>
            <a:ext cx="406908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启动命令显式传入 dev，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与默认一致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4663440" y="3886200"/>
            <a:ext cx="40690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基线默认 profile 是 dev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profile 写在配置里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基线第 4 到 5 行把 spring.profiles.active 写成 dev 默认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命令页显式传入 dev，与这里的默认一致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53619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spring:</a:t>
            </a:r>
          </a:p>
          <a:p>
            <a:pPr algn="l" eaLnBrk="1" hangingPunct="1" marL="670560" indent="-6705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application: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name: ​mall-portal</a:t>
            </a:r>
          </a:p>
          <a:p>
            <a:pPr algn="l" eaLnBrk="1" hangingPunct="1" marL="670560" indent="-6705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profiles: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active: ​dev #默认为开发环境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38912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出处：mall-portal/​src/​main/​resources/​application.yml:​1-5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部署演示的五步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9164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005840" y="1600200"/>
            <a:ext cx="694944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构建 jar，命令含 -Ddocker.skip=true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480560" y="2231136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2478024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005840" y="2386584"/>
            <a:ext cx="694944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以明确 profile 启动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480560" y="3017520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264408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005840" y="3172968"/>
            <a:ext cx="694944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健康检查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480560" y="3803904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411480" y="4050792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1005840" y="3959352"/>
            <a:ext cx="694944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只读查询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480560" y="4590288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411480" y="4837176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4" name="fig"/>
          <p:cNvSpPr/>
          <p:nvPr/>
        </p:nvSpPr>
        <p:spPr>
          <a:xfrm>
            <a:off x="1005840" y="4745736"/>
            <a:ext cx="6949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  <a:prstDash val="dash"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回滚到上一 jar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7973568" y="2697480"/>
            <a:ext cx="530352" cy="2359152"/>
          </a:xfrm>
          <a:custGeom>
            <a:avLst/>
            <a:gdLst/>
            <a:ahLst/>
            <a:cxnLst/>
            <a:rect l="0" t="0" r="r" b="b"/>
            <a:pathLst>
              <a:path w="530352" h="2359152" fill="none">
                <a:moveTo>
                  <a:pt x="0" y="2359152"/>
                </a:moveTo>
                <a:lnTo>
                  <a:pt x="530352" y="2359152"/>
                </a:lnTo>
                <a:lnTo>
                  <a:pt x="530352" y="0"/>
                </a:lnTo>
                <a:lnTo>
                  <a:pt x="18288" y="0"/>
                </a:lnTo>
              </a:path>
            </a:pathLst>
          </a:custGeom>
          <a:noFill/>
          <a:ln w="19050">
            <a:solidFill>
              <a:srgbClr val="A33B38"/>
            </a:solidFill>
            <a:prstDash val="dash"/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课程环境里的命令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构建与 E1、T2 相同；健康检查看日志里的 Started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在 WSL/bash 执行；行尾 \ 把启动命令续成一条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145536"/>
            <a:ext cx="813816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mvn -B -DskipTests -Ddocker.skip=true -pl mall-portal -am package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3602736"/>
            <a:ext cx="813816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java -jar mall-portal/target/mall-portal-1.0-SNAPSHOT-exec.jar \</a:t>
            </a:r>
          </a:p>
        </p:txBody>
      </p:sp>
      <p:sp>
        <p:nvSpPr>
          <p:cNvPr id="6" name="code-cmd"/>
          <p:cNvSpPr txBox="1"/>
          <p:nvPr/>
        </p:nvSpPr>
        <p:spPr>
          <a:xfrm>
            <a:off x="502920" y="4059935"/>
            <a:ext cx="813816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--spring.profiles.active=dev --server.port=18085 \</a:t>
            </a:r>
          </a:p>
        </p:txBody>
      </p:sp>
      <p:sp>
        <p:nvSpPr>
          <p:cNvPr id="7" name="code-cmd"/>
          <p:cNvSpPr txBox="1"/>
          <p:nvPr/>
        </p:nvSpPr>
        <p:spPr>
          <a:xfrm>
            <a:off x="502920" y="4517136"/>
            <a:ext cx="813816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lang="zh-CN" altLang="en-US">
                <a:latin typeface="Consolas"/>
                <a:ea typeface="微软雅黑"/>
                <a:cs typeface="Consolas"/>
              </a:rPr>
              <a:t>--spring.config.additional-location=file:./SDC/environment/application-sdc.yml</a:t>
            </a:r>
          </a:p>
        </p:txBody>
      </p:sp>
      <p:sp>
        <p:nvSpPr>
          <p:cNvPr id="8" name="code-cmd"/>
          <p:cNvSpPr txBox="1"/>
          <p:nvPr/>
        </p:nvSpPr>
        <p:spPr>
          <a:xfrm>
            <a:off x="502920" y="4974336"/>
            <a:ext cx="8138160" cy="71323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lang="zh-CN" altLang="en-US">
                <a:latin typeface="Consolas"/>
                <a:ea typeface="微软雅黑"/>
                <a:cs typeface="Consolas"/>
              </a:rPr>
              <a:t>curl --noproxy '*' 'http://127.0.0.1:18085/product/search?keyword=HUAWEI%20P20&amp;pageNum=1&amp;pageSize=5'</a:t>
            </a:r>
          </a:p>
        </p:txBody>
      </p:sp>
      <p:sp>
        <p:nvSpPr>
          <p:cNvPr id="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课程 compose 只部署依赖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课程 compose 只部署依赖、不部署应用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依赖有 MySQL、Redis、MongoDB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RabbitMQ 也在；应用仍用上一页的 java -jar 启动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712464"/>
            <a:ext cx="813816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docker compose -f SDC/environment/compose.yml up -d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4169664"/>
            <a:ext cx="813816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docker compose -f SDC/environment/compose.yml ps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AI 起草的测试与配置怎么核对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554480"/>
          <a:ext cx="8503920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4480"/>
                <a:gridCol w="3474720"/>
                <a:gridCol w="3474720"/>
              </a:tblGrid>
              <a:tr h="10058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起草的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生成之后，人审查什么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再用什么验证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10058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断言对着验收准则，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不对着这一次的输出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新规格的测试先红后绿；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不为变绿改期望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10058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部署配置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profile 是 dev，端口 18085，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构建时跳过 Docker 打包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按五步跑：日志 Started，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只读查询业务 code 200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依赖编排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compose 只放四个依赖，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不含 mall-portal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compose ps 只见依赖；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应用由 java -jar 启动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部署到运行环境后，用什么证明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“这次上线是安全的”？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产品测试与部署</a:t>
            </a:r>
          </a:p>
        </p:txBody>
      </p:sp>
    </p:spTree>
  </p:cSld>
  <p:clrMapOvr>
    <a:masterClrMapping/>
  </p:clrMapOvr>
  <p:hf sldNum="0" hdr="0" ftr="0" dt="0"/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914400" cy="6200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325880" y="1645920"/>
            <a:ext cx="7406640" cy="6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整洁与规范：判据是改动成本，冲突写明听谁的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85920"/>
            <a:ext cx="914400" cy="6200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325880" y="2385920"/>
            <a:ext cx="7406640" cy="6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协作记录：评审三件事，说明写原因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125920"/>
            <a:ext cx="914400" cy="6200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325880" y="3125920"/>
            <a:ext cx="7406640" cy="6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测试：覆盖有限度，断言守约束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605920"/>
            <a:ext cx="914400" cy="6200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05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325880" y="4605920"/>
            <a:ext cx="7406640" cy="6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验收：20、8、4 和 18/20，验收结论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5345920"/>
            <a:ext cx="914400" cy="6200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06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325880" y="5345920"/>
            <a:ext cx="7406640" cy="6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部署：五步做完，compose 只放依赖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201" name="fig-d"/>
          <p:cNvSpPr/>
          <p:nvPr/>
        </p:nvSpPr>
        <p:spPr>
          <a:xfrm>
            <a:off x="411480" y="3865920"/>
            <a:ext cx="914400" cy="6200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202" name="fig"/>
          <p:cNvSpPr/>
          <p:nvPr/>
        </p:nvSpPr>
        <p:spPr>
          <a:xfrm>
            <a:off x="1325880" y="3865920"/>
            <a:ext cx="7406640" cy="6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不确定性：七条原则；结论只取放行、降级或驳回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总结与布置</a:t>
            </a:r>
          </a:p>
        </p:txBody>
      </p:sp>
    </p:spTree>
  </p:cSld>
  <p:clrMapOvr>
    <a:masterClrMapping/>
  </p:clrMapOvr>
  <p:hf sldNum="0" hdr="0" ftr="0" dt="0"/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152400" y="1444752"/>
            <a:ext cx="88392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课前已在学习通完成，课上逐题讲评；题干和选项与学习通一致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mall 的 POST /order/cancelOrder 名为"取消订单"，实际只投递一条</a:t>
            </a:r>
            <a:br>
              <a:rPr sz="2000" b="0" lang="zh-CN" altLang="en-US"/>
            </a:br>
            <a:r>
              <a:rPr sz="2000" b="0" lang="zh-CN" altLang="en-US">
                <a:latin typeface="微软雅黑"/>
                <a:ea typeface="微软雅黑"/>
                <a:cs typeface="微软雅黑"/>
              </a:rPr>
              <a:t>延迟取消消息。按整洁代码"降低阅读和修改成本"的判据，较合适的是：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让名字说清实际行为，或把立即取消与延迟取消拆成两个接口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在方法上加一行注释；C. 把方法拆得更短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保持不变，调用方会自己读代码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接口改进时，“保持向后兼容”意味着什么？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可以删除旧字段，只要新版本能跑通；B. 接口名称必须保持不变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版本号必须递增；D. 现有调用方无需修改仍可正常调用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语句覆盖率和分支覆盖率都达到 100%，能说明什么？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代码没有缺陷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每条语句、每个分支至少执行过一次，但不能证明结果符合需求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需求验收准则已全部满足；D. 不必再做集成测试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总结与布置</a:t>
            </a:r>
          </a:p>
        </p:txBody>
      </p:sp>
    </p:spTree>
  </p:cSld>
  <p:clrMapOvr>
    <a:masterClrMapping/>
  </p:clrMapOvr>
  <p:hf sldNum="0" hdr="0" ftr="0" dt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预习题（4—5）与阅读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152400" y="1444752"/>
            <a:ext cx="88392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商品图片分类模型收到一张与训练数据差异很大的图片，分布外检测</a:t>
            </a:r>
            <a:br>
              <a:rPr sz="2000" b="0" lang="zh-CN" altLang="en-US"/>
            </a:br>
            <a:r>
              <a:rPr sz="2000" b="0" lang="zh-CN" altLang="en-US">
                <a:latin typeface="微软雅黑"/>
                <a:ea typeface="微软雅黑"/>
                <a:cs typeface="微软雅黑"/>
              </a:rPr>
              <a:t>发出报警。系统应当：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照常输出置信度最高的类别；B. 让模型多预测几次，取多数结果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拒绝预测，转交既定的人工或降级流程；D. 记录日志后照常输出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验收报告中“放行、降级、驳回”三个结论依据什么作出？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模型自报的准确率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开发者的主观判断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功能实现的代码行数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按验收标准逐条核对的结果，以及评测集与对抗用例的证据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[40] CMU《Machine Learning in Production》面向不确定性相关章</a:t>
            </a:r>
            <a:br>
              <a:rPr sz="2000" b="0" lang="zh-CN" altLang="en-US">
                <a:latin typeface="微软雅黑"/>
                <a:ea typeface="微软雅黑"/>
                <a:cs typeface="微软雅黑"/>
              </a:rPr>
            </a:b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（必读）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[34] Microsoft REST API Guidelines 版本与兼容一节（必读）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[33] Google《Code Review》（选读）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总结与布置</a:t>
            </a:r>
          </a:p>
        </p:txBody>
      </p:sp>
    </p:spTree>
  </p:cSld>
  <p:clrMapOvr>
    <a:masterClrMapping/>
  </p:clrMapOvr>
  <p:hf sldNum="0" hdr="0" ftr="0" dt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本次课结束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下次课：第 14 次课｜AI 功能接入与验收</a:t>
            </a:r>
          </a:p>
        </p:txBody>
      </p:sp>
    </p:spTree>
  </p:cSld>
  <p:clrMapOvr>
    <a:masterClrMapping/>
  </p:clrMapOvr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SDC-2026">
      <a:dk1>
        <a:srgbClr val="262626"/>
      </a:dk1>
      <a:lt1>
        <a:srgbClr val="FFFFFF"/>
      </a:lt1>
      <a:dk2>
        <a:srgbClr val="A33B38"/>
      </a:dk2>
      <a:lt2>
        <a:srgbClr val="F6E8E6"/>
      </a:lt2>
      <a:accent1>
        <a:srgbClr val="A33B38"/>
      </a:accent1>
      <a:accent2>
        <a:srgbClr val="A33B38"/>
      </a:accent2>
      <a:accent3>
        <a:srgbClr val="595959"/>
      </a:accent3>
      <a:accent4>
        <a:srgbClr val="2E7D32"/>
      </a:accent4>
      <a:accent5>
        <a:srgbClr val="B26A00"/>
      </a:accent5>
      <a:accent6>
        <a:srgbClr val="D9D9D9"/>
      </a:accent6>
      <a:hlink>
        <a:srgbClr val="A33B38"/>
      </a:hlink>
      <a:folHlink>
        <a:srgbClr val="7F7F7F"/>
      </a:folHlink>
    </a:clrScheme>
    <a:fontScheme name="SDC-2026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