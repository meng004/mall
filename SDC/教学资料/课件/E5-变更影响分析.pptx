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286" r:id="rId55"/>
    <p:sldId id="257" r:id="rId10"/>
    <p:sldId id="258" r:id="rId11"/>
    <p:sldId id="259" r:id="rId12"/>
    <p:sldId id="260" r:id="rId13"/>
    <p:sldId id="275" r:id="rId28"/>
    <p:sldId id="276" r:id="rId29"/>
    <p:sldId id="277" r:id="rId30"/>
    <p:sldId id="278" r:id="rId31"/>
    <p:sldId id="279" r:id="rId32"/>
    <p:sldId id="261" r:id="rId14"/>
    <p:sldId id="280" r:id="rId33"/>
    <p:sldId id="262" r:id="rId15"/>
    <p:sldId id="288" r:id="rId57"/>
    <p:sldId id="281" r:id="rId34"/>
    <p:sldId id="282" r:id="rId3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85" r:id="rId54"/>
    <p:sldId id="284" r:id="rId53"/>
    <p:sldId id="283" r:id="rId36"/>
    <p:sldId id="273" r:id="rId26"/>
    <p:sldId id="274" r:id="rId27"/>
    <p:sldId id="287" r:id="rId56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31.xml"/><Relationship Id="rId27" Type="http://schemas.openxmlformats.org/officeDocument/2006/relationships/slide" Target="slides/slide32.xml"/><Relationship Id="rId28" Type="http://schemas.openxmlformats.org/officeDocument/2006/relationships/slide" Target="slides/slide7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3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30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29.xml"/><Relationship Id="rId54" Type="http://schemas.openxmlformats.org/officeDocument/2006/relationships/slide" Target="slides/slide28.xml"/><Relationship Id="rId55" Type="http://schemas.openxmlformats.org/officeDocument/2006/relationships/slide" Target="slides/slide2.xml"/><Relationship Id="rId56" Type="http://schemas.openxmlformats.org/officeDocument/2006/relationships/slide" Target="slides/slide33.xml"/><Relationship Id="rId57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15 分钟</a:t>
            </a:r>
          </a:p>
          <a:p>
            <a:r>
              <a:t>定义：这次实验在既有系统里定位修改点，列出改与不改，并写成可执行的回归计划。</a:t>
            </a:r>
          </a:p>
          <a:p>
            <a:r>
              <a:t>代价：开场用这次的细则去投上一份作品，两项作业的证据会对错位。</a:t>
            </a:r>
          </a:p>
          <a:p>
            <a:r>
              <a:t>判定：先确认被演示的是实验 E4，用 E4 的细则投票，然后再答签到。</a:t>
            </a:r>
          </a:p>
          <a:p>
            <a:r>
              <a:t>权衡：三个班周次不同，口头交代时间。课上只强调这是第 10 次课。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定义：这一页用的是实验 E4 的细则。被演示的是上一份重构作品，不是这次要交的变更计划。</a:t>
            </a:r>
          </a:p>
          <a:p>
            <a:r>
              <a:t>代价：用这次实验的三栏去投 E4 的作品，特征测试和修改处数会对不上。</a:t>
            </a:r>
          </a:p>
          <a:p>
            <a:r>
              <a:t>判定：票要能对上坏味道与改动位置、必须保持的行为、四个要素，以及同一组特征测试在 AI 重构前后都通过的执行记录、读差异核实没有夹带无关修改。</a:t>
            </a:r>
          </a:p>
          <a:p>
            <a:r>
              <a:t>权衡：E4 不要求强行增加策略类。这次实验的细则和边界在后面单独讲。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节：现场演示与投票</a:t>
            </a:r>
          </a:p>
          <a:p>
            <a:r>
              <a:t>时长见本节首页（本节 15 分钟）</a:t>
            </a:r>
          </a:p>
          <a:p>
            <a:r>
              <a:t>题目页</a:t>
            </a:r>
          </a:p>
          <a:p>
            <a:r>
              <a:t>答案：B</a:t>
            </a:r>
          </a:p>
          <a:p>
            <a:r>
              <a:t>定义：回归范围跟着库存的读写点走：下单锁定、支付扣减、取消释放、退货各一组。</a:t>
            </a:r>
          </a:p>
          <a:p>
            <a:r>
              <a:t>代价：只测下单会漏掉其他读写点；全量回归又说不出依据。</a:t>
            </a:r>
          </a:p>
          <a:p>
            <a:r>
              <a:t>判定：每个读写点都有一组用例，且说明了为什么选它们。</a:t>
            </a:r>
          </a:p>
          <a:p>
            <a:r>
              <a:t>权衡：先完成实名演示再答这一题。选错这一题，这次到场就不计入。答案只留在备注。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本节 5 分钟</a:t>
            </a:r>
          </a:p>
          <a:p>
            <a:r>
              <a:t>定义：这五题是 T5 课前的预习。这里只给正确答案、判定依据，以及容易混到的另一个概念。</a:t>
            </a:r>
          </a:p>
          <a:p>
            <a:r>
              <a:t>代价：分不清霰弹式修改和发散式变化，就看不出 E5-00 为什么要先收口。</a:t>
            </a:r>
          </a:p>
          <a:p>
            <a:r>
              <a:t>判定：第 3 题对应本次教师示例 E5-00：可售库存公式写了四份，先收成一处再做影响分析；第 1 题效果要写失去什么。</a:t>
            </a:r>
          </a:p>
          <a:p>
            <a:r>
              <a:t>权衡：第 2 题变化没出现时不急引入模式；第 4 题坏味道反复出现才引入模式；第 5 题放行前先查范围，再看测试。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时长见本节首页（本节 5 分钟）</a:t>
            </a:r>
          </a:p>
          <a:p>
            <a:r>
              <a:t>定义：教师用 E5-00 把五步走一遍。学生用自己从候选库选的那一项，做同样的五步。</a:t>
            </a:r>
          </a:p>
          <a:p>
            <a:r>
              <a:t>代价：把演示用的需求当成每个人的题目，交上来的就不是本人的选择。</a:t>
            </a:r>
          </a:p>
          <a:p>
            <a:r>
              <a:t>判定：作品要能对上本人选题的范围、清单、被排除的做法，以及可执行的回归计划。</a:t>
            </a:r>
          </a:p>
          <a:p>
            <a:r>
              <a:t>权衡：不要求提前实现新需求。验证过在这次是指分析可以核查、后续测试可以执行。E6 原则上沿用这一题。</a:t>
            </a:r>
          </a:p>
          <a:p>
            <a:r>
              <a:t>教案步骤①写的是这一则需求。课堂按教师演示、学生做本人选题来讲。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定义：基线上 paySuccess 从第 253 行到第 264 行。它改订单状态，按明细扣库存，然后返回行数。</a:t>
            </a:r>
          </a:p>
          <a:p>
            <a:r>
              <a:t>代价：只看到方法名里有库存，会以为这里已经在读阈值。这 12 行里没有读 SKU。</a:t>
            </a:r>
          </a:p>
          <a:p>
            <a:r>
              <a:t>判定：问第 263 行动的是 stock 和锁定，还是 lowStock。返回值是扣减行数。</a:t>
            </a:r>
          </a:p>
          <a:p>
            <a:r>
              <a:t>权衡：类映射是 /order，第 27 行。支付宝第 97、132 行调用 paySuccessByOrderSn，第 426 行再进入 paySuccess。下单锁定在第 165 行。</a:t>
            </a:r>
          </a:p>
          <a:p>
            <a:r>
              <a:t>方法签名在第 253 行。接口第 32 行有事务注解。可售在促销实现第 53 行已写成 stock 减 lockStock。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定义：SDCE500Test 锁的是支付成功的现状：返回扣减行数，这条路径不读 SKU，本类日志为空。</a:t>
            </a:r>
          </a:p>
          <a:p>
            <a:r>
              <a:t>代价：把这两条现状断言说成预警规则已经成立，绿灯就超过了它实际证明的范围。</a:t>
            </a:r>
          </a:p>
          <a:p>
            <a:r>
              <a:t>判定：问第 59 行锁的是返回值，第 63、64 行锁的是“现在不读、现在不记日志”。</a:t>
            </a:r>
          </a:p>
          <a:p>
            <a:r>
              <a:t>权衡：打桩把 SKU 7 设成 stock 10、lockStock 6、lowStock 5。基线不调用 select，打桩不会被读到。</a:t>
            </a:r>
          </a:p>
          <a:p>
            <a:r>
              <a:t>测试提交即最终代码 ce706dee1dd909d2bf3d9760d538fc5f9a0cf461。分支当前头 dbfcb94466e58990c4c8ed7a014a5bb302ed63e0 不改这份测试。本示例无红灯。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定义：E5-00 改前、改后都通过：只收口了可售库存公式，行为不变。增加 29 行是 E6-07 的实现对照，不是这一支已经写了预警。</a:t>
            </a:r>
          </a:p>
          <a:p>
            <a:r>
              <a:t>代价：把“符合”理解成预警已经在门户上可用，会超过这一项测试实际打到的范围。</a:t>
            </a:r>
          </a:p>
          <a:p>
            <a:r>
              <a:t>判定：示例材料的对照结论符合。作业是否得分，仍看本次细则里的本人证据。</a:t>
            </a:r>
          </a:p>
          <a:p>
            <a:r>
              <a:t>权衡：注入是临时套上实现后再跑。它说明实现之后第 63、64 行会失败，不是本分支已经写了预警。</a:t>
            </a:r>
          </a:p>
          <a:p>
            <a:r>
              <a:t>影响分析、注入说明与对照在 fd53649d9db49876c57e8cc0b732feaf08010847。无图稿。基线 dcaa93b3150352e5044708d7211b5bed0af4509f。</a:t>
            </a:r>
          </a:p>
          <a:p>
            <a:r>
              <a:t>影响分析里的对照分支名是当时的 exp/e6-00。重编号后这份实现是扩展题 E6-07，Issue #26。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定义：个人作业从这六项里选一项，按同样的五步交变更计划。E5-00 用来看步骤。</a:t>
            </a:r>
          </a:p>
          <a:p>
            <a:r>
              <a:t>代价：直接交教师示例的分析，就没有本人的选择和证据。</a:t>
            </a:r>
          </a:p>
          <a:p>
            <a:r>
              <a:t>判定：选题要能指出入口、一处改、一处不改，以及一条被排除的做法。</a:t>
            </a:r>
          </a:p>
          <a:p>
            <a:r>
              <a:t>权衡：下一实验原则上沿用这一题。另选要说明理由。参考实现可以看，不能代替本人的计划。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定义：第一步写清需求、这次改到哪里、以及明确不改什么。教师用 E5-00 演示，学生写自己的选题。</a:t>
            </a:r>
          </a:p>
          <a:p>
            <a:r>
              <a:t>代价：边界不写，后面每条调用链都会被算进必须修改。</a:t>
            </a:r>
          </a:p>
          <a:p>
            <a:r>
              <a:t>判定：问告警的条件是严格小于，还是小于等于。问库存数字这次动不动。</a:t>
            </a:r>
          </a:p>
          <a:p>
            <a:r>
              <a:t>权衡：可售按 stock 减 lockStock。查询失败不得改变已经成功的返回值。不把预警做成短信或邮件。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定义：第二步从入口走到接口、服务、存储和调用方；可借助 AI 列出影响面，但每一条都要回到源码和调用关系核实。示例里唯一拟改的文件是 OmsPortalOrderServiceImpl.java。</a:t>
            </a:r>
          </a:p>
          <a:p>
            <a:r>
              <a:t>代价：只写“要改服务层”，不给文件和行号，讲清楚这一档对不上。</a:t>
            </a:r>
          </a:p>
          <a:p>
            <a:r>
              <a:t>判定：问第 165 行是锁定之后，第 263 行是扣减之后。问控制器为什么可以不动。</a:t>
            </a:r>
          </a:p>
          <a:p>
            <a:r>
              <a:t>权衡：该类已经有 SKU 的 Mapper。支付宝和按单号支付都进 paySuccess，所以不用再改那些调用方。</a:t>
            </a:r>
          </a:p>
          <a:p>
            <a:r>
              <a:t>行号按基线 dcaa93b3150352e5044708d7211b5bed0af4509f 核对。与实现对照后，产品 diff 只有这一个类。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定义：第三步选定修改位置，并写出被排除的方案和理由。示例的修改位置是订单实现类里的私有方法。</a:t>
            </a:r>
          </a:p>
          <a:p>
            <a:r>
              <a:t>代价：只写选了哪一处，不写为什么不选另外几处，有依据这一档对不上。</a:t>
            </a:r>
          </a:p>
          <a:p>
            <a:r>
              <a:t>判定：问 SQL 里为什么看不出刚跌破。问商品表为什么对不上可售。</a:t>
            </a:r>
          </a:p>
          <a:p>
            <a:r>
              <a:t>权衡：两个写点之后各调用一次。不必新 Bean，也不必改 HTTP。定时任务第 14 行的组件注解被注释，当前不会自动跑。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定义：第四步按触发顺序写兼容、数据和失败。捕获范围只能包住读，不能包住扣减本身。</a:t>
            </a:r>
          </a:p>
          <a:p>
            <a:r>
              <a:t>代价：把读失败的异常扔出事务，已经成功的扣减会被一起回滚。</a:t>
            </a:r>
          </a:p>
          <a:p>
            <a:r>
              <a:t>判定：问先发生的是扣减还是读。问等于阈值、字段为空时告不告警。</a:t>
            </a:r>
          </a:p>
          <a:p>
            <a:r>
              <a:t>权衡：计划接受重复日志，不去重，也不改 SQL。后台替换会把锁定重置，这是现有问题，这次不修。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定义：第五步用一条可重复运行的测试核对关键判断，并把需求和风险逐条写成输入、期望和层次。</a:t>
            </a:r>
          </a:p>
          <a:p>
            <a:r>
              <a:t>代价：表里只有输入、没有层次，验证过的后一项就没有证据。</a:t>
            </a:r>
          </a:p>
          <a:p>
            <a:r>
              <a:t>判定：问 T1 锁的是现状还是新规则。问 T8 为什么不能用 Mock 代替。</a:t>
            </a:r>
          </a:p>
          <a:p>
            <a:r>
              <a:t>权衡：T1 已在本分支跑过，改前改后都通过。T2、T6 是计划。T8 要真实库，本示例没有跑。允许写“还没验证”。</a:t>
            </a:r>
          </a:p>
          <a:p>
            <a:r>
              <a:t>T1 的第 59 到 61 行在实现后仍应保持。第 63、64 行会失败，记录在注入说明里。Mock 不能证明事务是否回滚。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定义：这些是本次细则里对不上的证据，以及示例计划里反复缺过的写法。</a:t>
            </a:r>
          </a:p>
          <a:p>
            <a:r>
              <a:t>代价：缺了行号、排除理由或测试层次，对应的那一档就没有证据。</a:t>
            </a:r>
          </a:p>
          <a:p>
            <a:r>
              <a:t>判定：验证过要看到沿源码核对过的判断，还要看到每条风险的输入、期望和层次。</a:t>
            </a:r>
          </a:p>
          <a:p>
            <a:r>
              <a:t>权衡：允许写“这里还没验证”。不允许用命中文件的个数代替分析，也不允许把现状全绿写成新规则已经通过。</a:t>
            </a:r>
          </a:p>
          <a:p>
            <a:r>
              <a:t>搜索命中数来自本次评分细则。缺层次来自各示例计划的终审。全绿的界限来自 E5-00 未验证一节。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本节 10 分钟</a:t>
            </a:r>
          </a:p>
          <a:p>
            <a:r>
              <a:t>定义：讨论这次最可能出错的地方，以及你准备用什么证据去核。</a:t>
            </a:r>
          </a:p>
          <a:p>
            <a:r>
              <a:t>代价：只说“库存很难”，不说先发生哪一步，验证就没有对象。</a:t>
            </a:r>
          </a:p>
          <a:p>
            <a:r>
              <a:t>判定：回答要有一处具体风险，和一条能执行的核对办法。</a:t>
            </a:r>
          </a:p>
          <a:p>
            <a:r>
              <a:t>权衡：课上先听学生怎么选。示例里靠前的失败是读异常冒出事务。</a:t>
            </a:r>
          </a:p>
          <a:p>
            <a:r>
              <a:t>参考要点：读失败不能让已成功的扣减回滚；验证要写清输入、期望和测试层次。</a:t>
            </a:r>
          </a:p>
          <a:p>
            <a:r>
              <a:t>依据：教案第 10 次课讨论题。E5-00 影响分析的 R1 与回归计划。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定义：小结抽一个人，把影响面的确定过程讲出来：从哪进，改哪，为什么有的调用方不用改。</a:t>
            </a:r>
          </a:p>
          <a:p>
            <a:r>
              <a:t>代价：只说“我看过代码”，不说行号，听的人无法核对。</a:t>
            </a:r>
          </a:p>
          <a:p>
            <a:r>
              <a:t>判定：听的人要能复述入口、一处改动和一处不改。</a:t>
            </a:r>
          </a:p>
          <a:p>
            <a:r>
              <a:t>权衡：教师示例可以当作讲法。讲的必须是本人选题，不能把示例的行号当成自己的。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定义：讲清楚看需求和清单。有依据看修改位置和风险顺序。验证过看核对过的判断，以及映射到测试的计划。</a:t>
            </a:r>
          </a:p>
          <a:p>
            <a:r>
              <a:t>代价：缺哪一项，就少哪一项的证据。没跑的库集成不能写成已经跑过。</a:t>
            </a:r>
          </a:p>
          <a:p>
            <a:r>
              <a:t>判定：清单要有文件和行号。被排除的模块要说明为什么不用改。</a:t>
            </a:r>
          </a:p>
          <a:p>
            <a:r>
              <a:t>权衡：示例材料对照符合，只说明那一份参考实现的记录齐。你的作业分看你自己的证据。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定义：提交是一页说明加不超过 2 分钟的本人录屏，一页说明按讲清楚、有依据、验证过组织。</a:t>
            </a:r>
          </a:p>
          <a:p>
            <a:r>
              <a:rPr lang="zh-CN" dirty="0"/>
              <a:t>代价：缺其中一项，对应那一项就没有证据。</a:t>
            </a:r>
          </a:p>
          <a:p>
            <a:r>
              <a:rPr lang="zh-CN" dirty="0"/>
              <a:t>判定：录屏里要能看到清单上的行号、一条被排除的方案，以及一条测试或一次运行。</a:t>
            </a:r>
          </a:p>
          <a:p>
            <a:r>
              <a:rPr lang="zh-CN" dirty="0"/>
              <a:t>权衡：参考实现可以看，不能代替本人的计划。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时长见本节首页（本节 5 分钟）</a:t>
            </a:r>
          </a:p>
          <a:p>
            <a:r>
              <a:t>课前自学，课上只点要点。</a:t>
            </a:r>
          </a:p>
          <a:p>
            <a:r>
              <a:t>定义：影响分析从入口出发，逐层查到服务、存储与调用方，每层记文件与行号。</a:t>
            </a:r>
          </a:p>
          <a:p>
            <a:r>
              <a:t>代价：只数搜索命中的文件，会漏掉真正的调用方。</a:t>
            </a:r>
          </a:p>
          <a:p>
            <a:r>
              <a:t>判定：能说出支付入口汇到 paySuccess，并指出第 263 行是存储调用。</a:t>
            </a:r>
          </a:p>
          <a:p>
            <a:r>
              <a:t>权衡：逐层查比全局搜索慢，但调用链才能说明谁受影响。</a:t>
            </a:r>
          </a:p>
          <a:p>
            <a:r>
              <a:t>依据：事实卡 E5 M4–M7。</a:t>
            </a:r>
          </a:p>
          <a:p>
            <a:r>
              <a:t>系统讲解在 T6（遗留系统与逆向工程）。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节：任务说明</a:t>
            </a:r>
          </a:p>
          <a:p>
            <a:r>
              <a:t>时长见本节首页（本节 5 分钟）</a:t>
            </a:r>
          </a:p>
          <a:p>
            <a:r>
              <a:t>课前自学，课上只点要点。</a:t>
            </a:r>
          </a:p>
          <a:p>
            <a:r>
              <a:t>定义：特征测试只锁定现有行为；Mock 单测用真实方法、替身存储层。</a:t>
            </a:r>
          </a:p>
          <a:p>
            <a:r>
              <a:t>代价：把现状断言当永久规格，之后加预警就会误报红灯。</a:t>
            </a:r>
          </a:p>
          <a:p>
            <a:r>
              <a:t>判定：SDCE500Test 返回 3，两条断言在注释里标明实现预警后会改变。</a:t>
            </a:r>
          </a:p>
          <a:p>
            <a:r>
              <a:t>权衡：锁得越死越安全，但可改动的空间越小。</a:t>
            </a:r>
          </a:p>
          <a:p>
            <a:r>
              <a:t>依据：事实卡 E5 M8–M10。</a:t>
            </a:r>
          </a:p>
          <a:p>
            <a:r>
              <a:t>系统讲解在 T6（特征测试与接缝）。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节：实验</a:t>
            </a:r>
          </a:p>
          <a:p>
            <a:r>
              <a:rPr lang="zh-CN" dirty="0"/>
              <a:t>本节 60 分钟</a:t>
            </a:r>
          </a:p>
          <a:p>
            <a:r>
              <a:rPr lang="zh-CN" dirty="0"/>
              <a:t>依据：SDC/学生操作手册.md（@0a5eae2a）第 26 行“课程不开个人分支”、第 38 行 git switch --detach origin/exp/E&lt;n&gt;、第 76 行“E5 pass：只锁定现状，不改产品代码”、第 173–174 行“只加锁定现状的测试和分析，不改产品代码……提交后运行 SDC/compare.sh E5-&lt;学号&gt;”；事实卡 E5 M11、M13。</a:t>
            </a:r>
          </a:p>
          <a:p>
            <a:r>
              <a:rPr lang="zh-CN" dirty="0"/>
              <a:t>定义：先只读检出脚手架 exp/E5，不开个人分支；E5 只做影响分析，可加锁定现状的测试，compare.env 的 EXPECT_BASE 写 pass。</a:t>
            </a:r>
          </a:p>
          <a:p>
            <a:r>
              <a:rPr lang="zh-CN" dirty="0"/>
              <a:t>代价：把 exp/e5-00 的分析当成自己的；或改了产品代码，就不再是只锁现状，对照不成立。</a:t>
            </a:r>
          </a:p>
          <a:p>
            <a:r>
              <a:rPr lang="zh-CN" dirty="0"/>
              <a:t>判定：提交测试后运行 compare.sh，改前、改后都 pass、结论：符合；教师示例 E5-00 各 1 项（M11）。</a:t>
            </a:r>
          </a:p>
          <a:p>
            <a:r>
              <a:rPr lang="zh-CN" dirty="0"/>
              <a:t>权衡：E5 不实现预警，实现留给 E6-07 教师扩展题；分析靠调用链与测试计划作证据。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定义：可售量是 stock − lockStock，严格低于 lowStock 才告警；等于或阈值为 null 不告警；预警只读（M1、M2）。</a:t>
            </a:r>
          </a:p>
          <a:p>
            <a:r>
              <a:t>代价：不改服务接口、HTTP 返回、Mapper 与库存 SQL；取消释放、退货、后台改库存、商品表库存不在本次（M3）。</a:t>
            </a:r>
          </a:p>
          <a:p>
            <a:r>
              <a:t>判定：预警读取失败，已成功扣库存的返回值必须不变，扣库存本身的异常也不能吞掉。</a:t>
            </a:r>
          </a:p>
          <a:p>
            <a:r>
              <a:t>权衡：只读的约束让方案只能加读操作，不能改库存。</a:t>
            </a:r>
          </a:p>
          <a:p>
            <a:r>
              <a:t>依据：事实卡 E5 M1–M3。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定义：paySuccess 只扣库存，链路短；所有支付入口都汇到它（M5、M7）。</a:t>
            </a:r>
          </a:p>
          <a:p>
            <a:r>
              <a:t>代价：没有钩子读 lowStock；lockStock 读了整行 SKU 也不比较（M4、M6）。</a:t>
            </a:r>
          </a:p>
          <a:p>
            <a:r>
              <a:t>判定：每条不足都指到方法，并写出事实卡条目；paySuccess 第 253–264 行共 12 行。</a:t>
            </a:r>
          </a:p>
          <a:p>
            <a:r>
              <a:t>权衡：要加预警，只能在 paySuccess 里加读操作，这个方法就不再只是扣库存。</a:t>
            </a:r>
          </a:p>
          <a:p>
            <a:r>
              <a:t>依据：事实卡 E5 M4–M7；M6 的 Mapper 行号未独立核，依据影响分析文档。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定义：易测试性看测试要准备多少数据与替身；现有 paySuccess 只写不读（M5）。</a:t>
            </a:r>
          </a:p>
          <a:p>
            <a:r>
              <a:t>代价：加预警后要为 selectByPrimaryKey 打桩（M8）；不读、日志为空两条断言会改变（M10）。</a:t>
            </a:r>
          </a:p>
          <a:p>
            <a:r>
              <a:t>判定：数测试额外要设置的读操作，现在是零；现有测试里的 mock 只用来断言从不读（M8）。</a:t>
            </a:r>
          </a:p>
          <a:p>
            <a:r>
              <a:t>权衡：本次只评这一个子特性，try/catch 分支是副产品，不展开。</a:t>
            </a:r>
          </a:p>
          <a:p>
            <a:r>
              <a:t>依据：事实卡 E5 M5、M8–M10。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定义：在 lockStock 返回后和 updateSkuStock 返回后各插一次只读预警检查，只改 OmsPortalOrderServiceImpl（M12）。</a:t>
            </a:r>
          </a:p>
          <a:p>
            <a:r>
              <a:t>代价：两处逻辑重复；paySuccess 多了预警这件事。</a:t>
            </a:r>
          </a:p>
          <a:p>
            <a:r>
              <a:t>判定：本示例只做影响分析，E6-07 教师扩展题会实现并验证（M13）；注入验证显示补丁会让 SDCE500Test 的 assertAll 两项失败（M12）。</a:t>
            </a:r>
          </a:p>
          <a:p>
            <a:r>
              <a:t>权衡：只读加防御，换来两个触发点都覆盖；但预警逻辑重复，paySuccess 职责变成扣库存加预警。</a:t>
            </a:r>
          </a:p>
          <a:p>
            <a:r>
              <a:t>依据：事实卡 E5 M12、M13。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节：实验</a:t>
            </a:r>
          </a:p>
          <a:p>
            <a:r>
              <a:t>时长见本节首页（本节 60 分钟）</a:t>
            </a:r>
          </a:p>
          <a:p>
            <a:r>
              <a:t>定义：对比无预警、加在服务实现里、抽出预警服务三种做法（M12、M13）。</a:t>
            </a:r>
          </a:p>
          <a:p>
            <a:r>
              <a:t>代价：服务实现里最快，但阈值规则复杂后改动成本上升。</a:t>
            </a:r>
          </a:p>
          <a:p>
            <a:r>
              <a:t>判定：比实现复杂度、对交易链路的影响、水平扩展要求；演进场景是设计讨论，非代码事实。</a:t>
            </a:r>
          </a:p>
          <a:p>
            <a:r>
              <a:t>权衡：预警失败不得影响返回值（M1），彻底解法是异步队列。</a:t>
            </a:r>
          </a:p>
          <a:p>
            <a:r>
              <a:t>依据：事实卡 E5 M1–M3、M12–M13。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节：小结</a:t>
            </a:r>
          </a:p>
          <a:p>
            <a:r>
              <a:t>时长见本节首页（本节 10 分钟）</a:t>
            </a:r>
          </a:p>
          <a:p>
            <a:r>
              <a:t>定义：一页说明按讲清楚、有依据、验证过三项写，此页取自教师示例 E5-00 的真实材料。</a:t>
            </a:r>
          </a:p>
          <a:p>
            <a:r>
              <a:t>代价：三项缺一，那一项就没有证据；E5 没有产品改动，验证过指分析可核查。</a:t>
            </a:r>
          </a:p>
          <a:p>
            <a:r>
              <a:t>判定：每项都能对到文件、行号或对照结论。</a:t>
            </a:r>
          </a:p>
          <a:p>
            <a:r>
              <a:t>权衡：样例是参考写法，不是标准答案，作业要写本人选题的证据。</a:t>
            </a:r>
          </a:p>
          <a:p>
            <a:r>
              <a:t>依据：事实卡 E5 M1、M5、M11。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依据：工具/polish/AI回答采集/核对-E5.md（2026.10.19）；exp/E5 的 AlipayServiceImpl.java 第 97、132 行、PortalOrderDao.xml 第 55、60 行、document/sql/mall.sql 第 1678 行；Spring 参考文档“声明式事务·使用 @Transactional”（接口方法上的注解自 5.0 起对接口代理与目标类代理都有效，AspectJ 模式除外）；四项核对来自 T1 第 43 页。</a:t>
            </a:r>
          </a:p>
          <a:p>
            <a:r>
              <a:rPr lang="zh-CN" dirty="0"/>
              <a:t>定义：按四项核对——引用是否存在、运行时事实、原理与实现、依据——逐条标对、错或无法核实。</a:t>
            </a:r>
          </a:p>
          <a:p>
            <a:r>
              <a:rPr lang="zh-CN" dirty="0"/>
              <a:t>代价：回答引了“Spring 官方说明”就照单全收，会据一条过时的说法去改事务配置。</a:t>
            </a:r>
          </a:p>
          <a:p>
            <a:r>
              <a:rPr lang="zh-CN" dirty="0"/>
              <a:t>判定：引用框架文档的结论，要回到当前版本的原文；仓库里有没有某个类，要自己检索一次。</a:t>
            </a:r>
          </a:p>
          <a:p>
            <a:r>
              <a:rPr lang="zh-CN" dirty="0"/>
              <a:t>权衡：调用链与数据部分全部属实，还补出了负值锁定这一真实数据风险；两处错误不影响采纳这部分，但要在说明里标出。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节：小结</a:t>
            </a:r>
          </a:p>
          <a:p>
            <a:r>
              <a:rPr lang="zh-CN" dirty="0"/>
              <a:t>时长见本节首页（本节 10 分钟）</a:t>
            </a:r>
          </a:p>
          <a:p>
            <a:r>
              <a:rPr lang="zh-CN" dirty="0"/>
              <a:t>依据：工具/polish/AI回答采集/prompt-E5.md 与 answer-E5-20261019-0707.md（模型 deepseek-flash，只读工具 Read、Grep、Glob）；提示词模式来自 T1 第 44–45 页（White 等 2023）。</a:t>
            </a:r>
          </a:p>
          <a:p>
            <a:r>
              <a:rPr lang="zh-CN" dirty="0"/>
              <a:t>定义：Persona 定角色和“不改代码”的边界，Template 要求给出行号，Question Refinement 把“有什么风险”细化成一个具体的失败触发顺序。</a:t>
            </a:r>
          </a:p>
          <a:p>
            <a:r>
              <a:rPr lang="zh-CN" dirty="0"/>
              <a:t>代价：不写“只分析不改代码”，回答容易直接给出补丁，影响面和被排除的方案反而写得少。</a:t>
            </a:r>
          </a:p>
          <a:p>
            <a:r>
              <a:rPr lang="zh-CN" dirty="0"/>
              <a:t>判定：能逐句标出属于哪种模式，并说出这一句让回答变得可核对在哪里。</a:t>
            </a:r>
          </a:p>
          <a:p>
            <a:r>
              <a:rPr lang="zh-CN" dirty="0"/>
              <a:t>权衡：本次没有用 Few-shot。问题点名了事务，回答在事务上写得最多，也在这里出了错，核对要跟着重点走。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依据：下次课名称取自下一份课件封面的“第 n 次课｜课题”行。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节：实验</a:t>
            </a:r>
          </a:p>
          <a:p>
            <a:r>
              <a:rPr lang="zh-CN" altLang="en-US"/>
              <a:t>时长见本节首页（本节 60 分钟）</a:t>
            </a:r>
          </a:p>
          <a:p>
            <a:r>
              <a:rPr lang="zh-CN" altLang="en-US"/>
              <a:t>定义：交变更计划前先收口一步。可售库存 = stock − lockStock 原在 OmsPromotionServiceImpl 第 53、73、96、167 行写了四份，收成私有方法 availableStock，四处改为调用它。</a:t>
            </a:r>
          </a:p>
          <a:p>
            <a:r>
              <a:rPr lang="zh-CN" altLang="en-US"/>
              <a:t>代价：只动了一个私有方法，接口、Mapper 与库存 SQL 都没变；但它确实改了产品代码，所以先用 SDCE500AvailableStockTest 固定四个促销分支的 realStock，收口前后都通过。</a:t>
            </a:r>
          </a:p>
          <a:p>
            <a:r>
              <a:rPr lang="zh-CN" altLang="en-US"/>
              <a:t>判定：问收口之后，预警要用的“可售”有没有一个带名字的规则可以复用，还要不要抄第五份公式。</a:t>
            </a:r>
          </a:p>
          <a:p>
            <a:r>
              <a:rPr lang="zh-CN" altLang="en-US"/>
              <a:t>权衡：收口没有改变预警的影响范围，改动清单仍以后面的步骤为准。对应理论 5 的信息隐藏与霰弹式修改。提交：特征测试 a4ee49d0877695a13544ae77432371f5acd55327，收口 6f9ada3899f23d62092e14ebfdd20cb3365d87da。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10 次课｜变更影响分析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现场演示与投票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任务说明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实验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小结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演示规则与投票口径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3—5 人按评价标准实名演示，全班按同一细则投票。实验 E4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267712"/>
          <a:ext cx="8138160" cy="36210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坏味道的具体变化场景、原结构与改动位置15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调用链与必须保持的可观察行为15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所用模式的四个要素（名称、问题、解决方案、效果）15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与更简单方案比较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新增一种变化的修改位置、收益与代价15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用执行记录核实相同特征测试在 AI 重构前后均通过25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读差异核实没有夹带无关修改，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并用源码核实修改范围的变化15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现场演示与投票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签到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现场演示与投票</a:t>
            </a:r>
          </a:p>
        </p:txBody>
      </p:sp>
      <p:sp>
        <p:nvSpPr>
          <p:cNvPr id="301" name="quiz"/>
          <p:cNvSpPr txBox="1"/>
          <p:nvPr/>
        </p:nvSpPr>
        <p:spPr>
          <a:xfrm>
            <a:off x="237744" y="1444752"/>
            <a:ext cx="8686800" cy="4480560"/>
          </a:xfrm>
          <a:prstGeom prst="rect">
            <a:avLst/>
          </a:prstGeo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为“库存低于阈值时预警”做影响分析，下列哪份回归范围依据最充分？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（A）只测下单；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（B）沿库存的读写点，覆盖下单锁定、支付扣减、取消释放和退货各一组；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（C）全部模块全量回归，不作说明；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（D）只读分析，不需要回归。</a:t>
            </a:r>
          </a:p>
          <a:p>
            <a:pPr algn="l" eaLnBrk="1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请看完演示再投票</a:t>
            </a:r>
          </a:p>
        </p:txBody>
      </p:sp>
    </p:spTree>
  </p:cSld>
  <p:clrMapOvr>
    <a:masterClrMapping/>
  </p:clrMapOvr>
  <p:hf sldNum="0" hdr="0" ftr="0" dt="0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预习题回顾与易混点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81328"/>
            <a:ext cx="109728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594360" y="1481328"/>
            <a:ext cx="8138160" cy="78638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1 选 C。得到什么、失去什么。易混：解决什么问题</a:t>
            </a:r>
          </a:p>
        </p:txBody>
      </p:sp>
      <p:sp>
        <p:nvSpPr>
          <p:cNvPr id="103" name="fig-d"/>
          <p:cNvSpPr/>
          <p:nvPr/>
        </p:nvSpPr>
        <p:spPr>
          <a:xfrm>
            <a:off x="411480" y="2331720"/>
            <a:ext cx="109728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594360" y="2331720"/>
            <a:ext cx="8138160" cy="7863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2 选 B。两种规则先保持条件判断。易混：立即引入策略</a:t>
            </a:r>
          </a:p>
        </p:txBody>
      </p:sp>
      <p:sp>
        <p:nvSpPr>
          <p:cNvPr id="105" name="fig-d"/>
          <p:cNvSpPr/>
          <p:nvPr/>
        </p:nvSpPr>
        <p:spPr>
          <a:xfrm>
            <a:off x="411480" y="3182112"/>
            <a:ext cx="109728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94360" y="3182112"/>
            <a:ext cx="8138160" cy="78638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3 选 A。霰弹式修改。易混：发散式变化</a:t>
            </a:r>
          </a:p>
        </p:txBody>
      </p:sp>
      <p:sp>
        <p:nvSpPr>
          <p:cNvPr id="107" name="fig-d"/>
          <p:cNvSpPr/>
          <p:nvPr/>
        </p:nvSpPr>
        <p:spPr>
          <a:xfrm>
            <a:off x="411480" y="4032504"/>
            <a:ext cx="109728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594360" y="4032504"/>
            <a:ext cx="8138160" cy="7863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4 选 D。同一组状态分支，用状态模式。易混：合并成大方法</a:t>
            </a:r>
          </a:p>
        </p:txBody>
      </p:sp>
      <p:sp>
        <p:nvSpPr>
          <p:cNvPr id="109" name="fig-d"/>
          <p:cNvSpPr/>
          <p:nvPr/>
        </p:nvSpPr>
        <p:spPr>
          <a:xfrm>
            <a:off x="411480" y="4882896"/>
            <a:ext cx="109728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594360" y="4882896"/>
            <a:ext cx="8138160" cy="78638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5 选 A。先查不得修改与无关修改。易混：看新增几个类</a:t>
            </a: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本次目标与不要求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481328"/>
            <a:ext cx="1371600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教师演示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874520" y="1481328"/>
            <a:ext cx="6858000" cy="76809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教师先以 E5-00 库存预警演示步骤①—⑤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31720"/>
            <a:ext cx="1371600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学生任务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874520" y="2331720"/>
            <a:ext cx="6858000" cy="76809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学生以本人从候选库所选需求完成同样步骤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182112"/>
            <a:ext cx="1371600" cy="768096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交付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874520" y="3182112"/>
            <a:ext cx="6858000" cy="768096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定位修改点，分析影响面，提交变更计划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032504"/>
            <a:ext cx="1371600" cy="768096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不要求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874520" y="4032504"/>
            <a:ext cx="6858000" cy="768096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不要求提前实现新需求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不得以搜索命中文件数代替分析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882896"/>
            <a:ext cx="1371600" cy="768096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边界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874520" y="4882896"/>
            <a:ext cx="6858000" cy="768096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不得用同一实现重复领取 E2/E4 或 E3/E6 成绩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  <p:hf sldNum="0" hdr="0" ftr="0" dt="0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本次要用的知识是从入口逐层查到存储与调用方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先找入口，再逐层查到存储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用 git grep 找调用方，不凭印象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每层都记文件和行号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2463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/>
                <a:gridCol w="4191000"/>
                <a:gridCol w="2667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示例里怎么查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08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入口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其他支付入口都进同一个 paySuccess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M7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08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服务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paySuccess 第 253–264 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存储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263 行 updateSkuStock 扣库存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08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下单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lockStock 第 165 行读 SKU 整行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M4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E5 M4–M7；影响分析的调用链即为示范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本次要用的知识是测试层次与选择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特征测试只锁定现有行为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Mock 单测：真实方法，替身存储层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注释写明哪几条之后会变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2336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00"/>
                <a:gridCol w="3556000"/>
                <a:gridCol w="2921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含义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SDCE500Test 示例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特征测试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锁定现状，不规定应有行为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返回 3，扣库存被调用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Mock 单测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真实 paySuccess，替身 skuStockMapper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为 selectByPrimaryKey 打桩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会变的断言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注释标明实现预警后改变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31 行；assertAll 两项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E5 M8–M10（SDCE500Test 第 31、37–65 行）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任务说明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动手前的准备只为影响分析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只读检出 exp/E5，不开分支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E5 只做影响分析，不改产品代码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compare.env 写 EXPECT_BASE=pass</a:t>
            </a:r>
          </a:p>
        </p:txBody>
      </p:sp>
      <p:sp>
        <p:nvSpPr>
          <p:cNvPr id="4" name="code-cmd"/>
          <p:cNvSpPr txBox="1"/>
          <p:nvPr/>
        </p:nvSpPr>
        <p:spPr>
          <a:xfrm>
            <a:off x="411480" y="2831328"/>
            <a:ext cx="8138160" cy="80000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git fetch origin</a:t>
            </a:r>
          </a:p>
          <a:p>
            <a:pPr algn="l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git switch --detach origin/exp/E5</a:t>
            </a:r>
          </a:p>
          <a:p>
            <a:pPr algn="l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# 提交锁定现状的测试后：SDC/compare.sh E5-&lt;学号&gt;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11480" y="3800000"/>
          <a:ext cx="8128000" cy="1447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00"/>
                <a:gridCol w="6477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08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对照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EXPECT_BASE=pass：改前、改后都须通过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08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示例对照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E5-00：Errors=0、Skipped=0、结论：符合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依据：学生操作手册（@0a5eae2a）第 26、38、76、173–174 行；事实卡 E5 M11</a:t>
            </a:r>
          </a:p>
        </p:txBody>
      </p:sp>
      <p:sp>
        <p:nvSpPr>
          <p:cNvPr id="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① 业务需求与约束是预警不能影响交易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可售严格低于阈值才告警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预警只读，不改库存数字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读取失败不得改变交易返回值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2717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/>
                <a:gridCol w="5588000"/>
                <a:gridCol w="1270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可售量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stock − lockStock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M2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触发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严格低于 lowStock 才告警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不告警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等于阈值，或阈值为 null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服务接口、HTTP 返回、Mapper、库存 SQL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M3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不吞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扣库存本身的异常不得吞掉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M3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E5 M1–M3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② 优势与不足看支付只扣库存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优势：链路短，所有支付入口汇到一处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不足：paySuccess 不读 lowStock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不足：下单读了整行也不比较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2717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16000"/>
                <a:gridCol w="5715000"/>
                <a:gridCol w="1397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类别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优势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paySuccess 12 行，只写不读，副作用少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优势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其他支付入口都调用同一个 paySuccess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M7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不调 selectByPrimaryKey，没有钩子读 lowStock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lockStock 读整行 SKU，但不读 lowStock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M4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Mapper 已有读方法，却没人比较阈值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M6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E5 M4–M7；M6 的 Mapper 行号未独立核对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 E5-00 里支付成功不读阈值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Issue #44。入口 POST /order/paySuccess，控制器第 51 行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263 行扣库存，第 264 行返回。这里不读 SKU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支付宝回调经 paySuccessByOrderSn 进入本方法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3401568"/>
            <a:ext cx="8138160" cy="1956815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orderMapper.​updateByPrimaryKeySelective(​order);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​//恢复所有下单商品的锁定库存，扣减真实库存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OmsOrderDetail orderDetail ​= ​portalOrderDao.​getDetail(​orderId);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int count ​= ​portalOrderDao.​updateSkuStock(​orderDetail.​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getOrderItemList(​));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return count;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376672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出处：meng004/​mall@​dcaa93b3150352e5044708d7211b5bed0af4509f:​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mall-portal/​src/​main/​java/​com/​macro/​mall/​portal/​service/​impl/​OmsPortalOrderServiceImpl.java:​260-264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重点是易测试性，看 mock 多了什么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本次只评易测试性这一个子特性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指标：测试要为几类读操作准备数据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加预警后，不读断言要改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3000"/>
                <a:gridCol w="2413000"/>
                <a:gridCol w="3175000"/>
                <a:gridCol w="1397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子特性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现有设计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加预警后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1397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易测试性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只写不读，测试不需为读操作准备数据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要给 selectByPrimaryKey 打桩，返回带 lowStock 的 SKU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M5、M8–M10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E5 M5、M8–M10；try/catch 分支是副产品，本页不展开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 E5-00 锁定现状的测试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订单 9，SKU 7。扣减打桩返回 3。可售已低于阈值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注入实现后第 63、64 行失败；第 59 行未失败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505456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assertEquals(​3,​ service.​paySuccess(​9L,​ 1));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verify(​dao).​updateSkuStock(​detail.​getOrderItemList(​));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verify(​skuStockMapper,​ never(​)).​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updateByPrimaryKeySelective(​any(​));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assertAll(​</a:t>
            </a:r>
          </a:p>
          <a:p>
            <a:pPr algn="l" eaLnBrk="1" hangingPunct="1" marL="2682240" indent="-26822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    (​) ​-&gt; ​verify(​skuStockMapper,​ never(​)).​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selectByPrimaryKey(​any(​)),​</a:t>
            </a:r>
          </a:p>
          <a:p>
            <a:pPr algn="l" eaLnBrk="1" hangingPunct="1" marL="2682240" indent="-26822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        (​) ​-&gt; ​assertTrue(​log.​list.​isEmpty(​)));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35838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出处：meng004/​mall@​ce706dee1dd909d2bf3d9760d538fc5f9a0cf461:​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mall-portal/​src/​test/​java/​com/​macro/​mall/​sdc/​e5/​SDCE500Test.java:​59-64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 E5-00 先收口，让改动变容易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四处“stock − lockStock”收成一处 availableStock</a:t>
            </a:r>
          </a:p>
          <a:p>
            <a:pPr algn="l" eaLnBrk="1" hangingPunct="1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特征测试 2 项，收口前后都通过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505456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/**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* 可售库存：真实库存减去已下单未支付占住的锁定库存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*/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static int availableStock(​PmsSkuStock skuStock) {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return skuStock.​getStock(​) - skuStock.​getLockStock(​);</a:t>
            </a:r>
          </a:p>
          <a:p>
            <a:pPr algn="l" eaLnBrk="1" hangingPunct="1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358384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出处：meng004/mall@6f9ada3899f23d62092e14ebfdd20cb3365d87da:</a:t>
            </a:r>
          </a:p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mall-portal/src/main/java/com/macro/mall/portal/service/impl/OmsPromotionServiceImpl.java:112-117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④ 改进方案（设想）在两处插入只读预警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本示例只做影响分析，不含代码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两个触发点各插一次只读检查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E6-07 教师扩展题会实现并验证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2717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97000"/>
                <a:gridCol w="5334000"/>
                <a:gridCol w="1397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内容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只改 OmsPortalOrderServiceImpl，已有 skuStockMapper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M12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应用原则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关注点分离、防御性编程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教学判断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优势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下单锁库存后、支付扣库存后都覆盖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M4、M5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不足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两处逻辑重复；paySuccess 多一件事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本示例只做影响分析，E6-07 教师扩展题会实现并验证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M13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E5 M12、M13；方案为设想，不声称已实现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⑤ 取舍对比后先加在服务里，复杂了再抽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演进①阈值按类别配置：抽出服务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演进②并发预警多：改异步队列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演进③送达 &lt;1s 同步够，&lt;100ms 须异步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2565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00"/>
                <a:gridCol w="1905000"/>
                <a:gridCol w="2286000"/>
                <a:gridCol w="2286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比较项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当前（无预警）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加在服务实现里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抽出预警服务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711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实现复杂度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无新增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低：同类加两处检查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高：新增服务与接口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711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对交易链路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无影响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同步多一次读，失败须隔离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取决于同步或异步调用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12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水平扩展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无要求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随订单服务一起扩展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预警服务可单独扩缩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E5 M1–M3、M12–M13；表中比较与演进①–③为设计讨论，非代码事实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教师示例 E5-00 的对照结论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无红灯。只锁定现状，不实现预警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267712"/>
          <a:ext cx="8138160" cy="36210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记录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Issue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#44。同一需求是 E6-07 的 #26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E5-00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改前、改后均 pass。只收口可售库存公式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E6-07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实现对照：只改 OmsPortalOrderServiceImpl，增加 29 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结论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符合。EXPECT_BASE=pass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细节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各 2 项。失败 0，跳过 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9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 63、64 行失败；第 59 行仍是 3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候选选题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六项里选一项。教师示例不作为个人选题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267712"/>
          <a:ext cx="8138160" cy="36210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题目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E5-01 #21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分类删除限制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E5-02 #22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品牌列表的可选厂家筛选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E5-03 #41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收货地址邮政编码规则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E5-04 #23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只清除指定日期以前的浏览记录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289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E5-05 #24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收藏列表增加商品名筛选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1729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E5-06 #25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首页人气推荐批次去重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步骤① 需求、范围与不改边界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371600" cy="2048256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示例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E5-00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874520" y="1572768"/>
            <a:ext cx="685800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以 E5-00 为例：可售低于该 SKU 阈值才告警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874520" y="2286000"/>
            <a:ext cx="685800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等于或空值不告警。只读，不改库存数字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874520" y="2999232"/>
            <a:ext cx="685800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不改接口、HTTP 返回、Mapper 和库存 SQL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931920"/>
            <a:ext cx="8321040" cy="73152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换成你的选题，同样先写范围和边界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步骤② 改动与不改动清单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可借助 AI 列影响面，每条回源码核实；投影用类名加行号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267712"/>
          <a:ext cx="8138160" cy="36210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角色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文件与行号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唯一拟改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OmsPortalOrderServiceImpl.java 第 165、263 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服务接口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OmsPortalOrderService.java 第 26、32 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控制器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OmsPortalOrderController.java 第 52 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DAO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PortalOrderDao.java 第 22 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XML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PortalOrderDao.xml 第 50 行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步骤③ 被排除的方案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874520"/>
            <a:ext cx="457200" cy="457200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69164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写进扣减 SQL。可售不变，也不能记日志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834640"/>
            <a:ext cx="457200" cy="457200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05840" y="265176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定时扫表。现成任务是取消，注解被注释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794760"/>
            <a:ext cx="457200" cy="457200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05840" y="361188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改看商品表。没有锁定，订单也不写它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754880"/>
            <a:ext cx="457200" cy="457200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05840" y="457200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另做公开接口。调用方都要改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步骤④ 兼容性、数据与失败风险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72768"/>
            <a:ext cx="1188720" cy="82296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顺序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691640" y="1572768"/>
            <a:ext cx="7040880" cy="8229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顺序是先写库存，再读；先判空，再比较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532888"/>
            <a:ext cx="1188720" cy="82296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失败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691640" y="2532888"/>
            <a:ext cx="7040880" cy="82296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读失败若冒出去，已成功的扣减会回滚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493008"/>
            <a:ext cx="1188720" cy="82296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数据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91640" y="3493008"/>
            <a:ext cx="70408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付款不改变可售，可能再记一条日志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453128"/>
            <a:ext cx="1188720" cy="82296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兼容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691640" y="4453128"/>
            <a:ext cx="70408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不增列。返回值仍是扣减得到的行数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步骤⑤ 测试输入、期望结果与测试层次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1560"/>
                <a:gridCol w="2240280"/>
                <a:gridCol w="2468880"/>
                <a:gridCol w="2377440"/>
              </a:tblGrid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输入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期望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 9，SKU 7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返回 3；不读 SKU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Mock 单测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T2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可售 4，阈值 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一条预警，返回仍 3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计划，未写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T6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扣减后查询失败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返回仍 3，记不可用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计划，未写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T8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库存与锁定同减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可售不变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要真实库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常见失分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87452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69164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清单不写文件和行号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83464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05840" y="265176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用搜索命中的文件数代替调用链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79476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05840" y="361188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不写一条被你排除的做法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75488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05840" y="4572000"/>
            <a:ext cx="772668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计划不写层次，或把全绿说成规则已成立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实验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1783080"/>
            <a:ext cx="109728" cy="15544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17320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60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6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1965960"/>
            <a:ext cx="7635240" cy="1371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这次变更最可能出问题的地方在哪？</a:t>
            </a:r>
            <a:br>
              <a:rPr lang="zh-CN" sz="2400">
                <a:latin typeface="微软雅黑"/>
                <a:ea typeface="微软雅黑"/>
              </a:rPr>
            </a:br>
            <a:r>
              <a:rPr lang="zh-CN" altLang="en-US" sz="2400" b="1">
                <a:solidFill>
                  <a:srgbClr val="262626"/>
                </a:solidFill>
                <a:latin typeface="微软雅黑"/>
                <a:ea typeface="微软雅黑"/>
              </a:rPr>
              <a:t>你打算用什么方式验证？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3474720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提示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794760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先说触发顺序里靠前的那一处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361688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再说输入、期望，以及哪一层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928616"/>
            <a:ext cx="832104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没跑过的，写成还没验证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抽 1 人讲影响面的确定过程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00200"/>
            <a:ext cx="8321040" cy="8686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抽 1 人讲影响面怎么定下来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697480"/>
            <a:ext cx="4069080" cy="10058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从入口讲到服务，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再到存储或调用方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697480"/>
            <a:ext cx="4069080" cy="10058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指出一处改、一处不改，并给行号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3977640"/>
            <a:ext cx="8321040" cy="6858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示例只改订单实现类，接口可以不动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怎样向 AI 提问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4813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Persona：你要做一次变更影响分析，只分析不改代码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3957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Template：逐条回答，给出类名、方法名和行号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310128"/>
            <a:ext cx="7863840" cy="713232"/>
          </a:xfrm>
          <a:prstGeom prst="wedgeRectCallou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Question Refinement：读阈值抛异常，会发生什么？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每一句标出模式和它在本次任务里的作用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4956048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采集：deepseek-flash，2026.10.19，exp/E5 只读检出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怎样核对 AI 的产出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91056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481328"/>
            <a:ext cx="772668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支付入口汇到 paySuccess：第 97、132、426 行，对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77440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05840" y="2267712"/>
            <a:ext cx="772668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支付时 stock 与锁定同减，可售不变：SQL 第 55、60 行，对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163824"/>
            <a:ext cx="457200" cy="45720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√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05840" y="3054096"/>
            <a:ext cx="772668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种子数据有锁定库存 -24：第 1678 行，属实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950208"/>
            <a:ext cx="457200" cy="457200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05840" y="3840480"/>
            <a:ext cx="7726680" cy="69494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类代理下接口事务注解不生效：文档 5.0 起有效，错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736592"/>
            <a:ext cx="457200" cy="457200"/>
          </a:xfrm>
          <a:prstGeom prst="ellipse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005840" y="4626864"/>
            <a:ext cx="7726680" cy="69494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仓库没有调度任务：取消任务在，注解被注释，错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一页说明样例里三项各写什么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500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教师示例 E5-00 的真实材料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三项缺一，那一项就没有证据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你的作业用本人选题的证据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411480" y="2831328"/>
          <a:ext cx="8128000" cy="2336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0"/>
                <a:gridCol w="5207000"/>
                <a:gridCol w="1651000"/>
              </a:tblGrid>
              <a:tr h="4318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三项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样例怎么写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可售严格低于阈值才告警，只读不改库存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paySuccess 第 253–264 行不读 SKU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500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改前、改后 pass，各 1 项；结论：符合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M11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fn"/>
          <p:cNvSpPr txBox="1"/>
          <p:nvPr/>
        </p:nvSpPr>
        <p:spPr>
          <a:xfrm>
            <a:off x="411480" y="5700000"/>
            <a:ext cx="8321040" cy="45720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微软雅黑"/>
                <a:ea typeface="微软雅黑"/>
                <a:cs typeface="微软雅黑"/>
              </a:rPr>
              <a:t>依据：事实卡 E5 M1、M5、M11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评分细则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三栏是 30、30、40。命中文件的个数不能代替分析</a:t>
            </a:r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365760" y="2267712"/>
          <a:ext cx="8138160" cy="36210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126480"/>
              </a:tblGrid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需求、范围与不改边界10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讲清楚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入口→接口→服务→存储／调用方的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改动与不改动清单20（附 文件:行号与理由）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修改位置的选择与被排除方案15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有依据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兼容性、数据与失败风险及其触发顺序15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沿源码、调用关系与可重复运行的测试或实际运行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核实关键影响判断（含 AI 给出的影响面）20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把需求与风险逐条映射为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测试输入、期望结果与测试层次20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提交要求</a:t>
            </a:r>
          </a:p>
        </p:txBody>
      </p:sp>
      <p:sp>
        <p:nvSpPr>
          <p:cNvPr id="3" name="body"/>
          <p:cNvSpPr>
            <a:spLocks noGrp="1"/>
          </p:cNvSpPr>
          <p:nvPr>
            <p:ph idx="1"/>
          </p:nvPr>
        </p:nvSpPr>
        <p:spPr>
          <a:xfrm>
            <a:off x="384048" y="1444752"/>
            <a:ext cx="8366760" cy="4480560"/>
          </a:xfrm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一页说明（按讲清楚、有依据、验证过组织）＋不超过2分钟</a:t>
            </a:r>
            <a:br>
              <a:rPr sz="2300" b="0" lang="zh-CN" altLang="en-US">
                <a:latin typeface="微软雅黑"/>
                <a:ea typeface="微软雅黑"/>
              </a:rPr>
            </a:br>
            <a:r>
              <a:rPr sz="2300" b="0" lang="zh-CN" altLang="en-US">
                <a:latin typeface="微软雅黑"/>
                <a:ea typeface="微软雅黑"/>
                <a:cs typeface="微软雅黑"/>
              </a:rPr>
              <a:t>本人录屏。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录屏由本人讲解，并展示本实验相应的证据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说明里写本人的选择、执行和证据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300" b="0" lang="zh-CN" altLang="en-US">
                <a:latin typeface="微软雅黑"/>
                <a:ea typeface="微软雅黑"/>
                <a:cs typeface="微软雅黑"/>
              </a:rPr>
              <a:t>参考实现可以看，不能代替本人的计划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小结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下次课：第 11 次课｜软件设计、重构与系统演化（二）</a:t>
            </a:r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