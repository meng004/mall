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4"/>
  </p:notesMasterIdLst>
  <p:handoutMasterIdLst>
    <p:handoutMasterId r:id="rId48"/>
  </p:handout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</p:sldIdLst>
  <p:sldSz cx="9144000" cy="6858000" type="screen4x3"/>
  <p:notesSz cx="6760845" cy="9931400"/>
  <p:custDataLst>
    <p:tags r:id="rId52"/>
  </p:custData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D4D4D"/>
    <a:srgbClr val="FF3300"/>
    <a:srgbClr val="CC0000"/>
    <a:srgbClr val="FFFFCC"/>
    <a:srgbClr val="FFCCFF"/>
    <a:srgbClr val="FFFFFF"/>
    <a:srgbClr val="3399FF"/>
    <a:srgbClr val="33CC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173" autoAdjust="0"/>
    <p:restoredTop sz="86423" autoAdjust="0"/>
  </p:normalViewPr>
  <p:slideViewPr>
    <p:cSldViewPr showGuides="1">
      <p:cViewPr varScale="1">
        <p:scale>
          <a:sx n="93" d="100"/>
          <a:sy n="93" d="100"/>
        </p:scale>
        <p:origin x="812" y="64"/>
      </p:cViewPr>
      <p:guideLst>
        <p:guide orient="horz" pos="2160"/>
        <p:guide pos="288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>
      <p:cViewPr>
        <p:scale>
          <a:sx n="100" d="100"/>
          <a:sy n="100" d="100"/>
        </p:scale>
        <p:origin x="1662" y="-1344"/>
      </p:cViewPr>
      <p:guideLst>
        <p:guide orient="horz" pos="3129"/>
        <p:guide pos="213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8" Type="http://schemas.openxmlformats.org/officeDocument/2006/relationships/handoutMaster" Target="handoutMasters/handout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ableStyles" Target="tableStyles.xml"/><Relationship Id="rId52" Type="http://schemas.openxmlformats.org/officeDocument/2006/relationships/tags" Target="tags/tag7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97188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t" anchorCtr="0" compatLnSpc="1"/>
          <a:lstStyle>
            <a:lvl1pPr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7203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63975" y="0"/>
            <a:ext cx="2897188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t" anchorCtr="0" compatLnSpc="1"/>
          <a:lstStyle>
            <a:lvl1pPr algn="r"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203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09113"/>
            <a:ext cx="2897188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b" anchorCtr="0" compatLnSpc="1"/>
          <a:lstStyle>
            <a:lvl1pPr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203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63975" y="9409113"/>
            <a:ext cx="2897188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b" anchorCtr="0" compatLnSpc="1"/>
          <a:lstStyle>
            <a:lvl1pPr algn="r"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F9BFF2AA-1B51-48D4-AF79-5A13FE5BDCE2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3052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>
            <a:lvl1pPr defTabSz="954405" eaLnBrk="1" hangingPunct="1">
              <a:defRPr sz="1200" smtClean="0"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27463" y="0"/>
            <a:ext cx="2932112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>
            <a:lvl1pPr algn="r" defTabSz="954405" eaLnBrk="1" hangingPunct="1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98525" y="744538"/>
            <a:ext cx="4967288" cy="3725862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2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74688" y="4719638"/>
            <a:ext cx="5411787" cy="4467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/>
          <a:p>
            <a:pPr lvl="0"/>
            <a:r>
              <a:rPr lang="en-US" altLang="zh-CN" noProof="0"/>
              <a:t>Click to edit Master text styles</a:t>
            </a:r>
            <a:endParaRPr lang="en-US" altLang="zh-CN" noProof="0"/>
          </a:p>
          <a:p>
            <a:pPr lvl="1"/>
            <a:r>
              <a:rPr lang="en-US" altLang="zh-CN" noProof="0"/>
              <a:t>Second level</a:t>
            </a:r>
            <a:endParaRPr lang="en-US" altLang="zh-CN" noProof="0"/>
          </a:p>
          <a:p>
            <a:pPr lvl="2"/>
            <a:r>
              <a:rPr lang="en-US" altLang="zh-CN" noProof="0"/>
              <a:t>Third level</a:t>
            </a:r>
            <a:endParaRPr lang="en-US" altLang="zh-CN" noProof="0"/>
          </a:p>
          <a:p>
            <a:pPr lvl="3"/>
            <a:r>
              <a:rPr lang="en-US" altLang="zh-CN" noProof="0"/>
              <a:t>Fourth level</a:t>
            </a:r>
            <a:endParaRPr lang="en-US" altLang="zh-CN" noProof="0"/>
          </a:p>
          <a:p>
            <a:pPr lvl="4"/>
            <a:r>
              <a:rPr lang="en-US" altLang="zh-CN" noProof="0"/>
              <a:t>Fifth level</a:t>
            </a:r>
            <a:endParaRPr lang="en-US" altLang="zh-CN" noProof="0"/>
          </a:p>
        </p:txBody>
      </p:sp>
      <p:sp>
        <p:nvSpPr>
          <p:cNvPr id="92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31338"/>
            <a:ext cx="293052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b" anchorCtr="0" compatLnSpc="1"/>
          <a:lstStyle>
            <a:lvl1pPr defTabSz="954405" eaLnBrk="1" hangingPunct="1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2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27463" y="9431338"/>
            <a:ext cx="2932112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b" anchorCtr="0" compatLnSpc="1"/>
          <a:lstStyle>
            <a:lvl1pPr algn="r" defTabSz="954405" eaLnBrk="1" hangingPunct="1">
              <a:defRPr sz="1200" smtClean="0"/>
            </a:lvl1pPr>
          </a:lstStyle>
          <a:p>
            <a:pPr>
              <a:defRPr/>
            </a:pPr>
            <a:fld id="{BF21029A-2C2D-4ABF-B6A0-347AF3B9548E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节：特征测试与接缝</a:t>
            </a:r>
          </a:p>
          <a:p>
            <a:r>
              <a:t>本节 30 分钟</a:t>
            </a:r>
          </a:p>
          <a:p>
            <a:r>
              <a:t>定义：这一讲讲怎样在测试保护下改既有代码，以及遗留系统怎样演化。</a:t>
            </a:r>
          </a:p>
          <a:p>
            <a:r>
              <a:t>代价：原则和某一次实验绑死，换一个方法就不知道先写什么测试。</a:t>
            </a:r>
          </a:p>
          <a:p>
            <a:r>
              <a:t>判定：开场先点明这是第 11 次课，讲软件设计、重构与系统演化的后半。</a:t>
            </a:r>
          </a:p>
          <a:p>
            <a:r>
              <a:t>权衡：三个班周次不同，口头交代各班时间，课上只强调课次。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节：特征测试与接缝</a:t>
            </a:r>
          </a:p>
          <a:p>
            <a:r>
              <a:t>时长见本节首页（本节 30 分钟）</a:t>
            </a:r>
          </a:p>
          <a:p>
            <a:r>
              <a:t>定义：这一页把本次四项目标和课次衔接放在一起：上一讲的重构、实验 E5 的影响分析，引出实验 E6。</a:t>
            </a:r>
          </a:p>
          <a:p>
            <a:r>
              <a:t>代价：不衔接的话，接缝和再工程会像一套新名词，接不上已经做过的影响分析。</a:t>
            </a:r>
          </a:p>
          <a:p>
            <a:r>
              <a:t>判定：能否说出先固定行为再改，并指出实验 E6 要先写失败测试。</a:t>
            </a:r>
          </a:p>
          <a:p>
            <a:r>
              <a:t>权衡：时间紧时先保住特征测试和接缝。演化策略和阅读放在后半。实验 E6 的预习题在布置里。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节：特征测试与接缝</a:t>
            </a:r>
          </a:p>
          <a:p>
            <a:r>
              <a:t>时长见本节首页（本节 30 分钟）</a:t>
            </a:r>
          </a:p>
          <a:p>
            <a:r>
              <a:t>定义：特征测试记录方法现在实际做什么。不合理的结果也先锁住，否则分不清是重构改坏的，还是原来就是这样。</a:t>
            </a:r>
          </a:p>
          <a:p>
            <a:r>
              <a:t>代价：没有这层保护就改既有代码，失败时不知道是行为变了，还是测试在绑实现。</a:t>
            </a:r>
          </a:p>
          <a:p>
            <a:r>
              <a:t>判定：问这个断言守的是金额、文案、库存这些可观察结果，还是某一行怎么写。</a:t>
            </a:r>
          </a:p>
          <a:p>
            <a:r>
              <a:t>权衡：锁得越满，重构越安全，测试也越会把旧设计一起留下来。来源是 Feathers《修改代码的艺术》第 13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节：特征测试与接缝</a:t>
            </a:r>
          </a:p>
          <a:p>
            <a:r>
              <a:t>时长见本节首页（本节 30 分钟）</a:t>
            </a:r>
          </a:p>
          <a:p>
            <a:r>
              <a:t>定义：页上的代码都引用分支头 abe34e5b。红灯证据来自中间提交 4a7f3d90：16 项里 6 项业务断言失败、10 项通过。三步仍是先锁现有行为，再抽出策略接缝，然后让会员价规格先红后绿。</a:t>
            </a:r>
          </a:p>
          <a:p>
            <a:r>
              <a:t>代价：把红灯证据和分支头混成同一次提交，会让人以为会员价策略还没写进 abe34e5b。</a:t>
            </a:r>
          </a:p>
          <a:p>
            <a:r>
              <a:t>判定：问代码出处是分支头 abe34e5b，还是中间提交 4a7f3d90；6 项失败是业务断言，不是编译错误。</a:t>
            </a:r>
          </a:p>
          <a:p>
            <a:r>
              <a:t>权衡：分支头给最终代码，中间提交给先红的证据。主演示对应 Issue #14。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节：特征测试与接缝</a:t>
            </a:r>
          </a:p>
          <a:p>
            <a:r>
              <a:t>时长见本节首页（本节 30 分钟）</a:t>
            </a:r>
          </a:p>
          <a:p>
            <a:r>
              <a:t>定义：第 62–66 行构造购物车行，单价固定为 95.00。同文件第 26 行把单品促销断言成 100.00，第 55–57 行把类型 0 和 99 断言成无优惠。特征测试固定的就是这些现有行为，包括不合理的改写。</a:t>
            </a:r>
          </a:p>
          <a:p>
            <a:r>
              <a:t>代价：只记住“有测试”，却不看它锁的是改写单价这种现有行为，重构时会把旧行为当成可以顺便改掉的错误。</a:t>
            </a:r>
          </a:p>
          <a:p>
            <a:r>
              <a:t>判定：问 95.00 是输入还是期望；单品促销时期望单价是 100.00 还是仍为 95.00。</a:t>
            </a:r>
          </a:p>
          <a:p>
            <a:r>
              <a:t>权衡：把不合理的改写也锁住，重构不会偷偷“修好”它。真要改这个行为，必须另写规格，不能改这组断言。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节：特征测试与接缝</a:t>
            </a:r>
          </a:p>
          <a:p>
            <a:r>
              <a:t>时长见本节首页（本节 30 分钟）</a:t>
            </a:r>
          </a:p>
          <a:p>
            <a:r>
              <a:t>定义：接缝是这样一个位置：不编辑那里的代码，也能换掉它的行为。使能点是你做出替换决定的地方。</a:t>
            </a:r>
          </a:p>
          <a:p>
            <a:r>
              <a:t>代价：没有接缝时，每加一种促销都要改同一段分支，特征测试也很难换掉协作对象。</a:t>
            </a:r>
          </a:p>
          <a:p>
            <a:r>
              <a:t>判定：问新增一种类型时，改的是循环本身，还是只增加一个实现并登记进去。</a:t>
            </a:r>
          </a:p>
          <a:p>
            <a:r>
              <a:t>权衡：接缝让替换集中在登记处；多一个接口，读代码要多跳一层。来源是 Feathers《修改代码的艺术》第 4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节：特征测试与接缝</a:t>
            </a:r>
          </a:p>
          <a:p>
            <a:r>
              <a:t>时长见本节首页（本节 30 分钟）</a:t>
            </a:r>
          </a:p>
          <a:p>
            <a:r>
              <a:t>定义：第 65–67 行是登记列表，五种实现写在第 66 行。第 69–73 行是 PromotionApplier 接口，含 supports 与 apply。新增一种促销是多一个实现并放进这个列表。</a:t>
            </a:r>
          </a:p>
          <a:p>
            <a:r>
              <a:t>代价：列表和接口都放在实现类内部，外部测试不能直接换上自己的实现，只能换协作对象。</a:t>
            </a:r>
          </a:p>
          <a:p>
            <a:r>
              <a:t>判定：问 promotionType=2 是在循环里写分支，还是由 MemberPriceApplier.supports 回答。</a:t>
            </a:r>
          </a:p>
          <a:p>
            <a:r>
              <a:t>权衡：登记处集中可见，新增类型不用改循环。列表写在私有方法里，替换仍要动这个类。提交 abe34e5b。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节：特征测试与接缝</a:t>
            </a:r>
          </a:p>
          <a:p>
            <a:r>
              <a:t>时长见本节首页（本节 30 分钟）</a:t>
            </a:r>
          </a:p>
          <a:p>
            <a:r>
              <a:t>定义：第 52–56 行：第 54 行把促销类型设为 2，第 56 行期望单价 100.00、优惠额 30.00、文案为会员价。红灯在中间提交 4a7f3d90：16 项中 6 项业务断言失败、10 项通过。分支头 abe34e5b 里这组期望已经实现。</a:t>
            </a:r>
          </a:p>
          <a:p>
            <a:r>
              <a:t>代价：把红灯当成环境坏了就会去改构建。这次失败是行为还没实现：单价留在 95.00，优惠额为 0，文案是无优惠。</a:t>
            </a:r>
          </a:p>
          <a:p>
            <a:r>
              <a:t>判定：问红灯是编译或环境错误，还是期望会员价、实际无优惠。另外 10 项在那次运行里通过。</a:t>
            </a:r>
          </a:p>
          <a:p>
            <a:r>
              <a:t>权衡：规格先红，实现后才转绿，失败原因对得上新行为。证据文件记录的是提交 4a7f3d90 上的那次运行，不是编译失败。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节：特征测试与接缝</a:t>
            </a:r>
          </a:p>
          <a:p>
            <a:r>
              <a:t>时长见本节首页（本节 30 分钟）</a:t>
            </a:r>
          </a:p>
          <a:p>
            <a:r>
              <a:t>定义：E5-00 的 SDCE500Test 先锁 paySuccess 的现状。第 63、64 行两条断言是不调用 selectByPrimaryKey，以及本类日志为空。加上库存预警之后，这两条按设计变红。第 59 行的返回值保持绿。E6-07 是这次预警的实现，提交 ed7b3382。</a:t>
            </a:r>
          </a:p>
          <a:p>
            <a:r>
              <a:t>代价：把所有变红都当成回归失败，就会把预期中的新行为改回去。</a:t>
            </a:r>
          </a:p>
          <a:p>
            <a:r>
              <a:t>判定：问变红的是不读 SKU 的两条断言，还是返回值。返回值仍应是 updateSkuStock 的行数。</a:t>
            </a:r>
          </a:p>
          <a:p>
            <a:r>
              <a:t>权衡：预期的红说明新行为已经出现；必须保持绿的那条用来守旧契约。E5-00 提交 dbfcb94466e58990c4c8ed7a014a5bb302ed63e0。Issue #44 与 #26。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节：特征测试与接缝</a:t>
            </a:r>
          </a:p>
          <a:p>
            <a:r>
              <a:t>时长见本节首页（本节 30 分钟）</a:t>
            </a:r>
          </a:p>
          <a:p>
            <a:r>
              <a:t>定义：讨论失败本身还不能说明测试在守行为。要看没变的是可观察结果，还是某一种写法。</a:t>
            </a:r>
          </a:p>
          <a:p>
            <a:r>
              <a:t>代价：一律答成“失败了就是在守行为”，会把绑死实现的测试也留下来。</a:t>
            </a:r>
          </a:p>
          <a:p>
            <a:r>
              <a:t>判定：回答要举出一种改动：写法变了但金额和文案不变，以及一种可观察结果变了的改动。</a:t>
            </a:r>
          </a:p>
          <a:p>
            <a:r>
              <a:t>权衡：课上先听学生怎么分。特征测试守的是现有行为，包括不合理的部分；换一种等价实现就失败的，守的是实现。</a:t>
            </a:r>
          </a:p>
          <a:p>
            <a:r>
              <a:t>参考要点：只改写法、可观察结果不变却失败，固定的是实现；金额、文案或返回值变了才说明它守的是行为。</a:t>
            </a:r>
          </a:p>
          <a:p>
            <a:r>
              <a:t>依据：大纲「特征测试与接缝」；Feathers《修改代码的艺术》第 13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节：框架陷阱</a:t>
            </a:r>
          </a:p>
          <a:p>
            <a:r>
              <a:t>本节 15 分钟</a:t>
            </a:r>
          </a:p>
          <a:p>
            <a:r>
              <a:t>定义：外部调用先到代理，代理决定事务属性。同类里的 this 调用不经过代理，内层方法上的注解不会因为这次调用再生效。</a:t>
            </a:r>
          </a:p>
          <a:p>
            <a:r>
              <a:t>代价：把“注解写在源文件里”当成“这次调用生效了”，会误判写库有没有事务。</a:t>
            </a:r>
          </a:p>
          <a:p>
            <a:r>
              <a:t>判定：问这次进入 paySuccess 的是代理，还是 this。再问事务属性是从实现类读到的，还是从接口回退读到的。</a:t>
            </a:r>
          </a:p>
          <a:p>
            <a:r>
              <a:t>权衡：代理把事务集中在入口；自调用省一次转发，也绕开了内层注解。判定口径若只扫实现类，会把写在接口上的事务报成缺失。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节：框架陷阱</a:t>
            </a:r>
          </a:p>
          <a:p>
            <a:r>
              <a:t>时长见本节首页（本节 15 分钟）</a:t>
            </a:r>
          </a:p>
          <a:p>
            <a:r>
              <a:t>定义：第 32 行是 paySuccess 的事务注解，第 75 行是 paySuccessByOrderSn 的事务注解，都写在接口上。实现类对应方法没有这行注解。</a:t>
            </a:r>
          </a:p>
          <a:p>
            <a:r>
              <a:t>代价：只打开实现类，会以为这两处写库没有事务。静态规则若只扫实现类，会报成缺失。</a:t>
            </a:r>
          </a:p>
          <a:p>
            <a:r>
              <a:t>判定：问注解在接口的哪一行，实现方法上有没有同样的注解。</a:t>
            </a:r>
          </a:p>
          <a:p>
            <a:r>
              <a:t>权衡：注解集中在接口，读实现时容易漏。运行时会回退读取。行号按基线 baseline-dcaa93b3。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节：框架陷阱</a:t>
            </a:r>
          </a:p>
          <a:p>
            <a:r>
              <a:t>时长见本节首页（本节 15 分钟）</a:t>
            </a:r>
          </a:p>
          <a:p>
            <a:r>
              <a:t>定义：第 423–426 行按订单号查出订单后，用 this.paySuccess 继续做支付成功。这一跳不经过代理。</a:t>
            </a:r>
          </a:p>
          <a:p>
            <a:r>
              <a:t>代价：看到 this 就断言整段写库都没有事务，会和运行时事实相反：外层入口仍可能已经打开事务。</a:t>
            </a:r>
          </a:p>
          <a:p>
            <a:r>
              <a:t>判定：问第 426 行的接收者是代理还是 this，外层 paySuccessByOrderSn 是从哪里进入的。</a:t>
            </a:r>
          </a:p>
          <a:p>
            <a:r>
              <a:t>权衡：自调用少一次转发，内层注解不单独再生效。外层若已由代理进入，写库仍留在外层那次事务里。行号按基线核对。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节：框架陷阱</a:t>
            </a:r>
          </a:p>
          <a:p>
            <a:r>
              <a:t>时长见本节首页（本节 15 分钟）</a:t>
            </a:r>
          </a:p>
          <a:p>
            <a:r>
              <a:t>定义：内层自身的事务注解不单独生效。外层 paySuccessByOrderSn 由代理进入，接口上有事务，写库仍在外层事务中。</a:t>
            </a:r>
          </a:p>
          <a:p>
            <a:r>
              <a:t>代价：把内层注解没单独生效，说成这一整段写库都不在事务里，排查时会去改不该改的入口。</a:t>
            </a:r>
          </a:p>
          <a:p>
            <a:r>
              <a:t>判定：问写库发生时，事务是内层这次调用新开的，还是外层进入时已经有的。</a:t>
            </a:r>
          </a:p>
          <a:p>
            <a:r>
              <a:t>权衡：外层事务还在，失败仍会一起回滚；不能靠内层注解再规定另一种传播行为。课上用这一页对照下一页的讨论。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节：框架陷阱</a:t>
            </a:r>
          </a:p>
          <a:p>
            <a:r>
              <a:t>时长见本节首页（本节 15 分钟）</a:t>
            </a:r>
          </a:p>
          <a:p>
            <a:r>
              <a:t>定义：讨论要分开内层这次调用和外层入口，不能只回答“生效”或“不生效”。</a:t>
            </a:r>
          </a:p>
          <a:p>
            <a:r>
              <a:t>代价：合成一句“整个都不生效”，会把仍在外层事务里的写库说丢。</a:t>
            </a:r>
          </a:p>
          <a:p>
            <a:r>
              <a:t>判定：回答要分别说到 this.paySuccess 有没有经过代理，以及 paySuccessByOrderSn 的写库还在不在事务里。</a:t>
            </a:r>
          </a:p>
          <a:p>
            <a:r>
              <a:t>权衡：课上先听学生怎么拆内外层，再对照上一页。</a:t>
            </a:r>
          </a:p>
          <a:p>
            <a:r>
              <a:t>参考要点：this.paySuccess 不经代理，内层方法自身的事务注解不单独生效；paySuccessByOrderSn 由代理进入且接口上有事务，写库仍在外层事务中。</a:t>
            </a:r>
          </a:p>
          <a:p>
            <a:r>
              <a:t>依据：大纲「框架陷阱」；事务注解写在接口上，由代理在进入外层方法时读取。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节：逆向工程与再工程</a:t>
            </a:r>
          </a:p>
          <a:p>
            <a:r>
              <a:t>本节 30 分钟</a:t>
            </a:r>
          </a:p>
          <a:p>
            <a:r>
              <a:t>定义：遗留系统仍在使用，开发还在生命周期里持续，但采用了已经过时或不再使用的技术。它包括硬件、软件，也包括遗留的业务过程和步骤。来自 2024 第 8-1 讲第 3 页。</a:t>
            </a:r>
          </a:p>
          <a:p>
            <a:r>
              <a:t>代价：只把遗留系统理解成旧源码，改应用时会漏掉业务步骤和运行环境一起变。</a:t>
            </a:r>
          </a:p>
          <a:p>
            <a:r>
              <a:t>判定：问这一改动落在四层中的哪一层，其他层要不要跟着动。</a:t>
            </a:r>
          </a:p>
          <a:p>
            <a:r>
              <a:t>权衡：层次分开之后，影响看得清；一层的变更仍会牵动其余层。层次来自 2024 第 8-1 讲第 3–5 页，自上而下是业务过程、应用软件、支撑软件、硬件。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节：逆向工程与再工程</a:t>
            </a:r>
          </a:p>
          <a:p>
            <a:r>
              <a:t>时长见本节首页（本节 30 分钟）</a:t>
            </a:r>
          </a:p>
          <a:p>
            <a:r>
              <a:t>定义：评价同时看业务价值和技术上的系统质量。业务价值看使用、所支持的业务过程、可靠性和输出。系统质量看应用本身，也看硬件和支撑软件。</a:t>
            </a:r>
          </a:p>
          <a:p>
            <a:r>
              <a:t>代价：只问代码旧不旧，高价值的低质量系统会被放弃，低价值的系统又会被反复重写。</a:t>
            </a:r>
          </a:p>
          <a:p>
            <a:r>
              <a:t>判定：问 mall 的下单路径在这四格里更靠近哪一格，证据是使用和故障，还是只是技术新旧。</a:t>
            </a:r>
          </a:p>
          <a:p>
            <a:r>
              <a:t>权衡：两轴把“要不要动”和“质量差不差”拆开。格子本身还不等于策略。四格名称来自 2024 第 8-1 讲第 9 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节：逆向工程与再工程</a:t>
            </a:r>
          </a:p>
          <a:p>
            <a:r>
              <a:t>时长见本节首页（本节 30 分钟）</a:t>
            </a:r>
          </a:p>
          <a:p>
            <a:r>
              <a:t>定义：课程里的四种是维护、重构、再工程、替换。维护不重建；重构保持外部行为并提高局部质量；再工程是理解之后重建；替换是换成新系统的全部或一部分。</a:t>
            </a:r>
          </a:p>
          <a:p>
            <a:r>
              <a:t>代价：把四种当成同一件事的不同说法，低质量高价值的系统会被直接扔掉，或只做局部改名。</a:t>
            </a:r>
          </a:p>
          <a:p>
            <a:r>
              <a:t>判定：问这一步是否保持外部行为，是否还要重建系统，以及旧系统还留不留。</a:t>
            </a:r>
          </a:p>
          <a:p>
            <a:r>
              <a:t>权衡：重构便宜，但整体结构可以不变；再工程能换结构，成本和风险都更高。完全放弃是 2024 第 8-1 讲第 7 页另外列出的一种。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节：逆向工程与再工程</a:t>
            </a:r>
          </a:p>
          <a:p>
            <a:r>
              <a:t>时长见本节首页（本节 30 分钟）</a:t>
            </a:r>
          </a:p>
          <a:p>
            <a:r>
              <a:t>定义：Chikofsky 与 Cross 1990 把逆向工程定义为分析系统、在更高抽象上重新表示，并且不改系统。设计恢复是在观察之外加上领域知识。再工程则要改，并实现新的形态。</a:t>
            </a:r>
          </a:p>
          <a:p>
            <a:r>
              <a:t>代价：把逆向工程说成“一边看一边改”，恢复出来的图会和已经动手改过的代码对不上。</a:t>
            </a:r>
          </a:p>
          <a:p>
            <a:r>
              <a:t>判定：问这一步产出的是更高层的描述，还是一套新的实现；外部行为变了没有。</a:t>
            </a:r>
          </a:p>
          <a:p>
            <a:r>
              <a:t>权衡：先逆向再正向，理解成本在前，重建风险在后。这里的重构指同一抽象层次上保持外部行为的变换，Chikofsky 称之为 restructuring。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节：逆向工程与再工程</a:t>
            </a:r>
          </a:p>
          <a:p>
            <a:r>
              <a:t>时长见本节首页（本节 30 分钟）</a:t>
            </a:r>
          </a:p>
          <a:p>
            <a:r>
              <a:t>定义：正向工程从规格走到新系统。再工程从已经存在的软件出发，经过理解和转换，得到再工程之后的系统。</a:t>
            </a:r>
          </a:p>
          <a:p>
            <a:r>
              <a:t>代价：把再工程画成从零写规格，会丢掉必须先读懂旧系统这一步，关键业务可能在新系统里消失。</a:t>
            </a:r>
          </a:p>
          <a:p>
            <a:r>
              <a:t>判定：问起点是规格说明还是现有软件，终点是全新系统还是改造后的系统。</a:t>
            </a:r>
          </a:p>
          <a:p>
            <a:r>
              <a:t>权衡：再工程少担一次从未运行过的风险，也继承旧系统的约束。对照来自 2024 第 8-1 讲第 17 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节：逆向工程与再工程</a:t>
            </a:r>
          </a:p>
          <a:p>
            <a:r>
              <a:t>时长见本节首页（本节 30 分钟）</a:t>
            </a:r>
          </a:p>
          <a:p>
            <a:r>
              <a:t>定义：再工程过程是逆向工程，然后设计恢复，然后重构，然后正向工程。图上就是这四步，和课件大纲这一节一致。</a:t>
            </a:r>
          </a:p>
          <a:p>
            <a:r>
              <a:t>代价：跳过设计恢复直接重写，等于用正向工程冒充再工程，领域概念对不上。</a:t>
            </a:r>
          </a:p>
          <a:p>
            <a:r>
              <a:t>判定：问重构前面有没有设计恢复，正向工程是不是最后一步。</a:t>
            </a:r>
          </a:p>
          <a:p>
            <a:r>
              <a:t>权衡：四步拆开之后，可以只做其中一段；每段都要有输入和产出。8-1 第 20 页还列了清单分析以及代码重构、数据重构，那些是重构这一步里的做法，不另画在这张图上。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节：逆向工程与再工程</a:t>
            </a:r>
          </a:p>
          <a:p>
            <a:r>
              <a:t>时长见本节首页（本节 30 分钟）</a:t>
            </a:r>
          </a:p>
          <a:p>
            <a:r>
              <a:t>定义：收益等于 Creeng 减 Cmaint。结果为负才不做。页上的减法和备注相同，方向与 2024 第 8-1 讲第 23 页一致。</a:t>
            </a:r>
          </a:p>
          <a:p>
            <a:r>
              <a:t>代价：把减法做反，会把本来不该做的再工程排到前面。</a:t>
            </a:r>
          </a:p>
          <a:p>
            <a:r>
              <a:t>判定：问是 Creeng 减 Cmaint，还是反过来；结果为负时做不做。</a:t>
            </a:r>
          </a:p>
          <a:p>
            <a:r>
              <a:t>权衡：模型把取舍写成可比较的数；估错生存年数或风险因子，排序会倒过来。</a:t>
            </a:r>
          </a:p>
          <a:p>
            <a:r>
              <a:t>收益 = Creeng − Cmaint，结果为负才不做。Cmaint = [P3 − (P1 + P2)] × L。Creeng = [P6 − (P4 + P5)] × (L − P8) − (P7 × P9)。P1 到 P3 是当前的维护、运作和业务价值，P4 到 P6 是再工程之后的三项，P7 到 P9 是成本、时间和风险，L 是期望生存年数。来自 2024 第 8-1 讲第 23 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节：逆向工程与再工程</a:t>
            </a:r>
          </a:p>
          <a:p>
            <a:r>
              <a:t>时长见本节首页（本节 30 分钟）</a:t>
            </a:r>
          </a:p>
          <a:p>
            <a:r>
              <a:t>定义：逆向工程把程序转成比源码更抽象的描述。2024 课件把它分成实现级、结构级、功能级和领域级。领域级才把程序实体对上应用概念。</a:t>
            </a:r>
          </a:p>
          <a:p>
            <a:r>
              <a:t>代价：停在调用图，就还不知道这段代码在业务上是扣库存还是算促销。</a:t>
            </a:r>
          </a:p>
          <a:p>
            <a:r>
              <a:t>判定：问手上的图是依赖关系，还是已经对上会员价、支付这种业务概念。</a:t>
            </a:r>
          </a:p>
          <a:p>
            <a:r>
              <a:t>权衡：层次越高，越能和需求对照，也越依赖领域知识，不能只靠语法树自动得到。四个层次来自 2024 第 8-1 讲第 24 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节：逆向工程与再工程</a:t>
            </a:r>
          </a:p>
          <a:p>
            <a:r>
              <a:t>时长见本节首页（本节 30 分钟）</a:t>
            </a:r>
          </a:p>
          <a:p>
            <a:r>
              <a:t>定义：恢复是把遗留软件的体系结构描述重新提取出来，这一步还不改造系统。静态元素和动态元素综合之后，才形成那份描述。</a:t>
            </a:r>
          </a:p>
          <a:p>
            <a:r>
              <a:t>代价：只有类图、没有运行时调用，会把消息监听和定时任务漏在结构外面。</a:t>
            </a:r>
          </a:p>
          <a:p>
            <a:r>
              <a:t>判定：问这张图来自编译期依赖，还是来自一次支付或取消的运行过程。</a:t>
            </a:r>
          </a:p>
          <a:p>
            <a:r>
              <a:t>权衡：两边都抽，描述才完整；动态部分要有一次能重复的运行，否则只是推测。提取内容来自 2024 第 8-1 讲第 29 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节：逆向工程与再工程</a:t>
            </a:r>
          </a:p>
          <a:p>
            <a:r>
              <a:t>时长见本节首页（本节 30 分钟）</a:t>
            </a:r>
          </a:p>
          <a:p>
            <a:r>
              <a:t>定义：恢复只是重新提取。改善才按新需求改造结构，并可以结合遗留系统之外的可复用模块。代码重构和数据重构通常不改整体结构，而是改模块内部和局部数据。</a:t>
            </a:r>
          </a:p>
          <a:p>
            <a:r>
              <a:t>代价：没有恢复出的结构就改模块，新需求和旧依赖会在同一次修改里缠在一起。</a:t>
            </a:r>
          </a:p>
          <a:p>
            <a:r>
              <a:t>判定：问这一改是在提取旧结构，还是已经按新需求改了结构；整体结构变了没有。</a:t>
            </a:r>
          </a:p>
          <a:p>
            <a:r>
              <a:t>权衡：代码重构追求功能相同、质量更高；数据重构还可能更换文件格式或数据库。两者都来自 2024 第 8-1 讲第 31–37 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节：演化规律与小结</a:t>
            </a:r>
          </a:p>
          <a:p>
            <a:r>
              <a:t>本节 15 分钟</a:t>
            </a:r>
          </a:p>
          <a:p>
            <a:r>
              <a:t>定义：Lehman 1980 用持续变化和复杂度增长描述还在使用的软件。不用它，它会越来越不合用；只加功能、不治理，复杂度会上升。</a:t>
            </a:r>
          </a:p>
          <a:p>
            <a:r>
              <a:t>代价：把系统当成写完就结束，后续每次需求都会直接堆在原结构上。</a:t>
            </a:r>
          </a:p>
          <a:p>
            <a:r>
              <a:t>判定：问这次修改是在适应新的使用，还是在把已经升高的复杂度降下来。</a:t>
            </a:r>
          </a:p>
          <a:p>
            <a:r>
              <a:t>权衡：承认必须持续变化，才需要演化策略；专门重构会占用做新功能的时间。这里只讲这两条，不把后来文献补上的定律算进这一页。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节：演化规律与小结</a:t>
            </a:r>
          </a:p>
          <a:p>
            <a:r>
              <a:t>时长见本节首页（本节 15 分钟）</a:t>
            </a:r>
          </a:p>
          <a:p>
            <a:r>
              <a:t>定义：mall 由三个独立应用组成、无注册中心，认证在 mall-security，也无独立网关。mall-swarm 把网关、认证和业务服务拆开，注册与配置用 Nacos。两边是同一业务域的两种实现，不是 mall 迁移前后的两个版本。</a:t>
            </a:r>
          </a:p>
          <a:p>
            <a:r>
              <a:t>代价：讲成同一次迁移的前后，会让人以为拆服务是这一课的必做步骤。</a:t>
            </a:r>
          </a:p>
          <a:p>
            <a:r>
              <a:t>判定：问变化最大的是模块内部的计算，还是部署单元和调用如何跨进程。</a:t>
            </a:r>
          </a:p>
          <a:p>
            <a:r>
              <a:t>权衡：对照用来准备下一页的讨论：要不要拆，不能只凭这张形态差异。mall-swarm 的架构图在运行环境那一讲已经看过，提交 04c442fe。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节：演化规律与小结</a:t>
            </a:r>
          </a:p>
          <a:p>
            <a:r>
              <a:t>时长见本节首页（本节 15 分钟）</a:t>
            </a:r>
          </a:p>
          <a:p>
            <a:r>
              <a:t>定义：Lenarduzzi 等，2020，记录的是一家企业的迁移：拆分当时技术债先升高，稳定之后增长变慢。这是单案例，不能写成微服务普遍更省维护。</a:t>
            </a:r>
          </a:p>
          <a:p>
            <a:r>
              <a:t>代价：用这一篇论文直接决定 mall 要拆，就把一个企业的记录当成了本系统的证据。</a:t>
            </a:r>
          </a:p>
          <a:p>
            <a:r>
              <a:t>判定：问论文里的债是在拆分当时升高，还是拆完立刻下降；这个结论能不能套到 mall。</a:t>
            </a:r>
          </a:p>
          <a:p>
            <a:r>
              <a:t>权衡：案例说明“拆开”本身不是减债措施。要减债，还得看本系统的边界、数据和测试。文献是 Journal of Systems and Software, 169, 110710。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节：演化规律与小结</a:t>
            </a:r>
          </a:p>
          <a:p>
            <a:r>
              <a:t>时长见本节首页（本节 15 分钟）</a:t>
            </a:r>
          </a:p>
          <a:p>
            <a:r>
              <a:t>定义：讨论 mall 该不该拆。要的是证据清单，不是先选一个立场。</a:t>
            </a:r>
          </a:p>
          <a:p>
            <a:r>
              <a:t>代价：只回答该拆或不该拆，却说不出业务边界、数据归属和失败时的影响，决定无法复查。</a:t>
            </a:r>
          </a:p>
          <a:p>
            <a:r>
              <a:t>判定：回答至少要包括一种本系统里能查到的证据，并说明 Lenarduzzi 的案例为什么不够。</a:t>
            </a:r>
          </a:p>
          <a:p>
            <a:r>
              <a:t>权衡：课上先收证据，再谈策略。形态对照只说明存在另一种实现，不代替这次决定。</a:t>
            </a:r>
          </a:p>
          <a:p>
            <a:r>
              <a:t>参考要点：需要业务边界、数据归属和故障时的影响，不能只数服务个数；Lenarduzzi 2020 只是一家企业的记录，不能当成 mall 已经减债。</a:t>
            </a:r>
          </a:p>
          <a:p>
            <a:r>
              <a:t>依据：大纲「演化规律与小结」；Lenarduzzi 等 2020 与 mall、mall-swarm 的形态对照。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节：演化规律与小结</a:t>
            </a:r>
          </a:p>
          <a:p>
            <a:r>
              <a:t>时长见本节首页（本节 15 分钟）</a:t>
            </a:r>
          </a:p>
          <a:p>
            <a:r>
              <a:t>定义：这一讲收成四句：测试保护下修改，代理与自调用要分开看，演化策略要有评价，AI 给出的改造方案不能直接放行。</a:t>
            </a:r>
          </a:p>
          <a:p>
            <a:r>
              <a:t>代价：只记住名词，下一讲实验仍不知道哪些断言允许变红，哪些必须保持绿。</a:t>
            </a:r>
          </a:p>
          <a:p>
            <a:r>
              <a:t>判定：能否说出特征测试、外层事务、四种策略里的一种，以及 AI 方案放行前要看的三件事。</a:t>
            </a:r>
          </a:p>
          <a:p>
            <a:r>
              <a:t>权衡：放行前先查有没有触及不可变约束，有没有夹带无关修改，再以测试结果作为依据。实验 E6 的预习和阅读在下一节。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节：布置</a:t>
            </a:r>
          </a:p>
          <a:p>
            <a:r>
              <a:t>本节 15 分钟（并入上一节）</a:t>
            </a:r>
          </a:p>
          <a:p>
            <a:r>
              <a:t>题目页</a:t>
            </a:r>
          </a:p>
          <a:p>
            <a:r>
              <a:t>答案：1C 2B 3D</a:t>
            </a:r>
          </a:p>
          <a:p>
            <a:r>
              <a:t>定义：这三题是实验 E6 前的预习，课前按客观题完成。</a:t>
            </a:r>
          </a:p>
          <a:p>
            <a:r>
              <a:t>代价：未做的话，实验课上会把功能清单当成非功能需求，或把提交说明写成只列文件。</a:t>
            </a:r>
          </a:p>
          <a:p>
            <a:r>
              <a:t>判定：非功能需求是性能、安全、可用性、可维护性这类质量要求。提交说明要写为什么改。</a:t>
            </a:r>
          </a:p>
          <a:p>
            <a:r>
              <a:t>权衡：向后兼容是现有调用方不用改仍能调用。后两题和阅读在下一页。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节：布置</a:t>
            </a:r>
          </a:p>
          <a:p>
            <a:r>
              <a:t>时长见本节首页（本节 15 分钟（并入上一节））</a:t>
            </a:r>
          </a:p>
          <a:p>
            <a:r>
              <a:t>题目页</a:t>
            </a:r>
          </a:p>
          <a:p>
            <a:r>
              <a:t>答案：4A 5A</a:t>
            </a:r>
          </a:p>
          <a:p>
            <a:r>
              <a:t>定义：第 4 题问类名和方法名的词性。第 5 题问两套规范不一致时按什么执行、说明写在哪里。</a:t>
            </a:r>
          </a:p>
          <a:p>
            <a:r>
              <a:t>代价：把类名写成动词，或两套规范各写各的，别人无法知道这次提交听的是哪一套。</a:t>
            </a:r>
          </a:p>
          <a:p>
            <a:r>
              <a:t>判定：类名用名词，方法名用动词。规范冲突时按团队统一约定，并在提交说明里写明取舍理由。</a:t>
            </a:r>
          </a:p>
          <a:p>
            <a:r>
              <a:t>权衡：词性和取舍都要能在提交说明里被别人独立读懂。阅读书目在下一页。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节：布置</a:t>
            </a:r>
          </a:p>
          <a:p>
            <a:r>
              <a:t>时长见本节首页（本节 15 分钟（并入上一节））</a:t>
            </a:r>
          </a:p>
          <a:p>
            <a:r>
              <a:t>定义：课后按作业第 2 条核对这些文献。特征测试和接缝先看 Feathers 第 4、13 章。</a:t>
            </a:r>
          </a:p>
          <a:p>
            <a:r>
              <a:t>代价：不读 Lehman、Chikofsky、Bennett 和 Lenarduzzi，演化策略会只剩四句口号。</a:t>
            </a:r>
          </a:p>
          <a:p>
            <a:r>
              <a:t>判定：页上要能对上 Lehman 1980、Bennett 等 2000 和 Lenarduzzi 等 2020。</a:t>
            </a:r>
          </a:p>
          <a:p>
            <a:r>
              <a:t>权衡：先读 Feathers 两章和 Chikofsky 的分类，再读 Lenarduzzi 的案例，避免把单一企业的记录当成普遍结论。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Relationship Id="rId4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9" descr="usc_r5_c1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715000"/>
            <a:ext cx="45720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13" descr="usc_r5_c2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59300" y="5715000"/>
            <a:ext cx="45720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13" descr="（白底）中文"/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3800" y="228600"/>
            <a:ext cx="1676400" cy="1676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8169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1524000"/>
            <a:ext cx="7772400" cy="1371600"/>
          </a:xfrm>
        </p:spPr>
        <p:txBody>
          <a:bodyPr/>
          <a:lstStyle>
            <a:lvl1pPr>
              <a:defRPr sz="4500"/>
            </a:lvl1pPr>
          </a:lstStyle>
          <a:p>
            <a:pPr lvl="0"/>
            <a:r>
              <a:rPr lang="zh-CN" altLang="en-US" noProof="0"/>
              <a:t>单击此处编辑母版标题样式</a:t>
            </a:r>
            <a:endParaRPr lang="zh-CN" altLang="en-US" noProof="0"/>
          </a:p>
        </p:txBody>
      </p:sp>
      <p:sp>
        <p:nvSpPr>
          <p:cNvPr id="118169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066800" y="3429000"/>
            <a:ext cx="7010400" cy="1600200"/>
          </a:xfrm>
        </p:spPr>
        <p:txBody>
          <a:bodyPr/>
          <a:lstStyle>
            <a:lvl1pPr marL="0" indent="0">
              <a:buFont typeface="Wingdings" panose="05000000000000000000" pitchFamily="2" charset="2"/>
              <a:buNone/>
              <a:defRPr sz="3000"/>
            </a:lvl1pPr>
          </a:lstStyle>
          <a:p>
            <a:pPr lvl="0"/>
            <a:r>
              <a:rPr lang="zh-CN" altLang="en-US" noProof="0"/>
              <a:t>单击此处编辑母版副标题样式</a:t>
            </a:r>
            <a:endParaRPr lang="zh-CN" altLang="en-US" noProof="0"/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1" hangingPunct="1">
              <a:defRPr sz="1200" smtClean="0">
                <a:latin typeface="+mn-lt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 eaLnBrk="1" hangingPunct="1">
              <a:defRPr sz="1200" smtClean="0">
                <a:latin typeface="+mn-lt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1" hangingPunct="1">
              <a:defRPr sz="1200" smtClean="0">
                <a:latin typeface="+mn-lt"/>
              </a:defRPr>
            </a:lvl1pPr>
          </a:lstStyle>
          <a:p>
            <a:pPr>
              <a:defRPr/>
            </a:pPr>
            <a:fld id="{13B25BE5-3F7A-4904-922D-A053C7DF1757}" type="slidenum">
              <a:rPr lang="zh-CN" altLang="en-US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566738" y="1752600"/>
            <a:ext cx="3924300" cy="426720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3438" y="1752600"/>
            <a:ext cx="3924300" cy="426720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573838" y="304800"/>
            <a:ext cx="2001837" cy="571500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566738" y="304800"/>
            <a:ext cx="5854700" cy="571500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image" Target="../media/image4.jpeg"/><Relationship Id="rId13" Type="http://schemas.openxmlformats.org/officeDocument/2006/relationships/image" Target="../media/image1.jpeg"/><Relationship Id="rId14" Type="http://schemas.openxmlformats.org/officeDocument/2006/relationships/image" Target="../media/image2.jpeg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pattFill prst="ltHorz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74675" y="304800"/>
            <a:ext cx="8001000" cy="963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66738" y="1752600"/>
            <a:ext cx="8001000" cy="426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1028" name="AutoShape 4"/>
          <p:cNvSpPr>
            <a:spLocks noChangeArrowheads="1"/>
          </p:cNvSpPr>
          <p:nvPr/>
        </p:nvSpPr>
        <p:spPr bwMode="auto">
          <a:xfrm>
            <a:off x="609600" y="1295400"/>
            <a:ext cx="7958138" cy="109538"/>
          </a:xfrm>
          <a:custGeom>
            <a:avLst/>
            <a:gdLst>
              <a:gd name="T0" fmla="*/ 0 w 1000"/>
              <a:gd name="T1" fmla="*/ 0 h 1000"/>
              <a:gd name="T2" fmla="*/ 4655511 w 1000"/>
              <a:gd name="T3" fmla="*/ 0 h 1000"/>
              <a:gd name="T4" fmla="*/ 4655511 w 1000"/>
              <a:gd name="T5" fmla="*/ 109538 h 1000"/>
              <a:gd name="T6" fmla="*/ 0 w 1000"/>
              <a:gd name="T7" fmla="*/ 109538 h 1000"/>
              <a:gd name="T8" fmla="*/ 0 w 1000"/>
              <a:gd name="T9" fmla="*/ 0 h 1000"/>
              <a:gd name="T10" fmla="*/ 7958138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1000" h="1000" stroke="0">
                <a:moveTo>
                  <a:pt x="0" y="0"/>
                </a:moveTo>
                <a:lnTo>
                  <a:pt x="585" y="0"/>
                </a:lnTo>
                <a:lnTo>
                  <a:pt x="585" y="1000"/>
                </a:lnTo>
                <a:lnTo>
                  <a:pt x="0" y="1000"/>
                </a:lnTo>
                <a:lnTo>
                  <a:pt x="0" y="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chemeClr val="accent2"/>
          </a:solidFill>
          <a:ln w="9525">
            <a:solidFill>
              <a:schemeClr val="accent2"/>
            </a:solidFill>
            <a:round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9" name="Line 5"/>
          <p:cNvSpPr>
            <a:spLocks noChangeShapeType="1"/>
          </p:cNvSpPr>
          <p:nvPr/>
        </p:nvSpPr>
        <p:spPr bwMode="auto">
          <a:xfrm flipV="1">
            <a:off x="609600" y="6172200"/>
            <a:ext cx="7924800" cy="0"/>
          </a:xfrm>
          <a:prstGeom prst="line">
            <a:avLst/>
          </a:prstGeom>
          <a:noFill/>
          <a:ln w="3175">
            <a:solidFill>
              <a:schemeClr val="accent2"/>
            </a:solidFill>
            <a:rou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030" name="Text Box 6"/>
          <p:cNvSpPr txBox="1">
            <a:spLocks noChangeArrowheads="1"/>
          </p:cNvSpPr>
          <p:nvPr/>
        </p:nvSpPr>
        <p:spPr bwMode="auto">
          <a:xfrm>
            <a:off x="5548313" y="6308725"/>
            <a:ext cx="3671887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zh-CN" altLang="en-US">
                <a:solidFill>
                  <a:srgbClr val="009900"/>
                </a:solidFill>
                <a:latin typeface="Verdana" panose="020B0604030504040204" pitchFamily="34" charset="0"/>
                <a:ea typeface="隶书" panose="02010509060101010101" pitchFamily="49" charset="-122"/>
              </a:rPr>
              <a:t>计算机科学与技术学院</a:t>
            </a:r>
            <a:endParaRPr lang="zh-CN" altLang="en-US">
              <a:solidFill>
                <a:srgbClr val="009900"/>
              </a:solidFill>
              <a:latin typeface="Verdana" panose="020B0604030504040204" pitchFamily="34" charset="0"/>
              <a:ea typeface="隶书" panose="02010509060101010101" pitchFamily="49" charset="-122"/>
            </a:endParaRPr>
          </a:p>
        </p:txBody>
      </p:sp>
      <p:pic>
        <p:nvPicPr>
          <p:cNvPr id="1031" name="Picture 8" descr="计算机学院logo-1"/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6413" y="6261100"/>
            <a:ext cx="509587" cy="50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2" name="Picture 9" descr="usc_r5_c1"/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138" y="6221413"/>
            <a:ext cx="2217737" cy="604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3" name="Picture 13" descr="usc_r5_c2"/>
          <p:cNvPicPr>
            <a:picLocks noChangeAspect="1" noChangeArrowheads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1938" y="6219825"/>
            <a:ext cx="2227262" cy="604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accent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Cambria" panose="02040503050406030204" pitchFamily="18" charset="0"/>
          <a:ea typeface="黑体" panose="02010609060101010101" pitchFamily="49" charset="-122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Cambria" panose="02040503050406030204" pitchFamily="18" charset="0"/>
          <a:ea typeface="黑体" panose="02010609060101010101" pitchFamily="49" charset="-122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Cambria" panose="02040503050406030204" pitchFamily="18" charset="0"/>
          <a:ea typeface="黑体" panose="02010609060101010101" pitchFamily="49" charset="-122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Cambria" panose="02040503050406030204" pitchFamily="18" charset="0"/>
          <a:ea typeface="黑体" panose="02010609060101010101" pitchFamily="49" charset="-122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黑体" panose="02010609060101010101" pitchFamily="49" charset="-122"/>
          <a:ea typeface="黑体" panose="02010609060101010101" pitchFamily="49" charset="-122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黑体" panose="02010609060101010101" pitchFamily="49" charset="-122"/>
          <a:ea typeface="黑体" panose="02010609060101010101" pitchFamily="49" charset="-122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黑体" panose="02010609060101010101" pitchFamily="49" charset="-122"/>
          <a:ea typeface="黑体" panose="02010609060101010101" pitchFamily="49" charset="-122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黑体" panose="02010609060101010101" pitchFamily="49" charset="-122"/>
          <a:ea typeface="黑体" panose="02010609060101010101" pitchFamily="49" charset="-122"/>
        </a:defRPr>
      </a:lvl9pPr>
    </p:titleStyle>
    <p:bodyStyle>
      <a:lvl1pPr marL="469900" indent="-4699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32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908050" indent="-43688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Font typeface="Wingdings" panose="05000000000000000000" pitchFamily="2" charset="2"/>
        <a:buChar char="l"/>
        <a:defRPr sz="28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304925" indent="-395605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23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94180" indent="-38735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94230" indent="-398780" algn="l" rtl="0" eaLnBrk="0" fontAlgn="base" hangingPunct="0">
        <a:spcBef>
          <a:spcPct val="25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3200" b="0" lang="zh-CN" altLang="en-US">
                <a:latin typeface="微软雅黑"/>
                <a:ea typeface="微软雅黑"/>
                <a:cs typeface="微软雅黑"/>
              </a:rPr>
              <a:t>软件设计与规范</a:t>
            </a:r>
          </a:p>
        </p:txBody>
      </p:sp>
      <p:sp>
        <p:nvSpPr>
          <p:cNvPr id="3" name="body"/>
          <p:cNvSpPr>
            <a:spLocks noGrp="1"/>
          </p:cNvSpPr>
          <p:nvPr>
            <p:ph type="subTitle" idx="1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第 11 次课｜软件设计、重构与系统演化（二）</a:t>
            </a:r>
          </a:p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李萌</a:t>
            </a:r>
          </a:p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计算机科学与技术学院</a:t>
            </a:r>
          </a:p>
        </p:txBody>
      </p:sp>
    </p:spTree>
  </p:cSld>
  <p:clrMapOvr>
    <a:masterClrMapping/>
  </p:clrMapOvr>
  <p:hf sldNum="0" hdr="0" ftr="0" dt="0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本次目标与衔接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承接上一讲的重构，以及实验 E5 的影响分析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437790"/>
            <a:ext cx="7918704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先用特征测试固定现有行为，再从接缝改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302812"/>
            <a:ext cx="7516367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分清注解写在何处，运行时是否生效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167835"/>
            <a:ext cx="7114031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按业务价值与系统质量选择演化策略</a:t>
            </a:r>
          </a:p>
        </p:txBody>
      </p:sp>
      <p:sp>
        <p:nvSpPr>
          <p:cNvPr id="7" name="fig"/>
          <p:cNvSpPr/>
          <p:nvPr/>
        </p:nvSpPr>
        <p:spPr>
          <a:xfrm>
            <a:off x="1216152" y="5032857"/>
            <a:ext cx="6711696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引出实验 E6：规格失败之后再改行为</a:t>
            </a:r>
          </a:p>
        </p:txBody>
      </p:sp>
    </p:spTree>
  </p:cSld>
  <p:clrMapOvr>
    <a:masterClrMapping/>
  </p:clrMapOvr>
  <p:hf sldNum="0" hdr="0" ftr="0" dt="0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没有测试保护就不能改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特征测试固定现有行为，包括不合理的行为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654046"/>
            <a:ext cx="7918704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重构前后，这些断言保持不变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735324"/>
            <a:ext cx="7516367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新行为另写规格测试，不能靠改掉旧断言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816602"/>
            <a:ext cx="7114031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没有这层保护，就分不清改坏还是本来如此</a:t>
            </a:r>
          </a:p>
        </p:txBody>
      </p:sp>
    </p:spTree>
  </p:cSld>
  <p:clrMapOvr>
    <a:masterClrMapping/>
  </p:clrMapOvr>
  <p:hf sldNum="0" hdr="0" ftr="0" dt="0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促销计算的三步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代码统一引用分支头 abe34e5b；红灯证据来自中间提交 4a7f3d90（16 项中 6 项业务断言失败、10 项通过）</a:t>
            </a:r>
          </a:p>
        </p:txBody>
      </p:sp>
      <p:sp>
        <p:nvSpPr>
          <p:cNvPr id="4" name="fig"/>
          <p:cNvSpPr/>
          <p:nvPr/>
        </p:nvSpPr>
        <p:spPr>
          <a:xfrm>
            <a:off x="411480" y="2432304"/>
            <a:ext cx="8321040" cy="880871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第一步：SDCE600Test 固定现有行为</a:t>
            </a:r>
          </a:p>
        </p:txBody>
      </p:sp>
      <p:sp>
        <p:nvSpPr>
          <p:cNvPr id="5" name="fig"/>
          <p:cNvSpPr/>
          <p:nvPr/>
        </p:nvSpPr>
        <p:spPr>
          <a:xfrm>
            <a:off x="4434840" y="3313175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ig"/>
          <p:cNvSpPr/>
          <p:nvPr/>
        </p:nvSpPr>
        <p:spPr>
          <a:xfrm>
            <a:off x="411480" y="3587496"/>
            <a:ext cx="8321040" cy="880871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第二步：抽出 PromotionApplier 作为接缝</a:t>
            </a:r>
          </a:p>
        </p:txBody>
      </p:sp>
      <p:sp>
        <p:nvSpPr>
          <p:cNvPr id="7" name="fig"/>
          <p:cNvSpPr/>
          <p:nvPr/>
        </p:nvSpPr>
        <p:spPr>
          <a:xfrm>
            <a:off x="4434840" y="4468368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ig"/>
          <p:cNvSpPr/>
          <p:nvPr/>
        </p:nvSpPr>
        <p:spPr>
          <a:xfrm>
            <a:off x="411480" y="4742688"/>
            <a:ext cx="8321040" cy="880871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第三步：promotionType=2 先失败再实现</a:t>
            </a:r>
          </a:p>
        </p:txBody>
      </p:sp>
    </p:spTree>
  </p:cSld>
  <p:clrMapOvr>
    <a:masterClrMapping/>
  </p:clrMapOvr>
  <p:hf sldNum="0" hdr="0" ftr="0" dt="0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特征测试锁住的输入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特征测试固定现有行为，包括不合理的行为，不要顺手改掉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这里把单价设成 95.00；单品促销的期望却是 100.00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834640"/>
            <a:ext cx="8138160" cy="153619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1"/>
          <a:lstStyle/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cart.​setProductId(​2L);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cart.​setProductSkuId(​skuId);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cart.​setPrice(​new BigDecimal(​"95.​00"));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cart.​setQuantity(​quantity);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return cart;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389120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出处：meng004/​mall@​abe34e5b88c37a4a01f327ec0ee0c4f42ae0baf0:​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mall-portal/​src/​test/​java/​com/​macro/​mall/​sdc/​e6/​SDCE600Test.java:​62-66</a:t>
            </a:r>
          </a:p>
        </p:txBody>
      </p:sp>
    </p:spTree>
  </p:cSld>
  <p:clrMapOvr>
    <a:masterClrMapping/>
  </p:clrMapOvr>
  <p:hf sldNum="0" hdr="0" ftr="0" dt="0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接缝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不改被测代码，就能替换行为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654046"/>
            <a:ext cx="7918704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使能点是你做选择的那个位置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735324"/>
            <a:ext cx="7516367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策略接口把类型分支变成可替换的对象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816602"/>
            <a:ext cx="7114031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测试用替身或新策略接上，被测循环不用改</a:t>
            </a:r>
          </a:p>
        </p:txBody>
      </p:sp>
    </p:spTree>
  </p:cSld>
  <p:clrMapOvr>
    <a:masterClrMapping/>
  </p:clrMapOvr>
  <p:hf sldNum="0" hdr="0" ftr="0" dt="0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接缝留在登记处</a:t>
            </a:r>
          </a:p>
        </p:txBody>
      </p:sp>
      <p:sp>
        <p:nvSpPr>
          <p:cNvPr id="3" name="code"/>
          <p:cNvSpPr txBox="1"/>
          <p:nvPr/>
        </p:nvSpPr>
        <p:spPr>
          <a:xfrm>
            <a:off x="411480" y="1481328"/>
            <a:ext cx="8138160" cy="3877056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1"/>
          <a:lstStyle/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private List&lt;PromotionApplier&gt; ​appliers(​) {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return Arrays.​asList(​new SingleApplier(​),​</a:t>
            </a:r>
            <a:br/>
            <a:r>
              <a:rPr sz="1600" b="0" lang="zh-CN" altLang="en-US">
                <a:latin typeface="Consolas"/>
                <a:ea typeface="Consolas"/>
                <a:cs typeface="Consolas"/>
              </a:rPr>
              <a:t> new MemberPriceApplier(​),​ new LadderApplier(​),​</a:t>
            </a:r>
            <a:br/>
            <a:r>
              <a:rPr sz="1600" b="0" lang="zh-CN" altLang="en-US">
                <a:latin typeface="Consolas"/>
                <a:ea typeface="Consolas"/>
                <a:cs typeface="Consolas"/>
              </a:rPr>
              <a:t> new FullApplier(​),​ new NoneApplier(​));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}</a:t>
            </a:r>
          </a:p>
          <a:p>
            <a:pPr algn="l" eaLnBrk="1" hangingPunct="1" marL="447040" indent="-44704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/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private interface PromotionApplier {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boolean supports(​Integer promotionType);</a:t>
            </a:r>
          </a:p>
          <a:p>
            <a:pPr algn="l" eaLnBrk="1" hangingPunct="1" marL="447040" indent="-44704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/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void apply(​List&lt;CartPromotionItem&gt; ​out,​ List&lt;OmsCartItem&gt; ​</a:t>
            </a:r>
            <a:br/>
            <a:r>
              <a:rPr sz="1600" b="0" lang="zh-CN" altLang="en-US">
                <a:latin typeface="Consolas"/>
                <a:ea typeface="Consolas"/>
                <a:cs typeface="Consolas"/>
              </a:rPr>
              <a:t>itemList,​</a:t>
            </a:r>
          </a:p>
          <a:p>
            <a:pPr algn="l" eaLnBrk="1" hangingPunct="1" marL="2570480" indent="-25704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           PromotionProduct promotionProduct,​</a:t>
            </a:r>
            <a:br/>
            <a:r>
              <a:rPr sz="1600" b="0" lang="zh-CN" altLang="en-US">
                <a:latin typeface="Consolas"/>
                <a:ea typeface="Consolas"/>
                <a:cs typeface="Consolas"/>
              </a:rPr>
              <a:t> List&lt;PromotionProduct&gt; ​promotionProductList);</a:t>
            </a:r>
          </a:p>
        </p:txBody>
      </p:sp>
      <p:sp>
        <p:nvSpPr>
          <p:cNvPr id="4" name="fn"/>
          <p:cNvSpPr txBox="1"/>
          <p:nvPr/>
        </p:nvSpPr>
        <p:spPr>
          <a:xfrm>
            <a:off x="411480" y="5376672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出处：meng004/​mall@​abe34e5b88c37a4a01f327ec0ee0c4f42ae0baf0:​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mall-portal/​src/​main/​java/​com/​macro/​mall/​portal/​service/​impl/​OmsPromotionServiceImpl.java:​65-73</a:t>
            </a:r>
          </a:p>
        </p:txBody>
      </p:sp>
    </p:spTree>
  </p:cSld>
  <p:clrMapOvr>
    <a:masterClrMapping/>
  </p:clrMapOvr>
  <p:hf sldNum="0" hdr="0" ftr="0" dt="0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会员价规格：先失败，再实现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购物车会员价是 promotionType=2，规格测试先失败再实现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期望是单价 100.00、文案会员价；6 项失败见中间提交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834640"/>
            <a:ext cx="8138160" cy="1956815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1"/>
          <a:lstStyle/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fx.​member(​MEMBER_ID,​ LEVEL_ID);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fx.​prices(​price(​PRODUCT_ID,​ LEVEL_ID,​ "70.​00"));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fx.​product(​PRODUCT_ID,​ 2);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List&lt;CartPromotionItem&gt; ​result ​= ​fx.​calc(​line(​PRODUCT_ID,​</a:t>
            </a:r>
            <a:br/>
            <a:r>
              <a:rPr sz="1600" b="0" lang="zh-CN" altLang="en-US">
                <a:latin typeface="Consolas"/>
                <a:ea typeface="Consolas"/>
                <a:cs typeface="Consolas"/>
              </a:rPr>
              <a:t> SKU_A,​ MEMBER_ID,​ 1));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assertItems(​result,​ "100.​00|30.​00|会员价|7");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809744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出处：meng004/​mall@​abe34e5b88c37a4a01f327ec0ee0c4f42ae0baf0:​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mall-portal/​src/​test/​java/​com/​macro/​mall/​sdc/​e6/​SDCE600MemberPriceTest.java:​52-56</a:t>
            </a:r>
          </a:p>
        </p:txBody>
      </p:sp>
    </p:spTree>
  </p:cSld>
  <p:clrMapOvr>
    <a:masterClrMapping/>
  </p:clrMapOvr>
  <p:hf sldNum="0" hdr="0" ftr="0" dt="0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哪些变红是预期的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847088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E5-00 的 SDCE500Test 第 63、64 行两条断言按设计变红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不读 SKU 两条是预期的红；返回值不变，保持绿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E6-07 做库存预警；下面这段锁的是返回值，引用 E5-00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3401568"/>
            <a:ext cx="8138160" cy="7132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1"/>
          <a:lstStyle/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    assertEquals(​3,​ service.​paySuccess(​9L,​ 1));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    verify(​dao).​updateSkuStock(​detail.​getOrderItemList(​));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133088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出处：meng004/​mall@​dbfcb94466e58990c4c8ed7a014a5bb302ed63e0:​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mall-portal/​src/​test/​java/​com/​macro/​mall/​sdc/​e5/​SDCE500Test.java:​59-60</a:t>
            </a:r>
          </a:p>
        </p:txBody>
      </p:sp>
    </p:spTree>
  </p:cSld>
  <p:clrMapOvr>
    <a:masterClrMapping/>
  </p:clrMapOvr>
  <p:hf sldNum="0" hdr="0" ftr="0" dt="0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417880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一个测试在实现改动后就失败，它固定的是行为还是实现？</a:t>
            </a:r>
          </a:p>
        </p:txBody>
      </p:sp>
    </p:spTree>
  </p:cSld>
  <p:clrMapOvr>
    <a:masterClrMapping/>
  </p:clrMapOvr>
  <p:hf sldNum="0" hdr="0" ftr="0" dt="0"/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调用有没有进代理</a:t>
            </a:r>
          </a:p>
        </p:txBody>
      </p:sp>
      <p:sp>
        <p:nvSpPr>
          <p:cNvPr id="3" name="fig"/>
          <p:cNvSpPr/>
          <p:nvPr/>
        </p:nvSpPr>
        <p:spPr>
          <a:xfrm>
            <a:off x="365760" y="1572768"/>
            <a:ext cx="4114800" cy="640080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外部调用</a:t>
            </a:r>
          </a:p>
        </p:txBody>
      </p:sp>
      <p:sp>
        <p:nvSpPr>
          <p:cNvPr id="4" name="fig"/>
          <p:cNvSpPr/>
          <p:nvPr/>
        </p:nvSpPr>
        <p:spPr>
          <a:xfrm>
            <a:off x="4663440" y="1572768"/>
            <a:ext cx="4114800" cy="640080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同类自调用</a:t>
            </a:r>
          </a:p>
        </p:txBody>
      </p:sp>
      <p:sp>
        <p:nvSpPr>
          <p:cNvPr id="5" name="fig"/>
          <p:cNvSpPr/>
          <p:nvPr/>
        </p:nvSpPr>
        <p:spPr>
          <a:xfrm>
            <a:off x="365760" y="2350008"/>
            <a:ext cx="4114800" cy="78181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先进入代理</a:t>
            </a:r>
          </a:p>
        </p:txBody>
      </p:sp>
      <p:sp>
        <p:nvSpPr>
          <p:cNvPr id="6" name="fig"/>
          <p:cNvSpPr/>
          <p:nvPr/>
        </p:nvSpPr>
        <p:spPr>
          <a:xfrm>
            <a:off x="4663440" y="2350008"/>
            <a:ext cx="4114800" cy="78181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this 直接进方法</a:t>
            </a:r>
          </a:p>
        </p:txBody>
      </p:sp>
      <p:sp>
        <p:nvSpPr>
          <p:cNvPr id="7" name="fig"/>
          <p:cNvSpPr/>
          <p:nvPr/>
        </p:nvSpPr>
        <p:spPr>
          <a:xfrm>
            <a:off x="365760" y="3223260"/>
            <a:ext cx="4114800" cy="78181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代理才读取事务属性</a:t>
            </a:r>
          </a:p>
        </p:txBody>
      </p:sp>
      <p:sp>
        <p:nvSpPr>
          <p:cNvPr id="8" name="fig"/>
          <p:cNvSpPr/>
          <p:nvPr/>
        </p:nvSpPr>
        <p:spPr>
          <a:xfrm>
            <a:off x="4663440" y="3223260"/>
            <a:ext cx="4114800" cy="78181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不经过代理</a:t>
            </a:r>
          </a:p>
        </p:txBody>
      </p:sp>
      <p:sp>
        <p:nvSpPr>
          <p:cNvPr id="9" name="fig"/>
          <p:cNvSpPr/>
          <p:nvPr/>
        </p:nvSpPr>
        <p:spPr>
          <a:xfrm>
            <a:off x="365760" y="4096511"/>
            <a:ext cx="4114800" cy="78181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读不到实现上的注解</a:t>
            </a:r>
          </a:p>
        </p:txBody>
      </p:sp>
      <p:sp>
        <p:nvSpPr>
          <p:cNvPr id="10" name="fig"/>
          <p:cNvSpPr/>
          <p:nvPr/>
        </p:nvSpPr>
        <p:spPr>
          <a:xfrm>
            <a:off x="4663440" y="4096511"/>
            <a:ext cx="4114800" cy="78181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内层注解不会因此再生效</a:t>
            </a:r>
          </a:p>
        </p:txBody>
      </p:sp>
      <p:sp>
        <p:nvSpPr>
          <p:cNvPr id="11" name="fig"/>
          <p:cNvSpPr/>
          <p:nvPr/>
        </p:nvSpPr>
        <p:spPr>
          <a:xfrm>
            <a:off x="365760" y="4969764"/>
            <a:ext cx="4114800" cy="78181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再回退到接口方法</a:t>
            </a:r>
          </a:p>
        </p:txBody>
      </p:sp>
      <p:sp>
        <p:nvSpPr>
          <p:cNvPr id="12" name="fig"/>
          <p:cNvSpPr/>
          <p:nvPr/>
        </p:nvSpPr>
        <p:spPr>
          <a:xfrm>
            <a:off x="4663440" y="4969764"/>
            <a:ext cx="4114800" cy="78181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要看外层是否已经在事务里</a:t>
            </a:r>
          </a:p>
        </p:txBody>
      </p:sp>
    </p:spTree>
  </p:cSld>
  <p:clrMapOvr>
    <a:masterClrMapping/>
  </p:clrMapOvr>
  <p:hf sldNum="0" hdr="0" ftr="0" dt="0"/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两处事务注解都在接口上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7132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实现类这两处方法自己没有事务注解，运行时回退读接口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267712"/>
            <a:ext cx="8138160" cy="126187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1"/>
          <a:lstStyle/>
          <a:p>
            <a:pPr algn="l" eaLnBrk="1" hangingPunct="1" marL="1005840" indent="-100584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​* ​支付成功后的回调</a:t>
            </a:r>
          </a:p>
          <a:p>
            <a:pPr algn="l" eaLnBrk="1" hangingPunct="1" marL="1005840" indent="-100584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​*/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@Transactional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Integer paySuccess(​Long orderId,​ Integer payType);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3547872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出处：mall-portal/​src/​main/​java/​com/​macro/​mall/​portal/​service/​OmsPortalOrderService.java:​30-33</a:t>
            </a:r>
          </a:p>
        </p:txBody>
      </p:sp>
      <p:sp>
        <p:nvSpPr>
          <p:cNvPr id="6" name="code"/>
          <p:cNvSpPr txBox="1"/>
          <p:nvPr/>
        </p:nvSpPr>
        <p:spPr>
          <a:xfrm>
            <a:off x="411480" y="3822191"/>
            <a:ext cx="8138160" cy="126187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1"/>
          <a:lstStyle/>
          <a:p>
            <a:pPr algn="l" eaLnBrk="1" hangingPunct="1" marL="1005840" indent="-100584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​* ​根据orderSn来实现的支付成功逻辑</a:t>
            </a:r>
          </a:p>
          <a:p>
            <a:pPr algn="l" eaLnBrk="1" hangingPunct="1" marL="1005840" indent="-100584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​*/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@Transactional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void paySuccessByOrderSn(​String orderSn,​ Integer payType);</a:t>
            </a:r>
          </a:p>
        </p:txBody>
      </p:sp>
      <p:sp>
        <p:nvSpPr>
          <p:cNvPr id="7" name="fn"/>
          <p:cNvSpPr txBox="1"/>
          <p:nvPr/>
        </p:nvSpPr>
        <p:spPr>
          <a:xfrm>
            <a:off x="411480" y="5102352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出处：mall-portal/​src/​main/​java/​com/​macro/​mall/​portal/​service/​OmsPortalOrderService.java:​73-76</a:t>
            </a:r>
          </a:p>
        </p:txBody>
      </p:sp>
    </p:spTree>
  </p:cSld>
  <p:clrMapOvr>
    <a:masterClrMapping/>
  </p:clrMapOvr>
  <p:hf sldNum="0" hdr="0" ftr="0" dt="0"/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按订单号支付时调用 this.paySuccess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847088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第 426 行是同类里的 this 调用，不经过代理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外层方法本身由外部进入，接口上有事务注解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先看代码，内外层各自是否再生效留到讨论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3401568"/>
            <a:ext cx="8138160" cy="126187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1"/>
          <a:lstStyle/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public void paySuccessByOrderSn(​String orderSn,​ Integer payType) {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OmsOrder order ​= ​getOrderByOrderSn(​orderSn);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if(​order!=null){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    this.​paySuccess(​order.​getId(​),​payType);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681728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出处：mall-portal/​src/​main/​java/​com/​macro/​mall/​portal/​service/​impl/​OmsPortalOrderServiceImpl.java:​423-426</a:t>
            </a:r>
          </a:p>
        </p:txBody>
      </p:sp>
    </p:spTree>
  </p:cSld>
  <p:clrMapOvr>
    <a:masterClrMapping/>
  </p:clrMapOvr>
  <p:hf sldNum="0" hdr="0" ftr="0" dt="0"/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内层注解与外层事务</a:t>
            </a:r>
          </a:p>
        </p:txBody>
      </p:sp>
      <p:sp>
        <p:nvSpPr>
          <p:cNvPr id="3" name="fig"/>
          <p:cNvSpPr/>
          <p:nvPr/>
        </p:nvSpPr>
        <p:spPr>
          <a:xfrm>
            <a:off x="365760" y="1572768"/>
            <a:ext cx="4114800" cy="640080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内层 this.paySuccess</a:t>
            </a:r>
          </a:p>
        </p:txBody>
      </p:sp>
      <p:sp>
        <p:nvSpPr>
          <p:cNvPr id="4" name="fig"/>
          <p:cNvSpPr/>
          <p:nvPr/>
        </p:nvSpPr>
        <p:spPr>
          <a:xfrm>
            <a:off x="4663440" y="1572768"/>
            <a:ext cx="4114800" cy="640080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外层方法</a:t>
            </a:r>
          </a:p>
        </p:txBody>
      </p:sp>
      <p:sp>
        <p:nvSpPr>
          <p:cNvPr id="5" name="fig"/>
          <p:cNvSpPr/>
          <p:nvPr/>
        </p:nvSpPr>
        <p:spPr>
          <a:xfrm>
            <a:off x="365760" y="2350008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不经代理</a:t>
            </a:r>
          </a:p>
        </p:txBody>
      </p:sp>
      <p:sp>
        <p:nvSpPr>
          <p:cNvPr id="6" name="fig"/>
          <p:cNvSpPr/>
          <p:nvPr/>
        </p:nvSpPr>
        <p:spPr>
          <a:xfrm>
            <a:off x="4663440" y="2350008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paySuccessByOrderSn</a:t>
            </a:r>
          </a:p>
        </p:txBody>
      </p:sp>
      <p:sp>
        <p:nvSpPr>
          <p:cNvPr id="7" name="fig"/>
          <p:cNvSpPr/>
          <p:nvPr/>
        </p:nvSpPr>
        <p:spPr>
          <a:xfrm>
            <a:off x="365760" y="3520439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自身注解不单独生效</a:t>
            </a:r>
          </a:p>
        </p:txBody>
      </p:sp>
      <p:sp>
        <p:nvSpPr>
          <p:cNvPr id="8" name="fig"/>
          <p:cNvSpPr/>
          <p:nvPr/>
        </p:nvSpPr>
        <p:spPr>
          <a:xfrm>
            <a:off x="4663440" y="3520439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由代理进入</a:t>
            </a:r>
          </a:p>
        </p:txBody>
      </p:sp>
      <p:sp>
        <p:nvSpPr>
          <p:cNvPr id="9" name="fig"/>
          <p:cNvSpPr/>
          <p:nvPr/>
        </p:nvSpPr>
        <p:spPr>
          <a:xfrm>
            <a:off x="365760" y="4690872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不会因此再开一层事务</a:t>
            </a:r>
          </a:p>
        </p:txBody>
      </p:sp>
      <p:sp>
        <p:nvSpPr>
          <p:cNvPr id="10" name="fig"/>
          <p:cNvSpPr/>
          <p:nvPr/>
        </p:nvSpPr>
        <p:spPr>
          <a:xfrm>
            <a:off x="4663440" y="4690872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接口上有事务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写库仍在外层事务中</a:t>
            </a:r>
          </a:p>
        </p:txBody>
      </p:sp>
    </p:spTree>
  </p:cSld>
  <p:clrMapOvr>
    <a:masterClrMapping/>
  </p:clrMapOvr>
  <p:hf sldNum="0" hdr="0" ftr="0" dt="0"/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3" name="fig"/>
          <p:cNvSpPr/>
          <p:nvPr/>
        </p:nvSpPr>
        <p:spPr>
          <a:xfrm>
            <a:off x="164592" y="1572768"/>
            <a:ext cx="8814816" cy="417880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18288" rIns="18288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this.paySuccess自调用时，内层和外层的事务注解是否生效？</a:t>
            </a:r>
          </a:p>
        </p:txBody>
      </p:sp>
    </p:spTree>
  </p:cSld>
  <p:clrMapOvr>
    <a:masterClrMapping/>
  </p:clrMapOvr>
  <p:hf sldNum="0" hdr="0" ftr="0" dt="0"/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遗留系统不只是旧代码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系统仍在使用，但采用了已经过时或不再使用的技术</a:t>
            </a:r>
          </a:p>
        </p:txBody>
      </p:sp>
      <p:sp>
        <p:nvSpPr>
          <p:cNvPr id="4" name="fig"/>
          <p:cNvSpPr/>
          <p:nvPr/>
        </p:nvSpPr>
        <p:spPr>
          <a:xfrm>
            <a:off x="411480" y="2432304"/>
            <a:ext cx="8321040" cy="72008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业务过程</a:t>
            </a:r>
          </a:p>
        </p:txBody>
      </p:sp>
      <p:sp>
        <p:nvSpPr>
          <p:cNvPr id="5" name="fig"/>
          <p:cNvSpPr/>
          <p:nvPr/>
        </p:nvSpPr>
        <p:spPr>
          <a:xfrm>
            <a:off x="612648" y="3298698"/>
            <a:ext cx="7918704" cy="72008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应用软件</a:t>
            </a:r>
          </a:p>
        </p:txBody>
      </p:sp>
      <p:sp>
        <p:nvSpPr>
          <p:cNvPr id="6" name="fig"/>
          <p:cNvSpPr/>
          <p:nvPr/>
        </p:nvSpPr>
        <p:spPr>
          <a:xfrm>
            <a:off x="813816" y="4165091"/>
            <a:ext cx="7516367" cy="72008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支撑软件</a:t>
            </a:r>
          </a:p>
        </p:txBody>
      </p:sp>
      <p:sp>
        <p:nvSpPr>
          <p:cNvPr id="7" name="fig"/>
          <p:cNvSpPr/>
          <p:nvPr/>
        </p:nvSpPr>
        <p:spPr>
          <a:xfrm>
            <a:off x="1014984" y="5031486"/>
            <a:ext cx="7114031" cy="72008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硬件</a:t>
            </a:r>
          </a:p>
        </p:txBody>
      </p:sp>
    </p:spTree>
  </p:cSld>
  <p:clrMapOvr>
    <a:masterClrMapping/>
  </p:clrMapOvr>
  <p:hf sldNum="0" hdr="0" ftr="0" dt="0"/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先按两个轴评价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四格只写评价结果，策略在下一页另选</a:t>
            </a:r>
          </a:p>
        </p:txBody>
      </p:sp>
      <p:sp>
        <p:nvSpPr>
          <p:cNvPr id="4" name="fig"/>
          <p:cNvSpPr/>
          <p:nvPr/>
        </p:nvSpPr>
        <p:spPr>
          <a:xfrm>
            <a:off x="411480" y="2432304"/>
            <a:ext cx="4091939" cy="1618487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高业务价值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低系统质量</a:t>
            </a:r>
          </a:p>
        </p:txBody>
      </p:sp>
      <p:sp>
        <p:nvSpPr>
          <p:cNvPr id="5" name="fig"/>
          <p:cNvSpPr/>
          <p:nvPr/>
        </p:nvSpPr>
        <p:spPr>
          <a:xfrm>
            <a:off x="4640580" y="2432304"/>
            <a:ext cx="4091939" cy="1618487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高业务价值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高系统质量</a:t>
            </a:r>
          </a:p>
        </p:txBody>
      </p:sp>
      <p:sp>
        <p:nvSpPr>
          <p:cNvPr id="6" name="fig"/>
          <p:cNvSpPr/>
          <p:nvPr/>
        </p:nvSpPr>
        <p:spPr>
          <a:xfrm>
            <a:off x="411480" y="4187952"/>
            <a:ext cx="4091939" cy="1618487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低业务价值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低系统质量</a:t>
            </a:r>
          </a:p>
        </p:txBody>
      </p:sp>
      <p:sp>
        <p:nvSpPr>
          <p:cNvPr id="7" name="fig"/>
          <p:cNvSpPr/>
          <p:nvPr/>
        </p:nvSpPr>
        <p:spPr>
          <a:xfrm>
            <a:off x="4640580" y="4187952"/>
            <a:ext cx="4091939" cy="1618487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低业务价值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高系统质量</a:t>
            </a:r>
          </a:p>
        </p:txBody>
      </p:sp>
    </p:spTree>
  </p:cSld>
  <p:clrMapOvr>
    <a:masterClrMapping/>
  </p:clrMapOvr>
  <p:hf sldNum="0" hdr="0" ftr="0" dt="0"/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四种演化策略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2024 课件还把完全放弃单列出来，和替换相邻</a:t>
            </a:r>
          </a:p>
        </p:txBody>
      </p:sp>
      <p:sp>
        <p:nvSpPr>
          <p:cNvPr id="4" name="fig"/>
          <p:cNvSpPr/>
          <p:nvPr/>
        </p:nvSpPr>
        <p:spPr>
          <a:xfrm>
            <a:off x="411480" y="2432304"/>
            <a:ext cx="8321040" cy="5920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维护：继续常规修改</a:t>
            </a:r>
          </a:p>
        </p:txBody>
      </p:sp>
      <p:sp>
        <p:nvSpPr>
          <p:cNvPr id="5" name="fig"/>
          <p:cNvSpPr/>
          <p:nvPr/>
        </p:nvSpPr>
        <p:spPr>
          <a:xfrm>
            <a:off x="4434840" y="3024378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ig"/>
          <p:cNvSpPr/>
          <p:nvPr/>
        </p:nvSpPr>
        <p:spPr>
          <a:xfrm>
            <a:off x="411480" y="3298698"/>
            <a:ext cx="8321040" cy="5920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重构：行为保持，提高局部质量</a:t>
            </a:r>
          </a:p>
        </p:txBody>
      </p:sp>
      <p:sp>
        <p:nvSpPr>
          <p:cNvPr id="7" name="fig"/>
          <p:cNvSpPr/>
          <p:nvPr/>
        </p:nvSpPr>
        <p:spPr>
          <a:xfrm>
            <a:off x="4434840" y="3890772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ig"/>
          <p:cNvSpPr/>
          <p:nvPr/>
        </p:nvSpPr>
        <p:spPr>
          <a:xfrm>
            <a:off x="411480" y="4165091"/>
            <a:ext cx="8321040" cy="5920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再工程：理解之后重建</a:t>
            </a:r>
          </a:p>
        </p:txBody>
      </p:sp>
      <p:sp>
        <p:nvSpPr>
          <p:cNvPr id="9" name="fig"/>
          <p:cNvSpPr/>
          <p:nvPr/>
        </p:nvSpPr>
        <p:spPr>
          <a:xfrm>
            <a:off x="4434840" y="4757166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ig"/>
          <p:cNvSpPr/>
          <p:nvPr/>
        </p:nvSpPr>
        <p:spPr>
          <a:xfrm>
            <a:off x="411480" y="5031486"/>
            <a:ext cx="8321040" cy="5920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替换：换成新系统的全部或一部分</a:t>
            </a:r>
          </a:p>
        </p:txBody>
      </p:sp>
    </p:spTree>
  </p:cSld>
  <p:clrMapOvr>
    <a:masterClrMapping/>
  </p:clrMapOvr>
  <p:hf sldNum="0" hdr="0" ftr="0" dt="0"/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Chikofsky 怎么分类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逆向工程：提高抽象，不改系统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437790"/>
            <a:ext cx="7918704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设计恢复：再补上领域知识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302812"/>
            <a:ext cx="7516367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重构：同一层次，保持外部行为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167835"/>
            <a:ext cx="7114031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正向工程：从抽象做到实现</a:t>
            </a:r>
          </a:p>
        </p:txBody>
      </p:sp>
      <p:sp>
        <p:nvSpPr>
          <p:cNvPr id="7" name="fig"/>
          <p:cNvSpPr/>
          <p:nvPr/>
        </p:nvSpPr>
        <p:spPr>
          <a:xfrm>
            <a:off x="1216152" y="5032857"/>
            <a:ext cx="6711696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再工程：先逆向理解，再正向实现</a:t>
            </a:r>
          </a:p>
        </p:txBody>
      </p:sp>
    </p:spTree>
  </p:cSld>
  <p:clrMapOvr>
    <a:masterClrMapping/>
  </p:clrMapOvr>
  <p:hf sldNum="0" hdr="0" ftr="0" dt="0"/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正向工程与再工程</a:t>
            </a:r>
          </a:p>
        </p:txBody>
      </p:sp>
      <p:sp>
        <p:nvSpPr>
          <p:cNvPr id="3" name="fig"/>
          <p:cNvSpPr/>
          <p:nvPr/>
        </p:nvSpPr>
        <p:spPr>
          <a:xfrm>
            <a:off x="365760" y="1572768"/>
            <a:ext cx="4114800" cy="640080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正向工程</a:t>
            </a:r>
          </a:p>
        </p:txBody>
      </p:sp>
      <p:sp>
        <p:nvSpPr>
          <p:cNvPr id="4" name="fig"/>
          <p:cNvSpPr/>
          <p:nvPr/>
        </p:nvSpPr>
        <p:spPr>
          <a:xfrm>
            <a:off x="4663440" y="1572768"/>
            <a:ext cx="4114800" cy="640080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再工程</a:t>
            </a:r>
          </a:p>
        </p:txBody>
      </p:sp>
      <p:sp>
        <p:nvSpPr>
          <p:cNvPr id="5" name="fig"/>
          <p:cNvSpPr/>
          <p:nvPr/>
        </p:nvSpPr>
        <p:spPr>
          <a:xfrm>
            <a:off x="365760" y="2350008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从系统规格说明出发</a:t>
            </a:r>
          </a:p>
        </p:txBody>
      </p:sp>
      <p:sp>
        <p:nvSpPr>
          <p:cNvPr id="6" name="fig"/>
          <p:cNvSpPr/>
          <p:nvPr/>
        </p:nvSpPr>
        <p:spPr>
          <a:xfrm>
            <a:off x="4663440" y="2350008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从现有软件系统出发</a:t>
            </a:r>
          </a:p>
        </p:txBody>
      </p:sp>
      <p:sp>
        <p:nvSpPr>
          <p:cNvPr id="7" name="fig"/>
          <p:cNvSpPr/>
          <p:nvPr/>
        </p:nvSpPr>
        <p:spPr>
          <a:xfrm>
            <a:off x="365760" y="3520439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再做设计和实现</a:t>
            </a:r>
          </a:p>
        </p:txBody>
      </p:sp>
      <p:sp>
        <p:nvSpPr>
          <p:cNvPr id="8" name="fig"/>
          <p:cNvSpPr/>
          <p:nvPr/>
        </p:nvSpPr>
        <p:spPr>
          <a:xfrm>
            <a:off x="4663440" y="3520439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先理解，再转换</a:t>
            </a:r>
          </a:p>
        </p:txBody>
      </p:sp>
      <p:sp>
        <p:nvSpPr>
          <p:cNvPr id="9" name="fig"/>
          <p:cNvSpPr/>
          <p:nvPr/>
        </p:nvSpPr>
        <p:spPr>
          <a:xfrm>
            <a:off x="365760" y="4690872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得到一套新系统</a:t>
            </a:r>
          </a:p>
        </p:txBody>
      </p:sp>
      <p:sp>
        <p:nvSpPr>
          <p:cNvPr id="10" name="fig"/>
          <p:cNvSpPr/>
          <p:nvPr/>
        </p:nvSpPr>
        <p:spPr>
          <a:xfrm>
            <a:off x="4663440" y="4690872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得到再工程后的系统</a:t>
            </a:r>
          </a:p>
        </p:txBody>
      </p:sp>
    </p:spTree>
  </p:cSld>
  <p:clrMapOvr>
    <a:masterClrMapping/>
  </p:clrMapOvr>
  <p:hf sldNum="0" hdr="0" ftr="0" dt="0"/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再工程的过程步骤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80695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逆向工程</a:t>
            </a:r>
          </a:p>
        </p:txBody>
      </p:sp>
      <p:sp>
        <p:nvSpPr>
          <p:cNvPr id="4" name="fig"/>
          <p:cNvSpPr/>
          <p:nvPr/>
        </p:nvSpPr>
        <p:spPr>
          <a:xfrm>
            <a:off x="4434840" y="2379726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ig"/>
          <p:cNvSpPr/>
          <p:nvPr/>
        </p:nvSpPr>
        <p:spPr>
          <a:xfrm>
            <a:off x="411480" y="2654046"/>
            <a:ext cx="8321040" cy="80695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设计恢复</a:t>
            </a:r>
          </a:p>
        </p:txBody>
      </p:sp>
      <p:sp>
        <p:nvSpPr>
          <p:cNvPr id="6" name="fig"/>
          <p:cNvSpPr/>
          <p:nvPr/>
        </p:nvSpPr>
        <p:spPr>
          <a:xfrm>
            <a:off x="4434840" y="3461004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ig"/>
          <p:cNvSpPr/>
          <p:nvPr/>
        </p:nvSpPr>
        <p:spPr>
          <a:xfrm>
            <a:off x="411480" y="3735324"/>
            <a:ext cx="8321040" cy="80695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重构</a:t>
            </a:r>
          </a:p>
        </p:txBody>
      </p:sp>
      <p:sp>
        <p:nvSpPr>
          <p:cNvPr id="8" name="fig"/>
          <p:cNvSpPr/>
          <p:nvPr/>
        </p:nvSpPr>
        <p:spPr>
          <a:xfrm>
            <a:off x="4434840" y="4542282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ig"/>
          <p:cNvSpPr/>
          <p:nvPr/>
        </p:nvSpPr>
        <p:spPr>
          <a:xfrm>
            <a:off x="411480" y="4816602"/>
            <a:ext cx="8321040" cy="80695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正向工程</a:t>
            </a:r>
          </a:p>
        </p:txBody>
      </p:sp>
    </p:spTree>
  </p:cSld>
  <p:clrMapOvr>
    <a:masterClrMapping/>
  </p:clrMapOvr>
  <p:hf sldNum="0" hdr="0" ftr="0" dt="0"/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差额为负就不要做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收益等于 Creeng 减 Cmaint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654046"/>
            <a:ext cx="7918704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结果为负，才不做再工程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735324"/>
            <a:ext cx="7516367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两项都已扣掉维护和运作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816602"/>
            <a:ext cx="7114031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多套系统时，用这个差额排序</a:t>
            </a:r>
          </a:p>
        </p:txBody>
      </p:sp>
    </p:spTree>
  </p:cSld>
  <p:clrMapOvr>
    <a:masterClrMapping/>
  </p:clrMapOvr>
  <p:hf sldNum="0" hdr="0" ftr="0" dt="0"/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逆向工程抽出哪一层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实现级：语法树和符号表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654046"/>
            <a:ext cx="7918704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结构级：调用图和依赖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735324"/>
            <a:ext cx="7516367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功能级：程序段在做什么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816602"/>
            <a:ext cx="7114031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领域级：对应到业务概念</a:t>
            </a:r>
          </a:p>
        </p:txBody>
      </p:sp>
    </p:spTree>
  </p:cSld>
  <p:clrMapOvr>
    <a:masterClrMapping/>
  </p:clrMapOvr>
  <p:hf sldNum="0" hdr="0" ftr="0" dt="0"/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体系结构先恢复</a:t>
            </a:r>
          </a:p>
        </p:txBody>
      </p:sp>
      <p:sp>
        <p:nvSpPr>
          <p:cNvPr id="3" name="fig"/>
          <p:cNvSpPr/>
          <p:nvPr/>
        </p:nvSpPr>
        <p:spPr>
          <a:xfrm>
            <a:off x="365760" y="1572768"/>
            <a:ext cx="4114800" cy="640080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静态元素</a:t>
            </a:r>
          </a:p>
        </p:txBody>
      </p:sp>
      <p:sp>
        <p:nvSpPr>
          <p:cNvPr id="4" name="fig"/>
          <p:cNvSpPr/>
          <p:nvPr/>
        </p:nvSpPr>
        <p:spPr>
          <a:xfrm>
            <a:off x="4663440" y="1572768"/>
            <a:ext cx="4114800" cy="640080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动态元素</a:t>
            </a:r>
          </a:p>
        </p:txBody>
      </p:sp>
      <p:sp>
        <p:nvSpPr>
          <p:cNvPr id="5" name="fig"/>
          <p:cNvSpPr/>
          <p:nvPr/>
        </p:nvSpPr>
        <p:spPr>
          <a:xfrm>
            <a:off x="365760" y="2350008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调用与依赖</a:t>
            </a:r>
          </a:p>
        </p:txBody>
      </p:sp>
      <p:sp>
        <p:nvSpPr>
          <p:cNvPr id="6" name="fig"/>
          <p:cNvSpPr/>
          <p:nvPr/>
        </p:nvSpPr>
        <p:spPr>
          <a:xfrm>
            <a:off x="4663440" y="2350008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进程之间的通信</a:t>
            </a:r>
          </a:p>
        </p:txBody>
      </p:sp>
      <p:sp>
        <p:nvSpPr>
          <p:cNvPr id="7" name="fig"/>
          <p:cNvSpPr/>
          <p:nvPr/>
        </p:nvSpPr>
        <p:spPr>
          <a:xfrm>
            <a:off x="365760" y="3520439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继承和包导入</a:t>
            </a:r>
          </a:p>
        </p:txBody>
      </p:sp>
      <p:sp>
        <p:nvSpPr>
          <p:cNvPr id="8" name="fig"/>
          <p:cNvSpPr/>
          <p:nvPr/>
        </p:nvSpPr>
        <p:spPr>
          <a:xfrm>
            <a:off x="4663440" y="3520439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运行时的调用</a:t>
            </a:r>
          </a:p>
        </p:txBody>
      </p:sp>
      <p:sp>
        <p:nvSpPr>
          <p:cNvPr id="9" name="fig"/>
          <p:cNvSpPr/>
          <p:nvPr/>
        </p:nvSpPr>
        <p:spPr>
          <a:xfrm>
            <a:off x="365760" y="4690872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编译时构件依赖</a:t>
            </a:r>
          </a:p>
        </p:txBody>
      </p:sp>
      <p:sp>
        <p:nvSpPr>
          <p:cNvPr id="10" name="fig"/>
          <p:cNvSpPr/>
          <p:nvPr/>
        </p:nvSpPr>
        <p:spPr>
          <a:xfrm>
            <a:off x="4663440" y="4690872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对输入和事件的响应</a:t>
            </a:r>
          </a:p>
        </p:txBody>
      </p:sp>
    </p:spTree>
  </p:cSld>
  <p:clrMapOvr>
    <a:masterClrMapping/>
  </p:clrMapOvr>
  <p:hf sldNum="0" hdr="0" ftr="0" dt="0"/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恢复之后才改善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改善以恢复出的结构为底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654046"/>
            <a:ext cx="7918704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以新出现的需求为依据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735324"/>
            <a:ext cx="7516367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可以接上系统外的可复用模块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816602"/>
            <a:ext cx="7114031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然后才落到代码重构和数据重构</a:t>
            </a:r>
          </a:p>
        </p:txBody>
      </p:sp>
    </p:spTree>
  </p:cSld>
  <p:clrMapOvr>
    <a:masterClrMapping/>
  </p:clrMapOvr>
  <p:hf sldNum="0" hdr="0" ftr="0" dt="0"/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两条演化规律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持续变化：系统还在用，就要继续改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654046"/>
            <a:ext cx="7918704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复杂度增长：不专门治理就会变难改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735324"/>
            <a:ext cx="7516367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两条都出自 Lehman 1980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816602"/>
            <a:ext cx="7114031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重构是在为第二条付钱</a:t>
            </a:r>
          </a:p>
        </p:txBody>
      </p:sp>
    </p:spTree>
  </p:cSld>
  <p:clrMapOvr>
    <a:masterClrMapping/>
  </p:clrMapOvr>
  <p:hf sldNum="0" hdr="0" ftr="0" dt="0"/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同一业务域的两种形态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同一业务域的两种实现形态，不是同一版本迁移前后</a:t>
            </a:r>
          </a:p>
        </p:txBody>
      </p:sp>
      <p:sp>
        <p:nvSpPr>
          <p:cNvPr id="4" name="fig"/>
          <p:cNvSpPr/>
          <p:nvPr/>
        </p:nvSpPr>
        <p:spPr>
          <a:xfrm>
            <a:off x="365760" y="2432304"/>
            <a:ext cx="4114800" cy="640080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mall</a:t>
            </a:r>
          </a:p>
        </p:txBody>
      </p:sp>
      <p:sp>
        <p:nvSpPr>
          <p:cNvPr id="5" name="fig"/>
          <p:cNvSpPr/>
          <p:nvPr/>
        </p:nvSpPr>
        <p:spPr>
          <a:xfrm>
            <a:off x="4663440" y="2432304"/>
            <a:ext cx="4114800" cy="640080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mall-swarm</a:t>
            </a:r>
          </a:p>
        </p:txBody>
      </p:sp>
      <p:sp>
        <p:nvSpPr>
          <p:cNvPr id="6" name="fig"/>
          <p:cNvSpPr/>
          <p:nvPr/>
        </p:nvSpPr>
        <p:spPr>
          <a:xfrm>
            <a:off x="365760" y="320954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三个独立应用组成、无注册中心</a:t>
            </a:r>
          </a:p>
        </p:txBody>
      </p:sp>
      <p:sp>
        <p:nvSpPr>
          <p:cNvPr id="7" name="fig"/>
          <p:cNvSpPr/>
          <p:nvPr/>
        </p:nvSpPr>
        <p:spPr>
          <a:xfrm>
            <a:off x="4663440" y="320954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网关和认证分开</a:t>
            </a:r>
          </a:p>
        </p:txBody>
      </p:sp>
      <p:sp>
        <p:nvSpPr>
          <p:cNvPr id="8" name="fig"/>
          <p:cNvSpPr/>
          <p:nvPr/>
        </p:nvSpPr>
        <p:spPr>
          <a:xfrm>
            <a:off x="365760" y="409346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认证在 mall-security</a:t>
            </a:r>
          </a:p>
        </p:txBody>
      </p:sp>
      <p:sp>
        <p:nvSpPr>
          <p:cNvPr id="9" name="fig"/>
          <p:cNvSpPr/>
          <p:nvPr/>
        </p:nvSpPr>
        <p:spPr>
          <a:xfrm>
            <a:off x="4663440" y="409346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注册与配置用 Nacos</a:t>
            </a:r>
          </a:p>
        </p:txBody>
      </p:sp>
      <p:sp>
        <p:nvSpPr>
          <p:cNvPr id="10" name="fig"/>
          <p:cNvSpPr/>
          <p:nvPr/>
        </p:nvSpPr>
        <p:spPr>
          <a:xfrm>
            <a:off x="365760" y="497738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无独立网关</a:t>
            </a:r>
          </a:p>
        </p:txBody>
      </p:sp>
      <p:sp>
        <p:nvSpPr>
          <p:cNvPr id="11" name="fig"/>
          <p:cNvSpPr/>
          <p:nvPr/>
        </p:nvSpPr>
        <p:spPr>
          <a:xfrm>
            <a:off x="4663440" y="497738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服务按边界拆开</a:t>
            </a:r>
          </a:p>
        </p:txBody>
      </p:sp>
    </p:spTree>
  </p:cSld>
  <p:clrMapOvr>
    <a:masterClrMapping/>
  </p:clrMapOvr>
  <p:hf sldNum="0" hdr="0" ftr="0" dt="0"/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拆开不等于债变少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Lenarduzzi 等，2020；单案例</a:t>
            </a:r>
          </a:p>
        </p:txBody>
      </p:sp>
      <p:sp>
        <p:nvSpPr>
          <p:cNvPr id="4" name="fig"/>
          <p:cNvSpPr/>
          <p:nvPr/>
        </p:nvSpPr>
        <p:spPr>
          <a:xfrm>
            <a:off x="411480" y="2432304"/>
            <a:ext cx="8321040" cy="72008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一家企业，约四年，约 28 万行</a:t>
            </a:r>
          </a:p>
        </p:txBody>
      </p:sp>
      <p:sp>
        <p:nvSpPr>
          <p:cNvPr id="5" name="fig"/>
          <p:cNvSpPr/>
          <p:nvPr/>
        </p:nvSpPr>
        <p:spPr>
          <a:xfrm>
            <a:off x="612648" y="3298698"/>
            <a:ext cx="7918704" cy="72008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拆出微服务时，技术债先升高</a:t>
            </a:r>
          </a:p>
        </p:txBody>
      </p:sp>
      <p:sp>
        <p:nvSpPr>
          <p:cNvPr id="6" name="fig"/>
          <p:cNvSpPr/>
          <p:nvPr/>
        </p:nvSpPr>
        <p:spPr>
          <a:xfrm>
            <a:off x="813816" y="4165091"/>
            <a:ext cx="7516367" cy="72008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稳定之后，增长变慢</a:t>
            </a:r>
          </a:p>
        </p:txBody>
      </p:sp>
      <p:sp>
        <p:nvSpPr>
          <p:cNvPr id="7" name="fig"/>
          <p:cNvSpPr/>
          <p:nvPr/>
        </p:nvSpPr>
        <p:spPr>
          <a:xfrm>
            <a:off x="1014984" y="5031486"/>
            <a:ext cx="7114031" cy="72008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这是单一案例，不能外推成普遍更省</a:t>
            </a:r>
          </a:p>
        </p:txBody>
      </p:sp>
    </p:spTree>
  </p:cSld>
  <p:clrMapOvr>
    <a:masterClrMapping/>
  </p:clrMapOvr>
  <p:hf sldNum="0" hdr="0" ftr="0" dt="0"/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3" name="fig"/>
          <p:cNvSpPr/>
          <p:nvPr/>
        </p:nvSpPr>
        <p:spPr>
          <a:xfrm>
            <a:off x="164592" y="1572768"/>
            <a:ext cx="8814816" cy="417880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18288" rIns="18288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这个系统该不该拆成微服务？要回答这个问题，你需要哪些证据？</a:t>
            </a:r>
          </a:p>
        </p:txBody>
      </p:sp>
    </p:spTree>
  </p:cSld>
  <p:clrMapOvr>
    <a:masterClrMapping/>
  </p:clrMapOvr>
  <p:hf sldNum="0" hdr="0" ftr="0" dt="0"/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特征测试锁行为，接缝用来替换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654046"/>
            <a:ext cx="7918704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内层注解不单独生效，外层事务仍在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735324"/>
            <a:ext cx="7516367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策略由业务价值与系统质量一起决定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816602"/>
            <a:ext cx="7114031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AI 方案先查约束和无关修改，再看测试</a:t>
            </a:r>
          </a:p>
        </p:txBody>
      </p:sp>
    </p:spTree>
  </p:cSld>
  <p:clrMapOvr>
    <a:masterClrMapping/>
  </p:clrMapOvr>
  <p:hf sldNum="0" hdr="0" ftr="0" dt="0"/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预习题（1—3）</a:t>
            </a:r>
          </a:p>
        </p:txBody>
      </p:sp>
      <p:sp>
        <p:nvSpPr>
          <p:cNvPr id="3" name="quiz"/>
          <p:cNvSpPr>
            <a:spLocks noGrp="1"/>
          </p:cNvSpPr>
          <p:nvPr>
            <p:ph idx="1"/>
          </p:nvPr>
        </p:nvSpPr>
        <p:spPr>
          <a:xfrm>
            <a:off x="237744" y="1444752"/>
            <a:ext cx="8686800" cy="4480560"/>
          </a:xfrm>
        </p:spPr>
        <p:txBody>
          <a:bodyPr wrap="square" lIns="27432" rIns="27432" tIns="18288" bIns="18288" eaLnBrk="1" hangingPunct="1" latinLnBrk="0"/>
          <a:lstStyle/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请同学们在实验 E6 开始前完成五题，题干和选项须与课前作业一致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1. 非功能需求通常包括哪几类内容？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功能清单与验收步骤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数据库表结构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C. 性能、安全、可用性、可维护性等质量要求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D. 界面布局说明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2. 提交说明只需写清改了什么，不必写为什么改。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正确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错误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3. 接口改进时，“保持向后兼容”意味着什么？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可以删除旧字段，只要新版本能跑通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接口名称必须保持不变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C. 版本号必须递增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D. 现有调用方无需修改仍可正常调用</a:t>
            </a:r>
          </a:p>
        </p:txBody>
      </p:sp>
    </p:spTree>
  </p:cSld>
  <p:clrMapOvr>
    <a:masterClrMapping/>
  </p:clrMapOvr>
  <p:hf sldNum="0" hdr="0" ftr="0" dt="0"/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预习题（4—5）</a:t>
            </a:r>
          </a:p>
        </p:txBody>
      </p:sp>
      <p:sp>
        <p:nvSpPr>
          <p:cNvPr id="3" name="quiz"/>
          <p:cNvSpPr>
            <a:spLocks noGrp="1"/>
          </p:cNvSpPr>
          <p:nvPr>
            <p:ph idx="1"/>
          </p:nvPr>
        </p:nvSpPr>
        <p:spPr>
          <a:xfrm>
            <a:off x="237744" y="1444752"/>
            <a:ext cx="8686800" cy="4480560"/>
          </a:xfrm>
        </p:spPr>
        <p:txBody>
          <a:bodyPr wrap="square" lIns="27432" rIns="27432" tIns="18288" bIns="18288" eaLnBrk="1" hangingPunct="1" latinLnBrk="0"/>
          <a:lstStyle/>
          <a:p>
            <a:pPr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请同学们在实验 E6 开始前做完两题，题干和选项须与课前作业一致</a:t>
            </a:r>
          </a:p>
          <a:p>
            <a:pPr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4. 命名规范中，类名与方法名分别应当是什么词性？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类名为名词，方法名为动词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类名为动词，方法名为名词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C. 两者都应为名词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D. 两者都可以是任意词性</a:t>
            </a:r>
          </a:p>
          <a:p>
            <a:pPr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5. 两套编码规范对同一处代码规定不同时，应按团队统一约定执行，并在提交说明中写明取舍理由。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正确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错误</a:t>
            </a:r>
          </a:p>
        </p:txBody>
      </p:sp>
    </p:spTree>
  </p:cSld>
  <p:clrMapOvr>
    <a:masterClrMapping/>
  </p:clrMapOvr>
  <p:hf sldNum="0" hdr="0" ftr="0" dt="0"/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本讲重点阅读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813816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126480"/>
              </a:tblGrid>
              <a:tr h="429768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编号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文献</a:t>
                      </a:r>
                    </a:p>
                  </a:txBody>
                  <a:tcPr anchor="ctr"/>
                </a:tc>
              </a:tr>
              <a:tr h="429768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[1]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《软件设计与体系结构》</a:t>
                      </a:r>
                    </a:p>
                  </a:txBody>
                  <a:tcPr anchor="ctr"/>
                </a:tc>
              </a:tr>
              <a:tr h="429768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[2][3]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Martin《敏捷软件开发》；Gamma《设计模式》第1章</a:t>
                      </a:r>
                    </a:p>
                  </a:txBody>
                  <a:tcPr anchor="ctr"/>
                </a:tc>
              </a:tr>
              <a:tr h="429768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[4]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Fowler《重构》第 2 版第 3 章</a:t>
                      </a:r>
                    </a:p>
                  </a:txBody>
                  <a:tcPr anchor="ctr"/>
                </a:tc>
              </a:tr>
              <a:tr h="429768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[5]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Kerievsky《重构与模式》第 3 章</a:t>
                      </a:r>
                    </a:p>
                  </a:txBody>
                  <a:tcPr anchor="ctr"/>
                </a:tc>
              </a:tr>
              <a:tr h="429768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[6]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Feathers《修改代码的艺术》第 4、13 章</a:t>
                      </a:r>
                    </a:p>
                  </a:txBody>
                  <a:tcPr anchor="ctr"/>
                </a:tc>
              </a:tr>
              <a:tr h="429768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[22][23]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Parnas 1972；Lehman 1980</a:t>
                      </a:r>
                    </a:p>
                  </a:txBody>
                  <a:tcPr anchor="ctr"/>
                </a:tc>
              </a:tr>
              <a:tr h="429768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[24]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Chikofsky 等 1990</a:t>
                      </a:r>
                    </a:p>
                  </a:txBody>
                  <a:tcPr anchor="ctr"/>
                </a:tc>
              </a:tr>
              <a:tr h="429768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[26]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Bennett 等 2000</a:t>
                      </a:r>
                    </a:p>
                  </a:txBody>
                  <a:tcPr anchor="ctr"/>
                </a:tc>
              </a:tr>
              <a:tr h="429768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[28]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Lenarduzzi 等 2020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p:hf sldNum="0" hdr="0" ftr="0" dt="0"/>
</p:sld>
</file>

<file path=ppt/tags/tag7.xml><?xml version="1.0" encoding="utf-8"?>
<p:tagLst xmlns:p="http://schemas.openxmlformats.org/presentationml/2006/main">
  <p:tag name="commondata" val="eyJoZGlkIjoiZDkzYzZkNDRlZDllNjdlNTFlNDRjOWFlMDM3NGQyOTAifQ=="/>
</p:tagLst>
</file>

<file path=ppt/theme/theme1.xml><?xml version="1.0" encoding="utf-8"?>
<a:theme xmlns:a="http://schemas.openxmlformats.org/drawingml/2006/main" name="2_985平台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ambria-Calibri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bg1">
                <a:gamma/>
                <a:shade val="46275"/>
                <a:invGamma/>
              </a:schemeClr>
            </a:gs>
            <a:gs pos="50000">
              <a:schemeClr val="bg1"/>
            </a:gs>
            <a:gs pos="100000">
              <a:schemeClr val="bg1">
                <a:gamma/>
                <a:shade val="46275"/>
                <a:invGamma/>
              </a:schemeClr>
            </a:gs>
          </a:gsLst>
          <a:lin ang="5400000" scaled="1"/>
        </a:gradFill>
        <a:ln w="38100" cap="flat" cmpd="sng" algn="ctr">
          <a:solidFill>
            <a:srgbClr val="3366FF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bg1">
                <a:gamma/>
                <a:shade val="46275"/>
                <a:invGamma/>
              </a:schemeClr>
            </a:gs>
            <a:gs pos="50000">
              <a:schemeClr val="bg1"/>
            </a:gs>
            <a:gs pos="100000">
              <a:schemeClr val="bg1">
                <a:gamma/>
                <a:shade val="46275"/>
                <a:invGamma/>
              </a:schemeClr>
            </a:gs>
          </a:gsLst>
          <a:lin ang="5400000" scaled="1"/>
        </a:gradFill>
        <a:ln w="38100" cap="flat" cmpd="sng" algn="ctr">
          <a:solidFill>
            <a:srgbClr val="3366FF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985平台 1">
        <a:dk1>
          <a:srgbClr val="A50021"/>
        </a:dk1>
        <a:lt1>
          <a:srgbClr val="FFFFFF"/>
        </a:lt1>
        <a:dk2>
          <a:srgbClr val="800000"/>
        </a:dk2>
        <a:lt2>
          <a:srgbClr val="FFFFFF"/>
        </a:lt2>
        <a:accent1>
          <a:srgbClr val="FF9900"/>
        </a:accent1>
        <a:accent2>
          <a:srgbClr val="FF3300"/>
        </a:accent2>
        <a:accent3>
          <a:srgbClr val="C0AAAA"/>
        </a:accent3>
        <a:accent4>
          <a:srgbClr val="DADADA"/>
        </a:accent4>
        <a:accent5>
          <a:srgbClr val="FFCAAA"/>
        </a:accent5>
        <a:accent6>
          <a:srgbClr val="E72D00"/>
        </a:accent6>
        <a:hlink>
          <a:srgbClr val="FFFFCC"/>
        </a:hlink>
        <a:folHlink>
          <a:srgbClr val="FFCC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2">
        <a:dk1>
          <a:srgbClr val="3C001E"/>
        </a:dk1>
        <a:lt1>
          <a:srgbClr val="FFFFFF"/>
        </a:lt1>
        <a:dk2>
          <a:srgbClr val="51072E"/>
        </a:dk2>
        <a:lt2>
          <a:srgbClr val="FFFFFF"/>
        </a:lt2>
        <a:accent1>
          <a:srgbClr val="89A38F"/>
        </a:accent1>
        <a:accent2>
          <a:srgbClr val="666699"/>
        </a:accent2>
        <a:accent3>
          <a:srgbClr val="B3AAAD"/>
        </a:accent3>
        <a:accent4>
          <a:srgbClr val="DADADA"/>
        </a:accent4>
        <a:accent5>
          <a:srgbClr val="C4CEC6"/>
        </a:accent5>
        <a:accent6>
          <a:srgbClr val="5C5C8A"/>
        </a:accent6>
        <a:hlink>
          <a:srgbClr val="80800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3">
        <a:dk1>
          <a:srgbClr val="333333"/>
        </a:dk1>
        <a:lt1>
          <a:srgbClr val="FFFFFF"/>
        </a:lt1>
        <a:dk2>
          <a:srgbClr val="000000"/>
        </a:dk2>
        <a:lt2>
          <a:srgbClr val="FFFFFF"/>
        </a:lt2>
        <a:accent1>
          <a:srgbClr val="3399FF"/>
        </a:accent1>
        <a:accent2>
          <a:srgbClr val="CC0000"/>
        </a:accent2>
        <a:accent3>
          <a:srgbClr val="AAAAAA"/>
        </a:accent3>
        <a:accent4>
          <a:srgbClr val="DADADA"/>
        </a:accent4>
        <a:accent5>
          <a:srgbClr val="ADCAFF"/>
        </a:accent5>
        <a:accent6>
          <a:srgbClr val="B90000"/>
        </a:accent6>
        <a:hlink>
          <a:srgbClr val="666699"/>
        </a:hlink>
        <a:folHlink>
          <a:srgbClr val="66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4">
        <a:dk1>
          <a:srgbClr val="4B3D1B"/>
        </a:dk1>
        <a:lt1>
          <a:srgbClr val="FFFFFF"/>
        </a:lt1>
        <a:dk2>
          <a:srgbClr val="330000"/>
        </a:dk2>
        <a:lt2>
          <a:srgbClr val="FFFFFF"/>
        </a:lt2>
        <a:accent1>
          <a:srgbClr val="CC9900"/>
        </a:accent1>
        <a:accent2>
          <a:srgbClr val="CC6600"/>
        </a:accent2>
        <a:accent3>
          <a:srgbClr val="ADAAAA"/>
        </a:accent3>
        <a:accent4>
          <a:srgbClr val="DADADA"/>
        </a:accent4>
        <a:accent5>
          <a:srgbClr val="E2CAAA"/>
        </a:accent5>
        <a:accent6>
          <a:srgbClr val="B95C00"/>
        </a:accent6>
        <a:hlink>
          <a:srgbClr val="666699"/>
        </a:hlink>
        <a:folHlink>
          <a:srgbClr val="CC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5">
        <a:dk1>
          <a:srgbClr val="006666"/>
        </a:dk1>
        <a:lt1>
          <a:srgbClr val="FFFFFF"/>
        </a:lt1>
        <a:dk2>
          <a:srgbClr val="003366"/>
        </a:dk2>
        <a:lt2>
          <a:srgbClr val="FFFFFF"/>
        </a:lt2>
        <a:accent1>
          <a:srgbClr val="0099CC"/>
        </a:accent1>
        <a:accent2>
          <a:srgbClr val="6666FF"/>
        </a:accent2>
        <a:accent3>
          <a:srgbClr val="AAADB8"/>
        </a:accent3>
        <a:accent4>
          <a:srgbClr val="DADADA"/>
        </a:accent4>
        <a:accent5>
          <a:srgbClr val="AACAE2"/>
        </a:accent5>
        <a:accent6>
          <a:srgbClr val="5C5CE7"/>
        </a:accent6>
        <a:hlink>
          <a:srgbClr val="FFFFCC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6">
        <a:dk1>
          <a:srgbClr val="003366"/>
        </a:dk1>
        <a:lt1>
          <a:srgbClr val="FFFFFF"/>
        </a:lt1>
        <a:dk2>
          <a:srgbClr val="006666"/>
        </a:dk2>
        <a:lt2>
          <a:srgbClr val="FFFFFF"/>
        </a:lt2>
        <a:accent1>
          <a:srgbClr val="6699FF"/>
        </a:accent1>
        <a:accent2>
          <a:srgbClr val="00CCFF"/>
        </a:accent2>
        <a:accent3>
          <a:srgbClr val="AAB8B8"/>
        </a:accent3>
        <a:accent4>
          <a:srgbClr val="DADADA"/>
        </a:accent4>
        <a:accent5>
          <a:srgbClr val="B8CAFF"/>
        </a:accent5>
        <a:accent6>
          <a:srgbClr val="00B9E7"/>
        </a:accent6>
        <a:hlink>
          <a:srgbClr val="FFFFCC"/>
        </a:hlink>
        <a:folHlink>
          <a:srgbClr val="33CC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7">
        <a:dk1>
          <a:srgbClr val="000000"/>
        </a:dk1>
        <a:lt1>
          <a:srgbClr val="619CB1"/>
        </a:lt1>
        <a:dk2>
          <a:srgbClr val="FFFFFF"/>
        </a:dk2>
        <a:lt2>
          <a:srgbClr val="4E899E"/>
        </a:lt2>
        <a:accent1>
          <a:srgbClr val="FFCC00"/>
        </a:accent1>
        <a:accent2>
          <a:srgbClr val="B6523E"/>
        </a:accent2>
        <a:accent3>
          <a:srgbClr val="B7CBD5"/>
        </a:accent3>
        <a:accent4>
          <a:srgbClr val="000000"/>
        </a:accent4>
        <a:accent5>
          <a:srgbClr val="FFE2AA"/>
        </a:accent5>
        <a:accent6>
          <a:srgbClr val="A54937"/>
        </a:accent6>
        <a:hlink>
          <a:srgbClr val="99CC00"/>
        </a:hlink>
        <a:folHlink>
          <a:srgbClr val="6666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985平台 8">
        <a:dk1>
          <a:srgbClr val="598600"/>
        </a:dk1>
        <a:lt1>
          <a:srgbClr val="FFFFFF"/>
        </a:lt1>
        <a:dk2>
          <a:srgbClr val="336600"/>
        </a:dk2>
        <a:lt2>
          <a:srgbClr val="FFFFFF"/>
        </a:lt2>
        <a:accent1>
          <a:srgbClr val="33CC33"/>
        </a:accent1>
        <a:accent2>
          <a:srgbClr val="99CC00"/>
        </a:accent2>
        <a:accent3>
          <a:srgbClr val="ADB8AA"/>
        </a:accent3>
        <a:accent4>
          <a:srgbClr val="DADADA"/>
        </a:accent4>
        <a:accent5>
          <a:srgbClr val="ADE2AD"/>
        </a:accent5>
        <a:accent6>
          <a:srgbClr val="8AB900"/>
        </a:accent6>
        <a:hlink>
          <a:srgbClr val="FFCC00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9">
        <a:dk1>
          <a:srgbClr val="000000"/>
        </a:dk1>
        <a:lt1>
          <a:srgbClr val="FFFFFF"/>
        </a:lt1>
        <a:dk2>
          <a:srgbClr val="000000"/>
        </a:dk2>
        <a:lt2>
          <a:srgbClr val="DDDDDD"/>
        </a:lt2>
        <a:accent1>
          <a:srgbClr val="A3B2C1"/>
        </a:accent1>
        <a:accent2>
          <a:srgbClr val="CC0000"/>
        </a:accent2>
        <a:accent3>
          <a:srgbClr val="FFFFFF"/>
        </a:accent3>
        <a:accent4>
          <a:srgbClr val="000000"/>
        </a:accent4>
        <a:accent5>
          <a:srgbClr val="CED5DD"/>
        </a:accent5>
        <a:accent6>
          <a:srgbClr val="B90000"/>
        </a:accent6>
        <a:hlink>
          <a:srgbClr val="336699"/>
        </a:hlink>
        <a:folHlink>
          <a:srgbClr val="00336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3022</Words>
  <Application>WPS 演示</Application>
  <PresentationFormat>全屏显示(4:3)</PresentationFormat>
  <Paragraphs>283</Paragraphs>
  <Slides>44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44</vt:i4>
      </vt:variant>
    </vt:vector>
  </HeadingPairs>
  <TitlesOfParts>
    <vt:vector size="59" baseType="lpstr">
      <vt:lpstr>Arial</vt:lpstr>
      <vt:lpstr>宋体</vt:lpstr>
      <vt:lpstr>Wingdings</vt:lpstr>
      <vt:lpstr>Verdana</vt:lpstr>
      <vt:lpstr>隶书</vt:lpstr>
      <vt:lpstr>Cambria</vt:lpstr>
      <vt:lpstr>黑体</vt:lpstr>
      <vt:lpstr>Times New Roman</vt:lpstr>
      <vt:lpstr>新宋体</vt:lpstr>
      <vt:lpstr>Tahoma</vt:lpstr>
      <vt:lpstr>微软雅黑</vt:lpstr>
      <vt:lpstr>Arial Unicode MS</vt:lpstr>
      <vt:lpstr>Calibri</vt:lpstr>
      <vt:lpstr>华文行楷</vt:lpstr>
      <vt:lpstr>2_985平台</vt:lpstr>
      <vt:lpstr>软件设计与规范 </vt:lpstr>
      <vt:lpstr>自我介绍</vt:lpstr>
      <vt:lpstr>超星学习通</vt:lpstr>
      <vt:lpstr>超星学习通</vt:lpstr>
      <vt:lpstr>教材</vt:lpstr>
      <vt:lpstr>推荐参考书</vt:lpstr>
      <vt:lpstr>参考书</vt:lpstr>
      <vt:lpstr>课程定位</vt:lpstr>
      <vt:lpstr>PowerPoint 演示文稿</vt:lpstr>
      <vt:lpstr>PowerPoint 演示文稿</vt:lpstr>
      <vt:lpstr>解决两大难题</vt:lpstr>
      <vt:lpstr>教学困难--实践能力</vt:lpstr>
      <vt:lpstr>PowerPoint 演示文稿</vt:lpstr>
      <vt:lpstr>PowerPoint 演示文稿</vt:lpstr>
      <vt:lpstr>PowerPoint 演示文稿</vt:lpstr>
      <vt:lpstr>教学困难--解决问题的能力</vt:lpstr>
      <vt:lpstr>PowerPoint 演示文稿</vt:lpstr>
      <vt:lpstr>PowerPoint 演示文稿</vt:lpstr>
      <vt:lpstr>教学改革</vt:lpstr>
      <vt:lpstr>PowerPoint 演示文稿</vt:lpstr>
      <vt:lpstr>PowerPoint 演示文稿</vt:lpstr>
      <vt:lpstr>教学设计</vt:lpstr>
      <vt:lpstr>翻转课堂学习绩效</vt:lpstr>
      <vt:lpstr>考核安排</vt:lpstr>
      <vt:lpstr>PowerPoint 演示文稿</vt:lpstr>
      <vt:lpstr>PowerPoint 演示文稿</vt:lpstr>
      <vt:lpstr>优秀</vt:lpstr>
      <vt:lpstr>课程网站扩展项目</vt:lpstr>
      <vt:lpstr>课程设计</vt:lpstr>
      <vt:lpstr>课程网站案例分类</vt:lpstr>
      <vt:lpstr>案例的使用</vt:lpstr>
      <vt:lpstr>授课方式</vt:lpstr>
      <vt:lpstr>PowerPoint 演示文稿</vt:lpstr>
      <vt:lpstr>课程网站</vt:lpstr>
      <vt:lpstr>能力构成</vt:lpstr>
      <vt:lpstr>环境</vt:lpstr>
      <vt:lpstr>助教</vt:lpstr>
      <vt:lpstr>SWOT分析</vt:lpstr>
      <vt:lpstr>课后阅读</vt:lpstr>
      <vt:lpstr>课后练习</vt:lpstr>
      <vt:lpstr>作业</vt:lpstr>
      <vt:lpstr>Tips</vt:lpstr>
      <vt:lpstr>Tips（续）</vt:lpstr>
      <vt:lpstr>PowerPoint 演示文稿</vt:lpstr>
    </vt:vector>
  </TitlesOfParts>
  <Company>sei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1-1课程简介</dc:title>
  <dc:creator>李萌</dc:creator>
  <cp:lastModifiedBy>lemon 牛</cp:lastModifiedBy>
  <cp:revision>1036</cp:revision>
  <cp:lastPrinted>2003-09-14T10:10:00Z</cp:lastPrinted>
  <dcterms:created xsi:type="dcterms:W3CDTF">2003-08-28T12:03:00Z</dcterms:created>
  <dcterms:modified xsi:type="dcterms:W3CDTF">2024-02-25T15:12:44Z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6B7E428AAD9D47FD86FE404DDCE365B0_12</vt:lpwstr>
  </property>
  <property fmtid="{D5CDD505-2E9C-101B-9397-08002B2CF9AE}" pid="3" name="KSOProductBuildVer">
    <vt:lpwstr>2052-12.1.0.16250</vt:lpwstr>
  </property>
</Properties>
</file>