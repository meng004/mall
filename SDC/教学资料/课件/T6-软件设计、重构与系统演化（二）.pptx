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91" r:id="rId55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0" r:id="rId23"/>
    <p:sldId id="269" r:id="rId22"/>
    <p:sldId id="271" r:id="rId24"/>
    <p:sldId id="289" r:id="rId53"/>
    <p:sldId id="272" r:id="rId25"/>
    <p:sldId id="273" r:id="rId26"/>
    <p:sldId id="277" r:id="rId30"/>
    <p:sldId id="274" r:id="rId27"/>
    <p:sldId id="275" r:id="rId28"/>
    <p:sldId id="276" r:id="rId29"/>
    <p:sldId id="290" r:id="rId54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92" r:id="rId56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1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Relationship Id="rId53" Type="http://schemas.openxmlformats.org/officeDocument/2006/relationships/slide" Target="slides/slide18.xml"/><Relationship Id="rId54" Type="http://schemas.openxmlformats.org/officeDocument/2006/relationships/slide" Target="slides/slide25.xml"/><Relationship Id="rId55" Type="http://schemas.openxmlformats.org/officeDocument/2006/relationships/slide" Target="slides/slide2.xml"/><Relationship Id="rId56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本节 30 分钟</a:t>
            </a:r>
          </a:p>
          <a:p>
            <a:r>
              <a:t>定义：这一讲讲怎样在测试保护下改既有代码，以及遗留系统怎样演化。</a:t>
            </a:r>
          </a:p>
          <a:p>
            <a:r>
              <a:t>代价：原则和某一次实验绑死，换一个方法就不知道先写什么测试。</a:t>
            </a:r>
          </a:p>
          <a:p>
            <a:r>
              <a:t>判定：开场先点明这是第 11 次课，讲软件设计、重构与系统演化的后半。</a:t>
            </a:r>
          </a:p>
          <a:p>
            <a:r>
              <a:t>权衡：三个班周次不同，口头交代各班时间，课上只强调课次。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定义：这一页把本次四项目标和课次衔接放在一起：上一讲的重构、实验 E5 的影响分析，引出实验 E6。</a:t>
            </a:r>
          </a:p>
          <a:p>
            <a:r>
              <a:t>代价：不衔接的话，接缝和再工程会像一套新名词，接不上已经做过的影响分析。</a:t>
            </a:r>
          </a:p>
          <a:p>
            <a:r>
              <a:t>判定：能否说出先固定行为再改，并指出实验 E6 要先写失败测试。</a:t>
            </a:r>
          </a:p>
          <a:p>
            <a:r>
              <a:t>权衡：时间紧时先保住特征测试和接缝。演化策略和阅读放在后半。本课预习题在布置里逐题讲评。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本节 30 分钟</a:t>
            </a:r>
          </a:p>
          <a:p>
            <a:r>
              <a:t>定义：特征测试记录方法现在实际做什么。不合理的结果也先锁住，否则分不清是重构改坏的，还是原来就是这样。</a:t>
            </a:r>
          </a:p>
          <a:p>
            <a:r>
              <a:t>代价：没有这层保护就改既有代码，失败时不知道是行为变了，还是测试在绑实现。</a:t>
            </a:r>
          </a:p>
          <a:p>
            <a:r>
              <a:t>判定：问这个断言守的是金额、文案、库存这些可观察结果，还是某一行怎么写。</a:t>
            </a:r>
          </a:p>
          <a:p>
            <a:r>
              <a:t>权衡：锁得越满，重构越安全，测试也越会把旧设计一起留下来。来源是 Feathers《修改代码的艺术》第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定义：页上的代码都引用分支头 abe34e5b。红灯证据来自中间提交 4a7f3d90：16 项里 6 项业务断言失败、10 项通过。三步仍是先锁现有行为，再抽出策略接缝，然后让会员价规格先红后绿。</a:t>
            </a:r>
          </a:p>
          <a:p>
            <a:r>
              <a:t>代价：把红灯证据和分支头混成同一次提交，会让人以为会员价策略还没写进 abe34e5b。</a:t>
            </a:r>
          </a:p>
          <a:p>
            <a:r>
              <a:t>判定：问代码出处是分支头 abe34e5b，还是中间提交 4a7f3d90；6 项失败是业务断言，不是编译错误。</a:t>
            </a:r>
          </a:p>
          <a:p>
            <a:r>
              <a:t>权衡：分支头给最终代码，中间提交给先红的证据。主演示对应 Issue #14。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定义：第 62–66 行构造购物车行，单价固定为 95.00。同文件第 26 行把单品促销断言成 100.00，第 55–57 行把类型 0 和 99 断言成无优惠。特征测试固定的就是这些现有行为，包括不合理的改写。</a:t>
            </a:r>
          </a:p>
          <a:p>
            <a:r>
              <a:t>代价：只记住“有测试”，却不看它锁的是改写单价这种现有行为，重构时会把旧行为当成可以顺便改掉的错误。</a:t>
            </a:r>
          </a:p>
          <a:p>
            <a:r>
              <a:t>判定：问 95.00 是输入还是期望；单品促销时期望单价是 100.00 还是仍为 95.00。</a:t>
            </a:r>
          </a:p>
          <a:p>
            <a:r>
              <a:t>权衡：把不合理的改写也锁住，重构不会偷偷“修好”它。真要改这个行为，必须另写规格，不能改这组断言。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定义：接缝是这样一个位置：不编辑那里的代码，也能换掉它的行为。使能点是你做出替换决定的地方。</a:t>
            </a:r>
          </a:p>
          <a:p>
            <a:r>
              <a:t>代价：没有接缝时，每加一种促销都要改同一段分支，特征测试也很难换掉协作对象。</a:t>
            </a:r>
          </a:p>
          <a:p>
            <a:r>
              <a:t>判定：问新增一种类型时，改的是循环本身，还是只增加一个实现并登记进去。</a:t>
            </a:r>
          </a:p>
          <a:p>
            <a:r>
              <a:t>权衡：接缝让替换集中在登记处；多一个接口，读代码要多跳一层。来源是 Feathers《修改代码的艺术》第 4 章。页上示意图按 Feathers《修改代码的艺术》第 4 章接缝与使能点的说法画，类名取自下一页的登记处代码。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定义：第 65–67 行是登记列表，五种实现写在第 66 行。第 69–73 行是 PromotionApplier 接口，含 supports 与 apply。新增一种促销是多一个实现并放进这个列表。</a:t>
            </a:r>
          </a:p>
          <a:p>
            <a:r>
              <a:t>代价：列表和接口都放在实现类内部，外部测试不能直接换上自己的实现，只能换协作对象。</a:t>
            </a:r>
          </a:p>
          <a:p>
            <a:r>
              <a:t>判定：问 promotionType=2 是在循环里写分支，还是由 MemberPriceApplier.supports 回答。</a:t>
            </a:r>
          </a:p>
          <a:p>
            <a:r>
              <a:t>权衡：登记处集中可见，新增类型不用改循环。列表写在私有方法里，替换仍要动这个类。提交 abe34e5b。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定义：第 52–56 行：第 54 行把促销类型设为 2，第 56 行期望单价 100.00、优惠额 30.00、文案为会员价。红灯在中间提交 4a7f3d90：16 项中 6 项业务断言失败、10 项通过。分支头 abe34e5b 里这组期望已经实现。</a:t>
            </a:r>
          </a:p>
          <a:p>
            <a:r>
              <a:t>代价：把红灯当成环境坏了就会去改构建。这次失败是行为还没实现：单价留在 95.00，优惠额为 0，文案是无优惠。</a:t>
            </a:r>
          </a:p>
          <a:p>
            <a:r>
              <a:t>判定：问红灯是编译或环境错误，还是期望会员价、实际无优惠。另外 10 项在那次运行里通过。</a:t>
            </a:r>
          </a:p>
          <a:p>
            <a:r>
              <a:t>权衡：规格先红，实现后才转绿，失败原因对得上新行为。证据文件记录的是提交 4a7f3d90 上的那次运行，不是编译失败。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定义：E5-00 的 SDCE500Test 先锁 paySuccess 的现状。第 63、64 行两条断言是不调用 selectByPrimaryKey，以及本类日志为空。加上库存预警之后，这两条按设计变红。第 59 行的返回值保持绿。E6-07 是这次预警的实现，提交 ed7b3382。</a:t>
            </a:r>
          </a:p>
          <a:p>
            <a:r>
              <a:t>代价：把所有变红都当成回归失败，就会把预期中的新行为改回去。</a:t>
            </a:r>
          </a:p>
          <a:p>
            <a:r>
              <a:t>判定：问变红的是不读 SKU 的两条断言，还是返回值。返回值仍应是 updateSkuStock 的行数。</a:t>
            </a:r>
          </a:p>
          <a:p>
            <a:r>
              <a:t>权衡：预期的红说明新行为已经出现；必须保持绿的那条用来守旧契约。E5-00 提交 dbfcb94466e58990c4c8ed7a014a5bb302ed63e0。Issue #44 与 #26。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节：特征测试与接缝</a:t>
            </a:r>
          </a:p>
          <a:p>
            <a:r>
              <a:t>时长见本节首页（本节 30 分钟）</a:t>
            </a:r>
          </a:p>
          <a:p>
            <a:r>
              <a:t>定义：讨论失败本身还不能说明测试在守行为。要看没变的是可观察结果，还是某一种写法。</a:t>
            </a:r>
          </a:p>
          <a:p>
            <a:r>
              <a:t>代价：一律答成“失败了就是在守行为”，会把绑死实现的测试也留下来。</a:t>
            </a:r>
          </a:p>
          <a:p>
            <a:r>
              <a:t>判定：回答要举出一种改动：写法变了但金额和文案不变，以及一种可观察结果变了的改动。</a:t>
            </a:r>
          </a:p>
          <a:p>
            <a:r>
              <a:t>权衡：课上先听学生怎么分。特征测试守的是现有行为，包括不合理的部分；换一种等价实现就失败的，守的是实现。</a:t>
            </a:r>
          </a:p>
          <a:p>
            <a:r>
              <a:t>参考要点：只改写法、可观察结果不变却失败，固定的是实现；金额、文案或返回值变了才说明它守的是行为。</a:t>
            </a:r>
          </a:p>
          <a:p>
            <a:r>
              <a:t>依据：大纲「特征测试与接缝」；Feathers《修改代码的艺术》第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节：框架陷阱</a:t>
            </a:r>
          </a:p>
          <a:p>
            <a:r>
              <a:t>本节 15 分钟</a:t>
            </a:r>
          </a:p>
          <a:p>
            <a:r>
              <a:t>定义：外部调用先到代理，代理决定事务属性。同类里的 this 调用不经过代理，内层方法上的注解不会因为这次调用再生效。</a:t>
            </a:r>
          </a:p>
          <a:p>
            <a:r>
              <a:t>代价：把“注解写在源文件里”当成“这次调用生效了”，会误判写库有没有事务。</a:t>
            </a:r>
          </a:p>
          <a:p>
            <a:r>
              <a:t>判定：问这次进入 paySuccess 的是代理，还是 this。再问事务属性是从实现类读到的，还是从接口回退读到的。</a:t>
            </a:r>
          </a:p>
          <a:p>
            <a:r>
              <a:t>权衡：代理把事务集中在入口；自调用省一次转发，也绕开了内层注解。检查规则若只扫实现类，会把写在接口上的事务报成缺失。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节：框架陷阱</a:t>
            </a:r>
          </a:p>
          <a:p>
            <a:r>
              <a:t>时长见本节首页（本节 15 分钟）</a:t>
            </a:r>
          </a:p>
          <a:p>
            <a:r>
              <a:t>定义：第 32 行是 paySuccess 的事务注解，第 75 行是 paySuccessByOrderSn 的事务注解，都写在接口上。实现类对应方法没有这行注解。</a:t>
            </a:r>
          </a:p>
          <a:p>
            <a:r>
              <a:t>代价：只打开实现类，会以为这两处写库没有事务。静态规则若只扫实现类，会报成缺失。</a:t>
            </a:r>
          </a:p>
          <a:p>
            <a:r>
              <a:t>判定：问注解在接口的哪一行，实现方法上有没有同样的注解。</a:t>
            </a:r>
          </a:p>
          <a:p>
            <a:r>
              <a:t>权衡：注解集中在接口，读实现时容易漏。运行时会回退读取。行号按基线 baseline-dcaa93b3。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节：框架陷阱</a:t>
            </a:r>
          </a:p>
          <a:p>
            <a:r>
              <a:t>时长见本节首页（本节 15 分钟）</a:t>
            </a:r>
          </a:p>
          <a:p>
            <a:r>
              <a:t>定义：第 423–426 行按订单号查出订单后，用 this.paySuccess 继续做支付成功。这一跳不经过代理。</a:t>
            </a:r>
          </a:p>
          <a:p>
            <a:r>
              <a:t>代价：看到 this 就断言整段写库都没有事务，会和运行时事实相反：外层入口仍可能已经打开事务。</a:t>
            </a:r>
          </a:p>
          <a:p>
            <a:r>
              <a:t>判定：问第 426 行的接收者是代理还是 this，外层 paySuccessByOrderSn 是从哪里进入的。</a:t>
            </a:r>
          </a:p>
          <a:p>
            <a:r>
              <a:t>权衡：自调用少一次转发，内层注解不单独再生效。外层若已由代理进入，写库仍留在外层那次事务里。行号按基线核对。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节：框架陷阱</a:t>
            </a:r>
          </a:p>
          <a:p>
            <a:r>
              <a:t>时长见本节首页（本节 15 分钟）</a:t>
            </a:r>
          </a:p>
          <a:p>
            <a:r>
              <a:t>定义：内层自身的事务注解不单独生效。外层 paySuccessByOrderSn 由代理进入，接口上有事务，写库仍在外层事务中。</a:t>
            </a:r>
          </a:p>
          <a:p>
            <a:r>
              <a:t>代价：把内层注解没单独生效，说成这一整段写库都不在事务里，排查时会去改不该改的入口。</a:t>
            </a:r>
          </a:p>
          <a:p>
            <a:r>
              <a:t>判定：问写库发生时，事务是内层这次调用新开的，还是外层进入时已经有的。</a:t>
            </a:r>
          </a:p>
          <a:p>
            <a:r>
              <a:t>权衡：外层事务还在，失败仍会一起回滚；不能靠内层注解再规定另一种传播行为。这一页给出上一页讨论的答案。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节：框架陷阱</a:t>
            </a:r>
          </a:p>
          <a:p>
            <a:r>
              <a:t>时长见本节首页（本节 15 分钟）</a:t>
            </a:r>
          </a:p>
          <a:p>
            <a:r>
              <a:t>定义：讨论要分开内层这次调用和外层入口，不能只回答“生效”或“不生效”。</a:t>
            </a:r>
          </a:p>
          <a:p>
            <a:r>
              <a:t>代价：合成一句“整个都不生效”，会把仍在外层事务里的写库说丢。</a:t>
            </a:r>
          </a:p>
          <a:p>
            <a:r>
              <a:t>判定：回答要分别说到 this.paySuccess 有没有经过代理，以及 paySuccessByOrderSn 的写库还在不在事务里。</a:t>
            </a:r>
          </a:p>
          <a:p>
            <a:r>
              <a:t>权衡：课上先听学生怎么拆内外层，再翻下一页对照。</a:t>
            </a:r>
          </a:p>
          <a:p>
            <a:r>
              <a:t>参考要点：this.paySuccess 不经代理，内层方法自身的事务注解不单独生效；paySuccessByOrderSn 由代理进入且接口上有事务，写库仍在外层事务中。</a:t>
            </a:r>
          </a:p>
          <a:p>
            <a:r>
              <a:t>依据：大纲「框架陷阱」；事务注解写在接口上，由代理在进入外层方法时读取。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本节 30 分钟</a:t>
            </a:r>
          </a:p>
          <a:p>
            <a:r>
              <a:t>定义：遗留系统仍在使用，开发还在生命周期里持续，但采用了已经过时或不再使用的技术。它包括硬件、软件，也包括遗留的业务过程和步骤。来自 2024 第 8-1 讲第 3 页。</a:t>
            </a:r>
          </a:p>
          <a:p>
            <a:r>
              <a:t>代价：只把遗留系统理解成旧源码，改应用时会漏掉业务步骤和运行环境一起变。</a:t>
            </a:r>
          </a:p>
          <a:p>
            <a:r>
              <a:t>判定：问这一改动落在四层中的哪一层，其他层要不要跟着动。</a:t>
            </a:r>
          </a:p>
          <a:p>
            <a:r>
              <a:t>权衡：层次分开之后，影响看得清；一层的变更仍会牵动其余层。层次来自 2024 第 8-1 讲第 3–5 页，自上而下是业务过程、应用软件、支撑软件、硬件。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定义：评价同时看业务价值和技术上的系统质量。业务价值看使用、所支持的业务过程、可靠性和输出。系统质量看应用本身，也看硬件和支撑软件。</a:t>
            </a:r>
          </a:p>
          <a:p>
            <a:r>
              <a:t>代价：只问代码旧不旧，高价值的低质量系统会被放弃，低价值的系统又会被反复重写。</a:t>
            </a:r>
          </a:p>
          <a:p>
            <a:r>
              <a:t>判定：问 mall 的下单路径在这四格里更靠近哪一格，证据是使用和故障，还是只是技术新旧。</a:t>
            </a:r>
          </a:p>
          <a:p>
            <a:r>
              <a:t>权衡：两轴把“要不要动”和“质量差不差”拆开。格子本身还不等于策略。四格名称来自 2024 第 8-1 讲第 9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定义：课程里的四种是维护、重构、再工程、替换。维护不重建；重构保持外部行为并提高局部质量；再工程是理解之后重建；替换是换成新系统的全部或一部分。</a:t>
            </a:r>
          </a:p>
          <a:p>
            <a:r>
              <a:t>代价：把四种当成同一件事的不同说法，低质量高价值的系统会被直接扔掉，或只做局部改名。</a:t>
            </a:r>
          </a:p>
          <a:p>
            <a:r>
              <a:t>判定：问这一步是否保持外部行为，是否还要重建系统，以及旧系统还留不留。</a:t>
            </a:r>
          </a:p>
          <a:p>
            <a:r>
              <a:t>权衡：重构便宜，但整体结构可以不变；再工程能换结构，成本和风险都更高。格子与策略的常见对应（Sommerville《软件工程》第 10 版第 9.2 节遗留系统管理）：高价值高质量，继续常规维护；高价值低质量，再工程，或有合适系统时替换；低价值高质量，替换、放弃或维持维护；低价值低质量，放弃。重构是维护和再工程里都会用到的局部做法。完全放弃是 2024 第 8-1 讲第 7 页另外列出的一种。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定义：Chikofsky 与 Cross 1990 把逆向工程定义为分析系统、在更高抽象上重新表示，并且不改系统。设计恢复是在观察之外加上领域知识。再工程则要改，并实现新的形态。</a:t>
            </a:r>
          </a:p>
          <a:p>
            <a:r>
              <a:t>代价：把逆向工程说成“一边看一边改”，恢复出来的图会和已经动手改过的代码对不上。</a:t>
            </a:r>
          </a:p>
          <a:p>
            <a:r>
              <a:t>判定：问这一步产出的是更高层的描述，还是一套新的实现；外部行为变了没有。</a:t>
            </a:r>
          </a:p>
          <a:p>
            <a:r>
              <a:t>权衡：先逆向再正向，理解成本在前，重建风险在后。这里的重构指同一抽象层次上保持外部行为的变换，Chikofsky 称之为 restructuring。页上表格第三列按 Chikofsky 与 Cross 1990 的定义标出抽象层次的走向。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定义：正向工程从规格走到新系统。再工程从已经存在的软件出发，经过理解和转换，得到再工程之后的系统。</a:t>
            </a:r>
          </a:p>
          <a:p>
            <a:r>
              <a:t>代价：把再工程画成从零写规格，会丢掉必须先读懂旧系统这一步，关键业务可能在新系统里消失。</a:t>
            </a:r>
          </a:p>
          <a:p>
            <a:r>
              <a:t>判定：问起点是规格说明还是现有软件，终点是全新系统还是改造后的系统。</a:t>
            </a:r>
          </a:p>
          <a:p>
            <a:r>
              <a:t>权衡：再工程少担一次从未运行过的风险，也继承旧系统的约束。对照来自 2024 第 8-1 讲第 17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定义：再工程过程是逆向工程，然后设计恢复，然后重构，然后正向工程。图上就是这四步，和课件大纲这一节一致。</a:t>
            </a:r>
          </a:p>
          <a:p>
            <a:r>
              <a:t>代价：跳过设计恢复直接重写，等于用正向工程冒充再工程，领域概念对不上。</a:t>
            </a:r>
          </a:p>
          <a:p>
            <a:r>
              <a:t>判定：问重构前面有没有设计恢复，正向工程是不是最后一步。</a:t>
            </a:r>
          </a:p>
          <a:p>
            <a:r>
              <a:t>权衡：四步拆开之后，可以只做其中一段；每段都要有输入和产出。8-1 第 20 页还列了清单分析以及代码重构、数据重构，那些是重构这一步里的做法，不另画在这张图上。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定义：收益等于 Creeng 减 Cmaint。结果为负才不做。页上的减法和备注相同，方向与 2024 第 8-1 讲第 23 页一致。</a:t>
            </a:r>
          </a:p>
          <a:p>
            <a:r>
              <a:t>代价：把减法做反，会把本来不该做的再工程排到前面。</a:t>
            </a:r>
          </a:p>
          <a:p>
            <a:r>
              <a:t>判定：问是 Creeng 减 Cmaint，还是反过来；结果为负时做不做。</a:t>
            </a:r>
          </a:p>
          <a:p>
            <a:r>
              <a:t>权衡：模型把取舍写成可比较的数；估错生存年数或风险因子，排序会倒过来。</a:t>
            </a:r>
          </a:p>
          <a:p>
            <a:r>
              <a:t>收益 = Creeng − Cmaint，结果为负才不做。Cmaint = [P3 − (P1 + P2)] × L。Creeng = [P6 − (P4 + P5)] × (L − P8) − (P7 × P9)。P1 到 P3 是当前的维护、运作和业务价值，P4 到 P6 是再工程之后的三项，P7 到 P9 是成本、时间和风险，L 是期望生存年数。来自 2024 第 8-1 讲第 23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定义：逆向工程把程序转成比源码更抽象的描述。2024 课件把它分成实现级、结构级、功能级和领域级。领域级才把程序实体对上应用概念。</a:t>
            </a:r>
          </a:p>
          <a:p>
            <a:r>
              <a:t>代价：停在调用图，就还不知道这段代码在业务上是扣库存还是算促销。</a:t>
            </a:r>
          </a:p>
          <a:p>
            <a:r>
              <a:t>判定：问手上的图是依赖关系，还是已经对上会员价、支付这种业务概念。</a:t>
            </a:r>
          </a:p>
          <a:p>
            <a:r>
              <a:t>权衡：层次越高，越能和需求对照，也越依赖领域知识，不能只靠语法树自动得到。四个层次来自 2024 第 8-1 讲第 24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定义：恢复是把遗留软件的体系结构描述重新提取出来，这一步还不改造系统。静态元素和动态元素综合之后，才形成那份描述。</a:t>
            </a:r>
          </a:p>
          <a:p>
            <a:r>
              <a:t>代价：只有类图、没有运行时调用，会把消息监听和定时任务漏在结构外面。</a:t>
            </a:r>
          </a:p>
          <a:p>
            <a:r>
              <a:t>判定：问这张图来自编译期依赖，还是来自一次支付或取消的运行过程。</a:t>
            </a:r>
          </a:p>
          <a:p>
            <a:r>
              <a:t>权衡：两边都抽，描述才完整；动态部分要有一次能重复的运行，否则只是推测。提取内容来自 2024 第 8-1 讲第 29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节：逆向工程与再工程</a:t>
            </a:r>
          </a:p>
          <a:p>
            <a:r>
              <a:t>时长见本节首页（本节 30 分钟）</a:t>
            </a:r>
          </a:p>
          <a:p>
            <a:r>
              <a:t>定义：恢复只是重新提取。改善才按新需求改造结构，并可以结合遗留系统之外的可复用模块。代码重构和数据重构通常不改整体结构，而是改模块内部和局部数据。</a:t>
            </a:r>
          </a:p>
          <a:p>
            <a:r>
              <a:t>代价：没有恢复出的结构就改模块，新需求和旧依赖会在同一次修改里缠在一起。</a:t>
            </a:r>
          </a:p>
          <a:p>
            <a:r>
              <a:t>判定：问这一改是在提取旧结构，还是已经按新需求改了结构；整体结构变了没有。</a:t>
            </a:r>
          </a:p>
          <a:p>
            <a:r>
              <a:t>权衡：代码重构追求功能相同、质量更高；数据重构还可能更换文件格式或数据库。两者都来自 2024 第 8-1 讲第 31–37 页。左侧流程图按 2024 第 8-1 讲第 27 页重画：恢复与搜索可复用构件并行，汇到改善，评审不通过回到进化计划。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节：演化规律与小结</a:t>
            </a:r>
          </a:p>
          <a:p>
            <a:r>
              <a:t>本节 15 分钟</a:t>
            </a:r>
          </a:p>
          <a:p>
            <a:r>
              <a:t>定义：Lehman 1980 用持续变化和复杂度增长描述还在使用的软件。不用它，它会越来越不合用；只加功能、不治理，复杂度会上升。</a:t>
            </a:r>
          </a:p>
          <a:p>
            <a:r>
              <a:t>代价：把系统当成写完就结束，后续每次需求都会直接堆在原结构上。</a:t>
            </a:r>
          </a:p>
          <a:p>
            <a:r>
              <a:t>判定：问这次修改是在适应新的使用，还是在把已经升高的复杂度降下来。</a:t>
            </a:r>
          </a:p>
          <a:p>
            <a:r>
              <a:t>权衡：承认必须持续变化，才需要演化策略；专门重构会占用做新功能的时间。这里只讲这两条，不把后来文献补上的定律算进这一页。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节：演化规律与小结</a:t>
            </a:r>
          </a:p>
          <a:p>
            <a:r>
              <a:t>时长见本节首页（本节 15 分钟）</a:t>
            </a:r>
          </a:p>
          <a:p>
            <a:r>
              <a:t>定义：mall 由三个独立应用组成、无注册中心，认证在 mall-security，也无独立网关。mall-swarm 把网关、认证和业务服务拆开，注册与配置用 Nacos。两边是同一业务域的两种实现，不是 mall 迁移前后的两个版本。</a:t>
            </a:r>
          </a:p>
          <a:p>
            <a:r>
              <a:t>代价：讲成同一次迁移的前后，会让人以为拆服务是这一课的必做步骤。</a:t>
            </a:r>
          </a:p>
          <a:p>
            <a:r>
              <a:t>判定：问变化最大的是模块内部的计算，还是部署单元和调用如何跨进程。</a:t>
            </a:r>
          </a:p>
          <a:p>
            <a:r>
              <a:t>权衡：对照用来准备下一页的讨论：要不要拆，不能只凭这张形态差异。mall-swarm 的架构图在运行环境那一讲已经看过，提交 04c442fe。课后读物：读物/mall产品拆解.html 2.2 与 mall-swarm 专属部件表。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节：演化规律与小结</a:t>
            </a:r>
          </a:p>
          <a:p>
            <a:r>
              <a:t>时长见本节首页（本节 15 分钟）</a:t>
            </a:r>
          </a:p>
          <a:p>
            <a:r>
              <a:t>定义：Lenarduzzi 等，2020，记录的是一家企业的迁移：拆分当时技术债先升高，稳定之后增长变慢。这是单案例，不能写成微服务普遍更省维护。</a:t>
            </a:r>
          </a:p>
          <a:p>
            <a:r>
              <a:t>代价：用这一篇论文直接决定 mall 要拆，就把一个企业的记录当成了本系统的证据。</a:t>
            </a:r>
          </a:p>
          <a:p>
            <a:r>
              <a:t>判定：问论文里的债是在拆分当时升高，还是拆完立刻下降；这个结论能不能套到 mall。</a:t>
            </a:r>
          </a:p>
          <a:p>
            <a:r>
              <a:t>权衡：案例说明“拆开”本身不是减债措施。要减债，还得看本系统的边界、数据和测试。文献是 Journal of Systems and Software, 169, 110710。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节：演化规律与小结</a:t>
            </a:r>
          </a:p>
          <a:p>
            <a:r>
              <a:t>时长见本节首页（本节 15 分钟）</a:t>
            </a:r>
          </a:p>
          <a:p>
            <a:r>
              <a:t>定义：讨论 mall 该不该拆。要的是证据清单，不是先选一个立场。</a:t>
            </a:r>
          </a:p>
          <a:p>
            <a:r>
              <a:t>代价：只回答该拆或不该拆，却说不出业务边界、数据归属和失败时的影响，决定无法复查。</a:t>
            </a:r>
          </a:p>
          <a:p>
            <a:r>
              <a:t>判定：回答至少要包括一种本系统里能查到的证据，并说明 Lenarduzzi 的案例为什么不够。</a:t>
            </a:r>
          </a:p>
          <a:p>
            <a:r>
              <a:t>权衡：课上先收证据，再谈策略。形态对照只说明存在另一种实现，不代替这次决定。</a:t>
            </a:r>
          </a:p>
          <a:p>
            <a:r>
              <a:t>参考要点：需要业务边界、数据归属和故障时的影响，不能只数服务个数；Lenarduzzi 2020 只是一家企业的记录，不能当成 mall 已经减债。</a:t>
            </a:r>
          </a:p>
          <a:p>
            <a:r>
              <a:t>依据：大纲「演化规律与小结」；Lenarduzzi 等 2020 与 mall、mall-swarm 的形态对照。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节：演化规律与小结</a:t>
            </a:r>
          </a:p>
          <a:p>
            <a:r>
              <a:t>时长见本节首页（本节 15 分钟）</a:t>
            </a:r>
          </a:p>
          <a:p>
            <a:r>
              <a:t>定义：这一讲收成四句：测试保护下修改，代理与自调用要分开看，演化策略要有评价，AI 给出的改造方案不能直接放行。</a:t>
            </a:r>
          </a:p>
          <a:p>
            <a:r>
              <a:t>代价：只记住名词，下一讲实验仍不知道哪些断言允许变红，哪些必须保持绿。</a:t>
            </a:r>
          </a:p>
          <a:p>
            <a:r>
              <a:t>判定：能否说出特征测试、外层事务、四种策略里的一种，以及 AI 方案放行前要看的三件事。</a:t>
            </a:r>
          </a:p>
          <a:p>
            <a:r>
              <a:t>权衡：放行前先查有没有触及不得修改的部分，有没有夹带无关修改，再以测试结果作为依据。实验 E6 的预习和阅读在下一节。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本节 15 分钟（并入上一节）</a:t>
            </a:r>
          </a:p>
          <a:p>
            <a:r>
              <a:t>题目页</a:t>
            </a:r>
          </a:p>
          <a:p>
            <a:r>
              <a:t>答案：1A 2D 3B</a:t>
            </a:r>
          </a:p>
          <a:p>
            <a:r>
              <a:t>定义：这三题问特征测试固定什么、接缝是什么、自调用时注解是否生效。</a:t>
            </a:r>
          </a:p>
          <a:p>
            <a:r>
              <a:t>代价：未做的话，课上演示“先钉住、再找接缝”时跟不上。</a:t>
            </a:r>
          </a:p>
          <a:p>
            <a:r>
              <a:t>判定：特征测试固定现有行为，包括不合理的部分；接缝是不改被测代码就能替换行为的位置；同类自调用不经代理，内层注解不生效。</a:t>
            </a:r>
          </a:p>
          <a:p>
            <a:r>
              <a:t>权衡：以购物车促销计算为例先钉住、再重构出接缝（实验 E6 的教师示例）；自调用对应 this.paySuccess。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15 分钟（并入上一节））</a:t>
            </a:r>
          </a:p>
          <a:p>
            <a:r>
              <a:t>题目页</a:t>
            </a:r>
          </a:p>
          <a:p>
            <a:r>
              <a:t>答案：4C 5B</a:t>
            </a:r>
          </a:p>
          <a:p>
            <a:r>
              <a:t>定义：第 4 题问四种演化策略；第 5 题问逆向工程与再工程的关系。</a:t>
            </a:r>
          </a:p>
          <a:p>
            <a:r>
              <a:t>代价：把再工程当成重写，会跳过从代码恢复设计这一步。</a:t>
            </a:r>
          </a:p>
          <a:p>
            <a:r>
              <a:t>判定：演化策略是维护、重构、再工程、替换；逆向工程用于理解既有系统，是再工程的一部分。</a:t>
            </a:r>
          </a:p>
          <a:p>
            <a:r>
              <a:t>权衡：选哪种策略要看证据，单体与微服务的对照在最后一节。阅读书目在下一页。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节：布置</a:t>
            </a:r>
          </a:p>
          <a:p>
            <a:r>
              <a:t>时长见本节首页（本节 15 分钟（并入上一节））</a:t>
            </a:r>
          </a:p>
          <a:p>
            <a:r>
              <a:t>定义：课后按作业第 2 条核对这些文献。[28] 必读，[26]、[23] 选读。</a:t>
            </a:r>
          </a:p>
          <a:p>
            <a:r>
              <a:t>代价：不读 Lenarduzzi，演化策略的选择就缺少迁移微服务是否降低技术债的实证。</a:t>
            </a:r>
          </a:p>
          <a:p>
            <a:r>
              <a:t>判定：页上要能对上 Lenarduzzi 等 2020、Bennett 等 2000 和 Lehman 1980。</a:t>
            </a:r>
          </a:p>
          <a:p>
            <a:r>
              <a:t>权衡：先读 Lenarduzzi 的实证，再读 Bennett 与 Lehman 作背景，避免把单一企业的记录当成普遍结论。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节：逆向工程与再工程</a:t>
            </a:r>
          </a:p>
          <a:p>
            <a:r>
              <a:rPr lang="zh-CN" altLang="en-US"/>
              <a:t>时长见本节首页（本节 30 分钟）</a:t>
            </a:r>
          </a:p>
          <a:p>
            <a:r>
              <a:rPr lang="zh-CN" altLang="en-US"/>
              <a:t>依据：2024 第 8-1 讲第 4 页（遗留系统的组成），图按原结构重画。</a:t>
            </a:r>
          </a:p>
          <a:p>
            <a:r>
              <a:rPr lang="zh-CN" altLang="en-US"/>
              <a:t>定义：遗留系统由六部分组成：系统硬件、支撑软件、应用软件、应用数据、业务过程、业务策略和规则。应用软件使用支撑软件和应用数据，两者都运行在硬件上；业务过程使用应用软件；业务策略和规则包含在业务过程里，也作为应用知识进入应用软件。</a:t>
            </a:r>
          </a:p>
          <a:p>
            <a:r>
              <a:rPr lang="zh-CN" altLang="en-US"/>
              <a:t>代价：只换代码、不看写在软件里的业务规则和数据，演化会丢掉这部分业务知识。</a:t>
            </a:r>
          </a:p>
          <a:p>
            <a:r>
              <a:rPr lang="zh-CN" altLang="en-US"/>
              <a:t>判定：评估一处改动时，问它落在哪一部分，又连着哪些部分。</a:t>
            </a:r>
          </a:p>
          <a:p>
            <a:r>
              <a:rPr lang="zh-CN" altLang="en-US"/>
              <a:t>权衡：上一页按层次看，这一页看各部分之间的关系；关系越多，单独替换其中一部分越难。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节：逆向工程与再工程</a:t>
            </a:r>
          </a:p>
          <a:p>
            <a:r>
              <a:rPr lang="zh-CN" altLang="en-US"/>
              <a:t>时长见本节首页（本节 30 分钟）</a:t>
            </a:r>
          </a:p>
          <a:p>
            <a:r>
              <a:rPr lang="zh-CN" altLang="en-US"/>
              <a:t>依据：2024 第 8-1 讲第 20 页（软件再工程的过程模型），图按原结构重画。</a:t>
            </a:r>
          </a:p>
          <a:p>
            <a:r>
              <a:rPr lang="zh-CN" altLang="en-US"/>
              <a:t>定义：这个模型把再工程画成一个循环：软件清单分析、文档重构、逆向工程、设计重构、代码重构、数据重构、正向工程，转完一轮还可以再开始下一轮。</a:t>
            </a:r>
          </a:p>
          <a:p>
            <a:r>
              <a:rPr lang="zh-CN" altLang="en-US"/>
              <a:t>代价：把它当成必须按顺序走完的流程，小改动也会被拉进整轮再工程。</a:t>
            </a:r>
          </a:p>
          <a:p>
            <a:r>
              <a:rPr lang="zh-CN" altLang="en-US"/>
              <a:t>判定：问手头这次工作处在环上的哪一步，前一步的产物有没有。</a:t>
            </a:r>
          </a:p>
          <a:p>
            <a:r>
              <a:rPr lang="zh-CN" altLang="en-US"/>
              <a:t>权衡：上一页按 Chikofsky 讲四步，看的是抽象层次怎样升降；这个模型按活动列出七步，多出清单分析、文档重构和数据重构。两种划分角度不同，并不矛盾。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节：目录</a:t>
            </a:r>
          </a:p>
          <a:p>
            <a:r>
              <a:rPr lang="zh-CN" altLang="en-US"/>
              <a:t>依据：各页备注“节：”行，按出现顺序编号；目录页由统一视觉脚本生成，不另写内容。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 altLang="en-US"/>
              <a:t>节：结束页</a:t>
            </a:r>
          </a:p>
          <a:p>
            <a:r>
              <a:rPr lang="zh-CN" altLang="en-US"/>
              <a:t>依据：下次课名称取自下一份课件封面的“第 n 次课｜课题”行。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11 次课｜软件设计、重构与系统演化（二）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特征测试与接缝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框架陷阱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逆向工程与再工程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演化规律与小结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altLang="zh-CN" sz="2800" b="1">
                <a:solidFill>
                  <a:srgbClr val="A33B38"/>
                </a:solidFill>
                <a:latin typeface="微软雅黑"/>
                <a:ea typeface="微软雅黑"/>
              </a:rPr>
              <a:t>05</a:t>
            </a:r>
            <a:r>
              <a:rPr lang="zh-CN" altLang="en-US" sz="2200">
                <a:solidFill>
                  <a:srgbClr val="262626"/>
                </a:solidFill>
                <a:latin typeface="微软雅黑"/>
                <a:ea typeface="微软雅黑"/>
              </a:rPr>
              <a:t>    布置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53619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承接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1828800"/>
            <a:ext cx="8321040" cy="640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承接上一讲的重构，以及实验 E5 的影响分析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572000" y="251460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2834640"/>
            <a:ext cx="8321040" cy="15544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228600" rIns="228600" tIns="114300" bIns="11430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先用特征测试固定现有行为，再从接缝改</a:t>
            </a:r>
            <a:endParaRPr lang="zh-CN" sz="22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分清注解写在何处，运行时是否生效</a:t>
            </a:r>
            <a:endParaRPr lang="zh-CN" sz="22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按业务价值与系统质量选择演化策略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572000" y="4434840"/>
            <a:ext cx="9144" cy="274320"/>
          </a:xfrm>
          <a:custGeom>
            <a:avLst/>
            <a:gdLst/>
            <a:ahLst/>
            <a:cxnLst/>
            <a:rect l="0" t="0" r="r" b="b"/>
            <a:pathLst>
              <a:path w="9144" h="274320" fill="none">
                <a:moveTo>
                  <a:pt x="0" y="0"/>
                </a:moveTo>
                <a:lnTo>
                  <a:pt x="0" y="27432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754880"/>
            <a:ext cx="8321040" cy="73152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引出实验 E6：规格失败之后再改行为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本次课目标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没有测试保护就不能改</a:t>
            </a:r>
          </a:p>
        </p:txBody>
      </p:sp>
      <p:sp>
        <p:nvSpPr>
          <p:cNvPr id="9901" name="review"/>
          <p:cNvSpPr txBox="1"/>
          <p:nvPr/>
        </p:nvSpPr>
        <p:spPr>
          <a:xfrm>
            <a:off x="411480" y="5486400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回顾 E4：特征测试先固定现有行为，改前改后同一组断言都通过</a:t>
            </a:r>
          </a:p>
        </p:txBody>
      </p:sp>
      <p:sp>
        <p:nvSpPr>
          <p:cNvPr id="101" name="fig-d"/>
          <p:cNvSpPr/>
          <p:nvPr/>
        </p:nvSpPr>
        <p:spPr>
          <a:xfrm>
            <a:off x="365760" y="1645920"/>
            <a:ext cx="4114800" cy="50292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特征测试：旧行为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663440" y="1645920"/>
            <a:ext cx="4114800" cy="5029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规格测试：新行为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65760" y="2240280"/>
            <a:ext cx="4114800" cy="914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特征测试固定现有行为，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包括不合理的行为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65760" y="3246120"/>
            <a:ext cx="41148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重构前后，这些断言保持不变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2240280"/>
            <a:ext cx="4114800" cy="173736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新行为另写规格测试，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不能靠改掉旧断言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65760" y="4206240"/>
            <a:ext cx="8412480" cy="8686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FFFFFF"/>
                </a:solidFill>
                <a:latin typeface="微软雅黑"/>
                <a:ea typeface="微软雅黑"/>
              </a:rPr>
              <a:t>没有这层保护，就分不清改坏还是本来如此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990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促销计算的三步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代码统一引用分支头 abe34e5b；红灯证据来自中间提交 4a7f3d90（16 项中 6 项业务断言失败、10 项通过）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495044" y="269748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2461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第一步：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SDCE600Test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固定现有行为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044952" y="3977640"/>
            <a:ext cx="192024" cy="9144"/>
          </a:xfrm>
          <a:custGeom>
            <a:avLst/>
            <a:gdLst/>
            <a:ahLst/>
            <a:cxnLst/>
            <a:rect l="0" t="0" r="r" b="b"/>
            <a:pathLst>
              <a:path w="192024" h="9144" fill="none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347972" y="269748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264408" y="32461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第二步：抽出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PromotionApplier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作为接缝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5897880" y="3977640"/>
            <a:ext cx="192024" cy="9144"/>
          </a:xfrm>
          <a:custGeom>
            <a:avLst/>
            <a:gdLst/>
            <a:ahLst/>
            <a:cxnLst/>
            <a:rect l="0" t="0" r="r" b="b"/>
            <a:pathLst>
              <a:path w="192024" h="9144" fill="none">
                <a:moveTo>
                  <a:pt x="0" y="0"/>
                </a:moveTo>
                <a:lnTo>
                  <a:pt x="19202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7200900" y="2697480"/>
            <a:ext cx="438912" cy="438912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6117336" y="3246120"/>
            <a:ext cx="2606040" cy="14630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第三步：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promotionType=2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先失败再实现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特征测试锁住的输入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特征测试固定现有行为，包括不合理的行为，不要顺手改掉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这里把单价设成 95.00；单品促销的期望却是 100.00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cart.​setProductId(​2L);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cart.​setProductSkuId(​skuId);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cart.​setPrice(​new BigDecimal(​"95.​00"));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cart.​setQuantity(​quantity);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return cart;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mall-portal/​src/​test/​java/​com/​macro/​mall/​sdc/​e6/​SDCE600Test.java:​62-66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接缝</a:t>
            </a:r>
          </a:p>
        </p:txBody>
      </p:sp>
      <p:sp>
        <p:nvSpPr>
          <p:cNvPr id="9901" name="review"/>
          <p:cNvSpPr txBox="1"/>
          <p:nvPr/>
        </p:nvSpPr>
        <p:spPr>
          <a:xfrm>
            <a:off x="411480" y="5486400"/>
            <a:ext cx="8321040" cy="329184"/>
          </a:xfrm>
          <a:prstGeom prst="rect">
            <a:avLst/>
          </a:prstGeom>
          <a:solidFill>
            <a:srgbClr val="FBF3F2"/>
          </a:solidFill>
          <a:ln w="9525">
            <a:solidFill>
              <a:srgbClr val="A33B38"/>
            </a:solidFill>
          </a:ln>
        </p:spPr>
        <p:txBody>
          <a:bodyPr wrap="square" lIns="0" rIns="0" tIns="0" bIns="0">
            <a:noAutofit/>
          </a:bodyPr>
          <a:lstStyle/>
          <a:p>
            <a:pPr algn="l"/>
            <a:r>
              <a:rPr sz="2000">
                <a:solidFill>
                  <a:srgbClr val="A33B38"/>
                </a:solidFill>
                <a:latin typeface="微软雅黑"/>
                <a:ea typeface="微软雅黑"/>
              </a:rPr>
              <a:t>回顾 E2：接缝就是不改被测代码也能替换行为的位置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783080"/>
            <a:ext cx="210312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被测循环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2514600" y="2075688"/>
            <a:ext cx="731520" cy="9144"/>
          </a:xfrm>
          <a:custGeom>
            <a:avLst/>
            <a:gdLst/>
            <a:ahLst/>
            <a:cxnLst/>
            <a:rect l="0" t="0" r="r" b="b"/>
            <a:pathLst>
              <a:path w="731520" h="9144" fill="none">
                <a:moveTo>
                  <a:pt x="0" y="0"/>
                </a:moveTo>
                <a:lnTo>
                  <a:pt x="73152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2560320" y="17373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调用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246120" y="1783080"/>
            <a:ext cx="2743200" cy="5943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«接口» PromotionApplier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080760" y="190195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← 接缝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517136" y="2377440"/>
            <a:ext cx="201168" cy="164592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617720" y="2542032"/>
            <a:ext cx="9144" cy="214884"/>
          </a:xfrm>
          <a:custGeom>
            <a:avLst/>
            <a:gdLst/>
            <a:ahLst/>
            <a:cxnLst/>
            <a:rect l="0" t="0" r="r" b="b"/>
            <a:pathLst>
              <a:path w="9144" h="214884" fill="none">
                <a:moveTo>
                  <a:pt x="0" y="0"/>
                </a:moveTo>
                <a:lnTo>
                  <a:pt x="0" y="214884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3794760" y="2756916"/>
            <a:ext cx="1645920" cy="9144"/>
          </a:xfrm>
          <a:custGeom>
            <a:avLst/>
            <a:gdLst/>
            <a:ahLst/>
            <a:cxnLst/>
            <a:rect l="0" t="0" r="r" b="b"/>
            <a:pathLst>
              <a:path w="1645920" h="9144" fill="none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3794760" y="2756916"/>
            <a:ext cx="9144" cy="214884"/>
          </a:xfrm>
          <a:custGeom>
            <a:avLst/>
            <a:gdLst/>
            <a:ahLst/>
            <a:cxnLst/>
            <a:rect l="0" t="0" r="r" b="b"/>
            <a:pathLst>
              <a:path w="9144" h="214884" fill="none">
                <a:moveTo>
                  <a:pt x="0" y="0"/>
                </a:moveTo>
                <a:lnTo>
                  <a:pt x="0" y="214884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5440680" y="2756916"/>
            <a:ext cx="9144" cy="214884"/>
          </a:xfrm>
          <a:custGeom>
            <a:avLst/>
            <a:gdLst/>
            <a:ahLst/>
            <a:cxnLst/>
            <a:rect l="0" t="0" r="r" b="b"/>
            <a:pathLst>
              <a:path w="9144" h="214884" fill="none">
                <a:moveTo>
                  <a:pt x="0" y="0"/>
                </a:moveTo>
                <a:lnTo>
                  <a:pt x="0" y="214884"/>
                </a:lnTo>
              </a:path>
            </a:pathLst>
          </a:custGeom>
          <a:noFill/>
          <a:ln w="12700">
            <a:solidFill>
              <a:srgbClr val="A6A6A6"/>
            </a:solidFill>
            <a:prstDash val="dash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3017520" y="2971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真实策略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663440" y="297180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测试替身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6720840" y="297180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登记处（使能点）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6263640" y="3246120"/>
            <a:ext cx="457200" cy="9144"/>
          </a:xfrm>
          <a:custGeom>
            <a:avLst/>
            <a:gdLst/>
            <a:ahLst/>
            <a:cxnLst/>
            <a:rect l="0" t="0" r="r" b="b"/>
            <a:pathLst>
              <a:path w="457200" h="9144" fill="none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6720840" y="354787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在这里选接哪一个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"/>
          <p:cNvSpPr/>
          <p:nvPr/>
        </p:nvSpPr>
        <p:spPr>
          <a:xfrm>
            <a:off x="411480" y="397764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不改被测代码，就能替换行为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7" name="fig"/>
          <p:cNvSpPr/>
          <p:nvPr/>
        </p:nvSpPr>
        <p:spPr>
          <a:xfrm>
            <a:off x="4663440" y="397764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使能点是你做选择的那个位置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8" name="fig"/>
          <p:cNvSpPr/>
          <p:nvPr/>
        </p:nvSpPr>
        <p:spPr>
          <a:xfrm>
            <a:off x="411480" y="470916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策略接口把类型分支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变成可替换的对象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9" name="fig"/>
          <p:cNvSpPr/>
          <p:nvPr/>
        </p:nvSpPr>
        <p:spPr>
          <a:xfrm>
            <a:off x="4663440" y="4709160"/>
            <a:ext cx="406908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测试用替身或新策略接上，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被测循环不用改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990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接缝留在登记处</a:t>
            </a:r>
          </a:p>
        </p:txBody>
      </p:sp>
      <p:sp>
        <p:nvSpPr>
          <p:cNvPr id="3" name="code"/>
          <p:cNvSpPr txBox="1"/>
          <p:nvPr/>
        </p:nvSpPr>
        <p:spPr>
          <a:xfrm>
            <a:off x="411480" y="1481328"/>
            <a:ext cx="8138160" cy="3877056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List&lt;PromotionApplier&gt; ​appliers(​)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return Arrays.​asList(​new SingleApplier(​),​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new MemberPriceApplier(​),​ new LadderApplier(​),​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new FullApplier(​),​ new NoneApplier(​));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}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/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private interface PromotionApplier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boolean supports(​Integer promotionType);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void apply(​List&lt;CartPromotionItem&gt; ​out,​ List&lt;OmsCartItem&gt; 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itemList,​</a:t>
            </a:r>
          </a:p>
          <a:p>
            <a:pPr algn="l" eaLnBrk="1" hangingPunct="1" marL="2570480" indent="-25704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       PromotionProduct promotionProduct,​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List&lt;PromotionProduct&gt; ​promotionProductList);</a:t>
            </a:r>
          </a:p>
        </p:txBody>
      </p:sp>
      <p:sp>
        <p:nvSpPr>
          <p:cNvPr id="4" name="fn"/>
          <p:cNvSpPr txBox="1"/>
          <p:nvPr/>
        </p:nvSpPr>
        <p:spPr>
          <a:xfrm>
            <a:off x="411480" y="5376672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mall-portal/​src/​main/​java/​com/​macro/​mall/​portal/​service/​impl/​OmsPromotionServiceImpl.java:​65-73</a:t>
            </a:r>
          </a:p>
        </p:txBody>
      </p:sp>
      <p:sp>
        <p:nvSpPr>
          <p:cNvPr id="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会员价规格先失败再实现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购物车会员价是 promotionType=2，规格测试先失败再实现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期望是单价 100.00、文案会员价；6 项失败见中间提交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956815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fx.​member(​MEMBER_ID,​ LEVEL_ID);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fx.​prices(​price(​PRODUCT_ID,​ LEVEL_ID,​ "70.​00"));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fx.​product(​PRODUCT_ID,​ 2);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List&lt;CartPromotionItem&gt; ​result ​= ​fx.​calc(​line(​PRODUCT_ID,​</a:t>
            </a:r>
            <a:br/>
            <a:r>
              <a:rPr sz="1600" b="0" lang="zh-CN" altLang="en-US">
                <a:latin typeface="Consolas"/>
                <a:ea typeface="微软雅黑"/>
                <a:cs typeface="Consolas"/>
              </a:rPr>
              <a:t> SKU_A,​ MEMBER_ID,​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assertItems(​result,​ "100.​00|30.​00|会员价|7");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80974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出处：meng004/​mall@​abe34e5b88c37a4a01f327ec0ee0c4f42ae0baf0:​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mall-portal/​src/​test/​java/​com/​macro/​mall/​sdc/​e6/​SDCE600MemberPriceTest.java:​52-56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哪些变红是预期的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E5-00 的 SDCE500Test 第 63、64 行两条断言按设计变红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不读 SKU 两条是预期的红；返回值不变，保持绿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E6-07 做库存预警；下面这段锁的是返回值，引用 E5-00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assertEquals(​3,​ service.​paySuccess(​9L,​ 1));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verify(​dao).​updateSkuStock(​detail.​getOrderItemList(​));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出处：meng004/​mall@​dbfcb94466e58990c4c8ed7a014a5bb302ed63e0:​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mall-portal/​src/​test/​java/​com/​macro/​mall/​sdc/​e5/​SDCE500Test.java:​59-60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一个测试在实现改动后就失败，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它固定的是行为还是实现？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特征测试与接缝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调用有没有进代理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874520"/>
            <a:ext cx="1417320" cy="10972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外部调用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874520" y="1874520"/>
            <a:ext cx="1600200" cy="10972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先进入代理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764792" y="24231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3593592" y="1874520"/>
            <a:ext cx="1600200" cy="10972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代理才读取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事务属性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3483864" y="24231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312664" y="1874520"/>
            <a:ext cx="1600200" cy="10972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读不到实现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上的注解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5202936" y="24231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7031736" y="1874520"/>
            <a:ext cx="1600200" cy="10972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再回退到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接口方法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922008" y="24231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365760" y="3703320"/>
            <a:ext cx="1417320" cy="10972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同类自调用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1874520" y="3703320"/>
            <a:ext cx="1600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this 直接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进方法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1764792" y="42519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3593592" y="3703320"/>
            <a:ext cx="1600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B38"/>
            </a:solidFill>
            <a:prstDash val="dash"/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A33B38"/>
                </a:solidFill>
                <a:latin typeface="微软雅黑"/>
                <a:ea typeface="微软雅黑"/>
              </a:rPr>
              <a:t>不经过代理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3483864" y="42519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5312664" y="3703320"/>
            <a:ext cx="1600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内层注解不会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因此再生效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5202936" y="42519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7031736" y="3703320"/>
            <a:ext cx="16002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45720" rIns="45720" tIns="22860" bIns="2286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要看外层是否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0">
                <a:solidFill>
                  <a:srgbClr val="262626"/>
                </a:solidFill>
                <a:latin typeface="微软雅黑"/>
                <a:ea typeface="微软雅黑"/>
              </a:rPr>
              <a:t>已经在事务里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6922008" y="4251960"/>
            <a:ext cx="100584" cy="9144"/>
          </a:xfrm>
          <a:custGeom>
            <a:avLst/>
            <a:gdLst/>
            <a:ahLst/>
            <a:cxnLst/>
            <a:rect l="0" t="0" r="r" b="b"/>
            <a:pathLst>
              <a:path w="100584" h="9144" fill="none">
                <a:moveTo>
                  <a:pt x="0" y="0"/>
                </a:moveTo>
                <a:lnTo>
                  <a:pt x="100584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365760" y="1536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路径一：经过代理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365760" y="33649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路径二：this 调用绕过代理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框架陷阱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两处事务注解都在接口上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实现类这两处方法自己没有事务注解，运行时回退读接口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126187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 ​支付成功后的回调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Integer paySuccess(​Long orderId,​ Integer payType);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出处：mall-portal/​src/​main/​java/​com/​macro/​mall/​portal/​service/​OmsPortalOrderService.java:​30-33</a:t>
            </a:r>
          </a:p>
        </p:txBody>
      </p:sp>
      <p:sp>
        <p:nvSpPr>
          <p:cNvPr id="6" name="code"/>
          <p:cNvSpPr txBox="1"/>
          <p:nvPr/>
        </p:nvSpPr>
        <p:spPr>
          <a:xfrm>
            <a:off x="411480" y="3822191"/>
            <a:ext cx="8138160" cy="126187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 ​根据orderSn来实现的支付成功逻辑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void paySuccessByOrderSn(​String orderSn,​ Integer payType);</a:t>
            </a:r>
          </a:p>
        </p:txBody>
      </p:sp>
      <p:sp>
        <p:nvSpPr>
          <p:cNvPr id="7" name="fn"/>
          <p:cNvSpPr txBox="1"/>
          <p:nvPr/>
        </p:nvSpPr>
        <p:spPr>
          <a:xfrm>
            <a:off x="411480" y="510235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出处：mall-portal/​src/​main/​java/​com/​macro/​mall/​portal/​service/​OmsPortalOrderService.java:​73-76</a:t>
            </a:r>
          </a:p>
        </p:txBody>
      </p:sp>
      <p:sp>
        <p:nvSpPr>
          <p:cNvPr id="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框架陷阱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按订单号支付时调用 this.paySuccess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426 行是同类里的 this 调用，不经过代理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外层方法本身由外部进入，接口上有事务注解</a:t>
            </a:r>
          </a:p>
          <a:p>
            <a:pPr algn="l" eaLnBrk="1" hangingPunct="1" marL="292608" indent="-292608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先看代码，内外层各自是否再生效留到讨论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1261872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public void paySuccessByOrderSn(​String orderSn,​ Integer payType)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OmsOrder order ​= ​getOrderByOrderSn(​orderSn);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if(​order!=null){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微软雅黑"/>
                <a:cs typeface="Consolas"/>
              </a:rPr>
              <a:t>            this.​paySuccess(​order.​getId(​),​payType);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出处：mall-portal/​src/​main/​java/​com/​macro/​mall/​portal/​service/​impl/​OmsPortalOrderServiceImpl.java:​423-426</a:t>
            </a:r>
          </a:p>
        </p:txBody>
      </p:sp>
      <p:sp>
        <p:nvSpPr>
          <p:cNvPr id="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框架陷阱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内层注解与外层事务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45920"/>
            <a:ext cx="8321040" cy="3977640"/>
          </a:xfrm>
          <a:prstGeom prst="rect">
            <a:avLst/>
          </a:prstGeom>
          <a:solidFill>
            <a:srgbClr val="FBF3F2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75564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外层方法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2240280" y="175564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paySuccessByOrderSn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760720" y="1755648"/>
            <a:ext cx="2743200" cy="5029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由代理进入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85800" y="2423160"/>
            <a:ext cx="484632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  <a:prstDash val="dash"/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822960" y="25146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262626"/>
                </a:solidFill>
                <a:latin typeface="微软雅黑"/>
                <a:ea typeface="微软雅黑"/>
              </a:rPr>
              <a:t>内层 this.paySuccess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822960" y="310896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不经代理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822960" y="384048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自身注解不单独生效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822960" y="457200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不会因此再开一层事务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5760720" y="242316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接口上有事务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endParaRPr lang="zh-CN" sz="1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写库仍在</a:t>
            </a:r>
            <a:br>
              <a:rPr lang="zh-CN" sz="2200">
                <a:latin typeface="微软雅黑"/>
                <a:ea typeface="微软雅黑"/>
              </a:rPr>
            </a:b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外层事务中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框架陷阱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004304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this.paySuccess自调用时，内层和外层的事务注解是否生效？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框架陷阱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遗留系统的四个层次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系统仍在使用，但采用了已经过时或不再使用的技术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731520" y="2468880"/>
            <a:ext cx="7680960" cy="749808"/>
          </a:xfrm>
          <a:prstGeom prst="rect">
            <a:avLst/>
          </a:prstGeom>
          <a:solidFill>
            <a:srgbClr val="FBF3F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业务过程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731520" y="3218688"/>
            <a:ext cx="7680960" cy="74980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应用软件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731520" y="3968496"/>
            <a:ext cx="7680960" cy="749808"/>
          </a:xfrm>
          <a:prstGeom prst="rect">
            <a:avLst/>
          </a:prstGeom>
          <a:solidFill>
            <a:srgbClr val="E3C4C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支撑软件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731520" y="4718304"/>
            <a:ext cx="7680960" cy="74980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硬件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8-1 讲第 5 页（遗留系统的层次模型）重画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A33B38"/>
                </a:solidFill>
                <a:latin typeface="微软雅黑"/>
                <a:ea typeface="微软雅黑"/>
              </a:rPr>
              <a:t>遗留系统的组成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36192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六个部分之间有使用、运行和包含关系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822960" y="2286000"/>
            <a:ext cx="1828800" cy="731520"/>
          </a:xfrm>
          <a:prstGeom prst="rect">
            <a:avLst/>
          </a:prstGeom>
          <a:solidFill>
            <a:srgbClr val="E3C4C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支撑软件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657600" y="2286000"/>
            <a:ext cx="182880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应用软件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6492240" y="2286000"/>
            <a:ext cx="1828800" cy="731520"/>
          </a:xfrm>
          <a:prstGeom prst="rect">
            <a:avLst/>
          </a:prstGeom>
          <a:solidFill>
            <a:srgbClr val="FBF3F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业务策略</a:t>
            </a:r>
            <a:br>
              <a:rPr lang="zh-CN" sz="1800">
                <a:latin typeface="微软雅黑"/>
                <a:ea typeface="微软雅黑"/>
              </a:rPr>
            </a:b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和规则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822960" y="4343400"/>
            <a:ext cx="182880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系统硬件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3657600" y="4343400"/>
            <a:ext cx="182880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应用数据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6492240" y="4343400"/>
            <a:ext cx="1828800" cy="731520"/>
          </a:xfrm>
          <a:prstGeom prst="rect">
            <a:avLst/>
          </a:prstGeom>
          <a:solidFill>
            <a:srgbClr val="FBF3F2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业务过程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2651760" y="2651760"/>
            <a:ext cx="1005840" cy="9144"/>
          </a:xfrm>
          <a:custGeom>
            <a:avLst/>
            <a:gdLst/>
            <a:ahLst/>
            <a:cxnLst/>
            <a:rect l="0" t="0" r="r" b="b"/>
            <a:pathLst>
              <a:path w="1005840" h="9144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2743200" y="22860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使用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5486400" y="2651760"/>
            <a:ext cx="1005840" cy="9144"/>
          </a:xfrm>
          <a:custGeom>
            <a:avLst/>
            <a:gdLst/>
            <a:ahLst/>
            <a:cxnLst/>
            <a:rect l="0" t="0" r="r" b="b"/>
            <a:pathLst>
              <a:path w="1005840" h="9144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5486400" y="228600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应用知识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1737360" y="3017520"/>
            <a:ext cx="9144" cy="1325880"/>
          </a:xfrm>
          <a:custGeom>
            <a:avLst/>
            <a:gdLst/>
            <a:ahLst/>
            <a:cxnLst/>
            <a:rect l="0" t="0" r="r" b="b"/>
            <a:pathLst>
              <a:path w="9144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868680" y="352044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运行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2560320" y="3017520"/>
            <a:ext cx="1325880" cy="1325880"/>
          </a:xfrm>
          <a:custGeom>
            <a:avLst/>
            <a:gdLst/>
            <a:ahLst/>
            <a:cxnLst/>
            <a:rect l="0" t="0" r="r" b="b"/>
            <a:pathLst>
              <a:path w="1325880" h="1325880" fill="none">
                <a:moveTo>
                  <a:pt x="1325880" y="0"/>
                </a:moveTo>
                <a:lnTo>
                  <a:pt x="0" y="1325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2743200" y="342900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运行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4572000" y="3017520"/>
            <a:ext cx="9144" cy="1325880"/>
          </a:xfrm>
          <a:custGeom>
            <a:avLst/>
            <a:gdLst/>
            <a:ahLst/>
            <a:cxnLst/>
            <a:rect l="0" t="0" r="r" b="b"/>
            <a:pathLst>
              <a:path w="9144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7" name="fig-d"/>
          <p:cNvSpPr/>
          <p:nvPr/>
        </p:nvSpPr>
        <p:spPr>
          <a:xfrm>
            <a:off x="4663440" y="352044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使用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8" name="fig-d"/>
          <p:cNvSpPr/>
          <p:nvPr/>
        </p:nvSpPr>
        <p:spPr>
          <a:xfrm>
            <a:off x="5349240" y="3017520"/>
            <a:ext cx="1280160" cy="1325880"/>
          </a:xfrm>
          <a:custGeom>
            <a:avLst/>
            <a:gdLst/>
            <a:ahLst/>
            <a:cxnLst/>
            <a:rect l="0" t="0" r="r" b="b"/>
            <a:pathLst>
              <a:path w="1280160" h="1325880" fill="none">
                <a:moveTo>
                  <a:pt x="1280160" y="132588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9" name="fig-d"/>
          <p:cNvSpPr/>
          <p:nvPr/>
        </p:nvSpPr>
        <p:spPr>
          <a:xfrm>
            <a:off x="5989320" y="324612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使用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0" name="fig-d"/>
          <p:cNvSpPr/>
          <p:nvPr/>
        </p:nvSpPr>
        <p:spPr>
          <a:xfrm>
            <a:off x="7406640" y="3017520"/>
            <a:ext cx="9144" cy="1325880"/>
          </a:xfrm>
          <a:custGeom>
            <a:avLst/>
            <a:gdLst/>
            <a:ahLst/>
            <a:cxnLst/>
            <a:rect l="0" t="0" r="r" b="b"/>
            <a:pathLst>
              <a:path w="9144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21" name="fig-d"/>
          <p:cNvSpPr/>
          <p:nvPr/>
        </p:nvSpPr>
        <p:spPr>
          <a:xfrm>
            <a:off x="7498080" y="352044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包含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22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8-1 讲第 4 页（遗留系统的组成）重画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3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先按两个轴评价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四格只写评价结果，策略在下一页另选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1097280" y="2331720"/>
            <a:ext cx="9144" cy="3200400"/>
          </a:xfrm>
          <a:custGeom>
            <a:avLst/>
            <a:gdLst/>
            <a:ahLst/>
            <a:cxnLst/>
            <a:rect l="0" t="0" r="r" b="b"/>
            <a:pathLst>
              <a:path w="9144" h="3200400" fill="none">
                <a:moveTo>
                  <a:pt x="0" y="32004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097280" y="5532120"/>
            <a:ext cx="7543800" cy="9144"/>
          </a:xfrm>
          <a:custGeom>
            <a:avLst/>
            <a:gdLst/>
            <a:ahLst/>
            <a:cxnLst/>
            <a:rect l="0" t="0" r="r" b="b"/>
            <a:pathLst>
              <a:path w="7543800" h="9144" fill="none">
                <a:moveTo>
                  <a:pt x="0" y="0"/>
                </a:moveTo>
                <a:lnTo>
                  <a:pt x="754380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188720" y="224028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业务价值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7315200" y="5559552"/>
            <a:ext cx="13258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系统质量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828800" y="2606040"/>
            <a:ext cx="2926080" cy="1280160"/>
          </a:xfrm>
          <a:prstGeom prst="ellipse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高业务价值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低系统质量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5303520" y="2606040"/>
            <a:ext cx="2926080" cy="1280160"/>
          </a:xfrm>
          <a:prstGeom prst="ellipse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高业务价值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高系统质量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828800" y="4114800"/>
            <a:ext cx="2926080" cy="128016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低业务价值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低系统质量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5303520" y="4114800"/>
            <a:ext cx="2926080" cy="128016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低业务价值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高系统质量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8-1 讲第 9 页（遗留软件系统的评价）重画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四种演化策略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先看落在哪一格，再用下一页的差额模型核算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3657600"/>
            <a:ext cx="19659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维护：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继续常规修改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2514600" y="3291840"/>
            <a:ext cx="1965960" cy="15544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重构：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行为保持，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提高局部质量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17720" y="2926080"/>
            <a:ext cx="1965960" cy="1920240"/>
          </a:xfrm>
          <a:prstGeom prst="rect">
            <a:avLst/>
          </a:prstGeom>
          <a:solidFill>
            <a:srgbClr val="E3C4C2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再工程：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理解之后重建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720840" y="2560320"/>
            <a:ext cx="1965960" cy="22860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替换：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换成新系统的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全部或一部分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11480" y="5074920"/>
            <a:ext cx="8275320" cy="9144"/>
          </a:xfrm>
          <a:custGeom>
            <a:avLst/>
            <a:gdLst/>
            <a:ahLst/>
            <a:cxnLst/>
            <a:rect l="0" t="0" r="r" b="b"/>
            <a:pathLst>
              <a:path w="8275320" h="9144" fill="none">
                <a:moveTo>
                  <a:pt x="0" y="0"/>
                </a:moveTo>
                <a:lnTo>
                  <a:pt x="8275320" y="0"/>
                </a:lnTo>
              </a:path>
            </a:pathLst>
          </a:custGeom>
          <a:noFill/>
          <a:ln w="2857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51389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改动由浅到深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差额为负就不要做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收益等于 Creeng 减 Cmaint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834640"/>
            <a:ext cx="4069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两项都已扣掉维护和运作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840480"/>
            <a:ext cx="4069080" cy="822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多套系统时，用这个差额排序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120640" y="2697480"/>
            <a:ext cx="3108960" cy="1143000"/>
          </a:xfrm>
          <a:prstGeom prst="diamond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收益 &lt; 0 ？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675120" y="3840480"/>
            <a:ext cx="9144" cy="228600"/>
          </a:xfrm>
          <a:custGeom>
            <a:avLst/>
            <a:gdLst/>
            <a:ahLst/>
            <a:cxnLst/>
            <a:rect l="0" t="0" r="r" b="b"/>
            <a:pathLst>
              <a:path w="9144" h="228600" fill="none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6766560" y="3767328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是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4069080"/>
            <a:ext cx="40690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结果为负，才不做再工程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411480" y="493776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Cmaint = [P3 − (P1 + P2)] × L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411480" y="525780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262626"/>
                </a:solidFill>
                <a:latin typeface="微软雅黑"/>
                <a:ea typeface="微软雅黑"/>
              </a:rPr>
              <a:t>Creeng = [P6 − (P4 + P5)] × (L − P8) − (P7 × P9)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0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公式：2024 版第 8-1 讲第 22–23 页（软件再工程的成本－收益模型）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Chikofsky 怎么分类</a:t>
            </a:r>
          </a:p>
        </p:txBody>
      </p:sp>
      <p:graphicFrame>
        <p:nvGraphicFramePr>
          <p:cNvPr id="90" name="table"/>
          <p:cNvGraphicFramePr>
            <a:graphicFrameLocks noGrp="1"/>
          </p:cNvGraphicFramePr>
          <p:nvPr/>
        </p:nvGraphicFramePr>
        <p:xfrm>
          <a:off x="411480" y="1600200"/>
          <a:ext cx="8321040" cy="3950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4572000"/>
                <a:gridCol w="2011680"/>
              </a:tblGrid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抽象层次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逆向工程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提高抽象，不改系统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↑ 升高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设计恢复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再补上领域知识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↑ 升高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重构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同一层次，保持外部行为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→ 不变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正向工程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从抽象做到实现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↓ 降低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再工程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先逆向理解，再正向实现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 algn="l"/>
                      <a:r>
                        <a:rPr lang="zh-CN" altLang="en-US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↑ 再 ↓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91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正向工程与再工程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2103120"/>
            <a:ext cx="1325880" cy="82296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正向工程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874520" y="2103120"/>
            <a:ext cx="2011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从系统规格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说明出发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3904488" y="2514600"/>
            <a:ext cx="438912" cy="9144"/>
          </a:xfrm>
          <a:custGeom>
            <a:avLst/>
            <a:gdLst/>
            <a:ahLst/>
            <a:cxnLst/>
            <a:rect l="0" t="0" r="r" b="b"/>
            <a:pathLst>
              <a:path w="438912" h="9144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343400" y="2057400"/>
            <a:ext cx="2011680" cy="914400"/>
          </a:xfrm>
          <a:prstGeom prst="ellipse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再做设计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和实现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6373368" y="2514600"/>
            <a:ext cx="347472" cy="9144"/>
          </a:xfrm>
          <a:custGeom>
            <a:avLst/>
            <a:gdLst/>
            <a:ahLst/>
            <a:cxnLst/>
            <a:rect l="0" t="0" r="r" b="b"/>
            <a:pathLst>
              <a:path w="347472" h="9144" fill="none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6720840" y="2103120"/>
            <a:ext cx="2011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得到一套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新系统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65760" y="3840480"/>
            <a:ext cx="1325880" cy="82296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再工程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874520" y="3840480"/>
            <a:ext cx="2011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从现有软件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系统出发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3904488" y="4251960"/>
            <a:ext cx="438912" cy="9144"/>
          </a:xfrm>
          <a:custGeom>
            <a:avLst/>
            <a:gdLst/>
            <a:ahLst/>
            <a:cxnLst/>
            <a:rect l="0" t="0" r="r" b="b"/>
            <a:pathLst>
              <a:path w="438912" h="9144" fill="none">
                <a:moveTo>
                  <a:pt x="0" y="0"/>
                </a:moveTo>
                <a:lnTo>
                  <a:pt x="438912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"/>
          <p:cNvSpPr/>
          <p:nvPr/>
        </p:nvSpPr>
        <p:spPr>
          <a:xfrm>
            <a:off x="4343400" y="3794760"/>
            <a:ext cx="2011680" cy="914400"/>
          </a:xfrm>
          <a:prstGeom prst="ellipse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先理解，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再转换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6373368" y="4251960"/>
            <a:ext cx="347472" cy="9144"/>
          </a:xfrm>
          <a:custGeom>
            <a:avLst/>
            <a:gdLst/>
            <a:ahLst/>
            <a:cxnLst/>
            <a:rect l="0" t="0" r="r" b="b"/>
            <a:pathLst>
              <a:path w="347472" h="9144" fill="none">
                <a:moveTo>
                  <a:pt x="0" y="0"/>
                </a:moveTo>
                <a:lnTo>
                  <a:pt x="347472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"/>
          <p:cNvSpPr/>
          <p:nvPr/>
        </p:nvSpPr>
        <p:spPr>
          <a:xfrm>
            <a:off x="6720840" y="3840480"/>
            <a:ext cx="20116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得到再工程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后的系统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3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8-1 讲第 17 页（正向工程和再工程）重画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再工程的过程步骤</a:t>
            </a:r>
          </a:p>
        </p:txBody>
      </p:sp>
      <p:sp>
        <p:nvSpPr>
          <p:cNvPr id="101" name="fig-d"/>
          <p:cNvSpPr/>
          <p:nvPr/>
        </p:nvSpPr>
        <p:spPr>
          <a:xfrm>
            <a:off x="548640" y="1691640"/>
            <a:ext cx="9144" cy="3840480"/>
          </a:xfrm>
          <a:custGeom>
            <a:avLst/>
            <a:gdLst/>
            <a:ahLst/>
            <a:cxnLst/>
            <a:rect l="0" t="0" r="r" b="b"/>
            <a:pathLst>
              <a:path w="9144" h="3840480" fill="none">
                <a:moveTo>
                  <a:pt x="0" y="384048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640080" y="16002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抽象层次高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40080" y="53492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抽象层次低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005840" y="4754880"/>
            <a:ext cx="1737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现有系统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280160" y="3429000"/>
            <a:ext cx="173736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逆向工程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2697480" y="2057400"/>
            <a:ext cx="173736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设计恢复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709160" y="2057400"/>
            <a:ext cx="1737360" cy="68580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重构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6126480" y="3429000"/>
            <a:ext cx="1737360" cy="68580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正向工程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6355080" y="4754880"/>
            <a:ext cx="21945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262626"/>
                </a:solidFill>
                <a:latin typeface="微软雅黑"/>
                <a:ea typeface="微软雅黑"/>
              </a:rPr>
              <a:t>再工程后的系统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1874520" y="4133088"/>
            <a:ext cx="137160" cy="621792"/>
          </a:xfrm>
          <a:custGeom>
            <a:avLst/>
            <a:gdLst/>
            <a:ahLst/>
            <a:cxnLst/>
            <a:rect l="0" t="0" r="r" b="b"/>
            <a:pathLst>
              <a:path w="137160" h="621792" fill="none">
                <a:moveTo>
                  <a:pt x="0" y="621792"/>
                </a:moveTo>
                <a:lnTo>
                  <a:pt x="13716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2377440" y="2761488"/>
            <a:ext cx="731520" cy="667512"/>
          </a:xfrm>
          <a:custGeom>
            <a:avLst/>
            <a:gdLst/>
            <a:ahLst/>
            <a:cxnLst/>
            <a:rect l="0" t="0" r="r" b="b"/>
            <a:pathLst>
              <a:path w="731520" h="667512" fill="none">
                <a:moveTo>
                  <a:pt x="0" y="667512"/>
                </a:moveTo>
                <a:lnTo>
                  <a:pt x="73152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453128" y="2395728"/>
            <a:ext cx="237744" cy="9144"/>
          </a:xfrm>
          <a:custGeom>
            <a:avLst/>
            <a:gdLst/>
            <a:ahLst/>
            <a:cxnLst/>
            <a:rect l="0" t="0" r="r" b="b"/>
            <a:pathLst>
              <a:path w="237744" h="9144" fill="none">
                <a:moveTo>
                  <a:pt x="0" y="0"/>
                </a:moveTo>
                <a:lnTo>
                  <a:pt x="237744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6035040" y="2761488"/>
            <a:ext cx="640080" cy="667512"/>
          </a:xfrm>
          <a:custGeom>
            <a:avLst/>
            <a:gdLst/>
            <a:ahLst/>
            <a:cxnLst/>
            <a:rect l="0" t="0" r="r" b="b"/>
            <a:pathLst>
              <a:path w="640080" h="667512" fill="none">
                <a:moveTo>
                  <a:pt x="0" y="0"/>
                </a:moveTo>
                <a:lnTo>
                  <a:pt x="640080" y="667512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7086600" y="4133088"/>
            <a:ext cx="274320" cy="603504"/>
          </a:xfrm>
          <a:custGeom>
            <a:avLst/>
            <a:gdLst/>
            <a:ahLst/>
            <a:cxnLst/>
            <a:rect l="0" t="0" r="r" b="b"/>
            <a:pathLst>
              <a:path w="274320" h="603504" fill="none">
                <a:moveTo>
                  <a:pt x="0" y="0"/>
                </a:moveTo>
                <a:lnTo>
                  <a:pt x="274320" y="603504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3200400" y="30175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先往上：理解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4800600" y="30175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再往下：实现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A33B38"/>
                </a:solidFill>
                <a:latin typeface="微软雅黑"/>
                <a:ea typeface="微软雅黑"/>
              </a:rPr>
              <a:t>软件再工程的过程模型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36192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与上一页四步角度不同：这里按活动列出七步，转完一轮可以再来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3794760" y="2066544"/>
            <a:ext cx="1554480" cy="493776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软件清单分析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6082461" y="2624279"/>
            <a:ext cx="1554480" cy="493776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文档重构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6647477" y="3877498"/>
            <a:ext cx="1554480" cy="493776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逆向工程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5064339" y="4882502"/>
            <a:ext cx="1554480" cy="493776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设计重构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2525181" y="4882502"/>
            <a:ext cx="1554480" cy="493776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代码重构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942043" y="3877498"/>
            <a:ext cx="1554480" cy="493776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数据重构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1507059" y="2624279"/>
            <a:ext cx="1554480" cy="493776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正向工程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5258310" y="2480753"/>
            <a:ext cx="915081" cy="223094"/>
          </a:xfrm>
          <a:custGeom>
            <a:avLst/>
            <a:gdLst/>
            <a:ahLst/>
            <a:cxnLst/>
            <a:rect l="0" t="0" r="r" b="b"/>
            <a:pathLst>
              <a:path w="915081" h="223094" fill="none">
                <a:moveTo>
                  <a:pt x="0" y="0"/>
                </a:moveTo>
                <a:lnTo>
                  <a:pt x="915081" y="223094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7029206" y="3247133"/>
            <a:ext cx="226006" cy="501288"/>
          </a:xfrm>
          <a:custGeom>
            <a:avLst/>
            <a:gdLst/>
            <a:ahLst/>
            <a:cxnLst/>
            <a:rect l="0" t="0" r="r" b="b"/>
            <a:pathLst>
              <a:path w="226006" h="501288" fill="none">
                <a:moveTo>
                  <a:pt x="0" y="0"/>
                </a:moveTo>
                <a:lnTo>
                  <a:pt x="226006" y="501288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6316520" y="4425888"/>
            <a:ext cx="633255" cy="402002"/>
          </a:xfrm>
          <a:custGeom>
            <a:avLst/>
            <a:gdLst/>
            <a:ahLst/>
            <a:cxnLst/>
            <a:rect l="0" t="0" r="r" b="b"/>
            <a:pathLst>
              <a:path w="633255" h="402002" fill="none">
                <a:moveTo>
                  <a:pt x="633255" y="0"/>
                </a:moveTo>
                <a:lnTo>
                  <a:pt x="0" y="402002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4064169" y="5129390"/>
            <a:ext cx="1015663" cy="9144"/>
          </a:xfrm>
          <a:custGeom>
            <a:avLst/>
            <a:gdLst/>
            <a:ahLst/>
            <a:cxnLst/>
            <a:rect l="0" t="0" r="r" b="b"/>
            <a:pathLst>
              <a:path w="1015663" h="9144" fill="none">
                <a:moveTo>
                  <a:pt x="1015663" y="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2194224" y="4425888"/>
            <a:ext cx="633255" cy="402002"/>
          </a:xfrm>
          <a:custGeom>
            <a:avLst/>
            <a:gdLst/>
            <a:ahLst/>
            <a:cxnLst/>
            <a:rect l="0" t="0" r="r" b="b"/>
            <a:pathLst>
              <a:path w="633255" h="402002" fill="none">
                <a:moveTo>
                  <a:pt x="633255" y="402002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1888788" y="3247133"/>
            <a:ext cx="226006" cy="501288"/>
          </a:xfrm>
          <a:custGeom>
            <a:avLst/>
            <a:gdLst/>
            <a:ahLst/>
            <a:cxnLst/>
            <a:rect l="0" t="0" r="r" b="b"/>
            <a:pathLst>
              <a:path w="226006" h="501288" fill="none">
                <a:moveTo>
                  <a:pt x="0" y="501288"/>
                </a:moveTo>
                <a:lnTo>
                  <a:pt x="226006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2970609" y="2480753"/>
            <a:ext cx="915081" cy="223094"/>
          </a:xfrm>
          <a:custGeom>
            <a:avLst/>
            <a:gdLst/>
            <a:ahLst/>
            <a:cxnLst/>
            <a:rect l="0" t="0" r="r" b="b"/>
            <a:pathLst>
              <a:path w="915081" h="223094" fill="none">
                <a:moveTo>
                  <a:pt x="0" y="223094"/>
                </a:moveTo>
                <a:lnTo>
                  <a:pt x="915081" y="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3474720" y="361188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595959"/>
                </a:solidFill>
                <a:latin typeface="微软雅黑"/>
                <a:ea typeface="微软雅黑"/>
              </a:rPr>
              <a:t>按活动划分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图：按 2024 版第 8-1 讲第 20 页（软件再工程的过程模型）重画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18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逆向工程抽出哪一层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00200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抽象层次逐级升高 ↗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4434840"/>
            <a:ext cx="19659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实现级：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语法树和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符号表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2514600" y="3749040"/>
            <a:ext cx="1965960" cy="1874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结构级：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调用图和依赖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17720" y="3063240"/>
            <a:ext cx="1965960" cy="2560320"/>
          </a:xfrm>
          <a:prstGeom prst="rect">
            <a:avLst/>
          </a:prstGeom>
          <a:solidFill>
            <a:srgbClr val="E3C4C2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功能级：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程序段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在做什么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720840" y="2377440"/>
            <a:ext cx="1965960" cy="32461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09728" rIns="109728" tIns="54864" bIns="54864" anchor="t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领域级：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对应到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业务概念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体系结构先恢复</a:t>
            </a:r>
          </a:p>
        </p:txBody>
      </p:sp>
      <p:sp>
        <p:nvSpPr>
          <p:cNvPr id="101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静态元素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动态元素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65760" y="2322576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调用与依赖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63440" y="2322576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进程之间的通信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365760" y="3493008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继承和包导入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663440" y="3493008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运行时的调用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365760" y="4663440"/>
            <a:ext cx="4114800" cy="1078992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编译时构件依赖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63440" y="4663440"/>
            <a:ext cx="4114800" cy="107899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对输入和事件的响应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恢复之后才改善</a:t>
            </a:r>
          </a:p>
        </p:txBody>
      </p:sp>
      <p:sp>
        <p:nvSpPr>
          <p:cNvPr id="101" name="fig-d"/>
          <p:cNvSpPr/>
          <p:nvPr/>
        </p:nvSpPr>
        <p:spPr>
          <a:xfrm>
            <a:off x="1051560" y="1600200"/>
            <a:ext cx="265176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需求变化分析与归类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2377440" y="2011680"/>
            <a:ext cx="9144" cy="182880"/>
          </a:xfrm>
          <a:custGeom>
            <a:avLst/>
            <a:gdLst/>
            <a:ahLst/>
            <a:cxnLst/>
            <a:rect l="0" t="0" r="r" b="b"/>
            <a:pathLst>
              <a:path w="914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1051560" y="2194560"/>
            <a:ext cx="265176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软件体系结构进化计划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1417320" y="2606040"/>
            <a:ext cx="960120" cy="246888"/>
          </a:xfrm>
          <a:custGeom>
            <a:avLst/>
            <a:gdLst/>
            <a:ahLst/>
            <a:cxnLst/>
            <a:rect l="0" t="0" r="r" b="b"/>
            <a:pathLst>
              <a:path w="960120" h="246888" fill="none">
                <a:moveTo>
                  <a:pt x="960120" y="0"/>
                </a:moveTo>
                <a:lnTo>
                  <a:pt x="960120" y="118872"/>
                </a:lnTo>
                <a:lnTo>
                  <a:pt x="0" y="118872"/>
                </a:lnTo>
                <a:lnTo>
                  <a:pt x="0" y="246888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2377440" y="2724912"/>
            <a:ext cx="1234440" cy="128016"/>
          </a:xfrm>
          <a:custGeom>
            <a:avLst/>
            <a:gdLst/>
            <a:ahLst/>
            <a:cxnLst/>
            <a:rect l="0" t="0" r="r" b="b"/>
            <a:pathLst>
              <a:path w="1234440" h="128016" fill="none">
                <a:moveTo>
                  <a:pt x="0" y="0"/>
                </a:moveTo>
                <a:lnTo>
                  <a:pt x="1234440" y="0"/>
                </a:lnTo>
                <a:lnTo>
                  <a:pt x="1234440" y="128016"/>
                </a:lnTo>
              </a:path>
            </a:pathLst>
          </a:custGeom>
          <a:noFill/>
          <a:ln w="1587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457200" y="2852928"/>
            <a:ext cx="192024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软件体系结构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的恢复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2606040" y="2852928"/>
            <a:ext cx="2011680" cy="6400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搜索可复用或</a:t>
            </a:r>
            <a:br>
              <a:rPr lang="zh-CN" sz="1600">
                <a:latin typeface="微软雅黑"/>
                <a:ea typeface="微软雅黑"/>
              </a:rPr>
            </a:b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第三方构件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1417320" y="3493008"/>
            <a:ext cx="2194560" cy="118872"/>
          </a:xfrm>
          <a:custGeom>
            <a:avLst/>
            <a:gdLst/>
            <a:ahLst/>
            <a:cxnLst/>
            <a:rect l="0" t="0" r="r" b="b"/>
            <a:pathLst>
              <a:path w="2194560" h="118872" fill="none">
                <a:moveTo>
                  <a:pt x="0" y="0"/>
                </a:moveTo>
                <a:lnTo>
                  <a:pt x="0" y="118872"/>
                </a:lnTo>
                <a:lnTo>
                  <a:pt x="2194560" y="118872"/>
                </a:lnTo>
                <a:lnTo>
                  <a:pt x="2194560" y="0"/>
                </a:lnTo>
              </a:path>
            </a:pathLst>
          </a:custGeom>
          <a:noFill/>
          <a:ln w="15875">
            <a:solidFill>
              <a:srgbClr val="595959"/>
            </a:solidFill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-d"/>
          <p:cNvSpPr/>
          <p:nvPr/>
        </p:nvSpPr>
        <p:spPr>
          <a:xfrm>
            <a:off x="2377440" y="3611880"/>
            <a:ext cx="9144" cy="155448"/>
          </a:xfrm>
          <a:custGeom>
            <a:avLst/>
            <a:gdLst/>
            <a:ahLst/>
            <a:cxnLst/>
            <a:rect l="0" t="0" r="r" b="b"/>
            <a:pathLst>
              <a:path w="9144" h="155448" fill="none">
                <a:moveTo>
                  <a:pt x="0" y="0"/>
                </a:moveTo>
                <a:lnTo>
                  <a:pt x="0" y="155448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0" name="fig-d"/>
          <p:cNvSpPr/>
          <p:nvPr/>
        </p:nvSpPr>
        <p:spPr>
          <a:xfrm>
            <a:off x="1051560" y="3767328"/>
            <a:ext cx="2651760" cy="4114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软件体系结构的改善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1" name="fig-d"/>
          <p:cNvSpPr/>
          <p:nvPr/>
        </p:nvSpPr>
        <p:spPr>
          <a:xfrm>
            <a:off x="2377440" y="4178808"/>
            <a:ext cx="9144" cy="182880"/>
          </a:xfrm>
          <a:custGeom>
            <a:avLst/>
            <a:gdLst/>
            <a:ahLst/>
            <a:cxnLst/>
            <a:rect l="0" t="0" r="r" b="b"/>
            <a:pathLst>
              <a:path w="914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2" name="fig-d"/>
          <p:cNvSpPr/>
          <p:nvPr/>
        </p:nvSpPr>
        <p:spPr>
          <a:xfrm>
            <a:off x="777240" y="4361688"/>
            <a:ext cx="320040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软件体系结构的评价与技术评审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3" name="fig-d"/>
          <p:cNvSpPr/>
          <p:nvPr/>
        </p:nvSpPr>
        <p:spPr>
          <a:xfrm>
            <a:off x="2377440" y="4773168"/>
            <a:ext cx="9144" cy="182880"/>
          </a:xfrm>
          <a:custGeom>
            <a:avLst/>
            <a:gdLst/>
            <a:ahLst/>
            <a:cxnLst/>
            <a:rect l="0" t="0" r="r" b="b"/>
            <a:pathLst>
              <a:path w="9144" h="182880" fill="none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22225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4" name="fig-d"/>
          <p:cNvSpPr/>
          <p:nvPr/>
        </p:nvSpPr>
        <p:spPr>
          <a:xfrm>
            <a:off x="1051560" y="4956048"/>
            <a:ext cx="2651760" cy="411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</a:rPr>
              <a:t>进化后的软件体系结构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5" name="fig-d"/>
          <p:cNvSpPr/>
          <p:nvPr/>
        </p:nvSpPr>
        <p:spPr>
          <a:xfrm>
            <a:off x="292608" y="2395728"/>
            <a:ext cx="740664" cy="2176272"/>
          </a:xfrm>
          <a:custGeom>
            <a:avLst/>
            <a:gdLst/>
            <a:ahLst/>
            <a:cxnLst/>
            <a:rect l="0" t="0" r="r" b="b"/>
            <a:pathLst>
              <a:path w="740664" h="2176272" fill="none">
                <a:moveTo>
                  <a:pt x="484632" y="2176272"/>
                </a:moveTo>
                <a:lnTo>
                  <a:pt x="0" y="2176272"/>
                </a:lnTo>
                <a:lnTo>
                  <a:pt x="0" y="0"/>
                </a:lnTo>
                <a:lnTo>
                  <a:pt x="740664" y="0"/>
                </a:lnTo>
              </a:path>
            </a:pathLst>
          </a:custGeom>
          <a:noFill/>
          <a:ln w="1587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16" name="fig-d"/>
          <p:cNvSpPr/>
          <p:nvPr/>
        </p:nvSpPr>
        <p:spPr>
          <a:xfrm>
            <a:off x="320040" y="4023360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A33B38"/>
                </a:solidFill>
                <a:latin typeface="微软雅黑"/>
                <a:ea typeface="微软雅黑"/>
              </a:rPr>
              <a:t>未通过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17" name="fig"/>
          <p:cNvSpPr/>
          <p:nvPr/>
        </p:nvSpPr>
        <p:spPr>
          <a:xfrm>
            <a:off x="5029200" y="1600200"/>
            <a:ext cx="370332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以新出现的需求为依据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8" name="fig"/>
          <p:cNvSpPr/>
          <p:nvPr/>
        </p:nvSpPr>
        <p:spPr>
          <a:xfrm>
            <a:off x="5029200" y="2514600"/>
            <a:ext cx="370332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改善以恢复出的结构为底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9" name="fig"/>
          <p:cNvSpPr/>
          <p:nvPr/>
        </p:nvSpPr>
        <p:spPr>
          <a:xfrm>
            <a:off x="5029200" y="3429000"/>
            <a:ext cx="370332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可以接上系统外的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可复用模块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0" name="fig"/>
          <p:cNvSpPr/>
          <p:nvPr/>
        </p:nvSpPr>
        <p:spPr>
          <a:xfrm>
            <a:off x="5029200" y="4526280"/>
            <a:ext cx="3703320" cy="7772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然后才落到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代码重构和数据重构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1" name="fn-source"/>
          <p:cNvSpPr/>
          <p:nvPr/>
        </p:nvSpPr>
        <p:spPr>
          <a:xfrm>
            <a:off x="411480" y="576072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b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流程图：按 2024 版第 8-1 讲第 27 页（软件体系结构进化的过程）重画</a:t>
            </a:r>
            <a:endParaRPr lang="zh-CN" sz="1200">
              <a:latin typeface="微软雅黑"/>
              <a:ea typeface="微软雅黑"/>
            </a:endParaRPr>
          </a:p>
        </p:txBody>
      </p:sp>
      <p:sp>
        <p:nvSpPr>
          <p:cNvPr id="122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逆向工程与再工程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两条演化规律</a:t>
            </a:r>
          </a:p>
        </p:txBody>
      </p:sp>
      <p:sp>
        <p:nvSpPr>
          <p:cNvPr id="101" name="fig"/>
          <p:cNvSpPr/>
          <p:nvPr/>
        </p:nvSpPr>
        <p:spPr>
          <a:xfrm>
            <a:off x="411480" y="1691640"/>
            <a:ext cx="4069080" cy="20116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持续变化：</a:t>
            </a:r>
            <a:endParaRPr lang="zh-CN" sz="24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系统还在用，就要继续改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663440" y="1691640"/>
            <a:ext cx="4069080" cy="201168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复杂度增长：</a:t>
            </a:r>
            <a:endParaRPr lang="zh-CN" sz="24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不专门治理就会变难改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84048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两条都出自 Lehman 1980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11480" y="4526280"/>
            <a:ext cx="8321040" cy="9601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</a:rPr>
              <a:t>重构治的是第二条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5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演化规律与小结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同一业务域的两种形态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同一业务域的两种实现形态，不是同一版本迁移前后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365760" y="2432304"/>
            <a:ext cx="4114800" cy="640080"/>
          </a:xfrm>
          <a:prstGeom prst="round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mall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663440" y="2432304"/>
            <a:ext cx="4114800" cy="6400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FFFFFF"/>
                </a:solidFill>
                <a:latin typeface="微软雅黑"/>
                <a:ea typeface="微软雅黑"/>
              </a:rPr>
              <a:t>mall-swarm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365760" y="3182112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三个独立应用组成、无注册中心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63440" y="3182112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网关和认证分开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365760" y="4069080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认证在 mall-security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663440" y="4069080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注册与配置用 Nacos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365760" y="4956048"/>
            <a:ext cx="4114800" cy="795528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无独立网关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4663440" y="4956048"/>
            <a:ext cx="4114800" cy="7955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服务按边界拆开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10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演化规律与小结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拆分后技术债先升高</a:t>
            </a:r>
          </a:p>
        </p:txBody>
      </p:sp>
      <p:sp>
        <p:nvSpPr>
          <p:cNvPr id="101" name="body"/>
          <p:cNvSpPr/>
          <p:nvPr/>
        </p:nvSpPr>
        <p:spPr>
          <a:xfrm>
            <a:off x="411480" y="157276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Lenarduzzi 等，2020；单案例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2286000"/>
            <a:ext cx="832104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一家企业，约四年，约 28 万行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3108960"/>
            <a:ext cx="3840480" cy="12344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拆出微服务时，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技术债先升高 ↑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297680" y="3721608"/>
            <a:ext cx="548640" cy="9144"/>
          </a:xfrm>
          <a:custGeom>
            <a:avLst/>
            <a:gdLst/>
            <a:ahLst/>
            <a:cxnLst/>
            <a:rect l="0" t="0" r="r" b="b"/>
            <a:pathLst>
              <a:path w="548640" h="9144" fill="none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892040" y="3108960"/>
            <a:ext cx="3840480" cy="1234440"/>
          </a:xfrm>
          <a:prstGeom prst="round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稳定之后，</a:t>
            </a:r>
            <a:endParaRPr lang="zh-CN" sz="22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A33B38"/>
                </a:solidFill>
                <a:latin typeface="微软雅黑"/>
                <a:ea typeface="微软雅黑"/>
              </a:rPr>
              <a:t>增长变慢 →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617720"/>
            <a:ext cx="8321040" cy="82296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400" b="1">
                <a:solidFill>
                  <a:srgbClr val="A33B38"/>
                </a:solidFill>
                <a:latin typeface="微软雅黑"/>
                <a:ea typeface="微软雅黑"/>
              </a:rPr>
              <a:t>这是单一案例，不能外推成普遍更省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7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演化规律与小结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01" name="fig-d"/>
          <p:cNvSpPr/>
          <p:nvPr/>
        </p:nvSpPr>
        <p:spPr>
          <a:xfrm>
            <a:off x="685800" y="2011680"/>
            <a:ext cx="109728" cy="2926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960120" y="1463040"/>
            <a:ext cx="1188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7200" b="1">
                <a:solidFill>
                  <a:srgbClr val="A33B38"/>
                </a:solidFill>
                <a:latin typeface="微软雅黑"/>
                <a:ea typeface="微软雅黑"/>
              </a:rPr>
              <a:t>“</a:t>
            </a:r>
            <a:endParaRPr lang="zh-CN" sz="72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97280" y="2377440"/>
            <a:ext cx="7406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这个系统该不该拆成微服务？</a:t>
            </a:r>
            <a:br>
              <a:rPr lang="zh-CN" sz="2800">
                <a:latin typeface="微软雅黑"/>
                <a:ea typeface="微软雅黑"/>
              </a:rPr>
            </a:br>
            <a:r>
              <a:rPr lang="zh-CN" altLang="en-US" sz="2800" b="1">
                <a:solidFill>
                  <a:srgbClr val="262626"/>
                </a:solidFill>
                <a:latin typeface="微软雅黑"/>
                <a:ea typeface="微软雅黑"/>
              </a:rPr>
              <a:t>要回答这个问题，你需要哪些证据？</a:t>
            </a:r>
            <a:endParaRPr lang="zh-CN" sz="2800">
              <a:latin typeface="微软雅黑"/>
              <a:ea typeface="微软雅黑"/>
            </a:endParaRPr>
          </a:p>
        </p:txBody>
      </p:sp>
      <p:sp>
        <p:nvSpPr>
          <p:cNvPr id="10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演化规律与小结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69164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417320" y="169164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特征测试锁行为，接缝用来替换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69748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417320" y="269748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内层注解不单独生效，外层事务仍在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70332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417320" y="370332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策略由业务价值与系统质量一起决定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709160"/>
            <a:ext cx="91440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36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36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417320" y="4709160"/>
            <a:ext cx="73152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AI 方案先查约束和无关修改，再看测试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9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演化规律与小结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课前已在学习通完成，课上逐题讲评；题干和选项与学习通一致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为一段旧的运费计算方法写特征测试时，发现重量为 0 时它返回 -1，</a:t>
            </a:r>
            <a:br>
              <a:rPr sz="2000" b="0" lang="zh-CN" altLang="en-US"/>
            </a:br>
            <a:r>
              <a:rPr sz="2000" b="0" lang="zh-CN" altLang="en-US">
                <a:latin typeface="微软雅黑"/>
                <a:ea typeface="微软雅黑"/>
                <a:cs typeface="微软雅黑"/>
              </a:rPr>
              <a:t>显然不合理。特征测试应当：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先断言返回 -1，固定现有行为，是否修正另行决定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直接断言返回 0；C. 跳过这种输入；D. 先改代码再写测试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“接缝”指什么？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类与类之间的继承关系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编译期依赖的注入点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代码中留待后续实现的空方法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不改动被测代码就能替换其行为的位置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同类方法自调用时，内层方法的注解会经由代理生效。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课前已在学习通完成，课上逐题讲评；题干和选项与学习通一致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一个系统业务价值很高，但代码质量差、文档缺失，原开发者已经离开。按"业务价值—系统质量"两个维度，通常优先考虑哪种演化策略？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维护；B. 替换；C. 再工程；D. 直接废弃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购物车促销计算要加一种会员价。较合理的步骤顺序是：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先实现会员价，再补测试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先用特征测试固定现有计算结果，再重构出接缝，最后实现会员价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先重构出接缝，再写特征测试，最后实现会员价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直接在原方法里加分支，靠人工回归</a:t>
            </a:r>
          </a:p>
        </p:txBody>
      </p:sp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1" lang="zh-CN" altLang="en-US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本讲重点阅读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3530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6126480"/>
              </a:tblGrid>
              <a:tr h="6350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1" lang="zh-CN" altLang="en-US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965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[28]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Lenarduzzi 等 2020：迁移微服务是否降低技术债（必读）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5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[26]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Bennett 等 2000（选读）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96520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[23]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Lehman 1980（选读）</a:t>
                      </a:r>
                    </a:p>
                  </a:txBody>
                  <a:tcPr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4" name="sec-label"/>
          <p:cNvSpPr txBox="1"/>
          <p:nvPr/>
        </p:nvSpPr>
        <p:spPr>
          <a:xfrm>
            <a:off x="576072" y="36576"/>
            <a:ext cx="8001000" cy="246888"/>
          </a:xfrm>
          <a:prstGeom prst="rect">
            <a:avLst/>
          </a:prstGeom>
          <a:noFill/>
        </p:spPr>
        <p:txBody>
          <a:bodyPr wrap="square" lIns="91440" rIns="91440" tIns="0" bIns="0" anchor="b"/>
          <a:lstStyle/>
          <a:p>
            <a:pPr algn="l"/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</a:rPr>
              <a:t>布置</a:t>
            </a:r>
          </a:p>
        </p:txBody>
      </p:sp>
    </p:spTree>
  </p:cSld>
  <p:clrMapOvr>
    <a:masterClrMapping/>
  </p:clrMapOvr>
  <p:hf sldNum="0" hdr="0" ftr="0" dt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本次课结束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下次课：第 12 次课｜规格驱动的需求变更</a:t>
            </a:r>
          </a:p>
        </p:txBody>
      </p:sp>
    </p:spTree>
  </p:cSld>
  <p:clrMapOvr>
    <a:masterClrMapping/>
  </p:clrMapOvr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