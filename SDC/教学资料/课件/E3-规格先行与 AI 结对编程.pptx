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"/>
  </p:notesMasterIdLst>
  <p:handoutMasterIdLst>
    <p:handoutMasterId r:id="rId48"/>
  </p:handoutMasterIdLst>
  <p:sldIdLst>
    <p:sldId id="256" r:id="rId9"/>
    <p:sldId id="288" r:id="rId55"/>
    <p:sldId id="257" r:id="rId10"/>
    <p:sldId id="258" r:id="rId11"/>
    <p:sldId id="259" r:id="rId12"/>
    <p:sldId id="260" r:id="rId13"/>
    <p:sldId id="277" r:id="rId30"/>
    <p:sldId id="278" r:id="rId31"/>
    <p:sldId id="279" r:id="rId32"/>
    <p:sldId id="282" r:id="rId35"/>
    <p:sldId id="283" r:id="rId36"/>
    <p:sldId id="261" r:id="rId14"/>
    <p:sldId id="262" r:id="rId15"/>
    <p:sldId id="284" r:id="rId37"/>
    <p:sldId id="263" r:id="rId16"/>
    <p:sldId id="285" r:id="rId38"/>
    <p:sldId id="264" r:id="rId17"/>
    <p:sldId id="280" r:id="rId33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86" r:id="rId53"/>
    <p:sldId id="287" r:id="rId54"/>
    <p:sldId id="281" r:id="rId34"/>
    <p:sldId id="275" r:id="rId28"/>
    <p:sldId id="276" r:id="rId29"/>
    <p:sldId id="289" r:id="rId56"/>
  </p:sldIdLst>
  <p:sldSz cx="9144000" cy="6858000" type="screen4x3"/>
  <p:notesSz cx="6760845" cy="9931400"/>
  <p:custDataLst>
    <p:tags r:id="rId52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4D4D"/>
    <a:srgbClr val="FF3300"/>
    <a:srgbClr val="CC0000"/>
    <a:srgbClr val="FFFFCC"/>
    <a:srgbClr val="FFCCFF"/>
    <a:srgbClr val="FFFFFF"/>
    <a:srgbClr val="3399FF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2D5ABB26-0587-4C30-8999-92F81FD0307C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73" autoAdjust="0"/>
    <p:restoredTop sz="86423" autoAdjust="0"/>
  </p:normalViewPr>
  <p:slideViewPr>
    <p:cSldViewPr showGuides="1">
      <p:cViewPr varScale="1">
        <p:scale>
          <a:sx n="93" d="100"/>
          <a:sy n="93" d="100"/>
        </p:scale>
        <p:origin x="812" y="64"/>
      </p:cViewPr>
      <p:guideLst>
        <p:guide orient="horz" pos="2160"/>
        <p:guide pos="288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>
      <p:cViewPr>
        <p:scale>
          <a:sx n="100" d="100"/>
          <a:sy n="100" d="100"/>
        </p:scale>
        <p:origin x="1662" y="-1344"/>
      </p:cViewPr>
      <p:guideLst>
        <p:guide orient="horz" pos="3129"/>
        <p:guide pos="213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7.xml"/><Relationship Id="rId18" Type="http://schemas.openxmlformats.org/officeDocument/2006/relationships/slide" Target="slides/slide19.xml"/><Relationship Id="rId19" Type="http://schemas.openxmlformats.org/officeDocument/2006/relationships/slide" Target="slides/slide20.xml"/><Relationship Id="rId20" Type="http://schemas.openxmlformats.org/officeDocument/2006/relationships/slide" Target="slides/slide21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slide" Target="slides/slide26.xml"/><Relationship Id="rId26" Type="http://schemas.openxmlformats.org/officeDocument/2006/relationships/slide" Target="slides/slide27.xml"/><Relationship Id="rId27" Type="http://schemas.openxmlformats.org/officeDocument/2006/relationships/slide" Target="slides/slide28.xml"/><Relationship Id="rId28" Type="http://schemas.openxmlformats.org/officeDocument/2006/relationships/slide" Target="slides/slide32.xml"/><Relationship Id="rId29" Type="http://schemas.openxmlformats.org/officeDocument/2006/relationships/slide" Target="slides/slide33.xml"/><Relationship Id="rId30" Type="http://schemas.openxmlformats.org/officeDocument/2006/relationships/slide" Target="slides/slide7.xml"/><Relationship Id="rId31" Type="http://schemas.openxmlformats.org/officeDocument/2006/relationships/slide" Target="slides/slide8.xml"/><Relationship Id="rId32" Type="http://schemas.openxmlformats.org/officeDocument/2006/relationships/slide" Target="slides/slide9.xml"/><Relationship Id="rId33" Type="http://schemas.openxmlformats.org/officeDocument/2006/relationships/slide" Target="slides/slide18.xml"/><Relationship Id="rId34" Type="http://schemas.openxmlformats.org/officeDocument/2006/relationships/slide" Target="slides/slide31.xml"/><Relationship Id="rId35" Type="http://schemas.openxmlformats.org/officeDocument/2006/relationships/slide" Target="slides/slide10.xml"/><Relationship Id="rId36" Type="http://schemas.openxmlformats.org/officeDocument/2006/relationships/slide" Target="slides/slide11.xml"/><Relationship Id="rId37" Type="http://schemas.openxmlformats.org/officeDocument/2006/relationships/slide" Target="slides/slide14.xml"/><Relationship Id="rId38" Type="http://schemas.openxmlformats.org/officeDocument/2006/relationships/slide" Target="slides/slide16.xml"/><Relationship Id="rId48" Type="http://schemas.openxmlformats.org/officeDocument/2006/relationships/handoutMaster" Target="handoutMasters/handout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ableStyles" Target="tableStyles.xml"/><Relationship Id="rId52" Type="http://schemas.openxmlformats.org/officeDocument/2006/relationships/tags" Target="tags/tag7.xml"/><Relationship Id="rId53" Type="http://schemas.openxmlformats.org/officeDocument/2006/relationships/slide" Target="slides/slide29.xml"/><Relationship Id="rId54" Type="http://schemas.openxmlformats.org/officeDocument/2006/relationships/slide" Target="slides/slide30.xml"/><Relationship Id="rId55" Type="http://schemas.openxmlformats.org/officeDocument/2006/relationships/slide" Target="slides/slide2.xml"/><Relationship Id="rId56" Type="http://schemas.openxmlformats.org/officeDocument/2006/relationships/slide" Target="slides/slide3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7203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63975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63975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F9BFF2AA-1B51-48D4-AF79-5A13FE5BDCE2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27463" y="0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98525" y="744538"/>
            <a:ext cx="4967288" cy="372586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4688" y="4719638"/>
            <a:ext cx="5411787" cy="4467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/>
          <a:p>
            <a:pPr lvl="0"/>
            <a:r>
              <a:rPr lang="en-US" altLang="zh-CN" noProof="0"/>
              <a:t>Click to edit Master text styles</a:t>
            </a:r>
            <a:endParaRPr lang="en-US" altLang="zh-CN" noProof="0"/>
          </a:p>
          <a:p>
            <a:pPr lvl="1"/>
            <a:r>
              <a:rPr lang="en-US" altLang="zh-CN" noProof="0"/>
              <a:t>Second level</a:t>
            </a:r>
            <a:endParaRPr lang="en-US" altLang="zh-CN" noProof="0"/>
          </a:p>
          <a:p>
            <a:pPr lvl="2"/>
            <a:r>
              <a:rPr lang="en-US" altLang="zh-CN" noProof="0"/>
              <a:t>Third level</a:t>
            </a:r>
            <a:endParaRPr lang="en-US" altLang="zh-CN" noProof="0"/>
          </a:p>
          <a:p>
            <a:pPr lvl="3"/>
            <a:r>
              <a:rPr lang="en-US" altLang="zh-CN" noProof="0"/>
              <a:t>Fourth level</a:t>
            </a:r>
            <a:endParaRPr lang="en-US" altLang="zh-CN" noProof="0"/>
          </a:p>
          <a:p>
            <a:pPr lvl="4"/>
            <a:r>
              <a:rPr lang="en-US" altLang="zh-CN" noProof="0"/>
              <a:t>Fifth level</a:t>
            </a:r>
            <a:endParaRPr lang="en-US" altLang="zh-CN" noProof="0"/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1338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27463" y="9431338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fld id="{BF21029A-2C2D-4ABF-B6A0-347AF3B9548E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节：封面</a:t>
            </a:r>
          </a:p>
          <a:p>
            <a:r>
              <a:t>本节 15 分钟</a:t>
            </a:r>
          </a:p>
          <a:p>
            <a:r>
              <a:t>定义：这次实验先写规格和失败测试，再与 AI 协作实现，并留下审查记录和覆盖率。</a:t>
            </a:r>
          </a:p>
          <a:p>
            <a:r>
              <a:t>代价：开场用这次的细则去投上一份作业，票和作品会对不上。</a:t>
            </a:r>
          </a:p>
          <a:p>
            <a:r>
              <a:t>判定：先确认被演示的是实验 E2，用 E2 的细则投票，然后再答签到。</a:t>
            </a:r>
          </a:p>
          <a:p>
            <a:r>
              <a:t>权衡：三个班周次不同，口头交代时间。课上只强调这是第 6 次课。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节：现场演示与投票</a:t>
            </a:r>
          </a:p>
          <a:p>
            <a:r>
              <a:t>时长见本节首页（本节 15 分钟）</a:t>
            </a:r>
          </a:p>
          <a:p>
            <a:r>
              <a:t>定义：这一页用的是实验 E2 的细则。被演示的是上一份作品，不是这次要交的作业。</a:t>
            </a:r>
          </a:p>
          <a:p>
            <a:r>
              <a:t>代价：用这次实验的三栏去投 E2 的作品，两项作业的证据会对错位。</a:t>
            </a:r>
          </a:p>
          <a:p>
            <a:r>
              <a:t>判定：票要能对上设计问题与调用关系、相关视图，以及对 AI 回答的核实记录和与教师示例的对照。</a:t>
            </a:r>
          </a:p>
          <a:p>
            <a:r>
              <a:t>权衡：E2 不要求完整迁移架构。这次实验的细则和边界在后面单独讲。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节：现场演示与投票</a:t>
            </a:r>
          </a:p>
          <a:p>
            <a:r>
              <a:t>时长见本节首页（本节 15 分钟）</a:t>
            </a:r>
          </a:p>
          <a:p>
            <a:r>
              <a:t>题目页</a:t>
            </a:r>
          </a:p>
          <a:p>
            <a:r>
              <a:t>答案：B</a:t>
            </a:r>
          </a:p>
          <a:p>
            <a:r>
              <a:t>定义：红灯指测试因业务断言失败而不通过。连不上数据库是环境错误，测试还没有真正运行。</a:t>
            </a:r>
          </a:p>
          <a:p>
            <a:r>
              <a:t>代价：把环境报错当红灯，后面的“变绿”不能证明修复有效。</a:t>
            </a:r>
          </a:p>
          <a:p>
            <a:r>
              <a:t>判定：先让测试能运行，再看它是否因断言失败而红。</a:t>
            </a:r>
          </a:p>
          <a:p>
            <a:r>
              <a:t>权衡：先完成实名演示再答这一题。选错这一题，这次到场就不计入。答案只留在备注。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节：任务说明</a:t>
            </a:r>
          </a:p>
          <a:p>
            <a:r>
              <a:t>本节 5 分钟</a:t>
            </a:r>
          </a:p>
          <a:p>
            <a:r>
              <a:t>定义：这五题是 T3 课前的预习。这里只给正确答案、判定依据，以及容易混到的另一个概念。</a:t>
            </a:r>
          </a:p>
          <a:p>
            <a:r>
              <a:t>代价：看不出控制器在翻译失败码，就会把登录的两种出站口径当成正常现象。</a:t>
            </a:r>
          </a:p>
          <a:p>
            <a:r>
              <a:t>判定：第 2 题对应本次教师示例 E3-00：失败语义分在服务层与控制器两层；第 3 题准则要能逐条核对。</a:t>
            </a:r>
          </a:p>
          <a:p>
            <a:r>
              <a:t>权衡：第 1 题看要说明的是调用次序；第 4 题决策记录要写清为什么不选别的方案；第 5 题规则要能离开页面测。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节：任务说明</a:t>
            </a:r>
          </a:p>
          <a:p>
            <a:r>
              <a:t>时长见本节首页（本节 5 分钟）</a:t>
            </a:r>
          </a:p>
          <a:p>
            <a:r>
              <a:t>定义：本次目标依据教案四条：能把需求写成规格与需求验收准则；能让 AI 按准则生成失败测试与实现，并核对测试是否对准准则；能对 AI 产出作出采纳、部分采纳或驳回的判断；能留下可审计的协作记录，并用目标方法的覆盖率说明测试证明了什么、没有证明什么。重点、难点为教案原句。</a:t>
            </a:r>
          </a:p>
          <a:p>
            <a:r>
              <a:t>代价：把连不上数据库的报错当成红灯，修的就不是业务缺陷。</a:t>
            </a:r>
          </a:p>
          <a:p>
            <a:r>
              <a:t>判定：作品要能对上所选方法的规格、改前失败与改后通过，以及未覆盖的解释。</a:t>
            </a:r>
          </a:p>
          <a:p>
            <a:r>
              <a:t>权衡：环境报错不算红灯。覆盖率不替代缺陷断言。无分支时分支项记不适用。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本节 60 分钟</a:t>
            </a:r>
          </a:p>
          <a:p>
            <a:r>
              <a:t>定义：密码错时第 105 行 Asserts.fail 抛 ApiException。它不是认证异常，第 115 行的 catch 接不住，穿出去由全局异常处理器回 500 与“密码不正确”。</a:t>
            </a:r>
          </a:p>
          <a:p>
            <a:r>
              <a:t>代价：只看服务方法的返回值看不出这一点，返回值根本没出来。</a:t>
            </a:r>
          </a:p>
          <a:p>
            <a:r>
              <a:t>判定：问这个异常是谁接住的，调用方最后收到的响应码是多少。</a:t>
            </a:r>
          </a:p>
          <a:p>
            <a:r>
              <a:t>权衡：禁用判断（第 107-109 行）同样抛 ApiException；令牌生成与登录日志在其后，catch 在第 115 行。</a:t>
            </a:r>
          </a:p>
          <a:p>
            <a:r>
              <a:t>基线 dcaa93b3150352e5044708d7211b5bed0af4509f。全局异常处理器 GlobalExceptionHandler 第 23-29 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定义：用户名不存在时，第 272 行抛 UsernameNotFoundException，它是认证异常，被第 115 行接住，login 返回 null；控制器第 63-64 行把 null 译成 404 与“用户名或密码错误”。</a:t>
            </a:r>
          </a:p>
          <a:p>
            <a:r>
              <a:t>代价：同一种“登录失败”，一条走异常、一条走 null，出口不同，口径就不同。</a:t>
            </a:r>
          </a:p>
          <a:p>
            <a:r>
              <a:t>判定：问 null 在这里表示什么，是谁把它翻译成文案的。</a:t>
            </a:r>
          </a:p>
          <a:p>
            <a:r>
              <a:t>权衡：控制器把 null 译成文案是原有的对外契约，修复保留这条路，让密码错也走它。</a:t>
            </a:r>
          </a:p>
          <a:p>
            <a:r>
              <a:t>基线 dcaa93b3150352e5044708d7211b5bed0af4509f。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定义：改后密码错抛 BadCredentialsException。它是认证异常，与用户名不存在一样被第 116 行接住，login 返回 null，控制器回 404 与同一文案。</a:t>
            </a:r>
          </a:p>
          <a:p>
            <a:r>
              <a:t>代价：认证异常被接住后只记一条 warn 日志，看日志也分不出是哪一种失败；这是规格的要求，不是遗漏。</a:t>
            </a:r>
          </a:p>
          <a:p>
            <a:r>
              <a:t>判定：问两种失败现在是不是同一个出口。</a:t>
            </a:r>
          </a:p>
          <a:p>
            <a:r>
              <a:t>权衡：禁用账号仍抛 ApiException，单独提示。修复提交 e0ea94ef65c9831bf241f4bd6d5c48c189a89e17。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定义：对照结论是符合。改前失败、改后通过，因为这是先有一条失败的规格测试，再把行为改对。</a:t>
            </a:r>
          </a:p>
          <a:p>
            <a:r>
              <a:t>代价：把符合理解成已经在运行的门户上放行，会超过这组测试实际打到的范围。</a:t>
            </a:r>
          </a:p>
          <a:p>
            <a:r>
              <a:t>判定：示例材料的对照结论符合。作业是否得分，仍看本次细则里的本人证据。</a:t>
            </a:r>
          </a:p>
          <a:p>
            <a:r>
              <a:t>权衡：没起完整容器与安全过滤链，也没走真实数据库，也没走 HTTP。赠送积分那条断言在基线上已经通过，红灯只来自 useIntegration。</a:t>
            </a:r>
          </a:p>
          <a:p>
            <a:r>
              <a:t>对照与覆盖率在 6d040ae97dc02db935cc7d2d5b0516bcc02808dd。分支当前头 f5b3258913e5b3ee31992bb5050c842a744ad8b2，这一提交不改订单代码，只让对照在管道出错或测试被跳过时失败。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定义：教师示例是 E3-00（登录与改密的失败契约，#47）；原积分示例 #10 答案已公开，只作参考，不作选题。替代题从这六项里选一项，检查实际改到的方法。</a:t>
            </a:r>
          </a:p>
          <a:p>
            <a:r>
              <a:t>代价：沿用教师示例的覆盖率报告，讲的就不是自己选的方法。</a:t>
            </a:r>
          </a:p>
          <a:p>
            <a:r>
              <a:t>判定：问所选编号的 Issue、要守的行为，以及实际修改的方法名。</a:t>
            </a:r>
          </a:p>
          <a:p>
            <a:r>
              <a:t>权衡：E3-05 空着，不补，旧编号也不复用。参考实现可以看，不能代替本人的选择和执行。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定义：第一步写规格。用户故事说登录失败时不暴露账号是否存在。验收准则写成调用方能观察到的响应码与文案。</a:t>
            </a:r>
          </a:p>
          <a:p>
            <a:r>
              <a:t>代价：准则写在代码之后，就会把现在的 500 也写成期望。</a:t>
            </a:r>
          </a:p>
          <a:p>
            <a:r>
              <a:t>判定：问这条准则在实现还不存在时，能否判断一次响应是对是错。</a:t>
            </a:r>
          </a:p>
          <a:p>
            <a:r>
              <a:t>权衡：文案“用户名或密码错误”不是新发明的，取自代码第 272 行；禁用单独提示，属于需求方的决定。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定义：第二步先写失败测试，并确认改前失败来自业务断言。在基线上 6 项里只有这一项失败，失败点是密码错时的响应码。怎样把准则和约束交给 AI，步骤③ 展开。</a:t>
            </a:r>
          </a:p>
          <a:p>
            <a:r>
              <a:t>代价：把连不上库、依赖没起来当成红灯，后面修的就不是这条准则。本测试不连库。</a:t>
            </a:r>
          </a:p>
          <a:p>
            <a:r>
              <a:t>判定：问用户名不存在那半句在基线上本来就过；红灯只来自密码错的那半句，这是不是准则要抓的。</a:t>
            </a:r>
          </a:p>
          <a:p>
            <a:r>
              <a:t>权衡：同组还有禁用、登录成功、改密失败与成功等 5 项，改前改后都过，用来守相邻行为。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定义：第三步把准则和约束一起交给 AI，再让它实现。它要回答改动、依据和测试。</a:t>
            </a:r>
          </a:p>
          <a:p>
            <a:r>
              <a:t>代价：只说“帮我修一下”，范围会飘到表结构、生成模型或别的实验。</a:t>
            </a:r>
          </a:p>
          <a:p>
            <a:r>
              <a:t>判定：问提示里有没有这条准则、有没有不得修改的部分、有没有要求列出行号。</a:t>
            </a:r>
          </a:p>
          <a:p>
            <a:r>
              <a:t>权衡：先写下自己的一句话判断，再看它的回答。对不上的行号要打开文件核对，不能直接信。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定义：第四步人工审查 diff。每一处都记下采纳、部分采纳或驳回，并写出依据。审查完再运行全部测试。</a:t>
            </a:r>
          </a:p>
          <a:p>
            <a:r>
              <a:t>代价：整段接受，无关的重命名和格式化会跟着进提交，以后对不上这次的准则。</a:t>
            </a:r>
          </a:p>
          <a:p>
            <a:r>
              <a:t>判定：问这一处对上了哪条准则或哪条约束。对不上的，拆出去或者驳回。</a:t>
            </a:r>
          </a:p>
          <a:p>
            <a:r>
              <a:t>权衡：本示例 AI 的三处改动都采纳；它没有改接口注释，而返回值含义变了，所以人工补上，记在 AI使用记录.md。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定义：第五步用 JaCoCo 0.8.13 分别测 login 与 updatePassword 的行覆盖和分支覆盖。两条都要不低于 80%，并解释没覆盖的部分。</a:t>
            </a:r>
          </a:p>
          <a:p>
            <a:r>
              <a:t>代价：只报一个百分比，不说明没走到的分支，这一项就没有解释。</a:t>
            </a:r>
          </a:p>
          <a:p>
            <a:r>
              <a:t>判定：问未覆盖的是不是这次缺陷本身。这里未覆盖的是参数为空的两个短路分支，控制器的 @NotEmpty 已先拦住。</a:t>
            </a:r>
          </a:p>
          <a:p>
            <a:r>
              <a:t>权衡：按插件坐标直接调用，不改 pom。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定义：第六步提交AI协作记录：使用披露、对话摘要、diff 审查记录，以及对照和覆盖率。</a:t>
            </a:r>
          </a:p>
          <a:p>
            <a:r>
              <a:t>代价：对话没保存却写成有摘要，审查记录就不可审计。</a:t>
            </a:r>
          </a:p>
          <a:p>
            <a:r>
              <a:t>判定：问记录里能不能找到每一处采纳或驳回，以及测试是实际跑过的还是“应该能过”。</a:t>
            </a:r>
          </a:p>
          <a:p>
            <a:r>
              <a:t>权衡：完全没用 AI 时，提交说明写 AI-Assisted: none。讲到 AI 产出时，要说明自己核对了什么。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定义：这些是本次细则里对不上的证据，以及教师示例验收里出现过的问题类型。</a:t>
            </a:r>
          </a:p>
          <a:p>
            <a:r>
              <a:t>代价：缺了改前的业务失败、未覆盖的解释，或审查取舍，对应的那一档就没有证据。</a:t>
            </a:r>
          </a:p>
          <a:p>
            <a:r>
              <a:t>判定：验证过要看到同一组测试改前失败、改后通过，还要看到边界和相邻行为。</a:t>
            </a:r>
          </a:p>
          <a:p>
            <a:r>
              <a:t>权衡：允许写“这里还没验证”。不允许把环境报错写成红灯，也不允许把未覆盖写成已经覆盖。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本节 10 分钟</a:t>
            </a:r>
          </a:p>
          <a:p>
            <a:r>
              <a:t>定义：超出任务范围，包括顺手重命名和格式化大量无关代码。处理是拆出去，或者驳回。</a:t>
            </a:r>
          </a:p>
          <a:p>
            <a:r>
              <a:t>代价：整段留下之后，diff 里分不清哪一处是在修这条准则。</a:t>
            </a:r>
          </a:p>
          <a:p>
            <a:r>
              <a:t>判定：先圈出和准则无关的行，再决定拆出还是驳回。要写出依据。</a:t>
            </a:r>
          </a:p>
          <a:p>
            <a:r>
              <a:t>权衡：新增依赖或新增配置又没有理由的，先标成待验证，说明理由后再决定。</a:t>
            </a:r>
          </a:p>
          <a:p>
            <a:r>
              <a:t>参考要点：拆出无关部分；或者驳回该部分。</a:t>
            </a:r>
          </a:p>
          <a:p>
            <a:r>
              <a:t>依据：协作规范里，超出任务范围的修改要拆出或驳回。教案第 6 次课的讨论题。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时长见本节首页（本节 10 分钟）</a:t>
            </a:r>
          </a:p>
          <a:p>
            <a:r>
              <a:t>定义：小结抽一个人，指出 AI 生成代码里被自己改掉的一处，并说明依据。</a:t>
            </a:r>
          </a:p>
          <a:p>
            <a:r>
              <a:t>代价：只说“我改过了”，不说行号和依据，有依据这一档对不上。</a:t>
            </a:r>
          </a:p>
          <a:p>
            <a:r>
              <a:t>判定：听的人要能复述：改了哪一行，为什么不能按 AI 的原样留下。</a:t>
            </a:r>
          </a:p>
          <a:p>
            <a:r>
              <a:t>权衡：教师示例可以当作讲法。讲的必须是自己选的那一处，不能把示例的行号当成自己的。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时长见本节首页（本节 10 分钟）</a:t>
            </a:r>
          </a:p>
          <a:p>
            <a:r>
              <a:t>定义：三栏是 30、30、40。讲清楚两项，有依据两项，验证过三项，都要有自己的证据。</a:t>
            </a:r>
          </a:p>
          <a:p>
            <a:r>
              <a:t>代价：缺了改前失败、边界回归或未覆盖的解释，验证过这一栏就少对应的那一项。</a:t>
            </a:r>
          </a:p>
          <a:p>
            <a:r>
              <a:t>判定：讲清楚看输入、期望、修改位置和数据流。有依据看不变量和采纳或驳回。</a:t>
            </a:r>
          </a:p>
          <a:p>
            <a:r>
              <a:t>权衡：示例材料对照符合，只说明那一份参考实现的记录齐。你的作业分看你自己的证据。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时长见本节首页（本节 10 分钟）</a:t>
            </a:r>
          </a:p>
          <a:p>
            <a:r>
              <a:t>定义：提交是一页说明加不超过 2 分钟的本人录屏，一页说明按讲清楚、有依据、验证过组织。</a:t>
            </a:r>
          </a:p>
          <a:p>
            <a:r>
              <a:t>代价：缺其中一项，对应那一项就没有证据。</a:t>
            </a:r>
          </a:p>
          <a:p>
            <a:r>
              <a:t>判定：录屏里要能看到失败测试、审查取舍和覆盖率结果。</a:t>
            </a:r>
          </a:p>
          <a:p>
            <a:r>
              <a:t>权衡：参考实现可以看，不能代替本人的选择、执行和证据。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节：任务说明</a:t>
            </a:r>
          </a:p>
          <a:p>
            <a:r>
              <a:t>课前自学，课上只点要点。</a:t>
            </a:r>
          </a:p>
          <a:p>
            <a:r>
              <a:t>依据：仓库测试 SDCE300Test.java 第 67 行（装配控制器与全局异常处理器）与第 98 行（断言响应），取自测试提交 d412136431afcd8179a6e3b53c7e4531fad5bc5d。</a:t>
            </a:r>
          </a:p>
          <a:p>
            <a:r>
              <a:t>定义：失败的语义一半在服务、一半在控制器与全局异常处理器，只测服务看不到调用方收到什么，所以把三者装在一起，用 jsonPath 断言响应。</a:t>
            </a:r>
          </a:p>
          <a:p>
            <a:r>
              <a:t>代价：服务经静态 SpringUtil 取缓存服务，它的上下文只允许设一次，测试只能直接改静态字段（第 62 行）；这正是 E4-08 候选要讨论的服务定位器问题。</a:t>
            </a:r>
          </a:p>
          <a:p>
            <a:r>
              <a:t>判定：问这条断言写的是方法返回值，还是调用方收到的响应码与文案。</a:t>
            </a:r>
          </a:p>
          <a:p>
            <a:r>
              <a:t>权衡：不起完整容器，也就没有验证安全过滤链；系统讲解在 T4“依赖注入与控制反转”一节。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节：任务说明</a:t>
            </a:r>
          </a:p>
          <a:p>
            <a:r>
              <a:t>课前自学，课上只点要点。</a:t>
            </a:r>
          </a:p>
          <a:p>
            <a:r>
              <a:t>依据：exp/e3-00 的 SDC/E3/outputs/E3-00/evidence/coverage.txt（证据提交 8525e65b），统计对象 UmsAdminServiceImpl.login 与 updatePassword、各项数字与命令均逐字取自该文件；行与分支的定义、异常处理不计入分支，出自 JaCoCo 官方文档 Counters。</a:t>
            </a:r>
          </a:p>
          <a:p>
            <a:r>
              <a:t>定义：两个目标方法各自的行、分支覆盖率都要不低于 80%。</a:t>
            </a:r>
          </a:p>
          <a:p>
            <a:r>
              <a:t>代价：updatePassword 分支正好 80%，未覆盖的是参数为空的两个短路分支；控制器上的 @NotEmpty 会先拦住这三种空值，服务层这道检查只对绕过控制器的调用方生效。</a:t>
            </a:r>
          </a:p>
          <a:p>
            <a:r>
              <a:t>判定：问未覆盖的是不是这次缺陷本身。这里不是。</a:t>
            </a:r>
          </a:p>
          <a:p>
            <a:r>
              <a:t>权衡：按插件坐标直接调用，不改 pom。系统讲解在 T7“测试的基本要求”一节（覆盖率能证明什么、不能证明什么）。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本节 60 分钟</a:t>
            </a:r>
          </a:p>
          <a:p>
            <a:r>
              <a:t>依据：SDC/学生操作手册.md（@8b6f9ad9）第 5 节“以 E3 教师演示为例，在脚手架上练习（不开分支），只取出教师测试，本地提交后运行对照”；SDC/compare.sh 第 2-9 行的用法注释（参数取自 compare.env，结果写入 evidence/compare.txt）；SDC/E3/outputs/E3-00/compare.env 与 evidence/compare.txt（exp/e3-00 分支）。</a:t>
            </a:r>
          </a:p>
          <a:p>
            <a:r>
              <a:t>定义：动手前只读检出脚手架（git switch --detach origin/exp/E3，不开分支），再准备固定的输出目录、一份对照参数，以及一条能判断结果是否达标的判据。AI 在本地工作区改代码，可本地提交、不推送。</a:t>
            </a:r>
          </a:p>
          <a:p>
            <a:r>
              <a:t>代价：整份检出教师参考分支 exp/e3-00 来改，改前就已经是绿灯，失败测试先行这一步就没有证据；输出目录放错，compare.sh 找不到 compare.env。不开分支，差异只在本地工作区，换实验前要先用 git diff origin/exp/E3...HEAD 导出。</a:t>
            </a:r>
          </a:p>
          <a:p>
            <a:r>
              <a:t>判定：compare.env 三项是 MODULE、TESTS、EXPECT_BASE；开跑前对着这三项确认改前预期。判据看 Running 行有没有 Errors、Skipped，末行结论是不是符合。</a:t>
            </a:r>
          </a:p>
          <a:p>
            <a:r>
              <a:t>权衡：环境报错不算红灯，连不上数据库或依赖没下载成功时要先解决环境，不能把它当作复现。练习只取出教师测试文件，练习用的提交不作为作业；做作业时重新执行 git switch --detach origin/exp/E3。</a:t>
            </a:r>
          </a:p>
          <a:p>
            <a:r>
              <a:t>输出目录名按本人学号自定，本页写 E3-00-&lt;学号&gt;；订单服务文件即 mall-portal/src/main/java/com/macro/mall/portal/service/impl/OmsPortalOrderServiceImpl.java。</a:t>
            </a:r>
          </a:p>
          <a:p>
            <a:r>
              <a:t>E3-00 实际内容：compare.env 为 MODULE=mall-portal、TESTS=SDCE300Test、EXPECT_BASE=fail；evidence/compare.txt 记录改前 baseline-dcaa93b3 为 fail（Tests run: 4, Failures: 2, Errors: 0, Skipped: 0），改后 cacd76ce 为 pass，结论为符合。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本节 60 分钟</a:t>
            </a:r>
          </a:p>
          <a:p>
            <a:r>
              <a:t>依据：exp/e3-00 的 SDC/E3/outputs/E3-00/ 目录（证据提交 8525e65bfc5266977609afc06866b00468de48d9，即分支头），含 AI使用记录.md、compare.env、evidence/compare.txt、evidence/coverage.txt 与 ai-run/（prompt.md、raw.diff）。</a:t>
            </a:r>
          </a:p>
          <a:p>
            <a:r>
              <a:t>定义：AI 差异审查要能看到三样东西：交给 AI 的原话、AI 改出来的原样、人逐处的判定。</a:t>
            </a:r>
          </a:p>
          <a:p>
            <a:r>
              <a:t>代价：只留最终代码，看不出哪一处是 AI 写的、哪一处是人改的，“有依据”一档无从核对。</a:t>
            </a:r>
          </a:p>
          <a:p>
            <a:r>
              <a:t>判定：拿 raw.diff 与修复提交逐处对照，差异只应是 AI使用记录.md 里写明的人工补充。</a:t>
            </a:r>
          </a:p>
          <a:p>
            <a:r>
              <a:t>权衡：本示例由 Sonnet 子代理按 prompt.md 实现，没有对话往返；学生用对话式工具时，存关键提示与一次失败即可。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时长见本节首页（本节 10 分钟）</a:t>
            </a:r>
          </a:p>
          <a:p>
            <a:r>
              <a:t>依据：教师示例 exp/e3-00，其 SDC/E3/outputs/E3-00/compare.env 与 evidence/compare.txt（改前 baseline-dcaa93b3 为 fail，Tests run: 6, Failures: 1, Errors: 0, Skipped: 0；改后 e0ea94ef 为 pass，Tests run: 6, Failures: 0, Errors: 0, Skipped: 0；结论为符合）；三部分的分工出自 grill B6 与 SDC/学生操作手册.md 第 2 节。</a:t>
            </a:r>
          </a:p>
          <a:p>
            <a:r>
              <a:t>定义：一页说明按讲清楚、有依据、验证过三部分组织，取教师示例 E3-00 的真实材料。</a:t>
            </a:r>
          </a:p>
          <a:p>
            <a:r>
              <a:t>代价：三部分缺一部分，对应那一档就没有证据；把教师示例的数字当成自己作业的成绩，讲清楚这一档也对不上。</a:t>
            </a:r>
          </a:p>
          <a:p>
            <a:r>
              <a:t>判定：讲清楚看输入、期望与修改位置；有依据看当前行号与不得修改的部分；验证过看同一组测试改前失败、改后通过。</a:t>
            </a:r>
          </a:p>
          <a:p>
            <a:r>
              <a:t>权衡：示例材料对照符合，只说明这一份参考实现的记录齐；作业分仍看本人证据。</a:t>
            </a:r>
          </a:p>
          <a:p>
            <a:r>
              <a:t>讲清楚这一段：作为下单者，我希望同一订单分别保存消耗积分与赠送积分，以便支付、取消及后续核对；使用 30、赠送 12 时插入参数必须是 useIntegration=30、integration=12，未使用时消耗保持 null，明确使用 0 时保存 0。</a:t>
            </a:r>
          </a:p>
          <a:p>
            <a:r>
              <a:t>有依据这一段：基线第 183 行把使用值写进 integration 字段，第 212 行又用赠送积分写同一个字段，所以插入时使用值已被覆盖；不得修改的部分是 mall-mbg、表结构、Mapper 插入调用与公开服务接口。</a:t>
            </a:r>
          </a:p>
          <a:p>
            <a:r>
              <a:t>验证过这一段：改前 baseline-dcaa93b3 为 fail，红灯来自业务断言，Errors=0、Skipped=0；改后 cacd76ce 为 pass，结论为符合。</a:t>
            </a:r>
          </a:p>
          <a:p>
            <a:r>
              <a:t>页尾两行：AI 使用（工具、使用范围、采纳或驳回或人工修改）；证据来源（本人运行、教师演示或已发布的参考结果）。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定义：管理员登录有两种凭据失败。用户名不存在时回 404 与“用户名或密码错误”，密码错误时回 500 与“密码不正确”。规格要求两者同一响应码、同一文案；文案取自代码自己写下的第 272 行。</a:t>
            </a:r>
          </a:p>
          <a:p>
            <a:r>
              <a:t>代价：口径不同，调用方能拿一个用户名试一次，就知道这个账号存不存在。</a:t>
            </a:r>
          </a:p>
          <a:p>
            <a:r>
              <a:t>判定：问两种失败的响应码与文案各是什么，规格的文案从哪一行来。</a:t>
            </a:r>
          </a:p>
          <a:p>
            <a:r>
              <a:t>权衡：账号禁用单独提示，不并入；不改成功路径、令牌生成、登录日志与服务方法签名。</a:t>
            </a:r>
          </a:p>
          <a:p>
            <a:r>
              <a:t>基线 dcaa93b3150352e5044708d7211b5bed0af4509f。Issue #47。服务 UmsAdminServiceImpl 第 99-119 行，控制器 UmsAdminController 第 58-69 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定义：失败语义分在两层。服务用 null（login）、ApiException（密码错与禁用）、-1／-2／-3（updatePassword）三种方式表示失败；控制器再把 null 与返回码翻译成文案（第 63-64、148-158 行）。</a:t>
            </a:r>
          </a:p>
          <a:p>
            <a:r>
              <a:t>代价：这是 T3 讲的分层违背中的逻辑泄漏。改一句提示要同时读服务的返回码和控制器的 if 链；两种登录失败也因此走了两条路，口径不一。</a:t>
            </a:r>
          </a:p>
          <a:p>
            <a:r>
              <a:t>判定：问一种失败从产生到调用方收到，经过了几个文件、几种表示方式。</a:t>
            </a:r>
          </a:p>
          <a:p>
            <a:r>
              <a:t>权衡：易分析性只看这一项指标；mall 里同型的“count&gt;0 才成功”翻译很多，本次只收这一条链。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定义：失败语义收回服务层。登录的两种凭据失败走同一个出口；改密三种失败由服务层直接给出原文案，控制器只包装成功。改动 3 个文件，+7 −16 行（修复提交 e0ea94ef65c9831bf241f4bd6d5c48c189a89e17）。</a:t>
            </a:r>
          </a:p>
          <a:p>
            <a:r>
              <a:t>代价：updatePassword 的返回值含义变了（失败不再返回负数），所以接口注释必须写明；全仓只有这一个控制器调用它。</a:t>
            </a:r>
          </a:p>
          <a:p>
            <a:r>
              <a:t>判定：问控制器里还剩不剩业务判断。</a:t>
            </a:r>
          </a:p>
          <a:p>
            <a:r>
              <a:t>权衡：响应码仍沿用原来的 404 与 500；要让失败自带响应码，得改 mall-common 的 ApiException，超出本次约束。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定义：最小修复（E3）改变行为但不动结构；结构重构（E4）不改行为但改结构。两种决策各由需求驱动。</a:t>
            </a:r>
          </a:p>
          <a:p>
            <a:r>
              <a:t>代价：最小修复没有解开管理员服务与缓存服务的循环依赖，服务仍经静态 SpringUtil 取缓存，那是 E4-08 候选的题目。</a:t>
            </a:r>
          </a:p>
          <a:p>
            <a:r>
              <a:t>判定：问这一处改动改的是行为还是结构，有没有对应的测试证明。</a:t>
            </a:r>
          </a:p>
          <a:p>
            <a:r>
              <a:t>权衡：让失败自带响应码要改共用的 mall-common，影响 admin、portal 两个模块，不在本次范围。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时长见本节首页（本节 10 分钟）</a:t>
            </a:r>
          </a:p>
          <a:p>
            <a:r>
              <a:t>定义：提示词三种模式的组合：Persona 定角色，Template 给格式，Question Refinement 追问边界情形。</a:t>
            </a:r>
          </a:p>
          <a:p>
            <a:r>
              <a:t>代价：只用 Persona 不加 Template，AI 产出缺少结构约束，驳回时说不清哪一条不符合。</a:t>
            </a:r>
          </a:p>
          <a:p>
            <a:r>
              <a:t>判定：逐句标注属于哪种模式，并说明每句在这次任务里的作用。</a:t>
            </a:r>
          </a:p>
          <a:p>
            <a:r>
              <a:t>权衡：同一次任务里 Few-shot 也可补充，但本次示例不含，不强求。</a:t>
            </a:r>
          </a:p>
          <a:p>
            <a:r>
              <a:t>依据：来源卡（T1 第 49 页提示词模式；answer-E3-20261017-0010.md 第 4 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时长见本节首页（本节 10 分钟）</a:t>
            </a:r>
          </a:p>
          <a:p>
            <a:r>
              <a:t>定义：四项核对——引用是否存在、运行时事实、原理与实现、依据——逐条标「对／错／无法核实」及使用了哪项。</a:t>
            </a:r>
          </a:p>
          <a:p>
            <a:r>
              <a:t>代价：只说「基本正确」，不逐条标，驳回时无法指出具体行号或原则。</a:t>
            </a:r>
          </a:p>
          <a:p>
            <a:r>
              <a:t>判定：每条 AI 说法能对应四项核对之一，且有明确判据（行号或原则名）。</a:t>
            </a:r>
          </a:p>
          <a:p>
            <a:r>
              <a:t>权衡：行号基于脚手架分支，示例分支可能偏移，允许注明「需核验行号」而不降级。</a:t>
            </a:r>
          </a:p>
          <a:p>
            <a:r>
              <a:t>依据：核对-E3.md（当日）；四项核对来自 T1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节：目录</a:t>
            </a:r>
          </a:p>
          <a:p>
            <a:r>
              <a:rPr lang="zh-CN" altLang="en-US"/>
              <a:t>依据：各页备注“节：”行，按出现顺序编号；目录页由统一视觉脚本生成，不另写内容。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节：结束页</a:t>
            </a:r>
          </a:p>
          <a:p>
            <a:r>
              <a:rPr lang="zh-CN" altLang="en-US"/>
              <a:t>依据：下次课名称取自下一份课件封面的“第 n 次课｜课题”行。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868680" cy="86868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600200"/>
            <a:ext cx="7772400" cy="640080"/>
          </a:xfrm>
        </p:spPr>
        <p:txBody>
          <a:bodyPr anchor="b"/>
          <a:lstStyle>
            <a:lvl1pPr algn="l" marL="0" indent="0">
              <a:buNone/>
              <a:defRPr sz="2000" b="1">
                <a:solidFill>
                  <a:srgbClr val="A33B38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85800" y="2377440"/>
            <a:ext cx="7772400" cy="2926080"/>
          </a:xfrm>
        </p:spPr>
        <p:txBody>
          <a:bodyPr/>
          <a:lstStyle>
            <a:lvl1pPr algn="l" marL="0" indent="0">
              <a:buNone/>
              <a:defRPr sz="2000" b="0">
                <a:solidFill>
                  <a:srgbClr val="595959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11" name="sdc-photo-band"/>
          <p:cNvSpPr/>
          <p:nvPr userDrawn="1"/>
        </p:nvSpPr>
        <p:spPr>
          <a:xfrm>
            <a:off x="0" y="5550408"/>
            <a:ext cx="914400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2" name="sdc-campus-l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5614416"/>
            <a:ext cx="4572000" cy="1243584"/>
          </a:xfrm>
          <a:prstGeom prst="rect">
            <a:avLst/>
          </a:prstGeom>
        </p:spPr>
      </p:pic>
      <p:pic>
        <p:nvPicPr>
          <p:cNvPr id="13" name="sdc-campus-r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572000" y="5614416"/>
            <a:ext cx="4572000" cy="124358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dc-toc-band"/>
          <p:cNvSpPr/>
          <p:nvPr userDrawn="1"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1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5623560"/>
            <a:ext cx="822960" cy="82296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74320" y="640080"/>
            <a:ext cx="1828800" cy="914400"/>
          </a:xfrm>
        </p:spPr>
        <p:txBody>
          <a:bodyPr anchor="t"/>
          <a:lstStyle>
            <a:lvl1pPr algn="l" marL="0" indent="0">
              <a:buNone/>
              <a:defRPr sz="3600" b="1">
                <a:solidFill>
                  <a:srgbClr val="FFFFFF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2834640" y="731520"/>
            <a:ext cx="5852160" cy="5120640"/>
          </a:xfrm>
        </p:spPr>
        <p:txBody>
          <a:bodyPr/>
          <a:lstStyle>
            <a:lvl1pPr algn="l" marL="0" indent="0">
              <a:buNone/>
              <a:defRPr sz="2200" b="0">
                <a:solidFill>
                  <a:srgbClr val="262626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868680" cy="86868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14400" y="2011680"/>
            <a:ext cx="7315200" cy="1005840"/>
          </a:xfrm>
        </p:spPr>
        <p:txBody>
          <a:bodyPr anchor="b"/>
          <a:lstStyle>
            <a:lvl1pPr algn="ctr" marL="0" indent="0">
              <a:buNone/>
              <a:defRPr sz="3600" b="1">
                <a:solidFill>
                  <a:srgbClr val="262626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14400" y="3154680"/>
            <a:ext cx="7315200" cy="1280160"/>
          </a:xfrm>
        </p:spPr>
        <p:txBody>
          <a:bodyPr/>
          <a:lstStyle>
            <a:lvl1pPr algn="ctr" marL="0" indent="0">
              <a:buNone/>
              <a:defRPr sz="2000" b="0">
                <a:solidFill>
                  <a:srgbClr val="595959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11" name="sdc-photo-band"/>
          <p:cNvSpPr/>
          <p:nvPr userDrawn="1"/>
        </p:nvSpPr>
        <p:spPr>
          <a:xfrm>
            <a:off x="0" y="5550408"/>
            <a:ext cx="914400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2" name="sdc-campus-l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5614416"/>
            <a:ext cx="4572000" cy="1243584"/>
          </a:xfrm>
          <a:prstGeom prst="rect">
            <a:avLst/>
          </a:prstGeom>
        </p:spPr>
      </p:pic>
      <p:pic>
        <p:nvPicPr>
          <p:cNvPr id="13" name="sdc-campus-r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572000" y="5614416"/>
            <a:ext cx="4572000" cy="124358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image" Target="../media/sdc-logo.png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576072" y="301752"/>
            <a:ext cx="8001000" cy="960120"/>
          </a:xfrm>
        </p:spPr>
        <p:txBody>
          <a:bodyPr anchor="b"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Text Placeholder"/>
          <p:cNvSpPr>
            <a:spLocks noGrp="1"/>
          </p:cNvSpPr>
          <p:nvPr>
            <p:ph type="body" idx="1"/>
          </p:nvPr>
        </p:nvSpPr>
        <p:spPr>
          <a:xfrm>
            <a:off x="576072" y="1600200"/>
            <a:ext cx="8001000" cy="4389120"/>
          </a:xfrm>
        </p:spPr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4" name="sdc-title-bar"/>
          <p:cNvSpPr/>
          <p:nvPr userDrawn="1"/>
        </p:nvSpPr>
        <p:spPr>
          <a:xfrm>
            <a:off x="612648" y="1298448"/>
            <a:ext cx="146304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cxnSp>
        <p:nvCxnSpPr>
          <p:cNvPr id="5" name="sdc-title-line"/>
          <p:cNvCxnSpPr/>
          <p:nvPr userDrawn="1"/>
        </p:nvCxnSpPr>
        <p:spPr>
          <a:xfrm>
            <a:off x="2075688" y="1330452"/>
            <a:ext cx="6492240" cy="0"/>
          </a:xfrm>
          <a:prstGeom prst="line">
            <a:avLst/>
          </a:prstGeom>
          <a:ln w="12700">
            <a:solidFill>
              <a:srgbClr val="E3C4C2"/>
            </a:solidFill>
          </a:ln>
        </p:spPr>
      </p:cxnSp>
      <p:cxnSp>
        <p:nvCxnSpPr>
          <p:cNvPr id="6" name="sdc-footer-line"/>
          <p:cNvCxnSpPr/>
          <p:nvPr userDrawn="1"/>
        </p:nvCxnSpPr>
        <p:spPr>
          <a:xfrm>
            <a:off x="457200" y="6355080"/>
            <a:ext cx="82296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pic>
        <p:nvPicPr>
          <p:cNvPr id="7" name="sdc-footer-logo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57200" y="6419088"/>
            <a:ext cx="329184" cy="329184"/>
          </a:xfrm>
          <a:prstGeom prst="rect">
            <a:avLst/>
          </a:prstGeom>
        </p:spPr>
      </p:pic>
      <p:sp>
        <p:nvSpPr>
          <p:cNvPr id="8" name="sdc-footer-college"/>
          <p:cNvSpPr/>
          <p:nvPr userDrawn="1"/>
        </p:nvSpPr>
        <p:spPr>
          <a:xfrm>
            <a:off x="841248" y="640080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zh-CN" altLang="en-US" sz="1100" b="0">
                <a:solidFill>
                  <a:srgbClr val="595959"/>
                </a:solidFill>
                <a:latin typeface="微软雅黑"/>
                <a:ea typeface="微软雅黑"/>
              </a:rPr>
              <a:t>计算机科学与技术学院</a:t>
            </a:r>
          </a:p>
        </p:txBody>
      </p:sp>
      <p:sp>
        <p:nvSpPr>
          <p:cNvPr id="9" name="sdc-page-number"/>
          <p:cNvSpPr/>
          <p:nvPr userDrawn="1"/>
        </p:nvSpPr>
        <p:spPr>
          <a:xfrm>
            <a:off x="6858000" y="640080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fld id="{B6F15528-21DE-4FAA-801E-634DDDAF4B2B}" type="slidenum">
              <a:rPr lang="zh-CN" altLang="en-US" sz="1200">
                <a:solidFill>
                  <a:srgbClr val="595959"/>
                </a:solidFill>
                <a:latin typeface="微软雅黑"/>
                <a:ea typeface="微软雅黑"/>
              </a:rPr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eaLnBrk="1" hangingPunct="1">
        <a:lnSpc>
          <a:spcPct val="90000"/>
        </a:lnSpc>
        <a:defRPr sz="2800" b="1" kern="1200">
          <a:solidFill>
            <a:srgbClr val="A33B38"/>
          </a:solidFill>
          <a:latin typeface="微软雅黑"/>
          <a:ea typeface="微软雅黑"/>
          <a:cs typeface="微软雅黑"/>
        </a:defRPr>
      </a:lvl1pPr>
    </p:titleStyle>
    <p:bodyStyle>
      <a:lvl1pPr marL="292608" indent="-292608" algn="l" eaLnBrk="1" hangingPunct="1">
        <a:lnSpc>
          <a:spcPct val="110000"/>
        </a:lnSpc>
        <a:spcBef>
          <a:spcPts val="600"/>
        </a:spcBef>
        <a:buClr>
          <a:srgbClr val="A33B38"/>
        </a:buClr>
        <a:buSzPct val="80000"/>
        <a:buFont typeface="Wingdings"/>
        <a:buChar char="n"/>
        <a:defRPr sz="2200" b="0" kern="1200">
          <a:solidFill>
            <a:srgbClr val="262626"/>
          </a:solidFill>
          <a:latin typeface="微软雅黑"/>
          <a:ea typeface="微软雅黑"/>
          <a:cs typeface="微软雅黑"/>
        </a:defRPr>
      </a:lvl1pPr>
      <a:lvl2pPr marL="640080" indent="-256032" algn="l" eaLnBrk="1" hangingPunct="1">
        <a:lnSpc>
          <a:spcPct val="110000"/>
        </a:lnSpc>
        <a:spcBef>
          <a:spcPts val="600"/>
        </a:spcBef>
        <a:buClr>
          <a:srgbClr val="7F7F7F"/>
        </a:buClr>
        <a:buSzPct val="80000"/>
        <a:buFont typeface="Wingdings"/>
        <a:buChar char="§"/>
        <a:defRPr sz="2000" b="0" kern="1200">
          <a:solidFill>
            <a:srgbClr val="262626"/>
          </a:solidFill>
          <a:latin typeface="微软雅黑"/>
          <a:ea typeface="微软雅黑"/>
          <a:cs typeface="微软雅黑"/>
        </a:defRPr>
      </a:lvl2pPr>
      <a:lvl3pPr marL="960120" indent="-228600" algn="l" eaLnBrk="1" hangingPunct="1">
        <a:lnSpc>
          <a:spcPct val="110000"/>
        </a:lnSpc>
        <a:spcBef>
          <a:spcPts val="600"/>
        </a:spcBef>
        <a:buClr>
          <a:srgbClr val="7F7F7F"/>
        </a:buClr>
        <a:buSzPct val="80000"/>
        <a:buFont typeface="Wingdings"/>
        <a:buChar char="§"/>
        <a:defRPr sz="1800" b="0" kern="1200">
          <a:solidFill>
            <a:srgbClr val="262626"/>
          </a:solidFill>
          <a:latin typeface="微软雅黑"/>
          <a:ea typeface="微软雅黑"/>
          <a:cs typeface="微软雅黑"/>
        </a:defRPr>
      </a:lvl3pPr>
    </p:bodyStyle>
    <p:otherStyle>
      <a:lvl1pPr algn="l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软件设计与规范</a:t>
            </a:r>
          </a:p>
        </p:txBody>
      </p:sp>
      <p:sp>
        <p:nvSpPr>
          <p:cNvPr id="3" name="body"/>
          <p:cNvSpPr>
            <a:spLocks noGrp="1"/>
          </p:cNvSpPr>
          <p:nvPr>
            <p:ph type="subTitle" idx="1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第 6 次课｜规格先行与 AI 结对编程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李萌</a:t>
            </a:r>
          </a:p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计算机科学与技术学院</a:t>
            </a:r>
          </a:p>
        </p:txBody>
      </p:sp>
    </p:spTree>
  </p:cSld>
  <p:clrMapOvr>
    <a:masterClrMapping/>
  </p:clrMapOvr>
  <p:hf sldNum="0" hdr="0" ftr="0" dt="0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目录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01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现场演示与投票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02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任务说明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03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实验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04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小结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演示规则与投票口径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7132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3—5 人按评价标准实名演示，全班按同一细则投票。实验 E2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365760" y="2267712"/>
          <a:ext cx="8138160" cy="362102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1680"/>
                <a:gridCol w="6126480"/>
              </a:tblGrid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真实设计问题或变化场景及源码调用关系15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相关4+1视图说明职责、依赖与运行边界15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用信息隐藏或分层依赖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解释具体风险或变更成本15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比较两种最小方案的可测试性、可替换性与代价，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并说明对 AI 比较结论的采纳或驳回15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用断点、日志或执行记录核实 AI 关于调用链或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运行时行为的一项回答，记录预期、观察与修正20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用源码与教师示例 E2-00 的对照记录核实两种方案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在修改点、依赖或测试成本上的差异20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现场演示与投票</a:t>
            </a:r>
          </a:p>
        </p:txBody>
      </p:sp>
    </p:spTree>
  </p:cSld>
  <p:clrMapOvr>
    <a:masterClrMapping/>
  </p:clrMapOvr>
  <p:hf sldNum="0" hdr="0" ftr="0" dt="0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签到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现场演示与投票</a:t>
            </a:r>
          </a:p>
        </p:txBody>
      </p:sp>
      <p:sp>
        <p:nvSpPr>
          <p:cNvPr id="301" name="quiz"/>
          <p:cNvSpPr txBox="1"/>
          <p:nvPr/>
        </p:nvSpPr>
        <p:spPr>
          <a:xfrm>
            <a:off x="237744" y="1444752"/>
            <a:ext cx="8686800" cy="4480560"/>
          </a:xfrm>
          <a:prstGeom prst="rect">
            <a:avLst/>
          </a:prstGeom>
        </p:spPr>
        <p:txBody>
          <a:bodyPr wrap="square" lIns="27432" rIns="27432" tIns="18288" bIns="18288" eaLnBrk="1" hangingPunct="1" latinLnBrk="0"/>
          <a:lstStyle/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修复前先运行新写的测试，结果因为连不上数据库而报错。这能否算“改前失败（红灯）”？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（A）能，测试没有通过；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（B）不能，环境报错不是业务断言失败，要先让测试能运行；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（C）能，只要之后变绿；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（D）交给 AI 判断。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请看完演示再投票</a:t>
            </a:r>
          </a:p>
        </p:txBody>
      </p:sp>
    </p:spTree>
  </p:cSld>
  <p:clrMapOvr>
    <a:masterClrMapping/>
  </p:clrMapOvr>
  <p:hf sldNum="0" hdr="0" ftr="0" dt="0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预习题回顾与易混点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600200"/>
            <a:ext cx="109728" cy="69494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594360" y="1600200"/>
            <a:ext cx="8138160" cy="694944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1 选 B。调用次序用进程视图与顺序图。易混：逻辑视图与类图</a:t>
            </a:r>
          </a:p>
        </p:txBody>
      </p:sp>
      <p:sp>
        <p:nvSpPr>
          <p:cNvPr id="103" name="fig-d"/>
          <p:cNvSpPr/>
          <p:nvPr/>
        </p:nvSpPr>
        <p:spPr>
          <a:xfrm>
            <a:off x="411480" y="2423160"/>
            <a:ext cx="109728" cy="69494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594360" y="2423160"/>
            <a:ext cx="8138160" cy="69494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2 选 A。控制器翻译失败码是逻辑泄漏。易混：经服务层取数</a:t>
            </a:r>
          </a:p>
        </p:txBody>
      </p:sp>
      <p:sp>
        <p:nvSpPr>
          <p:cNvPr id="105" name="fig-d"/>
          <p:cNvSpPr/>
          <p:nvPr/>
        </p:nvSpPr>
        <p:spPr>
          <a:xfrm>
            <a:off x="411480" y="3246120"/>
            <a:ext cx="109728" cy="69494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594360" y="3246120"/>
            <a:ext cx="8138160" cy="694944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3 选 B。条件与结果都可核对。易混：快速准确</a:t>
            </a:r>
          </a:p>
        </p:txBody>
      </p:sp>
      <p:sp>
        <p:nvSpPr>
          <p:cNvPr id="107" name="fig-d"/>
          <p:cNvSpPr/>
          <p:nvPr/>
        </p:nvSpPr>
        <p:spPr>
          <a:xfrm>
            <a:off x="411480" y="4069080"/>
            <a:ext cx="109728" cy="69494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594360" y="4069080"/>
            <a:ext cx="8138160" cy="69494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4 选 B。看上下文与被否决方案的理由。易混：日期与作者</a:t>
            </a:r>
          </a:p>
        </p:txBody>
      </p:sp>
      <p:sp>
        <p:nvSpPr>
          <p:cNvPr id="109" name="fig-d"/>
          <p:cNvSpPr/>
          <p:nvPr/>
        </p:nvSpPr>
        <p:spPr>
          <a:xfrm>
            <a:off x="411480" y="4892040"/>
            <a:ext cx="109728" cy="69494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594360" y="4892040"/>
            <a:ext cx="8138160" cy="694944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5 选 A。业务规则混进表现层。易混：页面加载变慢</a:t>
            </a: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任务说明</a:t>
            </a:r>
          </a:p>
        </p:txBody>
      </p:sp>
    </p:spTree>
  </p:cSld>
  <p:clrMapOvr>
    <a:masterClrMapping/>
  </p:clrMapOvr>
  <p:hf sldNum="0" hdr="0" ftr="0" dt="0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本次目标与不要求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72768"/>
            <a:ext cx="1188720" cy="73152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重点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691640" y="1572768"/>
            <a:ext cx="7040880" cy="73152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重点：规格先行与失败测试先行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414016"/>
            <a:ext cx="1188720" cy="73152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难点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691640" y="2414016"/>
            <a:ext cx="7040880" cy="73152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难点：识别 AI 生成代码中需要人工修改之处并说明依据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255264"/>
            <a:ext cx="1188720" cy="73152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选题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691640" y="3255264"/>
            <a:ext cx="7040880" cy="73152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选一项：教师示例是 E3-00，其余在候选页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096512"/>
            <a:ext cx="1188720" cy="73152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边界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691640" y="4096512"/>
            <a:ext cx="7040880" cy="73152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环境报错不算红灯；覆盖率不替代缺陷断言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11480" y="4937760"/>
            <a:ext cx="1188720" cy="73152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边界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1691640" y="4937760"/>
            <a:ext cx="7040880" cy="73152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无分支方法记“不适用”，不伪造100%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任务说明</a:t>
            </a:r>
          </a:p>
        </p:txBody>
      </p:sp>
    </p:spTree>
  </p:cSld>
  <p:clrMapOvr>
    <a:masterClrMapping/>
  </p:clrMapOvr>
  <p:hf sldNum="0" hdr="0" ftr="0" dt="0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r>
              <a:t>本次要用的知识是把控制器、服务与</a:t>
            </a:r>
            <a:br/>
            <a:r>
              <a:t>全局异常处理器装在一起再断言响应</a:t>
            </a:r>
          </a:p>
        </p:txBody>
      </p:sp>
      <p:sp>
        <p:nvSpPr>
          <p:cNvPr id="8" name="code"/>
          <p:cNvSpPr txBox="1"/>
          <p:nvPr/>
        </p:nvSpPr>
        <p:spPr>
          <a:xfrm>
            <a:off x="411480" y="3246120"/>
            <a:ext cx="8138160" cy="749808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>
              <a:lnSpc>
                <a:spcPct val="100000"/>
              </a:lnSpc>
            </a:pPr>
            <a:r>
              <a:rPr sz="1600">
                <a:latin typeface="Consolas"/>
                <a:ea typeface="微软雅黑"/>
              </a:rPr>
              <a:t>        mvc = MockMvcBuilders.​standaloneSetup(​controller).​setControllerAdvice(​new GlobalExceptionHandler(​)).​build(​);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023360"/>
            <a:ext cx="8321040" cy="329184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</a:pPr>
            <a:r>
              <a:rPr sz="1000">
                <a:latin typeface="微软雅黑"/>
                <a:ea typeface="微软雅黑"/>
              </a:rPr>
              <a:t>出处：meng004/mall@d412136431afcd8179a6e3b53c7e4531fad5bc5d:</a:t>
            </a:r>
          </a:p>
          <a:p>
            <a:pPr algn="l" eaLnBrk="1" hangingPunct="1">
              <a:lnSpc>
                <a:spcPct val="100000"/>
              </a:lnSpc>
            </a:pPr>
            <a:r>
              <a:rPr sz="1000">
                <a:latin typeface="微软雅黑"/>
                <a:ea typeface="微软雅黑"/>
              </a:rPr>
              <a:t>mall-admin/src/test/java/com/macro/mall/sdc/e3/SDCE300Test.java:67-67</a:t>
            </a:r>
          </a:p>
        </p:txBody>
      </p:sp>
      <p:sp>
        <p:nvSpPr>
          <p:cNvPr id="9" name="code"/>
          <p:cNvSpPr txBox="1"/>
          <p:nvPr/>
        </p:nvSpPr>
        <p:spPr>
          <a:xfrm>
            <a:off x="411480" y="4389120"/>
            <a:ext cx="8138160" cy="1005840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>
              <a:lnSpc>
                <a:spcPct val="100000"/>
              </a:lnSpc>
            </a:pPr>
            <a:r>
              <a:rPr sz="1600">
                <a:latin typeface="Consolas"/>
                <a:ea typeface="微软雅黑"/>
              </a:rPr>
              <a:t>        login(​"ghost",​ "any").​andExpect(​jsonPath(​"$.​code").​value(​404)).​andExpect(​jsonPath(​"$.​message").​value(​"用户名或密码错误"));</a:t>
            </a:r>
          </a:p>
        </p:txBody>
      </p:sp>
      <p:sp>
        <p:nvSpPr>
          <p:cNvPr id="10" name="fn"/>
          <p:cNvSpPr txBox="1"/>
          <p:nvPr/>
        </p:nvSpPr>
        <p:spPr>
          <a:xfrm>
            <a:off x="411480" y="5422392"/>
            <a:ext cx="8321040" cy="329184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</a:pPr>
            <a:r>
              <a:rPr sz="1000">
                <a:latin typeface="微软雅黑"/>
                <a:ea typeface="微软雅黑"/>
              </a:rPr>
              <a:t>出处：meng004/mall@d412136431afcd8179a6e3b53c7e4531fad5bc5d:</a:t>
            </a:r>
          </a:p>
          <a:p>
            <a:pPr algn="l" eaLnBrk="1" hangingPunct="1">
              <a:lnSpc>
                <a:spcPct val="100000"/>
              </a:lnSpc>
            </a:pPr>
            <a:r>
              <a:rPr sz="1000">
                <a:latin typeface="微软雅黑"/>
                <a:ea typeface="微软雅黑"/>
              </a:rPr>
              <a:t>mall-admin/src/test/java/com/macro/mall/sdc/e3/SDCE300Test.java:98-98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389888"/>
            <a:ext cx="310896" cy="310896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768096" y="1353312"/>
            <a:ext cx="7964424" cy="374904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服务用 @Autowired 写在私有字段上，没有构造参数可传替身</a:t>
            </a:r>
          </a:p>
        </p:txBody>
      </p:sp>
      <p:sp>
        <p:nvSpPr>
          <p:cNvPr id="103" name="fig-d"/>
          <p:cNvSpPr/>
          <p:nvPr/>
        </p:nvSpPr>
        <p:spPr>
          <a:xfrm>
            <a:off x="411480" y="1801368"/>
            <a:ext cx="310896" cy="310896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768096" y="1764792"/>
            <a:ext cx="7964424" cy="374904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替身用 mock 造，再用 ReflectionTestUtils.setField 放进字段</a:t>
            </a:r>
          </a:p>
        </p:txBody>
      </p:sp>
      <p:sp>
        <p:nvSpPr>
          <p:cNvPr id="105" name="fig-d"/>
          <p:cNvSpPr/>
          <p:nvPr/>
        </p:nvSpPr>
        <p:spPr>
          <a:xfrm>
            <a:off x="411480" y="2212848"/>
            <a:ext cx="310896" cy="310896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768096" y="2176272"/>
            <a:ext cx="7964424" cy="374904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standaloneSetup 只装这一个控制器，不起 Spring 容器、不连库</a:t>
            </a:r>
          </a:p>
        </p:txBody>
      </p:sp>
      <p:sp>
        <p:nvSpPr>
          <p:cNvPr id="107" name="fig-d"/>
          <p:cNvSpPr/>
          <p:nvPr/>
        </p:nvSpPr>
        <p:spPr>
          <a:xfrm>
            <a:off x="411480" y="2624328"/>
            <a:ext cx="310896" cy="310896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768096" y="2587752"/>
            <a:ext cx="7964424" cy="621792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加上全局异常处理器，</a:t>
            </a:r>
            <a:br>
              <a:rPr lang="zh-CN" altLang="en-US" sz="2000" b="0"/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断言的是调用方真正收到的 code 与 message</a:t>
            </a: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任务说明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r>
              <a:t>本次要用的知识是</a:t>
            </a:r>
            <a:br/>
            <a:r>
              <a:t>JaCoCo 方法级行、分支覆盖率的读法</a:t>
            </a:r>
          </a:p>
        </p:txBody>
      </p:sp>
      <p:sp>
        <p:nvSpPr>
          <p:cNvPr id="8" name="code-cmd"/>
          <p:cNvSpPr txBox="1"/>
          <p:nvPr/>
        </p:nvSpPr>
        <p:spPr>
          <a:xfrm>
            <a:off x="502920" y="3835400"/>
            <a:ext cx="8138160" cy="1168400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18288" rIns="18288" tIns="18288" bIns="18288" eaLnBrk="1" hangingPunct="1" latinLnBrk="0"/>
          <a:lstStyle/>
          <a:p>
            <a:pPr algn="l" eaLnBrk="1" hangingPunct="1">
              <a:lnSpc>
                <a:spcPct val="100000"/>
              </a:lnSpc>
            </a:pPr>
            <a:r>
              <a:rPr sz="1600">
                <a:latin typeface="Consolas"/>
                <a:ea typeface="微软雅黑"/>
              </a:rPr>
              <a:t>mvn -B -pl mall-admin -am -DskipTests=false -Dtest=SDCE300Test \</a:t>
            </a:r>
          </a:p>
          <a:p>
            <a:pPr algn="l" eaLnBrk="1" hangingPunct="1">
              <a:lnSpc>
                <a:spcPct val="100000"/>
              </a:lnSpc>
            </a:pPr>
            <a:r>
              <a:rPr sz="1600">
                <a:latin typeface="Consolas"/>
                <a:ea typeface="微软雅黑"/>
              </a:rPr>
              <a:t>  -Dsurefire.failIfNoSpecifiedTests=false \</a:t>
            </a:r>
          </a:p>
          <a:p>
            <a:pPr algn="l" eaLnBrk="1" hangingPunct="1">
              <a:lnSpc>
                <a:spcPct val="100000"/>
              </a:lnSpc>
            </a:pPr>
            <a:r>
              <a:rPr sz="1600">
                <a:latin typeface="Consolas"/>
                <a:ea typeface="微软雅黑"/>
              </a:rPr>
              <a:t>  org.jacoco:jacoco-maven-plugin:0.8.13:prepare-agent test \</a:t>
            </a:r>
          </a:p>
          <a:p>
            <a:pPr algn="l" eaLnBrk="1" hangingPunct="1">
              <a:lnSpc>
                <a:spcPct val="100000"/>
              </a:lnSpc>
            </a:pPr>
            <a:r>
              <a:rPr sz="1600">
                <a:latin typeface="Consolas"/>
                <a:ea typeface="微软雅黑"/>
              </a:rPr>
              <a:t>  org.jacoco:jacoco-maven-plugin:0.8.13:report</a:t>
            </a:r>
          </a:p>
        </p:txBody>
      </p:sp>
      <p:sp>
        <p:nvSpPr>
          <p:cNvPr id="9" name="fn"/>
          <p:cNvSpPr txBox="1"/>
          <p:nvPr/>
        </p:nvSpPr>
        <p:spPr>
          <a:xfrm>
            <a:off x="411480" y="5054600"/>
            <a:ext cx="8321040" cy="5588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</a:pPr>
            <a:r>
              <a:rPr sz="1000">
                <a:latin typeface="微软雅黑"/>
                <a:ea typeface="微软雅黑"/>
              </a:rPr>
              <a:t>来源：meng004/mall@8525e65b:SDC/E3/outputs/E3-00/evidence/coverage.txt</a:t>
            </a:r>
          </a:p>
          <a:p>
            <a:pPr algn="l" eaLnBrk="1" hangingPunct="1">
              <a:lnSpc>
                <a:spcPct val="100000"/>
              </a:lnSpc>
            </a:pPr>
            <a:r>
              <a:rPr sz="1000">
                <a:latin typeface="微软雅黑"/>
                <a:ea typeface="微软雅黑"/>
              </a:rPr>
              <a:t>两个方法的行、分支与命令均逐字取自该文件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417320"/>
            <a:ext cx="8321040" cy="457200"/>
          </a:xfrm>
          <a:prstGeom prst="rect">
            <a:avLst/>
          </a:prstGeom>
          <a:solidFill>
            <a:srgbClr val="FFFFFF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统计对象是 login 与 updatePassword 两个方法，不拿整个类代替</a:t>
            </a:r>
          </a:p>
        </p:txBody>
      </p:sp>
      <p:sp>
        <p:nvSpPr>
          <p:cNvPr id="102" name="fig"/>
          <p:cNvSpPr/>
          <p:nvPr/>
        </p:nvSpPr>
        <p:spPr>
          <a:xfrm>
            <a:off x="411480" y="1947672"/>
            <a:ext cx="8321040" cy="42062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行覆盖：login 13/14 = 92.9%，updatePassword 13/16 = 81.3%</a:t>
            </a:r>
          </a:p>
        </p:txBody>
      </p:sp>
      <p:sp>
        <p:nvSpPr>
          <p:cNvPr id="103" name="fig"/>
          <p:cNvSpPr/>
          <p:nvPr/>
        </p:nvSpPr>
        <p:spPr>
          <a:xfrm>
            <a:off x="411480" y="2423160"/>
            <a:ext cx="8321040" cy="42062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分支覆盖：login 4/4，updatePassword 8/10 = 80.0%</a:t>
            </a:r>
          </a:p>
        </p:txBody>
      </p:sp>
      <p:sp>
        <p:nvSpPr>
          <p:cNvPr id="104" name="fig"/>
          <p:cNvSpPr/>
          <p:nvPr/>
        </p:nvSpPr>
        <p:spPr>
          <a:xfrm>
            <a:off x="411480" y="2926080"/>
            <a:ext cx="832104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异常处理不计入分支；无分支的方法分支项记“不适用”</a:t>
            </a:r>
          </a:p>
        </p:txBody>
      </p:sp>
      <p:sp>
        <p:nvSpPr>
          <p:cNvPr id="105" name="fig"/>
          <p:cNvSpPr/>
          <p:nvPr/>
        </p:nvSpPr>
        <p:spPr>
          <a:xfrm>
            <a:off x="411480" y="3383280"/>
            <a:ext cx="832104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未覆盖：旧密码、新密码为空两个短路分支，控制器已先拦住</a:t>
            </a:r>
          </a:p>
        </p:txBody>
      </p:sp>
      <p:sp>
        <p:nvSpPr>
          <p:cNvPr id="10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任务说明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r>
              <a:t>动手前的准备有只读检出、</a:t>
            </a:r>
            <a:br/>
            <a:r>
              <a:t>compare.env 与达标判据</a:t>
            </a:r>
          </a:p>
        </p:txBody>
      </p:sp>
      <p:sp>
        <p:nvSpPr>
          <p:cNvPr id="8" name="code-cmd"/>
          <p:cNvSpPr txBox="1"/>
          <p:nvPr/>
        </p:nvSpPr>
        <p:spPr>
          <a:xfrm>
            <a:off x="411480" y="4005072"/>
            <a:ext cx="8138160" cy="1481328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>
              <a:lnSpc>
                <a:spcPct val="100000"/>
              </a:lnSpc>
            </a:pPr>
            <a:r>
              <a:rPr sz="1400">
                <a:latin typeface="Consolas"/>
                <a:ea typeface="微软雅黑"/>
              </a:rPr>
              <a:t>git switch --detach origin/exp/E3</a:t>
            </a:r>
          </a:p>
          <a:p>
            <a:pPr algn="l" eaLnBrk="1" hangingPunct="1">
              <a:lnSpc>
                <a:spcPct val="100000"/>
              </a:lnSpc>
            </a:pPr>
            <a:r>
              <a:rPr sz="1400">
                <a:latin typeface="Consolas"/>
                <a:ea typeface="微软雅黑"/>
              </a:rPr>
              <a:t>git checkout origin/exp/e3-00 -- \</a:t>
            </a:r>
          </a:p>
          <a:p>
            <a:pPr algn="l" eaLnBrk="1" hangingPunct="1">
              <a:lnSpc>
                <a:spcPct val="100000"/>
              </a:lnSpc>
            </a:pPr>
            <a:r>
              <a:rPr sz="1400">
                <a:latin typeface="Consolas"/>
                <a:ea typeface="微软雅黑"/>
              </a:rPr>
              <a:t>  mall-admin/src/test/java/com/macro/mall/sdc/e3/SDCE300Test.java</a:t>
            </a:r>
          </a:p>
          <a:p>
            <a:pPr algn="l" eaLnBrk="1" hangingPunct="1">
              <a:lnSpc>
                <a:spcPct val="100000"/>
              </a:lnSpc>
            </a:pPr>
            <a:r>
              <a:rPr sz="1400">
                <a:latin typeface="Consolas"/>
                <a:ea typeface="微软雅黑"/>
              </a:rPr>
              <a:t>mkdir -p SDC/E3/outputs/E3-00-&lt;学号&gt;</a:t>
            </a:r>
          </a:p>
          <a:p>
            <a:pPr algn="l" eaLnBrk="1" hangingPunct="1">
              <a:lnSpc>
                <a:spcPct val="100000"/>
              </a:lnSpc>
            </a:pPr>
            <a:r>
              <a:rPr sz="1400">
                <a:latin typeface="Consolas"/>
                <a:ea typeface="微软雅黑"/>
              </a:rPr>
              <a:t>SDC/compare.sh E3-00-&lt;学号&gt;</a:t>
            </a:r>
          </a:p>
        </p:txBody>
      </p:sp>
      <p:sp>
        <p:nvSpPr>
          <p:cNvPr id="9" name="fn"/>
          <p:cNvSpPr txBox="1"/>
          <p:nvPr/>
        </p:nvSpPr>
        <p:spPr>
          <a:xfrm>
            <a:off x="411480" y="5504688"/>
            <a:ext cx="8321040" cy="329184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</a:pPr>
            <a:r>
              <a:rPr sz="1000">
                <a:latin typeface="微软雅黑"/>
                <a:ea typeface="微软雅黑"/>
              </a:rPr>
              <a:t>命令与 compare.env 三项出自 SDC/学生操作手册.md（@8b6f9ad9）第 5 节“以 E3 教师演示为例”；</a:t>
            </a:r>
          </a:p>
          <a:p>
            <a:pPr algn="l" eaLnBrk="1" hangingPunct="1">
              <a:lnSpc>
                <a:spcPct val="100000"/>
              </a:lnSpc>
            </a:pPr>
            <a:r>
              <a:rPr sz="1000">
                <a:latin typeface="微软雅黑"/>
                <a:ea typeface="微软雅黑"/>
              </a:rPr>
              <a:t>判据出自 evidence/compare.txt；手册步骤已于 10-20 按新示例实际走过一遍</a:t>
            </a:r>
          </a:p>
        </p:txBody>
      </p:sp>
      <p:sp>
        <p:nvSpPr>
          <p:cNvPr id="101" name="fig-d"/>
          <p:cNvSpPr/>
          <p:nvPr/>
        </p:nvSpPr>
        <p:spPr>
          <a:xfrm>
            <a:off x="457200" y="1499616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868680" y="1417320"/>
            <a:ext cx="7863840" cy="457200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只读检出：git switch --detach origin/exp/E3，不开分支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868680" y="1929384"/>
            <a:ext cx="7863840" cy="457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输出目录：SDC/E3/outputs/E3-00-&lt;学号&gt;/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57200" y="2523744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868680" y="2441448"/>
            <a:ext cx="7863840" cy="457200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compare.env 三项：MODULE、TESTS、EXPECT_BASE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57200" y="3035808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868680" y="2953512"/>
            <a:ext cx="7863840" cy="457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对照命令：SDC/compare.sh &lt;编号&gt;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57200" y="3547872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868680" y="3465576"/>
            <a:ext cx="7863840" cy="457200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达标判据：Errors=0、Skipped=0、结论：符合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① 业务需求与约束是不暴露账号是否存在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554480"/>
            <a:ext cx="4069080" cy="91440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• 用户名不存在：</a:t>
            </a:r>
            <a:br>
              <a:rPr lang="zh-CN" altLang="en-US" sz="2000" b="0"/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404，“用户名或密码错误”</a:t>
            </a:r>
          </a:p>
        </p:txBody>
      </p:sp>
      <p:sp>
        <p:nvSpPr>
          <p:cNvPr id="102" name="fig"/>
          <p:cNvSpPr/>
          <p:nvPr/>
        </p:nvSpPr>
        <p:spPr>
          <a:xfrm>
            <a:off x="4663440" y="1554480"/>
            <a:ext cx="4069080" cy="91440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• 密码错误：</a:t>
            </a:r>
            <a:br>
              <a:rPr lang="zh-CN" altLang="en-US" sz="2000" b="0"/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500，“密码不正确”</a:t>
            </a:r>
          </a:p>
        </p:txBody>
      </p:sp>
      <p:sp>
        <p:nvSpPr>
          <p:cNvPr id="103" name="fig"/>
          <p:cNvSpPr/>
          <p:nvPr/>
        </p:nvSpPr>
        <p:spPr>
          <a:xfrm>
            <a:off x="411480" y="2606040"/>
            <a:ext cx="8321040" cy="594360"/>
          </a:xfrm>
          <a:prstGeom prst="rect">
            <a:avLst/>
          </a:prstGeom>
          <a:solidFill>
            <a:srgbClr val="A33B38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• 口径不同，调用方能据此判断账号是否存在</a:t>
            </a:r>
          </a:p>
        </p:txBody>
      </p:sp>
      <p:sp>
        <p:nvSpPr>
          <p:cNvPr id="104" name="fig"/>
          <p:cNvSpPr/>
          <p:nvPr/>
        </p:nvSpPr>
        <p:spPr>
          <a:xfrm>
            <a:off x="411480" y="3383280"/>
            <a:ext cx="8321040" cy="68580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• 规格：两种失败同一响应码、同一文案（取自第 272 行）</a:t>
            </a:r>
          </a:p>
        </p:txBody>
      </p:sp>
      <p:sp>
        <p:nvSpPr>
          <p:cNvPr id="105" name="fig"/>
          <p:cNvSpPr/>
          <p:nvPr/>
        </p:nvSpPr>
        <p:spPr>
          <a:xfrm>
            <a:off x="411480" y="4206240"/>
            <a:ext cx="8321040" cy="68580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• 约束：成功路径、令牌、日志与接口签名不改；禁用单列</a:t>
            </a:r>
          </a:p>
        </p:txBody>
      </p:sp>
      <p:sp>
        <p:nvSpPr>
          <p:cNvPr id="10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②③ 现有设计把失败语义分在服务与控制器两层</a:t>
            </a:r>
          </a:p>
        </p:txBody>
      </p:sp>
      <p:sp>
        <p:nvSpPr>
          <p:cNvPr id="7" name="body"/>
          <p:cNvSpPr txBox="1"/>
          <p:nvPr/>
        </p:nvSpPr>
        <p:spPr>
          <a:xfrm>
            <a:off x="411480" y="1481328"/>
            <a:ext cx="832104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latin typeface="微软雅黑"/>
                <a:ea typeface="微软雅黑"/>
              </a:rPr>
              <a:t>• 优势：控制器里一眼看到所有对外文案</a:t>
            </a:r>
          </a:p>
          <a:p>
            <a:r>
              <a:rPr sz="2200" b="0">
                <a:latin typeface="微软雅黑"/>
                <a:ea typeface="微软雅黑"/>
              </a:rPr>
              <a:t>• 不足：服务用 null、异常、-1／-2／-3 三种方式表示失败</a:t>
            </a:r>
          </a:p>
          <a:p>
            <a:r>
              <a:rPr sz="2200" b="0">
                <a:latin typeface="微软雅黑"/>
                <a:ea typeface="微软雅黑"/>
              </a:rPr>
              <a:t>• 控制器再翻译，两种登录失败走了两条路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108960"/>
            <a:ext cx="8321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CC0000"/>
                </a:solidFill>
                <a:latin typeface="微软雅黑"/>
                <a:ea typeface="微软雅黑"/>
              </a:rPr>
              <a:t>！ 源码可见后果（已由测试复现）：</a:t>
            </a:r>
            <a:br>
              <a:rPr sz="2200" b="1"/>
            </a:br>
            <a:r>
              <a:rPr sz="2200" b="1">
                <a:solidFill>
                  <a:srgbClr val="CC0000"/>
                </a:solidFill>
                <a:latin typeface="微软雅黑"/>
                <a:ea typeface="微软雅黑"/>
              </a:rPr>
              <a:t>调用方能据响应区分账号是否存在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4023360"/>
          <a:ext cx="8321040" cy="70408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80260"/>
                <a:gridCol w="2080260"/>
                <a:gridCol w="2080260"/>
                <a:gridCol w="2080260"/>
              </a:tblGrid>
              <a:tr h="35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子特性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判定指标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本例取值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问题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3500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易分析性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失败的出口种类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3 种（null、异常、返回码）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改一句提示要读两个文件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教师示例 E3-00 里密码错抛的异常不进 catch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63040"/>
            <a:ext cx="8321040" cy="109728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第 105 行抛 ApiException，第 115 行的 catch 只接认证异常</a:t>
            </a:r>
          </a:p>
          <a:p>
            <a:pPr algn="l" eaLnBrk="1" hangingPunct="1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Issue meng004/mall#47。入口 POST /admin/login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606040"/>
            <a:ext cx="8138160" cy="2606040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try {</a:t>
            </a:r>
          </a:p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UserDetails userDetails = loadUserByUsername(​username);</a:t>
            </a:r>
          </a:p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if(​!passwordEncoder.​matches(​password,​userDetails.​getPassword(​))){</a:t>
            </a:r>
          </a:p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    Asserts.​fail(​"密码不正确");</a:t>
            </a:r>
          </a:p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}</a:t>
            </a:r>
          </a:p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if(​!userDetails.​isEnabled(​)){</a:t>
            </a:r>
          </a:p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    Asserts.​fail(​"帐号已被禁用");</a:t>
            </a:r>
          </a:p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}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5248656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出处：meng004/mall@dcaa93b3150352e5044708d7211b5bed0af4509f: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mall-admin/src/main/java/com/macro/mall/service/impl/UmsAdminServiceImpl.java:102-109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用户名不存在时被接住返回 null，控制器回 404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第 272 行抛 UsernameNotFoundException，被接住</a:t>
            </a:r>
          </a:p>
          <a:p>
            <a:pPr algn="l" eaLnBrk="1" hangingPunct="1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控制器第 63-64 行把 null 译成 404 与文案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208483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String token = adminService.​login(​umsAdminLoginParam.​getUsername(​),​ umsAdminLoginParam.​getPassword(​));</a:t>
            </a:r>
          </a:p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if (​token == null) {</a:t>
            </a:r>
          </a:p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return CommonResult.​validateFailed(​"用户名或密码错误");</a:t>
            </a:r>
          </a:p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}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937760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出处：meng004/mall@dcaa93b3150352e5044708d7211b5bed0af4509f: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mall-admin/src/main/java/com/macro/mall/controller/UmsAdminController.java:61-64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④ 改进方案把失败语义收回服务层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389120"/>
            <a:ext cx="8321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666666"/>
                </a:solidFill>
                <a:latin typeface="微软雅黑"/>
                <a:ea typeface="微软雅黑"/>
              </a:rPr>
              <a:t>注：实现由 AI 按 ai-run/prompt.md 完成，逐处判定见 AI使用记录.md。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463040"/>
            <a:ext cx="457200" cy="47548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＋</a:t>
            </a:r>
          </a:p>
        </p:txBody>
      </p:sp>
      <p:sp>
        <p:nvSpPr>
          <p:cNvPr id="102" name="fig"/>
          <p:cNvSpPr/>
          <p:nvPr/>
        </p:nvSpPr>
        <p:spPr>
          <a:xfrm>
            <a:off x="914400" y="1463040"/>
            <a:ext cx="7818120" cy="475488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• 密码错抛 BadCredentialsException，与用户名不存在同路</a:t>
            </a:r>
          </a:p>
        </p:txBody>
      </p:sp>
      <p:sp>
        <p:nvSpPr>
          <p:cNvPr id="103" name="fig-d"/>
          <p:cNvSpPr/>
          <p:nvPr/>
        </p:nvSpPr>
        <p:spPr>
          <a:xfrm>
            <a:off x="411480" y="2011680"/>
            <a:ext cx="457200" cy="47548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＋</a:t>
            </a:r>
          </a:p>
        </p:txBody>
      </p:sp>
      <p:sp>
        <p:nvSpPr>
          <p:cNvPr id="104" name="fig"/>
          <p:cNvSpPr/>
          <p:nvPr/>
        </p:nvSpPr>
        <p:spPr>
          <a:xfrm>
            <a:off x="914400" y="2011680"/>
            <a:ext cx="7818120" cy="475488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• 改密三种失败由服务层 Asserts.fail 给出原文案</a:t>
            </a:r>
          </a:p>
        </p:txBody>
      </p:sp>
      <p:sp>
        <p:nvSpPr>
          <p:cNvPr id="105" name="fig-d"/>
          <p:cNvSpPr/>
          <p:nvPr/>
        </p:nvSpPr>
        <p:spPr>
          <a:xfrm>
            <a:off x="411480" y="2560320"/>
            <a:ext cx="457200" cy="47548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−</a:t>
            </a:r>
          </a:p>
        </p:txBody>
      </p:sp>
      <p:sp>
        <p:nvSpPr>
          <p:cNvPr id="106" name="fig"/>
          <p:cNvSpPr/>
          <p:nvPr/>
        </p:nvSpPr>
        <p:spPr>
          <a:xfrm>
            <a:off x="914400" y="2560320"/>
            <a:ext cx="7818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• 删掉控制器里 -1／-2／-3 到文案的翻译</a:t>
            </a:r>
          </a:p>
        </p:txBody>
      </p:sp>
      <p:sp>
        <p:nvSpPr>
          <p:cNvPr id="107" name="fig-d"/>
          <p:cNvSpPr/>
          <p:nvPr/>
        </p:nvSpPr>
        <p:spPr>
          <a:xfrm>
            <a:off x="411480" y="3108960"/>
            <a:ext cx="457200" cy="47548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＋</a:t>
            </a:r>
          </a:p>
        </p:txBody>
      </p:sp>
      <p:sp>
        <p:nvSpPr>
          <p:cNvPr id="108" name="fig"/>
          <p:cNvSpPr/>
          <p:nvPr/>
        </p:nvSpPr>
        <p:spPr>
          <a:xfrm>
            <a:off x="914400" y="3108960"/>
            <a:ext cx="7818120" cy="475488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• 接口注释写明失败抛异常、成功返回 1（人工补充）</a:t>
            </a:r>
          </a:p>
        </p:txBody>
      </p:sp>
      <p:sp>
        <p:nvSpPr>
          <p:cNvPr id="109" name="fig"/>
          <p:cNvSpPr/>
          <p:nvPr/>
        </p:nvSpPr>
        <p:spPr>
          <a:xfrm>
            <a:off x="411480" y="3730752"/>
            <a:ext cx="8321040" cy="530352"/>
          </a:xfrm>
          <a:prstGeom prst="rect">
            <a:avLst/>
          </a:prstGeom>
          <a:solidFill>
            <a:srgbClr val="FFFFFF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• 改动：3 个文件，+7 −16 行</a:t>
            </a:r>
          </a:p>
        </p:txBody>
      </p:sp>
      <p:sp>
        <p:nvSpPr>
          <p:cNvPr id="1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密码错改走同一条路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改后第 106 行抛认证异常，被第 116 行接住</a:t>
            </a:r>
          </a:p>
          <a:p>
            <a:pPr algn="l" eaLnBrk="1" hangingPunct="1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返回 null，控制器回 404 与“用户名或密码错误”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208483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UserDetails userDetails = loadUserByUsername(​username);</a:t>
            </a:r>
          </a:p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if(​!passwordEncoder.​matches(​password,​userDetails.​getPassword(​))){</a:t>
            </a:r>
          </a:p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    throw new BadCredentialsException(​"用户名或密码错误");</a:t>
            </a:r>
          </a:p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}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937760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出处：meng004/mall@e0ea94ef65c9831bf241f4bd6d5c48c189a89e17: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mall-admin/src/main/java/com/macro/mall/service/impl/UmsAdminServiceImpl.java:104-107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⑤ 取舍对比最小修复与结构重构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00000"/>
          <a:ext cx="8321040" cy="110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80260"/>
                <a:gridCol w="2080260"/>
                <a:gridCol w="2080260"/>
                <a:gridCol w="2080260"/>
              </a:tblGrid>
              <a:tr h="36666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维度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最小修复（E3）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结构重构（E4）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决策依据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366666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是否改变行为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是（缺陷修复）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否（重构）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本次目标：统一登录失败口径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366668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改动规模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+7 −16 行，3 文件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多文件，</a:t>
                      </a:r>
                      <a:br>
                        <a:rPr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不改公开接口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规格约束：</a:t>
                      </a:r>
                      <a:br/>
                      <a:r>
                        <a:rPr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不改签名与接口</a:t>
                      </a:r>
                    </a:p>
                  </a:txBody>
                  <a:tcPr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ody"/>
          <p:cNvSpPr txBox="1"/>
          <p:nvPr/>
        </p:nvSpPr>
        <p:spPr>
          <a:xfrm>
            <a:off x="411480" y="2926080"/>
            <a:ext cx="83210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800"/>
              </a:spcBef>
            </a:pPr>
            <a:r>
              <a:rPr sz="2400" b="0">
                <a:latin typeface="微软雅黑"/>
                <a:ea typeface="微软雅黑"/>
              </a:rPr>
              <a:t>• 最小修复不动结构：服务仍经 SpringUtil 取缓存</a:t>
            </a:r>
          </a:p>
          <a:p>
            <a:pPr>
              <a:spcBef>
                <a:spcPts val="4800"/>
              </a:spcBef>
            </a:pPr>
            <a:r>
              <a:rPr sz="2400" b="0">
                <a:latin typeface="微软雅黑"/>
                <a:ea typeface="微软雅黑"/>
              </a:rPr>
              <a:t>• 后续演进：失败自带响应码，需改 mall-common</a:t>
            </a:r>
          </a:p>
        </p:txBody>
      </p:sp>
      <p:sp>
        <p:nvSpPr>
          <p:cNvPr id="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对照结论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Issue #47。改前 fail，改后 pass</a:t>
            </a:r>
          </a:p>
          <a:p>
            <a:pPr algn="l" eaLnBrk="1" hangingPunct="1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红灯是业务断言，跳过是 0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365760" y="2834640"/>
          <a:ext cx="8138160" cy="30540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1680"/>
                <a:gridCol w="6126480"/>
              </a:tblGrid>
              <a:tr h="50901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记录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50901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改前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fail，预期 fail。6 个测试，失败 1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0901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改后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pass，预期 pass。失败 0，错误 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901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结论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符合。EXPECT_BASE=fail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0901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断言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期望响应码 404，实际 500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901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提交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测试 d4121364 先于修复 e0ea94ef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r>
              <a:t>AI 差异审查的存档五项要齐</a:t>
            </a:r>
          </a:p>
        </p:txBody>
      </p:sp>
      <p:sp>
        <p:nvSpPr>
          <p:cNvPr id="8" name="code-cmd"/>
          <p:cNvSpPr txBox="1"/>
          <p:nvPr/>
        </p:nvSpPr>
        <p:spPr>
          <a:xfrm>
            <a:off x="411480" y="3810000"/>
            <a:ext cx="8138160" cy="1498600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>
              <a:lnSpc>
                <a:spcPct val="100000"/>
              </a:lnSpc>
            </a:pPr>
            <a:r>
              <a:rPr sz="1400">
                <a:latin typeface="Consolas"/>
                <a:ea typeface="微软雅黑"/>
              </a:rPr>
              <a:t>SDC/E3/outputs/E3-00/</a:t>
            </a:r>
          </a:p>
          <a:p>
            <a:pPr algn="l" eaLnBrk="1" hangingPunct="1">
              <a:lnSpc>
                <a:spcPct val="100000"/>
              </a:lnSpc>
            </a:pPr>
            <a:r>
              <a:rPr sz="1400">
                <a:latin typeface="Consolas"/>
                <a:ea typeface="微软雅黑"/>
              </a:rPr>
              <a:t>    AI使用记录.md           # 工具、逐处判定、人工核对、限制</a:t>
            </a:r>
          </a:p>
          <a:p>
            <a:pPr algn="l" eaLnBrk="1" hangingPunct="1">
              <a:lnSpc>
                <a:spcPct val="100000"/>
              </a:lnSpc>
            </a:pPr>
            <a:r>
              <a:rPr sz="1400">
                <a:latin typeface="Consolas"/>
                <a:ea typeface="微软雅黑"/>
              </a:rPr>
              <a:t>    compare.env             # MODULE、TESTS、EXPECT_BASE</a:t>
            </a:r>
          </a:p>
          <a:p>
            <a:pPr algn="l" eaLnBrk="1" hangingPunct="1">
              <a:lnSpc>
                <a:spcPct val="100000"/>
              </a:lnSpc>
            </a:pPr>
            <a:r>
              <a:rPr sz="1400">
                <a:latin typeface="Consolas"/>
                <a:ea typeface="微软雅黑"/>
              </a:rPr>
              <a:t>    evidence/compare.txt    # 改前 fail、改后 pass、结论符合</a:t>
            </a:r>
          </a:p>
          <a:p>
            <a:pPr algn="l" eaLnBrk="1" hangingPunct="1">
              <a:lnSpc>
                <a:spcPct val="100000"/>
              </a:lnSpc>
            </a:pPr>
            <a:r>
              <a:rPr sz="1400">
                <a:latin typeface="Consolas"/>
                <a:ea typeface="微软雅黑"/>
              </a:rPr>
              <a:t>    evidence/coverage.txt   # login、updatePassword 行与分支</a:t>
            </a:r>
          </a:p>
          <a:p>
            <a:pPr algn="l" eaLnBrk="1" hangingPunct="1">
              <a:lnSpc>
                <a:spcPct val="100000"/>
              </a:lnSpc>
            </a:pPr>
            <a:r>
              <a:rPr sz="1400">
                <a:latin typeface="Consolas"/>
                <a:ea typeface="微软雅黑"/>
              </a:rPr>
              <a:t>    ai-run/                 # prompt.md 提示原文、raw.diff 原始差异</a:t>
            </a:r>
          </a:p>
        </p:txBody>
      </p:sp>
      <p:sp>
        <p:nvSpPr>
          <p:cNvPr id="9" name="fn"/>
          <p:cNvSpPr txBox="1"/>
          <p:nvPr/>
        </p:nvSpPr>
        <p:spPr>
          <a:xfrm>
            <a:off x="411480" y="5359400"/>
            <a:ext cx="8321040" cy="5588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</a:pPr>
            <a:r>
              <a:rPr sz="1000">
                <a:latin typeface="微软雅黑"/>
                <a:ea typeface="微软雅黑"/>
              </a:rPr>
              <a:t>来源：meng004/mall@8525e65b:SDC/E3/outputs/E3-00/</a:t>
            </a:r>
          </a:p>
          <a:p>
            <a:pPr algn="l" eaLnBrk="1" hangingPunct="1">
              <a:lnSpc>
                <a:spcPct val="100000"/>
              </a:lnSpc>
            </a:pPr>
            <a:r>
              <a:rPr sz="1000">
                <a:latin typeface="微软雅黑"/>
                <a:ea typeface="微软雅黑"/>
              </a:rPr>
              <a:t>该提交收录上述五项；交给 AI 的提示与它的原始差异逐字存档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444752"/>
            <a:ext cx="365760" cy="36576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√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868680" y="1417320"/>
            <a:ext cx="7863840" cy="420624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AI使用记录.md：逐处判定、人工核对与限制</a:t>
            </a:r>
          </a:p>
        </p:txBody>
      </p:sp>
      <p:sp>
        <p:nvSpPr>
          <p:cNvPr id="103" name="fig-d"/>
          <p:cNvSpPr/>
          <p:nvPr/>
        </p:nvSpPr>
        <p:spPr>
          <a:xfrm>
            <a:off x="411480" y="1920240"/>
            <a:ext cx="365760" cy="36576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√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868680" y="1892808"/>
            <a:ext cx="7863840" cy="420624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compare.env：MODULE、TESTS、EXPECT_BASE 三项</a:t>
            </a:r>
          </a:p>
        </p:txBody>
      </p:sp>
      <p:sp>
        <p:nvSpPr>
          <p:cNvPr id="105" name="fig-d"/>
          <p:cNvSpPr/>
          <p:nvPr/>
        </p:nvSpPr>
        <p:spPr>
          <a:xfrm>
            <a:off x="411480" y="2395728"/>
            <a:ext cx="365760" cy="36576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√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868680" y="2368296"/>
            <a:ext cx="7863840" cy="420624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evidence/compare.txt：改前 fail、改后 pass、结论符合</a:t>
            </a:r>
          </a:p>
        </p:txBody>
      </p:sp>
      <p:sp>
        <p:nvSpPr>
          <p:cNvPr id="107" name="fig-d"/>
          <p:cNvSpPr/>
          <p:nvPr/>
        </p:nvSpPr>
        <p:spPr>
          <a:xfrm>
            <a:off x="411480" y="2871216"/>
            <a:ext cx="365760" cy="36576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√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868680" y="2843784"/>
            <a:ext cx="7863840" cy="420624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evidence/coverage.txt：两个方法的行、分支与未覆盖说明</a:t>
            </a:r>
          </a:p>
        </p:txBody>
      </p:sp>
      <p:sp>
        <p:nvSpPr>
          <p:cNvPr id="109" name="fig-d"/>
          <p:cNvSpPr/>
          <p:nvPr/>
        </p:nvSpPr>
        <p:spPr>
          <a:xfrm>
            <a:off x="411480" y="3346704"/>
            <a:ext cx="365760" cy="36576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√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868680" y="3319272"/>
            <a:ext cx="7863840" cy="420624"/>
          </a:xfrm>
          <a:prstGeom prst="rect">
            <a:avLst/>
          </a:prstGeom>
          <a:solidFill>
            <a:srgbClr val="F6E8E6"/>
          </a:solidFill>
          <a:ln w="12700">
            <a:solidFill>
              <a:srgbClr val="F6E8E6"/>
            </a:solidFill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ai-run/：提示原文与 AI 原始差异，审查前的样子</a:t>
            </a: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候选选题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7132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六项里选一项。没有 E3-05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365760" y="2267712"/>
          <a:ext cx="8138160" cy="362102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1680"/>
                <a:gridCol w="6126480"/>
              </a:tblGrid>
              <a:tr h="517289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编号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题目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517289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E3-01 #2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优惠券门槛按数值比较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17289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E3-02 #11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购物车合并的修改时间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289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E3-03 #3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批量删除属性按各自分类扣减计数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17289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E3-04 #4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修改属性时同步迁移分类计数并保证原子性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289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E3-06 #12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商品属性分类 ID 的参数校验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1729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E3-07 #13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无效地址更新清空已有默认地址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步骤① 用户故事、需求验收准则、</a:t>
            </a:r>
            <a:b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</a:rPr>
            </a:b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不得修改的部分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54480"/>
            <a:ext cx="1371600" cy="56692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用户故事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874520" y="1554480"/>
            <a:ext cx="6858000" cy="56692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用户故事：登录失败时不暴露账号是否存在</a:t>
            </a:r>
          </a:p>
        </p:txBody>
      </p:sp>
      <p:sp>
        <p:nvSpPr>
          <p:cNvPr id="103" name="fig-d"/>
          <p:cNvSpPr/>
          <p:nvPr/>
        </p:nvSpPr>
        <p:spPr>
          <a:xfrm>
            <a:off x="411480" y="2377440"/>
            <a:ext cx="1371600" cy="1225296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验收准则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874520" y="2377440"/>
            <a:ext cx="6858000" cy="56692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功能：不存在与密码错同为 404 与同一文案</a:t>
            </a:r>
          </a:p>
        </p:txBody>
      </p:sp>
      <p:sp>
        <p:nvSpPr>
          <p:cNvPr id="105" name="fig"/>
          <p:cNvSpPr/>
          <p:nvPr/>
        </p:nvSpPr>
        <p:spPr>
          <a:xfrm>
            <a:off x="1874520" y="3035808"/>
            <a:ext cx="6858000" cy="56692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禁用仍是 500；改密三种失败文案不变</a:t>
            </a:r>
          </a:p>
        </p:txBody>
      </p:sp>
      <p:sp>
        <p:nvSpPr>
          <p:cNvPr id="106" name="fig-d"/>
          <p:cNvSpPr/>
          <p:nvPr/>
        </p:nvSpPr>
        <p:spPr>
          <a:xfrm>
            <a:off x="411480" y="3858768"/>
            <a:ext cx="1371600" cy="1225296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不得修改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1874520" y="3858768"/>
            <a:ext cx="685800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不改成功路径、令牌、日志与接口签名</a:t>
            </a:r>
          </a:p>
        </p:txBody>
      </p:sp>
      <p:sp>
        <p:nvSpPr>
          <p:cNvPr id="108" name="fig"/>
          <p:cNvSpPr/>
          <p:nvPr/>
        </p:nvSpPr>
        <p:spPr>
          <a:xfrm>
            <a:off x="1874520" y="4517136"/>
            <a:ext cx="685800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不改 mall-common、mall-security；不引新依赖</a:t>
            </a: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步骤② 让 AI 按准则生成失败测试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7132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失败在第 101 行：期望响应码 404，实际 500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267712"/>
            <a:ext cx="8138160" cy="2779776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existing(​"admin",​ "right",​ 1);</a:t>
            </a:r>
          </a:p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login(​"admin",​ "wrong").​andExpect(​jsonPath(​"$.​code").​value(​404)).​andExpect(​jsonPath(​"$.​message").​value(​"用户名或密码错误"));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5065776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出处：meng004/mall@d412136431afcd8179a6e3b53c7e4531fad5bc5d: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mall-admin/src/test/java/com/macro/mall/sdc/e3/SDCE300Test.java:100-101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步骤③ 交出准则再交给 AI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600200"/>
            <a:ext cx="411480" cy="41148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103120"/>
            <a:ext cx="2377440" cy="15544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生成之前交出准则和不得修改的部分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2807208" y="2880360"/>
            <a:ext cx="557784" cy="9144"/>
          </a:xfrm>
          <a:custGeom>
            <a:avLst/>
            <a:gdLst/>
            <a:ahLst/>
            <a:cxnLst/>
            <a:rect l="0" t="0" r="r" b="b"/>
            <a:pathLst>
              <a:path w="557784" h="9144" fill="none">
                <a:moveTo>
                  <a:pt x="0" y="0"/>
                </a:moveTo>
                <a:lnTo>
                  <a:pt x="557784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3383280" y="1600200"/>
            <a:ext cx="411480" cy="41148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3383280" y="2103120"/>
            <a:ext cx="2377440" cy="15544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让它列出改了哪些文件和行号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5779008" y="2880360"/>
            <a:ext cx="557784" cy="9144"/>
          </a:xfrm>
          <a:custGeom>
            <a:avLst/>
            <a:gdLst/>
            <a:ahLst/>
            <a:cxnLst/>
            <a:rect l="0" t="0" r="r" b="b"/>
            <a:pathLst>
              <a:path w="557784" h="9144" fill="none">
                <a:moveTo>
                  <a:pt x="0" y="0"/>
                </a:moveTo>
                <a:lnTo>
                  <a:pt x="557784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6355080" y="1600200"/>
            <a:ext cx="411480" cy="41148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6355080" y="2103120"/>
            <a:ext cx="2377440" cy="15544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让它写出依据，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以及要跑哪些测试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411480" y="4069080"/>
            <a:ext cx="8321040" cy="822960"/>
          </a:xfrm>
          <a:prstGeom prst="rect">
            <a:avLst/>
          </a:prstGeom>
          <a:solidFill>
            <a:srgbClr val="A33B38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没有准则的产出，后面无法验收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步骤④ 人工审查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508760"/>
            <a:ext cx="8321040" cy="566928"/>
          </a:xfrm>
          <a:prstGeom prst="rect">
            <a:avLst/>
          </a:prstGeom>
          <a:solidFill>
            <a:srgbClr val="FFFFFF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逐处记下采纳、部分采纳或驳回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11480" y="2286000"/>
            <a:ext cx="822960" cy="60350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√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325880" y="2286000"/>
            <a:ext cx="7406640" cy="60350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采纳：密码错改抛 BadCredentialsException</a:t>
            </a:r>
          </a:p>
        </p:txBody>
      </p:sp>
      <p:sp>
        <p:nvSpPr>
          <p:cNvPr id="104" name="fig-d"/>
          <p:cNvSpPr/>
          <p:nvPr/>
        </p:nvSpPr>
        <p:spPr>
          <a:xfrm>
            <a:off x="411480" y="2999232"/>
            <a:ext cx="822960" cy="60350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√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1325880" y="2999232"/>
            <a:ext cx="7406640" cy="60350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采纳：控制器删去 -1／-2／-3 的翻译</a:t>
            </a:r>
          </a:p>
        </p:txBody>
      </p:sp>
      <p:sp>
        <p:nvSpPr>
          <p:cNvPr id="106" name="fig-d"/>
          <p:cNvSpPr/>
          <p:nvPr/>
        </p:nvSpPr>
        <p:spPr>
          <a:xfrm>
            <a:off x="411480" y="3712464"/>
            <a:ext cx="822960" cy="60350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补充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1325880" y="3712464"/>
            <a:ext cx="7406640" cy="60350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人工补接口注释；不动 SpringUtil 与 mall-common</a:t>
            </a:r>
          </a:p>
        </p:txBody>
      </p:sp>
      <p:sp>
        <p:nvSpPr>
          <p:cNvPr id="108" name="fig"/>
          <p:cNvSpPr/>
          <p:nvPr/>
        </p:nvSpPr>
        <p:spPr>
          <a:xfrm>
            <a:off x="411480" y="4526280"/>
            <a:ext cx="8321040" cy="685800"/>
          </a:xfrm>
          <a:prstGeom prst="rect">
            <a:avLst/>
          </a:prstGeom>
          <a:solidFill>
            <a:srgbClr val="A33B38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审查后运行全部测试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步骤⑤ 行、分支覆盖率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84708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login 行 13/14、分支 4/4；改密 行 13/16、分支 8/10</a:t>
            </a:r>
          </a:p>
          <a:p>
            <a:pPr algn="l" eaLnBrk="1" hangingPunct="1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未覆盖：旧密码、新密码为空的两个短路分支</a:t>
            </a:r>
          </a:p>
          <a:p>
            <a:pPr algn="l" eaLnBrk="1" hangingPunct="1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在 WSL/bash 执行；行尾 \ 把命令续成一条</a:t>
            </a:r>
          </a:p>
        </p:txBody>
      </p:sp>
      <p:sp>
        <p:nvSpPr>
          <p:cNvPr id="4" name="code-cmd"/>
          <p:cNvSpPr txBox="1"/>
          <p:nvPr/>
        </p:nvSpPr>
        <p:spPr>
          <a:xfrm>
            <a:off x="502920" y="3712464"/>
            <a:ext cx="8138160" cy="420624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18288" rIns="18288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mvn -B -pl mall-admin -am -DskipTests=false -Dtest=SDCE300Test \</a:t>
            </a:r>
          </a:p>
        </p:txBody>
      </p:sp>
      <p:sp>
        <p:nvSpPr>
          <p:cNvPr id="5" name="code-cmd"/>
          <p:cNvSpPr txBox="1"/>
          <p:nvPr/>
        </p:nvSpPr>
        <p:spPr>
          <a:xfrm>
            <a:off x="502920" y="4169664"/>
            <a:ext cx="8138160" cy="420624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18288" rIns="18288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-Dsurefire.failIfNoSpecifiedTests=false \</a:t>
            </a:r>
          </a:p>
        </p:txBody>
      </p:sp>
      <p:sp>
        <p:nvSpPr>
          <p:cNvPr id="6" name="code-cmd"/>
          <p:cNvSpPr txBox="1"/>
          <p:nvPr/>
        </p:nvSpPr>
        <p:spPr>
          <a:xfrm>
            <a:off x="502920" y="4626864"/>
            <a:ext cx="8138160" cy="420624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18288" rIns="18288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org.jacoco:jacoco-maven-plugin:0.8.13:prepare-agent test \</a:t>
            </a:r>
          </a:p>
        </p:txBody>
      </p:sp>
      <p:sp>
        <p:nvSpPr>
          <p:cNvPr id="7" name="code-cmd"/>
          <p:cNvSpPr txBox="1"/>
          <p:nvPr/>
        </p:nvSpPr>
        <p:spPr>
          <a:xfrm>
            <a:off x="502920" y="5084064"/>
            <a:ext cx="8138160" cy="420624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18288" rIns="18288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org.jacoco:jacoco-maven-plugin:0.8.13:report</a:t>
            </a:r>
          </a:p>
        </p:txBody>
      </p:sp>
      <p:sp>
        <p:nvSpPr>
          <p:cNvPr id="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步骤⑥ 提交AI协作记录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508760"/>
            <a:ext cx="8321040" cy="640080"/>
          </a:xfrm>
          <a:prstGeom prst="foldedCorner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AI 使用披露：范围、工具，提交说明写 AI-Assisted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258568"/>
            <a:ext cx="8321040" cy="640080"/>
          </a:xfrm>
          <a:prstGeom prst="foldedCorner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对话摘要：关键提示，以及一次失败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3008376"/>
            <a:ext cx="8321040" cy="640080"/>
          </a:xfrm>
          <a:prstGeom prst="foldedCorner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diff 审查记录：逐处采纳、部分采纳或驳回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3758184"/>
            <a:ext cx="8321040" cy="640080"/>
          </a:xfrm>
          <a:prstGeom prst="foldedCorner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对照与覆盖率：compare.txt、coverage.txt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11480" y="4663440"/>
            <a:ext cx="8321040" cy="685800"/>
          </a:xfrm>
          <a:prstGeom prst="rect">
            <a:avLst/>
          </a:prstGeom>
          <a:solidFill>
            <a:srgbClr val="FFFFFF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提示原文与 AI 原始差异存进 ai-run/</a:t>
            </a:r>
          </a:p>
        </p:txBody>
      </p:sp>
      <p:sp>
        <p:nvSpPr>
          <p:cNvPr id="10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常见失分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874520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005840" y="1691640"/>
            <a:ext cx="772668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改前的红灯来自连不上库，不是业务断言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834640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005840" y="2651760"/>
            <a:ext cx="772668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测试写在修改之后，改前已经是绿的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794760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005840" y="3611880"/>
            <a:ext cx="772668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只报覆盖率，不解释没走到的分支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754880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005840" y="4572000"/>
            <a:ext cx="772668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无关的重命名或格式化也留在 diff 里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01" name="fig-d"/>
          <p:cNvSpPr/>
          <p:nvPr/>
        </p:nvSpPr>
        <p:spPr>
          <a:xfrm>
            <a:off x="685800" y="1783080"/>
            <a:ext cx="109728" cy="15544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960120" y="1417320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6000" b="1">
                <a:solidFill>
                  <a:srgbClr val="A33B38"/>
                </a:solidFill>
                <a:latin typeface="微软雅黑"/>
                <a:ea typeface="微软雅黑"/>
              </a:rPr>
              <a:t>“</a:t>
            </a:r>
            <a:endParaRPr lang="zh-CN" sz="6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097280" y="1965960"/>
            <a:ext cx="7635240" cy="1371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262626"/>
                </a:solidFill>
                <a:latin typeface="微软雅黑"/>
                <a:ea typeface="微软雅黑"/>
              </a:rPr>
              <a:t>AI顺手把不相干的代码也改了，</a:t>
            </a:r>
            <a:br>
              <a:rPr lang="zh-CN" sz="2400">
                <a:latin typeface="微软雅黑"/>
                <a:ea typeface="微软雅黑"/>
              </a:rPr>
            </a:br>
            <a:r>
              <a:rPr lang="zh-CN" altLang="en-US" sz="2400" b="1">
                <a:solidFill>
                  <a:srgbClr val="262626"/>
                </a:solidFill>
                <a:latin typeface="微软雅黑"/>
                <a:ea typeface="微软雅黑"/>
              </a:rPr>
              <a:t>这种情况怎么处理？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11480" y="3474720"/>
            <a:ext cx="27432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提示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11480" y="3794760"/>
            <a:ext cx="832104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拆出无关的部分，或者驳回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11480" y="4361688"/>
            <a:ext cx="832104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判据是有没有超出这次的任务范围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11480" y="4928616"/>
            <a:ext cx="832104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能编译、测试仍绿，都不是留下的理由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  <p:hf sldNum="0" hdr="0" ftr="0" dt="0"/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抽 1 人讲被改掉的一处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00200"/>
            <a:ext cx="8321040" cy="868680"/>
          </a:xfrm>
          <a:prstGeom prst="rect">
            <a:avLst/>
          </a:prstGeom>
          <a:solidFill>
            <a:srgbClr val="FFFFFF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A33B38"/>
                </a:solidFill>
                <a:latin typeface="微软雅黑"/>
                <a:ea typeface="微软雅黑"/>
              </a:rPr>
              <a:t>抽 1 人讲一处自己改过的 AI 代码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697480"/>
            <a:ext cx="4069080" cy="100584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要说出文件和行号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663440" y="2697480"/>
            <a:ext cx="4069080" cy="100584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依据是准则、约束或编码原则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3977640"/>
            <a:ext cx="8321040" cy="68580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示例补的是接口注释：返回值含义变了</a:t>
            </a:r>
          </a:p>
        </p:txBody>
      </p:sp>
      <p:sp>
        <p:nvSpPr>
          <p:cNvPr id="10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  <p:hf sldNum="0" hdr="0" ftr="0" dt="0"/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indent="0"/>
            <a:r>
              <a:rPr lang="zh-CN" sz="2800" dirty="0" b="1">
                <a:solidFill>
                  <a:srgbClr val="A33B38"/>
                </a:solidFill>
                <a:latin typeface="微软雅黑"/>
                <a:ea typeface="微软雅黑"/>
              </a:rPr>
              <a:t>怎样向 AI 提问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508760"/>
            <a:ext cx="7863840" cy="713232"/>
          </a:xfrm>
          <a:prstGeom prst="wedgeRectCallou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Persona：你是维护 mall 的 Java 开发者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468880"/>
            <a:ext cx="7863840" cy="713232"/>
          </a:xfrm>
          <a:prstGeom prst="wedgeRectCallou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Template：只动 src/test/，写一个改前失败的测试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3429000"/>
            <a:ext cx="7863840" cy="713232"/>
          </a:xfrm>
          <a:prstGeom prst="wedgeRectCallou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Question Refinement：基线上是编译失败还是断言失败？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4526280"/>
            <a:ext cx="8321040" cy="64008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每一句标出模式和它在本次任务里的作用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  <p:hf sldNum="0" hdr="0" ftr="0" dt="0"/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indent="0"/>
            <a:r>
              <a:rPr lang="zh-CN" sz="2800" dirty="0" b="1">
                <a:solidFill>
                  <a:srgbClr val="A33B38"/>
                </a:solidFill>
                <a:latin typeface="微软雅黑"/>
                <a:ea typeface="微软雅黑"/>
              </a:rPr>
              <a:t>怎样核对 AI 的产出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746504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√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005840" y="1600200"/>
            <a:ext cx="772668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准则结构、两种红灯：引用存在，对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615184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√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005840" y="2468880"/>
            <a:ext cx="772668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只断言公共接口与落库结果：有原则依据，对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483864"/>
            <a:ext cx="457200" cy="457200"/>
          </a:xfrm>
          <a:prstGeom prst="ellipse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？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005840" y="3337560"/>
            <a:ext cx="772668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E3-02 修改时间未落库：源码可见，未运行验证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11480" y="4343400"/>
            <a:ext cx="8321040" cy="777240"/>
          </a:xfrm>
          <a:prstGeom prst="rect">
            <a:avLst/>
          </a:prstGeom>
          <a:solidFill>
            <a:srgbClr val="A33B38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结论：采纳；行号以脚手架分支为准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  <p:hf sldNum="0" hdr="0" ftr="0" dt="0"/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r>
              <a:t>一页说明样例里三项各写什么</a:t>
            </a:r>
          </a:p>
        </p:txBody>
      </p:sp>
      <p:sp>
        <p:nvSpPr>
          <p:cNvPr id="8" name="code-cmd"/>
          <p:cNvSpPr txBox="1"/>
          <p:nvPr/>
        </p:nvSpPr>
        <p:spPr>
          <a:xfrm>
            <a:off x="411480" y="4069080"/>
            <a:ext cx="8138160" cy="1024128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>
              <a:lnSpc>
                <a:spcPct val="100000"/>
              </a:lnSpc>
            </a:pPr>
            <a:r>
              <a:rPr sz="1600">
                <a:latin typeface="Consolas"/>
                <a:ea typeface="微软雅黑"/>
              </a:rPr>
              <a:t>示例：E3-00  模块：mall-admin  测试：SDCE300Test</a:t>
            </a:r>
          </a:p>
          <a:p>
            <a:pPr algn="l" eaLnBrk="1" hangingPunct="1">
              <a:lnSpc>
                <a:spcPct val="100000"/>
              </a:lnSpc>
            </a:pPr>
            <a:r>
              <a:rPr sz="1600">
                <a:latin typeface="Consolas"/>
                <a:ea typeface="微软雅黑"/>
              </a:rPr>
              <a:t>改前 baseline-dcaa93b3：fail    Tests run: 6, Failures: 1</a:t>
            </a:r>
          </a:p>
          <a:p>
            <a:pPr algn="l" eaLnBrk="1" hangingPunct="1">
              <a:lnSpc>
                <a:spcPct val="100000"/>
              </a:lnSpc>
            </a:pPr>
            <a:r>
              <a:rPr sz="1600">
                <a:latin typeface="Consolas"/>
                <a:ea typeface="微软雅黑"/>
              </a:rPr>
              <a:t>改后 e0ea94ef：pass            Tests run: 6, Failures: 0</a:t>
            </a:r>
          </a:p>
          <a:p>
            <a:pPr algn="l" eaLnBrk="1" hangingPunct="1">
              <a:lnSpc>
                <a:spcPct val="100000"/>
              </a:lnSpc>
            </a:pPr>
            <a:r>
              <a:rPr sz="1600">
                <a:latin typeface="Consolas"/>
                <a:ea typeface="微软雅黑"/>
              </a:rPr>
              <a:t>结论：符合（Errors=0、Skipped=0）</a:t>
            </a:r>
          </a:p>
        </p:txBody>
      </p:sp>
      <p:sp>
        <p:nvSpPr>
          <p:cNvPr id="9" name="fn"/>
          <p:cNvSpPr txBox="1"/>
          <p:nvPr/>
        </p:nvSpPr>
        <p:spPr>
          <a:xfrm>
            <a:off x="411480" y="5400000"/>
            <a:ext cx="8321040" cy="3300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</a:pPr>
            <a:r>
              <a:rPr sz="1000">
                <a:latin typeface="微软雅黑"/>
                <a:ea typeface="微软雅黑"/>
              </a:rPr>
              <a:t>教师示例。材料出自 exp/e3-00 的 SDC/E3/outputs/E3-00/；</a:t>
            </a:r>
          </a:p>
          <a:p>
            <a:pPr>
              <a:lnSpc>
                <a:spcPct val="100000"/>
              </a:lnSpc>
            </a:pPr>
            <a:r>
              <a:rPr sz="1000">
                <a:latin typeface="微软雅黑"/>
                <a:ea typeface="微软雅黑"/>
              </a:rPr>
              <a:t>页尾两行出自 SDC/学生操作手册.md 第 2 节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371600"/>
            <a:ext cx="8321040" cy="260604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594360" y="1444752"/>
            <a:ext cx="7955280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讲清楚：两种登录失败须同一响应码与文案</a:t>
            </a:r>
          </a:p>
        </p:txBody>
      </p:sp>
      <p:sp>
        <p:nvSpPr>
          <p:cNvPr id="103" name="fig"/>
          <p:cNvSpPr/>
          <p:nvPr/>
        </p:nvSpPr>
        <p:spPr>
          <a:xfrm>
            <a:off x="594360" y="1901952"/>
            <a:ext cx="7955280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有依据：服务第 105 行抛异常，控制器第 63 行译 null</a:t>
            </a:r>
          </a:p>
        </p:txBody>
      </p:sp>
      <p:sp>
        <p:nvSpPr>
          <p:cNvPr id="104" name="fig"/>
          <p:cNvSpPr/>
          <p:nvPr/>
        </p:nvSpPr>
        <p:spPr>
          <a:xfrm>
            <a:off x="594360" y="2359152"/>
            <a:ext cx="7955280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验证过：改前 fail（6 项中 1 项失败），改后 pass</a:t>
            </a:r>
          </a:p>
        </p:txBody>
      </p:sp>
      <p:sp>
        <p:nvSpPr>
          <p:cNvPr id="105" name="fig"/>
          <p:cNvSpPr/>
          <p:nvPr/>
        </p:nvSpPr>
        <p:spPr>
          <a:xfrm>
            <a:off x="594360" y="2816352"/>
            <a:ext cx="7955280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覆盖率：login、updatePassword 行与分支各不低于 80%</a:t>
            </a:r>
          </a:p>
        </p:txBody>
      </p:sp>
      <p:sp>
        <p:nvSpPr>
          <p:cNvPr id="106" name="fig-d"/>
          <p:cNvSpPr/>
          <p:nvPr/>
        </p:nvSpPr>
        <p:spPr>
          <a:xfrm>
            <a:off x="594360" y="3337560"/>
            <a:ext cx="7680960" cy="18288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594360" y="3419856"/>
            <a:ext cx="7680960" cy="420624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页尾两行：AI 使用、证据来源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评分细则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138160" cy="4297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1680"/>
                <a:gridCol w="6126480"/>
              </a:tblGrid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输入、期望、缺陷复现与实际修改位置15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调用与持久化数据流和不得修改的部分15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规格对应的业务不变量或编码原则15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AI建议的采纳／驳回、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人工核对与最小修复取舍15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用执行记录核实同组规格测试改前因业务断言失败、改后通过20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边界及相邻行为回归10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395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目标方法行、分支覆盖率均不低于80%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并解释未覆盖内容10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  <p:hf sldNum="0" hdr="0" ftr="0" dt="0"/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提交要求</a:t>
            </a:r>
          </a:p>
        </p:txBody>
      </p:sp>
      <p:sp>
        <p:nvSpPr>
          <p:cNvPr id="3" name="body"/>
          <p:cNvSpPr>
            <a:spLocks noGrp="1"/>
          </p:cNvSpPr>
          <p:nvPr>
            <p:ph idx="1"/>
          </p:nvPr>
        </p:nvSpPr>
        <p:spPr>
          <a:xfrm>
            <a:off x="384048" y="1444752"/>
            <a:ext cx="8366760" cy="4480560"/>
          </a:xfrm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300" b="0" lang="zh-CN" altLang="en-US">
                <a:latin typeface="微软雅黑"/>
                <a:ea typeface="微软雅黑"/>
                <a:cs typeface="微软雅黑"/>
              </a:rPr>
              <a:t>一页说明（按讲清楚、有依据、验证过组织）＋不超过2分钟</a:t>
            </a:r>
            <a:br>
              <a:rPr sz="2300" b="0" lang="zh-CN" altLang="en-US">
                <a:latin typeface="微软雅黑"/>
                <a:ea typeface="微软雅黑"/>
              </a:rPr>
            </a:br>
            <a:r>
              <a:rPr sz="2300" b="0" lang="zh-CN" altLang="en-US">
                <a:latin typeface="微软雅黑"/>
                <a:ea typeface="微软雅黑"/>
                <a:cs typeface="微软雅黑"/>
              </a:rPr>
              <a:t>本人录屏。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300" b="0" lang="zh-CN" altLang="en-US">
                <a:latin typeface="微软雅黑"/>
                <a:ea typeface="微软雅黑"/>
                <a:cs typeface="微软雅黑"/>
              </a:rPr>
              <a:t>录屏由本人讲解，并展示本实验相应的证据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300" b="0" lang="zh-CN" altLang="en-US">
                <a:latin typeface="微软雅黑"/>
                <a:ea typeface="微软雅黑"/>
                <a:cs typeface="微软雅黑"/>
              </a:rPr>
              <a:t>说明里写本人的选择、执行和证据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300" b="0" lang="zh-CN" altLang="en-US">
                <a:latin typeface="微软雅黑"/>
                <a:ea typeface="微软雅黑"/>
                <a:cs typeface="微软雅黑"/>
              </a:rPr>
              <a:t>替代题检查自己改的方法，不沿用教师示例的报告</a:t>
            </a:r>
          </a:p>
        </p:txBody>
      </p:sp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  <p:hf sldNum="0" hdr="0" ftr="0" dt="0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本次课结束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下次课：第 7 次课｜体系结构设计（二）</a:t>
            </a:r>
          </a:p>
        </p:txBody>
      </p:sp>
    </p:spTree>
  </p:cSld>
  <p:clrMapOvr>
    <a:masterClrMapping/>
  </p:clrMapOvr>
</p:sld>
</file>

<file path=ppt/tags/tag7.xml><?xml version="1.0" encoding="utf-8"?>
<p:tagLst xmlns:p="http://schemas.openxmlformats.org/presentationml/2006/main">
  <p:tag name="commondata" val="eyJoZGlkIjoiZDkzYzZkNDRlZDllNjdlNTFlNDRjOWFlMDM3NGQyOTAifQ=="/>
</p:tagLst>
</file>

<file path=ppt/theme/theme1.xml><?xml version="1.0" encoding="utf-8"?>
<a:theme xmlns:a="http://schemas.openxmlformats.org/drawingml/2006/main" name="2_985平台">
  <a:themeElements>
    <a:clrScheme name="SDC-2026">
      <a:dk1>
        <a:srgbClr val="262626"/>
      </a:dk1>
      <a:lt1>
        <a:srgbClr val="FFFFFF"/>
      </a:lt1>
      <a:dk2>
        <a:srgbClr val="A33B38"/>
      </a:dk2>
      <a:lt2>
        <a:srgbClr val="F6E8E6"/>
      </a:lt2>
      <a:accent1>
        <a:srgbClr val="A33B38"/>
      </a:accent1>
      <a:accent2>
        <a:srgbClr val="A33B38"/>
      </a:accent2>
      <a:accent3>
        <a:srgbClr val="595959"/>
      </a:accent3>
      <a:accent4>
        <a:srgbClr val="2E7D32"/>
      </a:accent4>
      <a:accent5>
        <a:srgbClr val="B26A00"/>
      </a:accent5>
      <a:accent6>
        <a:srgbClr val="D9D9D9"/>
      </a:accent6>
      <a:hlink>
        <a:srgbClr val="A33B38"/>
      </a:hlink>
      <a:folHlink>
        <a:srgbClr val="7F7F7F"/>
      </a:folHlink>
    </a:clrScheme>
    <a:fontScheme name="SDC-2026">
      <a:maj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985平台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985平台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3022</Words>
  <Application>WPS 演示</Application>
  <PresentationFormat>全屏显示(4:3)</PresentationFormat>
  <Paragraphs>283</Paragraphs>
  <Slides>44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44</vt:i4>
      </vt:variant>
    </vt:vector>
  </HeadingPairs>
  <TitlesOfParts>
    <vt:vector size="59" baseType="lpstr">
      <vt:lpstr>Arial</vt:lpstr>
      <vt:lpstr>宋体</vt:lpstr>
      <vt:lpstr>Wingdings</vt:lpstr>
      <vt:lpstr>Verdana</vt:lpstr>
      <vt:lpstr>隶书</vt:lpstr>
      <vt:lpstr>Cambria</vt:lpstr>
      <vt:lpstr>黑体</vt:lpstr>
      <vt:lpstr>Times New Roman</vt:lpstr>
      <vt:lpstr>新宋体</vt:lpstr>
      <vt:lpstr>Tahoma</vt:lpstr>
      <vt:lpstr>微软雅黑</vt:lpstr>
      <vt:lpstr>Arial Unicode MS</vt:lpstr>
      <vt:lpstr>Calibri</vt:lpstr>
      <vt:lpstr>华文行楷</vt:lpstr>
      <vt:lpstr>2_985平台</vt:lpstr>
      <vt:lpstr>软件设计与规范 </vt:lpstr>
      <vt:lpstr>自我介绍</vt:lpstr>
      <vt:lpstr>超星学习通</vt:lpstr>
      <vt:lpstr>超星学习通</vt:lpstr>
      <vt:lpstr>教材</vt:lpstr>
      <vt:lpstr>推荐参考书</vt:lpstr>
      <vt:lpstr>参考书</vt:lpstr>
      <vt:lpstr>课程定位</vt:lpstr>
      <vt:lpstr>PowerPoint 演示文稿</vt:lpstr>
      <vt:lpstr>PowerPoint 演示文稿</vt:lpstr>
      <vt:lpstr>解决两大难题</vt:lpstr>
      <vt:lpstr>教学困难--实践能力</vt:lpstr>
      <vt:lpstr>PowerPoint 演示文稿</vt:lpstr>
      <vt:lpstr>PowerPoint 演示文稿</vt:lpstr>
      <vt:lpstr>PowerPoint 演示文稿</vt:lpstr>
      <vt:lpstr>教学困难--解决问题的能力</vt:lpstr>
      <vt:lpstr>PowerPoint 演示文稿</vt:lpstr>
      <vt:lpstr>PowerPoint 演示文稿</vt:lpstr>
      <vt:lpstr>教学改革</vt:lpstr>
      <vt:lpstr>PowerPoint 演示文稿</vt:lpstr>
      <vt:lpstr>PowerPoint 演示文稿</vt:lpstr>
      <vt:lpstr>教学设计</vt:lpstr>
      <vt:lpstr>翻转课堂学习绩效</vt:lpstr>
      <vt:lpstr>考核安排</vt:lpstr>
      <vt:lpstr>PowerPoint 演示文稿</vt:lpstr>
      <vt:lpstr>PowerPoint 演示文稿</vt:lpstr>
      <vt:lpstr>优秀</vt:lpstr>
      <vt:lpstr>课程网站扩展项目</vt:lpstr>
      <vt:lpstr>课程设计</vt:lpstr>
      <vt:lpstr>课程网站案例分类</vt:lpstr>
      <vt:lpstr>案例的使用</vt:lpstr>
      <vt:lpstr>授课方式</vt:lpstr>
      <vt:lpstr>PowerPoint 演示文稿</vt:lpstr>
      <vt:lpstr>课程网站</vt:lpstr>
      <vt:lpstr>能力构成</vt:lpstr>
      <vt:lpstr>环境</vt:lpstr>
      <vt:lpstr>助教</vt:lpstr>
      <vt:lpstr>SWOT分析</vt:lpstr>
      <vt:lpstr>课后阅读</vt:lpstr>
      <vt:lpstr>课后练习</vt:lpstr>
      <vt:lpstr>作业</vt:lpstr>
      <vt:lpstr>Tips</vt:lpstr>
      <vt:lpstr>Tips（续）</vt:lpstr>
      <vt:lpstr>PowerPoint 演示文稿</vt:lpstr>
    </vt:vector>
  </TitlesOfParts>
  <Company>sei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1-1课程简介</dc:title>
  <dc:creator>李萌</dc:creator>
  <cp:lastModifiedBy>lemon 牛</cp:lastModifiedBy>
  <cp:revision>1036</cp:revision>
  <cp:lastPrinted>2003-09-14T10:10:00Z</cp:lastPrinted>
  <dcterms:created xsi:type="dcterms:W3CDTF">2003-08-28T12:03:00Z</dcterms:created>
  <dcterms:modified xsi:type="dcterms:W3CDTF">2024-02-25T15:12:44Z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6B7E428AAD9D47FD86FE404DDCE365B0_12</vt:lpwstr>
  </property>
  <property fmtid="{D5CDD505-2E9C-101B-9397-08002B2CF9AE}" pid="3" name="KSOProductBuildVer">
    <vt:lpwstr>2052-12.1.0.16250</vt:lpwstr>
  </property>
</Properties>
</file>