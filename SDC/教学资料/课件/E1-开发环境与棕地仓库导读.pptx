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256" r:id="rId2"/>
    <p:sldId id="1035" r:id="rId3"/>
    <p:sldId id="277" r:id="rId4"/>
    <p:sldId id="2072" r:id="rId79"/>
    <p:sldId id="278" r:id="rId5"/>
    <p:sldId id="1036" r:id="rId6"/>
    <p:sldId id="260" r:id="rId9"/>
    <p:sldId id="283" r:id="rId10"/>
    <p:sldId id="1037" r:id="rId7"/>
    <p:sldId id="285" r:id="rId11"/>
    <p:sldId id="1038" r:id="rId8"/>
    <p:sldId id="287" r:id="rId12"/>
    <p:sldId id="288" r:id="rId13"/>
    <p:sldId id="261" r:id="rId14"/>
    <p:sldId id="262" r:id="rId15"/>
    <p:sldId id="263" r:id="rId16"/>
    <p:sldId id="264" r:id="rId17"/>
    <p:sldId id="265" r:id="rId18"/>
    <p:sldId id="266" r:id="rId19"/>
    <p:sldId id="284" r:id="rId21"/>
    <p:sldId id="2064" r:id="rId20"/>
    <p:sldId id="267" r:id="rId22"/>
    <p:sldId id="2073" r:id="rId80"/>
    <p:sldId id="268" r:id="rId23"/>
    <p:sldId id="269" r:id="rId24"/>
    <p:sldId id="2063" r:id="rId25"/>
    <p:sldId id="270" r:id="rId26"/>
    <p:sldId id="2067" r:id="rId56"/>
    <p:sldId id="1039" r:id="rId27"/>
    <p:sldId id="1040" r:id="rId28"/>
    <p:sldId id="1041" r:id="rId29"/>
    <p:sldId id="2068" r:id="rId75"/>
    <p:sldId id="2069" r:id="rId76"/>
    <p:sldId id="2070" r:id="rId77"/>
    <p:sldId id="2071" r:id="rId78"/>
    <p:sldId id="1042" r:id="rId30"/>
    <p:sldId id="271" r:id="rId31"/>
    <p:sldId id="2065" r:id="rId32"/>
    <p:sldId id="1044" r:id="rId34"/>
    <p:sldId id="1043" r:id="rId33"/>
    <p:sldId id="272" r:id="rId35"/>
    <p:sldId id="1045" r:id="rId36"/>
    <p:sldId id="2066" r:id="rId37"/>
    <p:sldId id="274" r:id="rId38"/>
    <p:sldId id="2074" r:id="rId81"/>
    <p:sldId id="275" r:id="rId39"/>
    <p:sldId id="1046" r:id="rId40"/>
    <p:sldId id="1047" r:id="rId41"/>
    <p:sldId id="1048" r:id="rId42"/>
    <p:sldId id="1049" r:id="rId43"/>
    <p:sldId id="273" r:id="rId44"/>
    <p:sldId id="276" r:id="rId45"/>
    <p:sldId id="1050" r:id="rId46"/>
    <p:sldId id="1051" r:id="rId47"/>
  </p:sldIdLst>
  <p:sldSz cx="9144000" cy="6858000" type="screen4x3"/>
  <p:notesSz cx="6761163" cy="9931400"/>
  <p:custDataLst>
    <p:tags r:id="rId7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9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2937"/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564" autoAdjust="0"/>
    <p:restoredTop sz="86459" autoAdjust="0"/>
  </p:normalViewPr>
  <p:slideViewPr>
    <p:cSldViewPr showGuides="1">
      <p:cViewPr varScale="1">
        <p:scale>
          <a:sx n="52" d="100"/>
          <a:sy n="52" d="100"/>
        </p:scale>
        <p:origin x="948" y="60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2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9.xml"/><Relationship Id="rId8" Type="http://schemas.openxmlformats.org/officeDocument/2006/relationships/slide" Target="slides/slide11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1.xml"/><Relationship Id="rId21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9.xml"/><Relationship Id="rId28" Type="http://schemas.openxmlformats.org/officeDocument/2006/relationships/slide" Target="slides/slide30.xml"/><Relationship Id="rId29" Type="http://schemas.openxmlformats.org/officeDocument/2006/relationships/slide" Target="slides/slide31.xml"/><Relationship Id="rId30" Type="http://schemas.openxmlformats.org/officeDocument/2006/relationships/slide" Target="slides/slide36.xml"/><Relationship Id="rId31" Type="http://schemas.openxmlformats.org/officeDocument/2006/relationships/slide" Target="slides/slide37.xml"/><Relationship Id="rId32" Type="http://schemas.openxmlformats.org/officeDocument/2006/relationships/slide" Target="slides/slide38.xml"/><Relationship Id="rId33" Type="http://schemas.openxmlformats.org/officeDocument/2006/relationships/slide" Target="slides/slide39.xml"/><Relationship Id="rId34" Type="http://schemas.openxmlformats.org/officeDocument/2006/relationships/slide" Target="slides/slide40.xml"/><Relationship Id="rId35" Type="http://schemas.openxmlformats.org/officeDocument/2006/relationships/slide" Target="slides/slide41.xml"/><Relationship Id="rId36" Type="http://schemas.openxmlformats.org/officeDocument/2006/relationships/slide" Target="slides/slide42.xml"/><Relationship Id="rId37" Type="http://schemas.openxmlformats.org/officeDocument/2006/relationships/slide" Target="slides/slide43.xml"/><Relationship Id="rId38" Type="http://schemas.openxmlformats.org/officeDocument/2006/relationships/slide" Target="slides/slide44.xml"/><Relationship Id="rId39" Type="http://schemas.openxmlformats.org/officeDocument/2006/relationships/slide" Target="slides/slide46.xml"/><Relationship Id="rId40" Type="http://schemas.openxmlformats.org/officeDocument/2006/relationships/slide" Target="slides/slide47.xml"/><Relationship Id="rId41" Type="http://schemas.openxmlformats.org/officeDocument/2006/relationships/slide" Target="slides/slide48.xml"/><Relationship Id="rId42" Type="http://schemas.openxmlformats.org/officeDocument/2006/relationships/slide" Target="slides/slide49.xml"/><Relationship Id="rId43" Type="http://schemas.openxmlformats.org/officeDocument/2006/relationships/slide" Target="slides/slide50.xml"/><Relationship Id="rId44" Type="http://schemas.openxmlformats.org/officeDocument/2006/relationships/slide" Target="slides/slide51.xml"/><Relationship Id="rId45" Type="http://schemas.openxmlformats.org/officeDocument/2006/relationships/slide" Target="slides/slide52.xml"/><Relationship Id="rId46" Type="http://schemas.openxmlformats.org/officeDocument/2006/relationships/slide" Target="slides/slide53.xml"/><Relationship Id="rId47" Type="http://schemas.openxmlformats.org/officeDocument/2006/relationships/slide" Target="slides/slide54.xml"/><Relationship Id="rId56" Type="http://schemas.openxmlformats.org/officeDocument/2006/relationships/slide" Target="slides/slide28.xml"/><Relationship Id="rId68" Type="http://schemas.openxmlformats.org/officeDocument/2006/relationships/notesMaster" Target="notesMasters/notesMaster1.xml"/><Relationship Id="rId69" Type="http://schemas.openxmlformats.org/officeDocument/2006/relationships/handoutMaster" Target="handoutMasters/handoutMaster1.xml"/><Relationship Id="rId70" Type="http://schemas.openxmlformats.org/officeDocument/2006/relationships/tags" Target="tags/tag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Relationship Id="rId75" Type="http://schemas.openxmlformats.org/officeDocument/2006/relationships/slide" Target="slides/slide32.xml"/><Relationship Id="rId76" Type="http://schemas.openxmlformats.org/officeDocument/2006/relationships/slide" Target="slides/slide33.xml"/><Relationship Id="rId77" Type="http://schemas.openxmlformats.org/officeDocument/2006/relationships/slide" Target="slides/slide34.xml"/><Relationship Id="rId78" Type="http://schemas.openxmlformats.org/officeDocument/2006/relationships/slide" Target="slides/slide35.xml"/><Relationship Id="rId79" Type="http://schemas.openxmlformats.org/officeDocument/2006/relationships/slide" Target="slides/slide4.xml"/><Relationship Id="rId80" Type="http://schemas.openxmlformats.org/officeDocument/2006/relationships/slide" Target="slides/slide23.xml"/><Relationship Id="rId81" Type="http://schemas.openxmlformats.org/officeDocument/2006/relationships/slide" Target="slides/slide4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节：封面</a:t>
            </a:r>
          </a:p>
          <a:p>
            <a:r>
              <a:t>依据：教案 E1 授课时间行（软卓 10-15 第 3-4 节，软工 10-15 第 1-2 节，船本 10-12 第 3-4 节）；大纲:243。</a:t>
            </a:r>
          </a:p>
          <a:p>
            <a:r>
              <a:t>本节 10 分钟</a:t>
            </a:r>
          </a:p>
          <a:p>
            <a:r>
              <a:t>定义：这次实验在给定环境里运行 mall，读懂它的主体结构。</a:t>
            </a:r>
          </a:p>
          <a:p>
            <a:r>
              <a:t>代价：分不清环境里各工具的角色，后面就容易把模型说的话当成运行结果。</a:t>
            </a:r>
          </a:p>
          <a:p>
            <a:r>
              <a:t>判定：开场先点明这是第 2 次课，做开发环境与棕地仓库导读。</a:t>
            </a:r>
          </a:p>
          <a:p>
            <a:r>
              <a:t>权衡：三个班时间不同，口头交代即可，课上只强调课次和实验名。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节：目录</a:t>
            </a:r>
          </a:p>
          <a:p>
            <a:r>
              <a:t>依据：大纲:243（E1 页面次序）。</a:t>
            </a:r>
          </a:p>
          <a:p>
            <a:r>
              <a:t>目录四节名称与正文首标题逐字一致。课前自学另见《E1-课前自学.pptx》，不占课堂时间。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节：任务说明与开发环境</a:t>
            </a:r>
          </a:p>
          <a:p>
            <a:r>
              <a:t>依据：教案 E1 知识点1；大纲:248；https://code.claude.com/docs/en/permissions "Bash commands | Shell execution | Yes, except a built-in set of read-only commands"；https://code.claude.com/docs/en/overview "Claude Code is an agentic coding tool that reads your codebase, edits files, runs commands"；https://www.jetbrains.com/help/idea/discover-intellij-idea.html "IntelliJ IDEA is an Integrated Development Environment (IDE) for professional development in Java and Kotlin."。</a:t>
            </a:r>
          </a:p>
          <a:p>
            <a:r>
              <a:t>本节 10 分钟</a:t>
            </a:r>
          </a:p>
          <a:p>
            <a:r>
              <a:t>定义：IDEA 负责编码、构建、运行调试和调用分析，编译、运行和测试结果才是事实依据；Claude Code 在 IDE 内理解代码、起草修改和测试；DeepSeek 提供推理。</a:t>
            </a:r>
          </a:p>
          <a:p>
            <a:r>
              <a:t>代价：把模型的说法当成运行结果，会把没验证的结论写进作品。</a:t>
            </a:r>
          </a:p>
          <a:p>
            <a:r>
              <a:t>判定：三者各自做了什么，在作品的“AI 使用”一栏要分开写清楚。</a:t>
            </a:r>
          </a:p>
          <a:p>
            <a:r>
              <a:t>权衡：Claude Code 与 DeepSeek 都是选装；课程机器会准备好环境与模型入口。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节：任务说明与开发环境</a:t>
            </a:r>
          </a:p>
          <a:p>
            <a:r>
              <a:t>依据：教案 E1 知识点1；大纲:248；资料/附录-AI协作与产出验收规范.md:77–80（先判后问、核对证据、核对事实、定结论）。</a:t>
            </a:r>
          </a:p>
          <a:p>
            <a:r>
              <a:t>定义：DeepSeek 提出解释，Claude Code 执行起草，本人用 IDEA 的编译、运行与测试结果决定采纳、部分采纳或驳回。</a:t>
            </a:r>
          </a:p>
          <a:p>
            <a:r>
              <a:t>代价：把模型的解释直接当结论，出了错责任仍在没有核实的本人。</a:t>
            </a:r>
          </a:p>
          <a:p>
            <a:r>
              <a:t>权衡：采纳前多一步核实，换来作品“AI使用”一栏能说清每个结论由谁核实。</a:t>
            </a:r>
          </a:p>
          <a:p>
            <a:r>
              <a:t>判定：箭头依次为提出、执行、采纳、部分采纳或驳回；最终由本人决定。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节：任务说明与开发环境</a:t>
            </a:r>
          </a:p>
          <a:p>
            <a:r>
              <a:t>依据：教案 E1 知识点1、教学过程1；教师环境准备.md:39–40（@9694291b）；https://maven.apache.org/ref/current/maven-embedder/cli.html "-v, --version  Display version information"；https://docs.oracle.com/en/java/javase/17/docs/specs/man/java.html "-version  Prints product version to the error stream and exits."；学生操作手册.md:23。</a:t>
            </a:r>
          </a:p>
          <a:p>
            <a:r>
              <a:t>定义：首次检查看两件事：工具版本是否为课程要求的 17，构建能否出现 BUILD SUCCESS。</a:t>
            </a:r>
          </a:p>
          <a:p>
            <a:r>
              <a:t>代价：版本不对时，后面的构建失败会被误当成代码问题。</a:t>
            </a:r>
          </a:p>
          <a:p>
            <a:r>
              <a:t>判定：java -version、mvn -version 均显示 17，构建输出 BUILD SUCCESS。</a:t>
            </a:r>
          </a:p>
          <a:p>
            <a:r>
              <a:t>权衡：命令跳过测试与 Docker 镜像，几分钟内确认环境可用；它不证明所选调用链已经核实。运行环境与模型入口由教师、助教课前准备（教案 E1 知识点1）。</a:t>
            </a:r>
          </a:p>
          <a:p>
            <a:r>
              <a:t>展示时在终端将第03行两行合为一个命令。该Maven构建作用于上游模块。JDK17是课程配置要求。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节：任务说明与开发环境</a:t>
            </a:r>
          </a:p>
          <a:p>
            <a:r>
              <a:t>依据：教案 T1“复习思考及作业”预习题；教案 E1 评分“验证过40”（教师确认（10））。</a:t>
            </a:r>
          </a:p>
          <a:p>
            <a:r>
              <a:t>定义：回顾 T1 预习题中易混的三点：生成代码边界、容器化的作用、构建方式写在哪里。</a:t>
            </a:r>
          </a:p>
          <a:p>
            <a:r>
              <a:t>代价：把生成的 Entity、Mapper 当普通代码改，下次重新生成就会被覆盖。</a:t>
            </a:r>
          </a:p>
          <a:p>
            <a:r>
              <a:t>判定：能说出 mall-mbg 不直接改、容器化保持环境一致、构建方式查 pom.xml。</a:t>
            </a:r>
          </a:p>
          <a:p>
            <a:r>
              <a:t>权衡：没有真实学情数据，只讲预习题对应的易混点，不编造共性错误。</a:t>
            </a:r>
          </a:p>
          <a:p>
            <a:r>
              <a:t>依据T1预习题讲评生成代码边界、容器化与构建配置。没有真实学情，不编造共性错误。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节：任务说明与开发环境</a:t>
            </a:r>
          </a:p>
          <a:p>
            <a:r>
              <a:t>依据：教案 E1 知识点3；基线 LICENSE（Apache-2.0）；基线提交 dcaa93b3150352e5044708d7211b5bed0af4509f（标签 baseline-dcaa93b3）。</a:t>
            </a:r>
          </a:p>
          <a:p>
            <a:r>
              <a:t>定义：全课程以上游 github.com/macrozheng/mall 为准，行号统一以基线标签 baseline-dcaa93b3 为准。</a:t>
            </a:r>
          </a:p>
          <a:p>
            <a:r>
              <a:t>代价：各人基于不同版本，行号对不上，作业无法复核。</a:t>
            </a:r>
          </a:p>
          <a:p>
            <a:r>
              <a:t>判定：报告中的 文件:行号 能在基线提交 dcaa93b3 上找到相同代码。</a:t>
            </a:r>
          </a:p>
          <a:p>
            <a:r>
              <a:t>权衡：课程仓库尚在准备，暂用上游地址加基线标签；基线标签是课程约定，不是上游自带。</a:t>
            </a:r>
          </a:p>
          <a:p>
            <a:r>
              <a:t>本课仅给上游项目地址，不给课程仓库地址。基线标签是课程统一的证据坐标，不声称上游必然自带此标签。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节：任务说明与开发环境</a:t>
            </a:r>
          </a:p>
          <a:p>
            <a:r>
              <a:t>依据：https://www.jetbrains.com/help/idea/project-security.html "Every time you open a project for the first time, the IDE shows the Trust Project dialog."；https://git-scm.com/docs/git-clone "Clones a repository into a newly created directory"；学生操作手册.md:10（@9694291b）；教案 E1 知识点3。</a:t>
            </a:r>
          </a:p>
          <a:p>
            <a:r>
              <a:t>定义：用 IDEA 从上游地址克隆 mall，信任项目后以 Maven 项目打开根 pom.xml。</a:t>
            </a:r>
          </a:p>
          <a:p>
            <a:r>
              <a:t>代价：不以 Maven 项目打开，模块与依赖识别不出来，调用层次也查不准。</a:t>
            </a:r>
          </a:p>
          <a:p>
            <a:r>
              <a:t>判定：IDEA 中出现七个模块，README 可以打开。</a:t>
            </a:r>
          </a:p>
          <a:p>
            <a:r>
              <a:t>权衡：图形界面与终端 git clone 二选一，结果相同；截图为教师环境，菜单名称可能随版本变化。</a:t>
            </a:r>
          </a:p>
          <a:p>
            <a:r>
              <a:t>从上游地址克隆，以Maven项目打开根pom.xml。课程仓库尚在准备。行号统一以教师提供的baseline-dcaa93b3为准。截图与克隆命令均使用上游地址。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节：任务说明与开发环境</a:t>
            </a:r>
          </a:p>
          <a:p>
            <a:r>
              <a:t>依据：学生操作手册.md:23、:28（@9694291b）；教师环境准备.md:26；基线 pom.xml:36。</a:t>
            </a:r>
          </a:p>
          <a:p>
            <a:r>
              <a:t>定义：在 Project Structure 中把 SDK 设为 JDK 17，再在终端构建 mall-portal 及其依赖模块。</a:t>
            </a:r>
          </a:p>
          <a:p>
            <a:r>
              <a:t>代价：IDEA 与终端用的 JDK 不一致，会出现一处能编译、另一处报错。</a:t>
            </a:r>
          </a:p>
          <a:p>
            <a:r>
              <a:t>判定：构建输出依次出现 Reactor Build Order 与 BUILD SUCCESS。</a:t>
            </a:r>
          </a:p>
          <a:p>
            <a:r>
              <a:t>权衡：跳过 Docker 镜像，是因为根 pom.xml 第 36 行写死了 docker.host（学生操作手册 @0a5eae2a 第 28 行），不跳过就会去连那台机器。</a:t>
            </a:r>
          </a:p>
          <a:p>
            <a:r>
              <a:t>Maven项目对象模型（Project Object Model，POM）记录模块、依赖与构建配置。构建命令跳过测试和Docker镜像，不证明产品业务正确。截图为教师环境示例。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节：教师演示</a:t>
            </a:r>
          </a:p>
          <a:p>
            <a:r>
              <a:t>依据：教案 E1 教学过程2；大纲:250。</a:t>
            </a:r>
          </a:p>
          <a:p>
            <a:r>
              <a:t>本节 10 分钟</a:t>
            </a:r>
          </a:p>
          <a:p>
            <a:r>
              <a:t>定义：教师演示用课前启动的整站，把业务功能与主体结构对上。</a:t>
            </a:r>
          </a:p>
          <a:p>
            <a:r>
              <a:t>代价：只看官方截图不看运行系统，容易把图上的功能当成已运行。</a:t>
            </a:r>
          </a:p>
          <a:p>
            <a:r>
              <a:t>判定：MySQL、Redis、MongoDB、RabbitMQ 正常，admin 与 portal 启动并完成一次只读查询。</a:t>
            </a:r>
          </a:p>
          <a:p>
            <a:r>
              <a:t>权衡：实际运行优先，官方功能图只作演示备份。</a:t>
            </a:r>
          </a:p>
          <a:p>
            <a:r>
              <a:t>本页开始教师演示。运行环境由教师准备，课程地址与上游默认配置不同。公开商品查询不能证明下单、支付或消息流程已运行。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节：教师演示</a:t>
            </a:r>
          </a:p>
          <a:p>
            <a:r>
              <a:t>依据：基线 document/resource/mall_admin_show.png，提交 dcaa93b3150352e5044708d7211b5bed0af4509f（README.md:41 引用该图）；教师确认（13）（14）；大纲:250。</a:t>
            </a:r>
          </a:p>
          <a:p>
            <a:r>
              <a:t>本节 10 分钟</a:t>
            </a:r>
          </a:p>
          <a:p>
            <a:r>
              <a:t>定义：后台商品列表提供筛选搜索和商品数据列表，左侧菜单有商品、订单、营销、权限。</a:t>
            </a:r>
          </a:p>
          <a:p>
            <a:r>
              <a:t>代价：只看页面好不好看，忽略了它连的是哪个后端。</a:t>
            </a:r>
          </a:p>
          <a:p>
            <a:r>
              <a:t>判定：开发者工具的 Network 里，请求发往 admin 的 18080。</a:t>
            </a:r>
          </a:p>
          <a:p>
            <a:r>
              <a:t>权衡：现场已启动整站时，以运行的系统为准。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节：教师演示</a:t>
            </a:r>
          </a:p>
          <a:p>
            <a:r>
              <a:t>依据：教案 E1 知识点2；大纲:250；图片来源：macrozheng/mall 基线 document/resource（局部放大，具体文件来源核查未记，须核对）。</a:t>
            </a:r>
          </a:p>
          <a:p>
            <a:r>
              <a:t>本节 10 分钟</a:t>
            </a:r>
          </a:p>
          <a:p>
            <a:r>
              <a:t>定义：后台菜单里能看到商品、订单、营销和权限；商品和订单的管理都在后台。</a:t>
            </a:r>
          </a:p>
          <a:p>
            <a:r>
              <a:t>代价：菜单辨认不清，后面的调用链就对不上业务入口。</a:t>
            </a:r>
          </a:p>
          <a:p>
            <a:r>
              <a:t>判定：下单从购物车进前台，商品和订单的管理在后台菜单里。</a:t>
            </a:r>
          </a:p>
          <a:p>
            <a:r>
              <a:t>权衡：三段是同一侧栏的局部，不是三列菜单；现场已启动整站时，以运行的系统为准。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节：教师演示</a:t>
            </a:r>
          </a:p>
          <a:p>
            <a:r>
              <a:t>依据：教案 E1 知识点2；大纲:250；基线 document/resource/re_mall_app_show.jpg。</a:t>
            </a:r>
          </a:p>
          <a:p>
            <a:r>
              <a:t>本节 10 分钟</a:t>
            </a:r>
          </a:p>
          <a:p>
            <a:r>
              <a:t>定义：前台首页顶部有搜索框；下单的入口在前台。</a:t>
            </a:r>
          </a:p>
          <a:p>
            <a:r>
              <a:t>代价：首页搜索辨认不清，就不知道前台的入口在哪里。</a:t>
            </a:r>
          </a:p>
          <a:p>
            <a:r>
              <a:t>判定：搜索在前台首页；下单从购物车进入前台，不在后台菜单里。</a:t>
            </a:r>
          </a:p>
          <a:p>
            <a:r>
              <a:t>权衡：这是官方前台图的局部；现场已启动整站时，以运行的系统为准。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节：教师演示</a:t>
            </a:r>
          </a:p>
          <a:p>
            <a:r>
              <a:t>依据：大纲:250；基线 document/resource/re_mall_system_arch.jpg、re_mall_business_arch.jpg（字节相同）。</a:t>
            </a:r>
          </a:p>
          <a:p>
            <a:r>
              <a:t>本节 10 分钟</a:t>
            </a:r>
          </a:p>
          <a:p>
            <a:r>
              <a:t>定义：系统架构图说明组件之间怎么连接，业务架构图说明业务怎么划分。</a:t>
            </a:r>
          </a:p>
          <a:p>
            <a:r>
              <a:t>代价：只记住模块名字，依赖、进程和业务块都容易画错。</a:t>
            </a:r>
          </a:p>
          <a:p>
            <a:r>
              <a:t>判定：左图看应用和数据存储怎么连，右图看商品和订单落在哪一块。</a:t>
            </a:r>
          </a:p>
          <a:p>
            <a:r>
              <a:t>权衡：两张整图只作定位，系统图不回答业务怎么分，业务图不回答进程怎么部署。课后读物：读物/mall产品拆解.html 第一节与 2.1，把五个表前缀对到业务图的业务块。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节：教师演示</a:t>
            </a:r>
          </a:p>
          <a:p>
            <a:r>
              <a:t>依据：基线 document/resource/re_mall_system_arch.jpg、README.md:120（baseline-dcaa93b3）。</a:t>
            </a:r>
          </a:p>
          <a:p>
            <a:r>
              <a:t>本节 10 分钟</a:t>
            </a:r>
          </a:p>
          <a:p>
            <a:r>
              <a:t>定义：从局部能看清三个应用，以及消息队列和数据库。</a:t>
            </a:r>
          </a:p>
          <a:p>
            <a:r>
              <a:t>代价：标签辨认不清，应用和数据存储会画错。</a:t>
            </a:r>
          </a:p>
          <a:p>
            <a:r>
              <a:t>判定：能指出 mall-admin、mall-portal、mall-search 是应用，RabbitMQ 是消息中间件，MySQL 是数据库。</a:t>
            </a:r>
          </a:p>
          <a:p>
            <a:r>
              <a:t>权衡：这是官方系统图的局部，不回答业务怎么分。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节：教师演示</a:t>
            </a:r>
          </a:p>
          <a:p>
            <a:r>
              <a:t>依据：基线 document/resource/re_mall_business_arch.jpg（前台商城业务块）。</a:t>
            </a:r>
          </a:p>
          <a:p>
            <a:r>
              <a:t>本节 10 分钟</a:t>
            </a:r>
          </a:p>
          <a:p>
            <a:r>
              <a:t>定义：业务图的局部能看出前台的商品、购物车和下单。</a:t>
            </a:r>
          </a:p>
          <a:p>
            <a:r>
              <a:t>代价：标签辨认不清，业务块会画错。</a:t>
            </a:r>
          </a:p>
          <a:p>
            <a:r>
              <a:t>判定：商品、购物车和下单都在前台业务块里。</a:t>
            </a:r>
          </a:p>
          <a:p>
            <a:r>
              <a:t>权衡：这是官方业务图的局部，不回答进程怎么部署。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节：教师演示</a:t>
            </a:r>
          </a:p>
          <a:p>
            <a:r>
              <a:t>依据：实验方案 E1“理由”段（资料/02-实验方案.md）；基线根 pom.xml:13–19 与各模块 pom；教案 E1 知识点4。</a:t>
            </a:r>
          </a:p>
          <a:p>
            <a:r>
              <a:t>本节 10 分钟</a:t>
            </a:r>
          </a:p>
          <a:p>
            <a:r>
              <a:t>定义：七个模块和依赖方向来自实验方案；调用层次有它看不到的运行时调用。</a:t>
            </a:r>
          </a:p>
          <a:p>
            <a:r>
              <a:t>代价：调用层次追到服务就停下，会漏掉超时取消那条消息。</a:t>
            </a:r>
          </a:p>
          <a:p>
            <a:r>
              <a:t>判定：一条链只要经过消息监听，就不能只凭调用层次宣布到此为止。</a:t>
            </a:r>
          </a:p>
          <a:p>
            <a:r>
              <a:t>权衡：依赖图仍要自己画，并在直接或传递依赖、进程与库、数据归属里选两项。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节：教师演示</a:t>
            </a:r>
          </a:p>
          <a:p>
            <a:r>
              <a:t>依据：https://www.jetbrains.com/help/idea/viewing-structure-and-hierarchy-of-the-source-code.html "Navigate | Call Hierarchy or press Ctrl+Alt+H"；教案 E1 知识点6。</a:t>
            </a:r>
          </a:p>
          <a:p>
            <a:r>
              <a:t>定义：调用层次（Navigate → Call Hierarchy）列出一个方法的调用者与被调用者，可逐项跳转到源码。</a:t>
            </a:r>
          </a:p>
          <a:p>
            <a:r>
              <a:t>代价：只信调用层次，会漏掉代理调用与消息监听这类运行时调用，例如超时取消。</a:t>
            </a:r>
          </a:p>
          <a:p>
            <a:r>
              <a:t>判定：调用层次追到发送消息就断了时，要去查监听器与队列配置。</a:t>
            </a:r>
          </a:p>
          <a:p>
            <a:r>
              <a:t>权衡：调用层次快，覆盖静态调用；运行时路径要靠断点或可重复运行补充。</a:t>
            </a:r>
          </a:p>
          <a:p>
            <a:r>
              <a:t>教师演示：在IntelliJ IDEA中选中待核对的方法，使用Navigate菜单中的Call Hierarchy查看调用层次，在调用者与被调用者之间切换，并逐项跳转到源码。示例可选OmsPortalOrderController中的取消入口。静态调用层次不能单独证明接口实际实现、代理调用或消息监听的运行路径；需查实现类、注解及队列配置，并在隔离课程环境用断点或可重复运行补充。菜单名称可能随IDEA版本与界面语言变化。本页讲操作方法，不声称已经执行演示或测试。 官方操作出处：https://www.jetbrains.com/help/idea/viewing-structure-and-hierarchy-of-the-source-code.html 。调用层次使用Navigate | Call Hierarchy（Ctrl+Alt+H），在Hierarchy工具窗切换Caller/Callee；Scope的Project与All影响搜索范围。方法继承层次的Ctrl+Shift+H不是本页的调用层次。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362485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节：教师演示</a:t>
            </a:r>
          </a:p>
          <a:p>
            <a:r>
              <a:rPr lang="zh-CN" dirty="0"/>
              <a:t>依据：AI 回答全文 工具/polish/AI回答采集/answer-E1-20261018-1939.md（deepseek-flash，经 Claude Code CLI，只开 Read、Grep、Glob，基线 baseline-dcaa93b3，采集时间 2026.10.18 19:37）；基线各模块 pom 的 dependencies：admin、portal 依赖 mbg 与 security，search、demo 依赖 mbg，mbg、security 依赖 common。</a:t>
            </a:r>
          </a:p>
          <a:p>
            <a:r>
              <a:rPr lang="zh-CN" dirty="0"/>
              <a:t>定义：页上是 AI 对模块依赖的解释原文节选，属于待核实的产出；问题与上框一字不差。</a:t>
            </a:r>
          </a:p>
          <a:p>
            <a:r>
              <a:rPr lang="zh-CN" dirty="0"/>
              <a:t>代价：照抄 AI 结论，会把它的推断当成事实写进作业。</a:t>
            </a:r>
          </a:p>
          <a:p>
            <a:r>
              <a:rPr lang="zh-CN" dirty="0"/>
              <a:t>判定：逐个打开各模块 pom.xml 核对六条依赖；它自己说的“未运行 mvn dependency:tree”，要用一次构建或依赖树核实后才算证据。</a:t>
            </a:r>
          </a:p>
          <a:p>
            <a:r>
              <a:rPr lang="zh-CN" dirty="0"/>
              <a:t>权衡：AI 能很快给出带行号的初稿，代价是每一条都要回到构建配置核对。原截图未记录模型与时间，已换为重新采集的回答。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依据：教案 E1 教学过程3（1）至（5）；大纲:251。</a:t>
            </a:r>
          </a:p>
          <a:p>
            <a:r>
              <a:t>本节 60 分钟</a:t>
            </a:r>
          </a:p>
          <a:p>
            <a:r>
              <a:t>定义：⓪本人完成构建，并在课程机器上做一次只读查询；①画七个模块的依赖图，标出生成代码边界，再在直接或传递依赖、进程与库、数据归属里选两项写出判断；②选一条调用链（示例是下单—支付—超时取消），从入口写到服务、存储和消息，每一跳都附文件:行号；③对一项推断用断点或可重复运行核实，记下预期、观察和修正；④列疑点清单，用可维护性子特性分清设计问题和理解不足；⑤记下环境问题和解决办法。</a:t>
            </a:r>
          </a:p>
          <a:p>
            <a:r>
              <a:t>代价：没有运行成功就写通过，按伪造运行记录处理；不标生成代码边界，后面的修改就会改到生成产物上。</a:t>
            </a:r>
          </a:p>
          <a:p>
            <a:r>
              <a:t>判定：查询命令要与学生手册一致；两项判断必须是实际判断；行号要对得上当前打开的基线；记录里要有预期、观察和修正。</a:t>
            </a:r>
          </a:p>
          <a:p>
            <a:r>
              <a:t>权衡：链可以换，证据形式不能换；三项判断选两项即可；环境故障不要写成业务失败；结论允许是“设计合理，是我一开始理解不足”。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依据：学生操作手册.md 第 128、206 行（@0a5eae2a，命令为原文）；基线 PmsPortalProductController.java:35–44（pageNum、pageSize 默认值 :40–41）。</a:t>
            </a:r>
          </a:p>
          <a:p>
            <a:r>
              <a:t>PowerShell 写法：curl.exe --noproxy "*" "http://127.0.0.1:18085/product/search?keyword=HUAWEI%20P20&amp;pageNum=1&amp;pageSize=5"。页上命令分三行显示，执行时合为一行。</a:t>
            </a:r>
          </a:p>
          <a:p>
            <a:r>
              <a:t>定义：构建证明代码能编译打包；只读查询证明课程环境里的服务能响应业务请求，两者证据不同。</a:t>
            </a:r>
          </a:p>
          <a:p>
            <a:r>
              <a:t>代价：只有构建没有查询，“验证过”中本人构建与只读查询的 20 分拿不全。</a:t>
            </a:r>
          </a:p>
          <a:p>
            <a:r>
              <a:t>判定：查询返回业务 code=200，并记录实际商品列表。</a:t>
            </a:r>
          </a:p>
          <a:p>
            <a:r>
              <a:t>权衡：连接失败先记为环境问题，修复后补做，不写成通过。</a:t>
            </a:r>
          </a:p>
          <a:p>
            <a:r>
              <a:t>第02行展示为两行，实际执行需合并。端口18085属于课程环境，上游portal默认8085；使用教师实际提供的地址。基线PmsPortalProductController.java:35–43支持GET /product/search；不要求某个固定商品ID必然存在。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依据：教案 E1 教学过程3（2）；基线各模块 pom.xml、PortalOrderDao。</a:t>
            </a:r>
          </a:p>
          <a:p>
            <a:r>
              <a:t>定义：任务①画七个模块的依赖图，标出生成代码边界，并就直接或传递依赖、进程与库、数据归属任选两项写判断。</a:t>
            </a:r>
          </a:p>
          <a:p>
            <a:r>
              <a:t>代价：把传递依赖画成直接边，依赖方向就画错。</a:t>
            </a:r>
          </a:p>
          <a:p>
            <a:r>
              <a:t>判定：admin、portal 经 mbg、security 传递依赖 common；mbg 是库；生成 Mapper 在 mbg，PortalOrderDao 在 portal。</a:t>
            </a:r>
          </a:p>
          <a:p>
            <a:r>
              <a:t>权衡：三类判断选两项即可，图上必须保留依赖方向和生成边界。</a:t>
            </a:r>
          </a:p>
          <a:p>
            <a:r>
              <a:t>三类判断任选两项，按教案要求提交。依据各模块pom.xml与PortalOrderDao。图上必须保留依赖方向、生成边界。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依据：教师候选靶点库.md:44–100（@9694291b，E1 候选 E1-01 至 E1-06）；教案 E1 教学过程3（3）；大纲:251。</a:t>
            </a:r>
          </a:p>
          <a:p>
            <a:r>
              <a:t>定义：任务②从教师候选靶点库的六条调用链中选一条，也可模仿教师的订单示例。</a:t>
            </a:r>
          </a:p>
          <a:p>
            <a:r>
              <a:t>代价：为了画图虚构消息节点，调用链就与代码不符。</a:t>
            </a:r>
          </a:p>
          <a:p>
            <a:r>
              <a:t>判定：所选链的每一跳都能在基线找到 文件:行号；未涉及消息时如实注明。</a:t>
            </a:r>
          </a:p>
          <a:p>
            <a:r>
              <a:t>权衡：候选链难度不同（见候选库“范围与状态”），选基础链更容易把证据做全。各链的入口方法：E1-01 add、listHistory；E1-02 add/update/list/getItem/delete；E1-03 add/list/detail；E1-04 create/list/clear；E1-05 updateBrand；E1-06 content。</a:t>
            </a:r>
          </a:p>
          <a:p>
            <a:r>
              <a:t>本页供任务②选择调用链，六项取自 教师候选靶点库.md 的 E1 候选，每项的代码依据与最低证据见该库对应条目。首次作业允许模仿教师的订单示例，不增加必做调用链数量。调用链是否涉及消息必须以所选代码为准，不得为了画图虚构消息节点。课件仅核对源码，实际输入、观察与修正须由学生或教师在课程环境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280031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依据：基线 OmsPortalOrderController.java:41–44、49–52、65–68；OmsPortalOrderServiceImpl.java:94、224、245、253–263、297–333；CancelOrderReceiver.java:16–23。</a:t>
            </a:r>
          </a:p>
          <a:p>
            <a:r>
              <a:t>定义：调用链要从入口写到服务、存储与消息，每一跳附 文件:行号。</a:t>
            </a:r>
          </a:p>
          <a:p>
            <a:r>
              <a:t>代价：只写到服务层，就看不出超时取消是靠延迟消息完成的。</a:t>
            </a:r>
          </a:p>
          <a:p>
            <a:r>
              <a:t>判定：下单、支付、取消入口在 OmsPortalOrderController，服务在 OmsPortalOrderServiceImpl，消息由 CancelOrderReceiver 接收。</a:t>
            </a:r>
          </a:p>
          <a:p>
            <a:r>
              <a:t>权衡：链越长证据越多；首次作业允许模仿教师示例。</a:t>
            </a:r>
          </a:p>
          <a:p>
            <a:r>
              <a:t>基线Controller:41–44、49–52、65–68；ServiceImpl:94、224、245、253–263、297–333；CancelOrderReceiver:16–23。后续E2-00改动必须另标提交，不与基线混用。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教师示例：类图</a:t>
            </a:r>
          </a:p>
          <a:p>
            <a:r>
              <a:t>依据：基线 dcaa93b3150352e5044708d7211b5bed0af4509f（标签 baseline-dcaa93b3）OmsPortalOrderController.java:41–68、OmsPortalOrderServiceImpl.java:94–333、CancelOrderReceiver.java:16–23；教案 E1 作品展示题（“首次作业允许模仿”）；大纲:252。</a:t>
            </a:r>
          </a:p>
          <a:p>
            <a:r>
              <a:t>定义：类图表达各类的职责与依赖方向。</a:t>
            </a:r>
          </a:p>
          <a:p>
            <a:r>
              <a:t>代价：只画类名不画依赖，就看不出控制器与监听器最终走到同一个服务。</a:t>
            </a:r>
          </a:p>
          <a:p>
            <a:r>
              <a:t>判定：OmsPortalOrderController 与 CancelOrderReceiver 都依赖 OmsPortalOrderService；服务实现同时用生成的 OmsOrderMapper 与手写的 PortalOrderDao。</a:t>
            </a:r>
          </a:p>
          <a:p>
            <a:r>
              <a:t>权衡：类图省略方法细节，换来一页看清依赖；方法级行为看活动图与时序图。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教师示例：活动图</a:t>
            </a:r>
          </a:p>
          <a:p>
            <a:r>
              <a:t>依据：基线 dcaa93b3150352e5044708d7211b5bed0af4509f OmsPortalOrderServiceImpl.java:224–245、253–263、297–333；CancelOrderReceiver.java:16–23；教案 E1 作品展示题；大纲:252。</a:t>
            </a:r>
          </a:p>
          <a:p>
            <a:r>
              <a:t>定义：活动图表达下单之后支付与超时两条分支。</a:t>
            </a:r>
          </a:p>
          <a:p>
            <a:r>
              <a:t>代价：画成先支付、再超时的串行流程，会误以为两者不会同时发生。</a:t>
            </a:r>
          </a:p>
          <a:p>
            <a:r>
              <a:t>判定：超时分支在取消前查询订单状态是否仍为 0，为 0 才关闭并释放库存锁定。</a:t>
            </a:r>
          </a:p>
          <a:p>
            <a:r>
              <a:t>权衡：活动图不表达消息怎么传递，传递过程看时序图。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教师示例：时序图</a:t>
            </a:r>
          </a:p>
          <a:p>
            <a:r>
              <a:t>依据：基线 dcaa93b3150352e5044708d7211b5bed0af4509f CancelOrderSender.java:23–30；RabbitMqConfig.java:49–54；CancelOrderReceiver.java:16–23；教案 E1 作品展示题；大纲:252。</a:t>
            </a:r>
          </a:p>
          <a:p>
            <a:r>
              <a:t>定义：时序图表达延迟消息从订单服务经延迟队列、取消队列到监听器的传递顺序。</a:t>
            </a:r>
          </a:p>
          <a:p>
            <a:r>
              <a:t>代价：不画死信转发，会以为消息直接发到取消队列。</a:t>
            </a:r>
          </a:p>
          <a:p>
            <a:r>
              <a:t>判定：发送时设置过期时间（CancelOrderSender），到期经死信路由转发（RabbitMqConfig），监听器收到后调用 cancelOrder。</a:t>
            </a:r>
          </a:p>
          <a:p>
            <a:r>
              <a:t>权衡：时序图只画一条消息路径，不画异常与重试。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依据：基线 dcaa93b3150352e5044708d7211b5bed0af4509f 所列文件与行号（页上出处行）；教案 E1 作品展示题；大纲:252。</a:t>
            </a:r>
          </a:p>
          <a:p>
            <a:r>
              <a:t>定义：证据坐标是 文件:行号，别人据此能在基线上逐行复核调用链。</a:t>
            </a:r>
          </a:p>
          <a:p>
            <a:r>
              <a:t>代价：只写类名不写行号，别人要重新查找，也无法确认版本。</a:t>
            </a:r>
          </a:p>
          <a:p>
            <a:r>
              <a:t>判定：每个坐标在基线 dcaa93b3 上打开后，能看到页上所说的代码。</a:t>
            </a:r>
          </a:p>
          <a:p>
            <a:r>
              <a:t>权衡：列坐标费时，换来作业可以独立复核。</a:t>
            </a:r>
          </a:p>
          <a:p>
            <a:r>
              <a:t>以上逐行核对git archive导出的baseline源码。教师示例，首次作业允许模仿。发送器设置消息expiration，RabbitMqConfig将过期消息经死信路由送到取消队列。活动图未宣称支付和超时分支串行。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依据：教案 E1 教学过程3（4）；教案 E1 评分“工具通过不能代替所选链核实”。</a:t>
            </a:r>
          </a:p>
          <a:p>
            <a:r>
              <a:t>本节 60 分钟</a:t>
            </a:r>
          </a:p>
          <a:p>
            <a:r>
              <a:t>定义：“验证过”的另一半，是对一项推断做可重复运行的核实。</a:t>
            </a:r>
          </a:p>
          <a:p>
            <a:r>
              <a:t>代价：只贴构建成功，所选链仍然算没有验证。</a:t>
            </a:r>
          </a:p>
          <a:p>
            <a:r>
              <a:t>判定：记录里要有预期、观察到的现象，以及你改了哪一句判断。</a:t>
            </a:r>
          </a:p>
          <a:p>
            <a:r>
              <a:t>权衡：预期和观察不一致时，改的是判断，不是把日志改成一致。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依据：教案 E1 教学过程3（4）；教师环境准备.md:1、:15（@9694291b）；课程考核方案.md:57；基线 dcaa93b3150352e5044708d7211b5bed0af4509f OmsPortalOrderController.java:65–68、CancelOrderReceiver.java:22–23、OmsPortalOrderServiceImpl.java:297–325。</a:t>
            </a:r>
          </a:p>
          <a:p>
            <a:r>
              <a:t>定义：核实方案先写预期，再在入口、监听器与服务状态分支设断点，发送一次取消请求观察。</a:t>
            </a:r>
          </a:p>
          <a:p>
            <a:r>
              <a:t>代价：不设监听器断点，就看不到消息是否真的被消费。</a:t>
            </a:r>
          </a:p>
          <a:p>
            <a:r>
              <a:t>判定：记录同一订单号的断点先后与取消前后状态；状态为 0 时才执行取消。</a:t>
            </a:r>
          </a:p>
          <a:p>
            <a:r>
              <a:t>权衡：本页是方案，不是执行结果；没有观察到监听器时先查队列与监听条件，不直接宣布业务缺陷。</a:t>
            </a:r>
          </a:p>
          <a:p>
            <a:r>
              <a:t>任务③可重复运行的核实方案，不是已经执行的实验结果。使用教师提供的隔离课程环境，先记录订单状态与关联数据；依据课程接口配置发送取消请求。基线baseline-dcaa93b3，完整提交dcaa93b3150352e5044708d7211b5bed0af4509f：OmsPortalOrderController.java:65–68调用sendDelayMessageCancelOrder，入口只投递取消消息；CancelOrderReceiver.java:22–23收到消息后调用订单服务；OmsPortalOrderServiceImpl.java:297–325仅对状态为0的订单执行取消及补偿。控制器位于mall-portal/src/main/java/com/macro/mall/portal/controller/，服务实现位于同模块service/impl/，监听器位于component/。设置入口、监听器与服务状态分支断点，记录相同订单号、断点先后、取消前后状态及必要消息证据；没有观察到监听器时先核队列与监听条件，不能直接宣布业务缺陷。已有支付等非0状态时，记录提前返回的实际观察。学生现场填写预期、观察、修正，尚未运行的部分必须注明，课件本轮未执行该请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613779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依据：大纲:252（难点通俗示例：网购包裹逾期未到）；教案 E1 教学过程3（4）、（5）。</a:t>
            </a:r>
          </a:p>
          <a:p>
            <a:r>
              <a:t>定义：网购包裹逾期未到，可能是发件方未发出、本人填错地址或运输积压。</a:t>
            </a:r>
          </a:p>
          <a:p>
            <a:r>
              <a:t>代价：只凭“逾期未到”就认定商家有问题，可能冤枉对方。</a:t>
            </a:r>
          </a:p>
          <a:p>
            <a:r>
              <a:t>判定：先看物流轨迹，确认已出现的处理节点，再归因。</a:t>
            </a:r>
          </a:p>
          <a:p>
            <a:r>
              <a:t>权衡：三种原因是条件示例；回到 mall，分别对应任务③核实、任务④分类、任务⑤环境记录。</a:t>
            </a:r>
          </a:p>
          <a:p>
            <a:r>
              <a:t>三种原因是条件示例，不是对某次真实延误的断言。仅“逾期未到”无法判定设计有缺陷。回到mall分别对应任务③核实、任务④分类、任务⑤环境记录。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依据：基线 OmsPortalOrderController.java:65–68；教师环境准备.md:135（@9694291b，课程配置关闭 RabbitMQ 消费者自动启动）。</a:t>
            </a:r>
          </a:p>
          <a:p>
            <a:r>
              <a:t>定义：以“取消接口返回成功，订单应立即关闭”这一推断为例，先核实再填写疑点。</a:t>
            </a:r>
          </a:p>
          <a:p>
            <a:r>
              <a:t>代价：未核实就写成设计缺陷，其实是自己对异步取消的理解不足。</a:t>
            </a:r>
          </a:p>
          <a:p>
            <a:r>
              <a:t>判定：基线 Controller:65–68 只投递延迟消息，成功返回不代表即时取消。</a:t>
            </a:r>
          </a:p>
          <a:p>
            <a:r>
              <a:t>权衡：是否算设计问题还要对照需求与接口约定；课程配置未启动消费者时记为环境问题。</a:t>
            </a:r>
          </a:p>
          <a:p>
            <a:r>
              <a:t>本页为核查方法示例，没有伪造运行输出。Controller基线行为已核对。是否实际消费消息须用断点/日志/数据库状态确认。课程配置未启动消费者时，不能以商品查询替代取消验证。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依据：大纲:251；课程考核方案.md:56；学生操作手册.md:128（@9694291b）。</a:t>
            </a:r>
          </a:p>
          <a:p>
            <a:r>
              <a:t>本节 60 分钟</a:t>
            </a:r>
          </a:p>
          <a:p>
            <a:r>
              <a:t>定义：疑点要分成设计问题和自己还没读懂两类。</a:t>
            </a:r>
          </a:p>
          <a:p>
            <a:r>
              <a:t>代价：把没读懂的写成缺陷，或者把环境错误写成业务红灯，依据就错了。</a:t>
            </a:r>
          </a:p>
          <a:p>
            <a:r>
              <a:t>判定：每个疑点都要指出用的是哪一个可维护性子特性。</a:t>
            </a:r>
          </a:p>
          <a:p>
            <a:r>
              <a:t>权衡：允许结论是“设计合理，是我一开始理解不足”。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依据：课件-2026/T1-标准与规范-v2.pptx 第 33 页（SHA-256 814180b0f3523d086d5e452c898a2b5f861e4dbb6c5f746426dac9f3fadda8c7）；大纲:251；教师确认（5）。</a:t>
            </a:r>
          </a:p>
          <a:p>
            <a:r>
              <a:t>定义：疑点清单按可维护性子特性填写，每项写判定问题和可观察指标。</a:t>
            </a:r>
          </a:p>
          <a:p>
            <a:r>
              <a:t>代价：只写“感觉不好”，别人无法复核。</a:t>
            </a:r>
          </a:p>
          <a:p>
            <a:r>
              <a:t>判定：每条疑点能对应到一个子特性，并给出指标取值。</a:t>
            </a:r>
          </a:p>
          <a:p>
            <a:r>
              <a:t>权衡：指标是课程选定的观察量，不由标准直接规定；只填与该疑点最相关的子特性。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依据：教案 E1 评分细则；课程考核方案.md:56–58。</a:t>
            </a:r>
          </a:p>
          <a:p>
            <a:r>
              <a:t>定义：常见失分来自证据缺失与验证范围不清，按评分三项分别对照。</a:t>
            </a:r>
          </a:p>
          <a:p>
            <a:r>
              <a:t>代价：只交 AI 解释或启动截图，相应得分项没有证据。</a:t>
            </a:r>
          </a:p>
          <a:p>
            <a:r>
              <a:t>判定：讲清楚有生成边界与所选链；有依据有源码位置；验证过有本人构建、查询和一项推断的核实。</a:t>
            </a:r>
          </a:p>
          <a:p>
            <a:r>
              <a:t>权衡：本页不增加评分项，评分以教案细则页为准。</a:t>
            </a:r>
          </a:p>
          <a:p>
            <a:r>
              <a:t>本页根据当前教案E1评分细则解释常见证据缺口，不增加评分项或扣分数。讲清楚关注模块与生成边界、所选链从入口到服务、存储或消息的调用与数据流；有依据关注实际依赖或数据归属判断，并区分设计疑点与理解不足；验证过要求本人完成构建、只读查询，并对所选链的一项推断做可重复运行的核实，记录预期、观察和修正。只提供AI生成解释、启动截图或未执行的设想，不能代替相应源码与运行证据。不要求修改产品代码或制造缺陷。构建与查询通过不能代替所选链核实。实际评分仍以课件后面的逐字教案评分页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308878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依据：教案 E1 小结与师生互动设计；课程考核方案.md。</a:t>
            </a:r>
          </a:p>
          <a:p>
            <a:r>
              <a:t>本节 10 分钟</a:t>
            </a:r>
          </a:p>
          <a:p>
            <a:r>
              <a:t>参考要点：（1）以经过核实的运行时事实为准，模型解释与静态调用层次都可能不完整；（2）回到源码查实现类、注解与队列配置，再用断点或可重复运行核实；（3）消息监听这类运行时调用，调用层次看不到，须单独追踪。</a:t>
            </a:r>
          </a:p>
          <a:p>
            <a:r>
              <a:t>判定依据：静态调用关系与模型解释都可能不完整。回到源码、断点、可重复运行与测试核实，消息监听须单独追踪。答案以经过核实的运行时事实为准。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节：问答题</a:t>
            </a:r>
          </a:p>
          <a:p>
            <a:r>
              <a:t>依据：修订方案-第三轮第五节 E1 签到题；教案 E1 师生互动设计。</a:t>
            </a:r>
          </a:p>
          <a:p>
            <a:r>
              <a:t>题目页。答案：A</a:t>
            </a:r>
          </a:p>
          <a:p>
            <a:r>
              <a:t>参考要点：消息队列监听由消息触发，调用层次只沿方法调用追踪，看不到这一跳；要单独追踪监听器。</a:t>
            </a:r>
          </a:p>
          <a:p>
            <a:r>
              <a:t>判定依据：A 说明静态调用链追不到运行时由消息触发的调用；B、C、D 都不能解释“能编译运行却追不到”。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节：实验要求</a:t>
            </a:r>
          </a:p>
          <a:p>
            <a:r>
              <a:t>依据：教案 E1“教学目标与要求”四条（逐字）。</a:t>
            </a:r>
          </a:p>
          <a:p>
            <a:r>
              <a:t>正文逐字取自现行教案E1“教学目标与要求”四条。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节：实验要求</a:t>
            </a:r>
          </a:p>
          <a:p>
            <a:r>
              <a:t>依据：教案 E1“实验目标”（前四条逐字）；“说明：”一行来源：基线根 pom.xml:13–19。</a:t>
            </a:r>
          </a:p>
          <a:p>
            <a:r>
              <a:t>实验目标前四条逐字取自现行教案E1“实验目标”，仅分条换行；最后一行“说明：”为补充，来源见该行。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节：实验要求</a:t>
            </a:r>
          </a:p>
          <a:p>
            <a:r>
              <a:t>依据：教案 E1“作品展示题”前半（逐字）。</a:t>
            </a:r>
          </a:p>
          <a:p>
            <a:r>
              <a:t>作品展示题前半逐字取自现行教案E1。正文按分号分条，未压缩改写。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节：实验要求</a:t>
            </a:r>
          </a:p>
          <a:p>
            <a:r>
              <a:t>依据：教案 E1“作品展示题”后半（逐字）。</a:t>
            </a:r>
          </a:p>
          <a:p>
            <a:r>
              <a:t>作品展示题后半逐字取自现行教案E1。与上一页共同形成完整原文。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节：实验要求</a:t>
            </a:r>
          </a:p>
          <a:p>
            <a:r>
              <a:t>依据：教案 E1 评分（满分100）（逐字）。</a:t>
            </a:r>
          </a:p>
          <a:p>
            <a:r>
              <a:t>定义：讲清楚、有依据、验证过这三项分值不同，要看的证据也不同。</a:t>
            </a:r>
          </a:p>
          <a:p>
            <a:r>
              <a:t>代价：构建成功不能代替对所选链的核实。</a:t>
            </a:r>
          </a:p>
          <a:p>
            <a:r>
              <a:t>判定：“验证过”要看可重复运行的测试、断点或实际运行，并记下预期、观察与修正。</a:t>
            </a:r>
          </a:p>
          <a:p>
            <a:r>
              <a:t>权衡：不要求改产品代码；图和验证只为把系统读懂。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节：实验要求</a:t>
            </a:r>
          </a:p>
          <a:p>
            <a:r>
              <a:t>依据：教案 E1“复习思考及作业”提交要求；教案 E1 小结第 4 项“说明作品提交时间”；教师确认（6）。</a:t>
            </a:r>
          </a:p>
          <a:p>
            <a:r>
              <a:t>提交要求逐字与现行教案一致。评分：讲清楚30、有依据30、验证过40。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节：结束页</a:t>
            </a:r>
          </a:p>
          <a:p>
            <a:r>
              <a:t>依据：教案 E1 教学目标2、3、4；教案课程表第 3 次课“第二章 运行环境”；大纲:253。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节：本章参考资料</a:t>
            </a:r>
          </a:p>
          <a:p>
            <a:r>
              <a:t>依据：教学大纲 E1 本章参考资料 [19][45][47]；大纲:253；基线提交 dcaa93b3150352e5044708d7211b5bed0af4509f。</a:t>
            </a:r>
          </a:p>
          <a:p>
            <a:r>
              <a:t>编号与现行教学大纲一致。本次实际使用质量模型、mall源码与课程AI规范。完整基线提交为dcaa93b3150352e5044708d7211b5bed0af4509f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教师示例：业务需求与约束</a:t>
            </a:r>
          </a:p>
          <a:p>
            <a:r>
              <a:t>依据：事实卡 F1–F7、F9、F14、F16。原始出处：基线 dcaa93b3150352e5044708d7211b5bed0af4509f：controller/OmsPortalOrderController.java:41-45、49-53、57-61、65-69、93-97；service/impl/OmsPortalOrderServiceImpl.java:165、253-265、313-324；component/OrderTimeOutCancelTask.java:14,24-26；资料/brownfield-project-screen.md 第 89 行。</a:t>
            </a:r>
          </a:p>
          <a:p>
            <a:r>
              <a:t>定义：业务需求与约束是指系统要完成哪些业务，以及哪些部分本次不得修改。</a:t>
            </a:r>
          </a:p>
          <a:p>
            <a:r>
              <a:t>代价：约束不先写清，改进方案可能碰到 mall-mbg 生成模型或 admin 与 portal 共用的表结构。</a:t>
            </a:r>
          </a:p>
          <a:p>
            <a:r>
              <a:t>判定：看入口与服务方法。下单入口调用 generateOrder 并锁定库存；支付回调调用 paySuccess 并扣减真实库存；超时未付由延迟消息触发 cancelOrder，补偿三项为释放库存锁、券状态改回 0、返还使用积分。定时任务 OrderTimeOutCancelTask 的 @Component 被注释，不注册，超时取消不依赖它。</a:t>
            </a:r>
          </a:p>
          <a:p>
            <a:r>
              <a:t>权衡：本页只列源码已核对的行为，不写源码里没有的需求；不得修改的部分限制了改进方案的范围，改进只能在服务层内部进行。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节：本次课目标</a:t>
            </a:r>
          </a:p>
          <a:p>
            <a:r>
              <a:t>依据：教案 E1“重点与难点”（逐字）；大纲:247。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教师示例：优势与不足</a:t>
            </a:r>
          </a:p>
          <a:p>
            <a:r>
              <a:t>依据：事实卡 F1–F5、F8、F10、F13、F14、F18、F19、F20。原始出处：基线 dcaa93b3150352e5044708d7211b5bed0af4509f，路径前缀 mall-portal/src/main/java/com/macro/mall/portal/：controller/OmsPortalOrderController.java:41-45、49-53、57-61、65-69、93-97；service/impl/OmsPortalOrderServiceImpl.java:94-250、244-245、253-265、268-324；component/CancelOrderReceiver.java:16,22-23；service/OmsPortalOrderService.java:26,32,38,44；基线 mall-portal/src/test 目录（git ls-tree）。</a:t>
            </a:r>
          </a:p>
          <a:p>
            <a:r>
              <a:t>定义：优势是现有设计已经做到、值得保留的结构；不足是源码可见、会增加修改成本或测试成本的结构。</a:t>
            </a:r>
          </a:p>
          <a:p>
            <a:r>
              <a:t>代价：补偿写了两份，改一条补偿规则要改两处；支付不判断原状态；没有订单服务测试，改动没有保护。支付与取消并发时的结果属于源码可见风险，未运行验证。</a:t>
            </a:r>
          </a:p>
          <a:p>
            <a:r>
              <a:t>判定：数同一规则出现几处（取消补偿 2 处）；看支付的更新语句是否判断原状态（不判断）；数订单服务测试（0 个）；数方法行数（generateOrder 约 157 行，第 94 至 250 行）。</a:t>
            </a:r>
          </a:p>
          <a:p>
            <a:r>
              <a:t>权衡：延迟消息让下单不必等待超时，代价是取消要经过发送器与监听器才能完成，读调用链时要同时看入口、服务、发送方与监听方。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教师示例：可维护性评价</a:t>
            </a:r>
          </a:p>
          <a:p>
            <a:r>
              <a:t>依据：事实卡第三节（F3、F5、F6、F8、F13、F18、F20）；子特性、判定问题与指标沿用课件-2026/T1-标准与规范-v2.pptx 第 33 页（与本课任务④页相同）。原始出处：基线 dcaa93b3150352e5044708d7211b5bed0af4509f：service/impl/OmsPortalOrderServiceImpl.java:94-250、282-292、313-324；基线 mall-portal/src/test 目录。</a:t>
            </a:r>
          </a:p>
          <a:p>
            <a:r>
              <a:t>定义：可维护性按五个子特性评价：模块化、可复用性、易分析性、易修改性、易测试性；每个子特性用一个判定问题和可观察指标衡量。</a:t>
            </a:r>
          </a:p>
          <a:p>
            <a:r>
              <a:t>代价：只说“不好改”无法复核；取值写成数字或名称，别人才能核对。</a:t>
            </a:r>
          </a:p>
          <a:p>
            <a:r>
              <a:t>判定：易修改性看同一规则出现几处，本例取消补偿 2 处；易测试性看已有测试，本例订单服务 0 个；易分析性看方法行数，本例 generateOrder 约 157 行；可复用性本例未取值，需要另外统计被几个模块使用。</a:t>
            </a:r>
          </a:p>
          <a:p>
            <a:r>
              <a:t>权衡：指标是课程选定的观察量，不由标准直接规定；157 行只说明方法较长，是否难读还要看名称与结构。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教师示例：改进方案</a:t>
            </a:r>
          </a:p>
          <a:p>
            <a:r>
              <a:t>依据：事实卡 F15、F18、F20 与第五节。基线 cancelOrder 先按 id、status=0、deleteStatus=0 查询，再用 updateByPrimaryKeySelective 置状态 4，更新语句不带状态条件（OmsPortalOrderServiceImpl.java:297-309）。方向与 E2 教师示例 exp/e2-00（Issue #42，分支头 2cc1bcfb9201b01ecb44f3b86564a6aedab89971）相同；教师 10-15 决定：E1 只写方向，不展示 E2 代码（课件制作计划-2026秋.md 第七节第 1 条）。</a:t>
            </a:r>
          </a:p>
          <a:p>
            <a:r>
              <a:t>定义：改进方案是针对不足提出的设计设想，写明应用的设计原则、可维护性变化、优势与不足。本页是设想，不含代码，不声称已实现或已验证。</a:t>
            </a:r>
          </a:p>
          <a:p>
            <a:r>
              <a:t>代价：补偿仍写两份时，规则每变一次都要改两处，漏改一处两条路径就不一致，这是源码可见风险，未运行验证。</a:t>
            </a:r>
          </a:p>
          <a:p>
            <a:r>
              <a:t>判定：同一规则出现几处，现有 2 处，设想 1 处；取消时的更新是否带状态条件，现有不带，设想带。</a:t>
            </a:r>
          </a:p>
          <a:p>
            <a:r>
              <a:t>权衡：多一个类，换来补偿只写一份；代价是需要测试保护，而基线没有订单服务测试。E2 教师示例会实现并验证这一方向。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教师示例：取舍对比</a:t>
            </a:r>
          </a:p>
          <a:p>
            <a:r>
              <a:t>依据：事实卡 F14、F15、F18、F20；R1、R2（推断，源码可见风险，未运行验证）。原始出处：基线 dcaa93b3150352e5044708d7211b5bed0af4509f：service/impl/OmsPortalOrderServiceImpl.java:253-265、282-292、297-309、313-324；基线 mall-portal/src/test 目录。改进一列是设想，依据见改进方案页。</a:t>
            </a:r>
          </a:p>
          <a:p>
            <a:r>
              <a:t>定义：取舍对比是把两套方案放在同一组指标下比较，写出各自的得与失。</a:t>
            </a:r>
          </a:p>
          <a:p>
            <a:r>
              <a:t>代价：只写改进的好处，会掩盖新增的类与测试成本；只写现有的不足，会忽略它已有的结构优势。</a:t>
            </a:r>
          </a:p>
          <a:p>
            <a:r>
              <a:t>判定：看规则是否还会变。取消补偿规则经常变动，收到一处更划算；规则稳定、很少改动，现有写法的代价较小。</a:t>
            </a:r>
          </a:p>
          <a:p>
            <a:r>
              <a:t>权衡：改进一列均为设想，未运行验证。设想没有修改 paySuccess，支付写状态不判断原状态的问题仍在。运行风险两行都是源码可见风险，未运行验证。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节：任务说明</a:t>
            </a:r>
          </a:p>
          <a:p>
            <a:r>
              <a:t>课前自学，课上只点要点。</a:t>
            </a:r>
          </a:p>
          <a:p>
            <a:r>
              <a:t>依据：Spring AMQP 官方文档（https://docs.spring.io/spring-amqp/reference/amqp/receiving-messages.html）；基线 dcaa93b3150352e5044708d7211b5bed0af4509f mall-portal/src/main/java/com/macro/mall/portal/component/CancelOrderSender.java:25,29；component/CancelOrderReceiver.java:16,22-23。</a:t>
            </a:r>
          </a:p>
          <a:p>
            <a:r>
              <a:t>系统讲解在 T2。</a:t>
            </a:r>
          </a:p>
          <a:p>
            <a:r>
              <a:t>定义：RabbitMQ 延迟消息依靠消息过期时间（expiration）和死信路由实现延迟；发送方设置 expiration，消息在原队列超时后路由到死信队列，消费者监听死信队列。</a:t>
            </a:r>
          </a:p>
          <a:p>
            <a:r>
              <a:t>代价：不理解延迟消息机制，会误以为 cancelOrder 在下单时立即执行。</a:t>
            </a:r>
          </a:p>
          <a:p>
            <a:r>
              <a:t>判定：沿调用链读四步——①发送方（CancelOrderSender）设置 expiration；②消息进入延迟队列；③到期后路由到取消队列 mall.order.cancel；④监听器（CancelOrderReceiver）收到并调用 cancelOrder。</a:t>
            </a:r>
          </a:p>
          <a:p>
            <a:r>
              <a:t>权衡：本页只讲读法，具体的设计评价和取舍在教师示例页讲。不与教师示例页重复同一段代码。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节：实验</a:t>
            </a:r>
          </a:p>
          <a:p>
            <a:r>
              <a:t>依据：学生操作手册.md 第 22 行（@0a5eae2a）：`git switch --detach baseline-dcaa93b3`；第 127 行：E1 不运行 compare.sh；教案 E1 评分“验证过”；教师 10-15 决定学生不开分支、只读取教师仓库。</a:t>
            </a:r>
          </a:p>
          <a:p>
            <a:r>
              <a:t>定义：只读检出基线，在本地工作区构建、阅读和运行；不开个人分支，也不推送。</a:t>
            </a:r>
          </a:p>
          <a:p>
            <a:r>
              <a:t>代价：不在基线上开始，行号与课件对不上，构建结果无法复核。</a:t>
            </a:r>
          </a:p>
          <a:p>
            <a:r>
              <a:t>判定：E1 达标判据：构建成功（mvn package 看到 BUILD SUCCESS）且完成一次只读查询（业务 code=200）。E1 不运行 compare.sh。</a:t>
            </a:r>
          </a:p>
          <a:p>
            <a:r>
              <a:t>权衡：用 origin/sdc-teaching 也可以，与 baseline-dcaa93b3 是同一提交。安装 JDK、Maven、IDEA 的步骤已移到《E1-课前自学》，课前完成。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节：小结</a:t>
            </a:r>
          </a:p>
          <a:p>
            <a:r>
              <a:t>依据：教案 E1 评分细则（讲清楚 30、有依据 30、验证过 40）；教师示例为下单——支付——超时取消调用链（基线 dcaa93b3150352e5044708d7211b5bed0af4509f，路径前缀 mall-portal/src/main/java/com/macro/mall/portal/）。本页内容取自教师示例真实材料，注明“教师示例”。</a:t>
            </a:r>
          </a:p>
          <a:p>
            <a:r>
              <a:t>定义：一页说明按三项组织：讲清楚写调用链与模块结构，有依据写来源与行号，验证过写本人执行结果。</a:t>
            </a:r>
          </a:p>
          <a:p>
            <a:r>
              <a:t>代价：只写结论不写依据，则“有依据”得不到分；只写工具输出不写本人判断，则“讲清楚”得不到分。</a:t>
            </a:r>
          </a:p>
          <a:p>
            <a:r>
              <a:t>判定：对照评分细则逐项核对。</a:t>
            </a:r>
          </a:p>
          <a:p>
            <a:r>
              <a:t>权衡：教师示例不是满分样例，是示范三项如何组织。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sdc-logo.png"/><Relationship Id="rId3" Type="http://schemas.openxmlformats.org/officeDocument/2006/relationships/image" Target="../media/sdc-campus-l.jpeg"/><Relationship Id="rId4" Type="http://schemas.openxmlformats.org/officeDocument/2006/relationships/image" Target="../media/sdc-campus-r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640080"/>
          </a:xfrm>
        </p:spPr>
        <p:txBody>
          <a:bodyPr anchor="b"/>
          <a:lstStyle>
            <a:lvl1pPr algn="l" marL="0" indent="0">
              <a:buNone/>
              <a:defRPr sz="2000" b="1">
                <a:solidFill>
                  <a:srgbClr val="A33B38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5800" y="2377440"/>
            <a:ext cx="7772400" cy="2926080"/>
          </a:xfrm>
        </p:spPr>
        <p:txBody>
          <a:bodyPr/>
          <a:lstStyle>
            <a:lvl1pPr algn="l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dc-toc-band"/>
          <p:cNvSpPr/>
          <p:nvPr userDrawn="1"/>
        </p:nvSpPr>
        <p:spPr>
          <a:xfrm>
            <a:off x="0" y="0"/>
            <a:ext cx="2377440" cy="6858000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1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7240" y="5623560"/>
            <a:ext cx="822960" cy="8229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4320" y="640080"/>
            <a:ext cx="1828800" cy="914400"/>
          </a:xfrm>
        </p:spPr>
        <p:txBody>
          <a:bodyPr anchor="t"/>
          <a:lstStyle>
            <a:lvl1pPr algn="l" marL="0" indent="0">
              <a:buNone/>
              <a:defRPr sz="3600" b="1">
                <a:solidFill>
                  <a:srgbClr val="FFFFFF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834640" y="731520"/>
            <a:ext cx="5852160" cy="5120640"/>
          </a:xfrm>
        </p:spPr>
        <p:txBody>
          <a:bodyPr/>
          <a:lstStyle>
            <a:lvl1pPr algn="l" marL="0" indent="0">
              <a:buNone/>
              <a:defRPr sz="2200" b="0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dc-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868680" cy="8686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011680"/>
            <a:ext cx="7315200" cy="1005840"/>
          </a:xfrm>
        </p:spPr>
        <p:txBody>
          <a:bodyPr anchor="b"/>
          <a:lstStyle>
            <a:lvl1pPr algn="ctr" marL="0" indent="0">
              <a:buNone/>
              <a:defRPr sz="3600" b="1">
                <a:solidFill>
                  <a:srgbClr val="262626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3154680"/>
            <a:ext cx="7315200" cy="1280160"/>
          </a:xfrm>
        </p:spPr>
        <p:txBody>
          <a:bodyPr/>
          <a:lstStyle>
            <a:lvl1pPr algn="ctr" marL="0" indent="0">
              <a:buNone/>
              <a:defRPr sz="2000" b="0">
                <a:solidFill>
                  <a:srgbClr val="595959"/>
                </a:solidFill>
                <a:latin typeface="微软雅黑"/>
                <a:ea typeface="微软雅黑"/>
              </a:defRPr>
            </a:lvl1pPr>
          </a:lstStyle>
          <a:p>
            <a:r>
              <a:rPr lang="zh-CN" altLang="en-US"/>
              <a:t>单击此处编辑</a:t>
            </a:r>
          </a:p>
        </p:txBody>
      </p:sp>
      <p:sp>
        <p:nvSpPr>
          <p:cNvPr id="11" name="sdc-photo-band"/>
          <p:cNvSpPr/>
          <p:nvPr userDrawn="1"/>
        </p:nvSpPr>
        <p:spPr>
          <a:xfrm>
            <a:off x="0" y="5550408"/>
            <a:ext cx="914400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pic>
        <p:nvPicPr>
          <p:cNvPr id="12" name="sdc-campus-l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614416"/>
            <a:ext cx="4572000" cy="1243584"/>
          </a:xfrm>
          <a:prstGeom prst="rect">
            <a:avLst/>
          </a:prstGeom>
        </p:spPr>
      </p:pic>
      <p:pic>
        <p:nvPicPr>
          <p:cNvPr id="13" name="sdc-campus-r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72000" y="5614416"/>
            <a:ext cx="4572000" cy="1243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单击此处编辑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sdc-logo.pn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76072" y="301752"/>
            <a:ext cx="8001000" cy="960120"/>
          </a:xfrm>
        </p:spPr>
        <p:txBody>
          <a:bodyPr anchor="b"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576072" y="1600200"/>
            <a:ext cx="8001000" cy="4389120"/>
          </a:xfrm>
        </p:spPr>
        <p:txBody>
          <a:bodyPr/>
          <a:lstStyle/>
          <a:p>
            <a:r>
              <a:rPr lang="zh-CN" altLang="en-US"/>
              <a:t>单击此处编辑</a:t>
            </a:r>
          </a:p>
        </p:txBody>
      </p:sp>
      <p:sp>
        <p:nvSpPr>
          <p:cNvPr id="4" name="sdc-title-bar"/>
          <p:cNvSpPr/>
          <p:nvPr userDrawn="1"/>
        </p:nvSpPr>
        <p:spPr>
          <a:xfrm>
            <a:off x="612648" y="1298448"/>
            <a:ext cx="1463040" cy="64008"/>
          </a:xfrm>
          <a:prstGeom prst="rect">
            <a:avLst/>
          </a:prstGeom>
          <a:solidFill>
            <a:srgbClr val="A33B38"/>
          </a:solidFill>
          <a:ln>
            <a:noFill/>
          </a:ln>
        </p:spPr>
        <p:txBody>
          <a:bodyPr wrap="square" lIns="91440" rIns="91440" tIns="45720" bIns="45720" anchor="t"/>
          <a:lstStyle/>
          <a:p>
            <a:endParaRPr lang="zh-CN"/>
          </a:p>
        </p:txBody>
      </p:sp>
      <p:cxnSp>
        <p:nvCxnSpPr>
          <p:cNvPr id="5" name="sdc-title-line"/>
          <p:cNvCxnSpPr/>
          <p:nvPr userDrawn="1"/>
        </p:nvCxnSpPr>
        <p:spPr>
          <a:xfrm>
            <a:off x="2075688" y="1330452"/>
            <a:ext cx="6492240" cy="0"/>
          </a:xfrm>
          <a:prstGeom prst="line">
            <a:avLst/>
          </a:prstGeom>
          <a:ln w="12700">
            <a:solidFill>
              <a:srgbClr val="E3C4C2"/>
            </a:solidFill>
          </a:ln>
        </p:spPr>
      </p:cxnSp>
      <p:cxnSp>
        <p:nvCxnSpPr>
          <p:cNvPr id="6" name="sdc-footer-line"/>
          <p:cNvCxnSpPr/>
          <p:nvPr userDrawn="1"/>
        </p:nvCxnSpPr>
        <p:spPr>
          <a:xfrm>
            <a:off x="457200" y="6355080"/>
            <a:ext cx="82296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pic>
        <p:nvPicPr>
          <p:cNvPr id="7" name="sdc-footer-logo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57200" y="6419088"/>
            <a:ext cx="329184" cy="329184"/>
          </a:xfrm>
          <a:prstGeom prst="rect">
            <a:avLst/>
          </a:prstGeom>
        </p:spPr>
      </p:pic>
      <p:sp>
        <p:nvSpPr>
          <p:cNvPr id="8" name="sdc-footer-college"/>
          <p:cNvSpPr/>
          <p:nvPr userDrawn="1"/>
        </p:nvSpPr>
        <p:spPr>
          <a:xfrm>
            <a:off x="841248" y="6400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zh-CN" altLang="en-US" sz="1100" b="0">
                <a:solidFill>
                  <a:srgbClr val="595959"/>
                </a:solidFill>
                <a:latin typeface="微软雅黑"/>
                <a:ea typeface="微软雅黑"/>
              </a:rPr>
              <a:t>计算机科学与技术学院</a:t>
            </a:r>
          </a:p>
        </p:txBody>
      </p:sp>
      <p:sp>
        <p:nvSpPr>
          <p:cNvPr id="9" name="sdc-page-number"/>
          <p:cNvSpPr/>
          <p:nvPr userDrawn="1"/>
        </p:nvSpPr>
        <p:spPr>
          <a:xfrm>
            <a:off x="6858000" y="6400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fld id="{B6F15528-21DE-4FAA-801E-634DDDAF4B2B}" type="slidenum">
              <a:rPr lang="zh-CN" altLang="en-US" sz="1200">
                <a:solidFill>
                  <a:srgbClr val="595959"/>
                </a:solidFill>
                <a:latin typeface="微软雅黑"/>
                <a:ea typeface="微软雅黑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eaLnBrk="1" hangingPunct="1">
        <a:lnSpc>
          <a:spcPct val="90000"/>
        </a:lnSpc>
        <a:defRPr sz="2800" b="1" kern="1200">
          <a:solidFill>
            <a:srgbClr val="A33B38"/>
          </a:solidFill>
          <a:latin typeface="微软雅黑"/>
          <a:ea typeface="微软雅黑"/>
          <a:cs typeface="微软雅黑"/>
        </a:defRPr>
      </a:lvl1pPr>
    </p:titleStyle>
    <p:bodyStyle>
      <a:lvl1pPr marL="292608" indent="-292608" algn="l" eaLnBrk="1" hangingPunct="1">
        <a:lnSpc>
          <a:spcPct val="110000"/>
        </a:lnSpc>
        <a:spcBef>
          <a:spcPts val="600"/>
        </a:spcBef>
        <a:buClr>
          <a:srgbClr val="A33B38"/>
        </a:buClr>
        <a:buSzPct val="80000"/>
        <a:buFont typeface="Wingdings"/>
        <a:buChar char="n"/>
        <a:defRPr sz="2200" b="0" kern="1200">
          <a:solidFill>
            <a:srgbClr val="262626"/>
          </a:solidFill>
          <a:latin typeface="微软雅黑"/>
          <a:ea typeface="微软雅黑"/>
          <a:cs typeface="微软雅黑"/>
        </a:defRPr>
      </a:lvl1pPr>
      <a:lvl2pPr marL="640080" indent="-256032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2000" b="0" kern="1200">
          <a:solidFill>
            <a:srgbClr val="262626"/>
          </a:solidFill>
          <a:latin typeface="微软雅黑"/>
          <a:ea typeface="微软雅黑"/>
          <a:cs typeface="微软雅黑"/>
        </a:defRPr>
      </a:lvl2pPr>
      <a:lvl3pPr marL="960120" indent="-228600" algn="l" eaLnBrk="1" hangingPunct="1">
        <a:lnSpc>
          <a:spcPct val="110000"/>
        </a:lnSpc>
        <a:spcBef>
          <a:spcPts val="600"/>
        </a:spcBef>
        <a:buClr>
          <a:srgbClr val="7F7F7F"/>
        </a:buClr>
        <a:buSzPct val="80000"/>
        <a:buFont typeface="Wingdings"/>
        <a:buChar char="§"/>
        <a:defRPr sz="1800" b="0" kern="1200">
          <a:solidFill>
            <a:srgbClr val="262626"/>
          </a:solidFill>
          <a:latin typeface="微软雅黑"/>
          <a:ea typeface="微软雅黑"/>
          <a:cs typeface="微软雅黑"/>
        </a:defRPr>
      </a:lvl3pPr>
    </p:bodyStyle>
    <p:otherStyle>
      <a:lvl1pPr algn="l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4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03120"/>
            <a:ext cx="7772400" cy="822960"/>
          </a:xfrm>
        </p:spPr>
        <p:txBody>
          <a:bodyPr wrap="square" lIns="54864" tIns="18288" rIns="54864" bIns="18288" anchor="ctr"/>
          <a:lstStyle/>
          <a:p>
            <a:pPr algn="ctr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lang="zh-CN" sz="2000" b="1">
                <a:solidFill>
                  <a:srgbClr val="A33B38"/>
                </a:solidFill>
                <a:latin typeface="Calibri"/>
                <a:ea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>
          <a:xfrm>
            <a:off x="685800" y="3108960"/>
            <a:ext cx="7772400" cy="2011680"/>
          </a:xfrm>
        </p:spPr>
        <p:txBody>
          <a:bodyPr wrap="square" lIns="54864" tIns="18288" rIns="54864" bIns="18288" anchor="t"/>
          <a:lstStyle/>
          <a:p>
            <a:pPr algn="ctr" eaLnBrk="1" hangingPunct="1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</a:pPr>
            <a:r>
              <a:rPr lang="zh-CN" sz="2800" b="1">
                <a:solidFill>
                  <a:srgbClr val="262626"/>
                </a:solidFill>
                <a:latin typeface="Calibri"/>
                <a:ea typeface="微软雅黑"/>
              </a:rPr>
              <a:t>第 2 次课｜开发环境与棕地仓库导读</a:t>
            </a:r>
          </a:p>
          <a:p>
            <a:pPr algn="ctr">
              <a:spcAft>
                <a:spcPts val="40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李萌</a:t>
            </a:r>
          </a:p>
          <a:p>
            <a:pPr algn="ctr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计算机科学与技术学院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本次课内容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目录：从环境检查到证据判断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目录：从环境检查到证据判断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548640" y="155448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4000" b="1">
                <a:solidFill>
                  <a:srgbClr val="A33B38"/>
                </a:solidFill>
                <a:latin typeface="微软雅黑"/>
                <a:ea typeface="微软雅黑"/>
              </a:rPr>
              <a:t>01</a:t>
            </a:r>
            <a:endParaRPr lang="zh-CN" sz="4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45920" y="1627632"/>
            <a:ext cx="70866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工具分工决定协作与验证边界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548640" y="256032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4000" b="1">
                <a:solidFill>
                  <a:srgbClr val="A33B38"/>
                </a:solidFill>
                <a:latin typeface="微软雅黑"/>
                <a:ea typeface="微软雅黑"/>
              </a:rPr>
              <a:t>02</a:t>
            </a:r>
            <a:endParaRPr lang="zh-CN" sz="4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45920" y="2633472"/>
            <a:ext cx="70866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演示把业务功能对上主体结构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548640" y="356616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4000" b="1">
                <a:solidFill>
                  <a:srgbClr val="A33B38"/>
                </a:solidFill>
                <a:latin typeface="微软雅黑"/>
                <a:ea typeface="微软雅黑"/>
              </a:rPr>
              <a:t>03</a:t>
            </a:r>
            <a:endParaRPr lang="zh-CN" sz="4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45920" y="3639312"/>
            <a:ext cx="70866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每步任务都留下可核对的证据</a:t>
            </a:r>
            <a:endParaRPr lang="zh-CN" sz="24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548640" y="457200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9144" bIns="914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4000" b="1">
                <a:solidFill>
                  <a:srgbClr val="A33B38"/>
                </a:solidFill>
                <a:latin typeface="微软雅黑"/>
                <a:ea typeface="微软雅黑"/>
              </a:rPr>
              <a:t>04</a:t>
            </a:r>
            <a:endParaRPr lang="zh-CN" sz="4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645920" y="4645152"/>
            <a:ext cx="708660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400" b="0">
                <a:solidFill>
                  <a:srgbClr val="262626"/>
                </a:solidFill>
                <a:latin typeface="微软雅黑"/>
                <a:ea typeface="微软雅黑"/>
              </a:rPr>
              <a:t>小结用类的职责与调用者检查理解</a:t>
            </a:r>
            <a:endParaRPr lang="zh-CN" sz="24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本次课目标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本次课目标：读懂系统并核实判断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本次课目标：读懂系统并核实判断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600200"/>
            <a:ext cx="1188720" cy="14630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重点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600200"/>
            <a:ext cx="7040880" cy="14630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重点：mall 的主体结构、模块依赖图与生成代码边界；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开发工具各自的角色与边界。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3291840"/>
            <a:ext cx="1188720" cy="14630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难点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3291840"/>
            <a:ext cx="7040880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难点：把“感觉不好”写成带证据的判断，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区分设计问题与自己的理解不足。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本次要用的知识是读异步调用链（RabbitMQ 延迟消息到消费者）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回到 mall 时先核实再填写疑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任务说明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8" name="fn-source"/>
          <p:cNvSpPr txBox="1"/>
          <p:nvPr/>
        </p:nvSpPr>
        <p:spPr>
          <a:xfrm>
            <a:off x="546100" y="5080000"/>
            <a:ext cx="8102600" cy="4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来源：Spring AMQP 官方文档；基线 dcaa93b3150352e5044708d7211b5bed0af4509f</a:t>
            </a:r>
            <a:endParaRPr lang="zh-CN" sz="1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mall-portal/src/main/java/com/macro/mall/portal/component/CancelOrderSender.java:25,29；component/CancelOrderReceiver.java:16,22-23</a:t>
            </a:r>
            <a:endParaRPr lang="zh-CN" sz="1000">
              <a:latin typeface="微软雅黑"/>
              <a:ea typeface="微软雅黑"/>
            </a:endParaRPr>
          </a:p>
        </p:txBody>
      </p:sp>
      <p:sp>
        <p:nvSpPr>
          <p:cNvPr id="101" name="fig"/>
          <p:cNvSpPr/>
          <p:nvPr/>
        </p:nvSpPr>
        <p:spPr>
          <a:xfrm>
            <a:off x="411480" y="1463040"/>
            <a:ext cx="8321040" cy="65836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发送方：CancelOrderSender 设置消息 expiration 并发送到延迟队列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572000" y="2130552"/>
            <a:ext cx="9144" cy="201168"/>
          </a:xfrm>
          <a:custGeom>
            <a:avLst/>
            <a:gdLst/>
            <a:ahLst/>
            <a:cxnLst/>
            <a:rect l="0" t="0" r="r" b="b"/>
            <a:pathLst>
              <a:path w="9144" h="201168" fill="none">
                <a:moveTo>
                  <a:pt x="0" y="0"/>
                </a:moveTo>
                <a:lnTo>
                  <a:pt x="0" y="201168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2340864"/>
            <a:ext cx="8321040" cy="65836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队列：消息到期后，RabbitMQ 路由到取消队列 mall.order.cancel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572000" y="3008376"/>
            <a:ext cx="9144" cy="201168"/>
          </a:xfrm>
          <a:custGeom>
            <a:avLst/>
            <a:gdLst/>
            <a:ahLst/>
            <a:cxnLst/>
            <a:rect l="0" t="0" r="r" b="b"/>
            <a:pathLst>
              <a:path w="9144" h="201168" fill="none">
                <a:moveTo>
                  <a:pt x="0" y="0"/>
                </a:moveTo>
                <a:lnTo>
                  <a:pt x="0" y="201168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3218688"/>
            <a:ext cx="8321040" cy="65836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监听器：CancelOrderReceiver 监听 mall.order.cancel 并调用 cancelOrder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206240"/>
            <a:ext cx="8321040" cy="68580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读法：从发送方出发，沿延迟队列→取消队列→监听器→ cancelOrder 读完。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/>
          <p:cNvSpPr txBox="1"/>
          <p:nvPr/>
        </p:nvSpPr>
        <p:spPr>
          <a:xfrm>
            <a:off x="546100" y="215900"/>
            <a:ext cx="80010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任务说明与开发环境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6100" y="635000"/>
            <a:ext cx="80772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3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工具分工决定协作与验证边界</a:t>
            </a:r>
          </a:p>
        </p:txBody>
      </p:sp>
      <p:graphicFrame>
        <p:nvGraphicFramePr>
          <p:cNvPr id="4" name="工具职责与边界比较表"/>
          <p:cNvGraphicFramePr/>
          <p:nvPr/>
        </p:nvGraphicFramePr>
        <p:xfrm>
          <a:off x="546100" y="1473200"/>
          <a:ext cx="8077200" cy="3454400"/>
        </p:xfrm>
        <a:graphic>
          <a:graphicData uri="http://schemas.openxmlformats.org/drawingml/2006/table">
            <a:tbl>
              <a:tblPr firstRow="1"/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工具与角色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主要职责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使用边界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IntelliJ IDEA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集成开发环境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编码、构建、运行调试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与调用分析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编译、运行与测试结果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是判断的事实依据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Claude Code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编码助手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理解代码、起草修改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与测试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须经人工审查和测试验证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不得触碰不得修改的部分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DeepSeek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大模型服务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为助手提供推理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不掌握本地运行时事实，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可能出错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546100" y="5143500"/>
            <a:ext cx="8077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集成开发环境（Integrated Development Environment，IDE）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546100" y="5588000"/>
            <a:ext cx="8077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使用模型时不得上传密钥与隐私数据。</a:t>
            </a:r>
          </a:p>
        </p:txBody>
      </p:sp>
    </p:spTree>
    <p:extLst>
      <p:ext uri="{BB962C8B-B14F-4D97-AF65-F5344CB8AC3E}">
        <p14:creationId xmlns:p14="http://schemas.microsoft.com/office/powerpoint/2010/main" val="1637440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/>
          <p:cNvSpPr txBox="1"/>
          <p:nvPr/>
        </p:nvSpPr>
        <p:spPr>
          <a:xfrm>
            <a:off x="546100" y="215900"/>
            <a:ext cx="8001000" cy="24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任务说明与开发环境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6100" y="635000"/>
            <a:ext cx="80772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30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协作中由模型提出、工具执行、本人采纳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46100" y="1435100"/>
            <a:ext cx="8077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人工智能（Artificial Intelligence，AI）参与解释与起草。</a:t>
            </a:r>
          </a:p>
        </p:txBody>
      </p:sp>
      <p:sp>
        <p:nvSpPr>
          <p:cNvPr id="5" name="fig-node"/>
          <p:cNvSpPr txBox="1"/>
          <p:nvPr/>
        </p:nvSpPr>
        <p:spPr>
          <a:xfrm>
            <a:off x="546100" y="2336800"/>
            <a:ext cx="2857500" cy="736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DeepSeek</a:t>
            </a:r>
          </a:p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解释</a:t>
            </a:r>
          </a:p>
        </p:txBody>
      </p:sp>
      <p:sp>
        <p:nvSpPr>
          <p:cNvPr id="6" name="fig-node"/>
          <p:cNvSpPr txBox="1"/>
          <p:nvPr/>
        </p:nvSpPr>
        <p:spPr>
          <a:xfrm>
            <a:off x="5080000" y="2336800"/>
            <a:ext cx="3530600" cy="736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Claude Code</a:t>
            </a:r>
          </a:p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起草修改与测试</a:t>
            </a:r>
          </a:p>
        </p:txBody>
      </p:sp>
      <p:sp>
        <p:nvSpPr>
          <p:cNvPr id="7" name="fig-node"/>
          <p:cNvSpPr txBox="1"/>
          <p:nvPr/>
        </p:nvSpPr>
        <p:spPr>
          <a:xfrm>
            <a:off x="546100" y="4254500"/>
            <a:ext cx="3365500" cy="736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IntelliJ IDEA</a:t>
            </a:r>
          </a:p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支持构建、运行与调试</a:t>
            </a:r>
          </a:p>
        </p:txBody>
      </p:sp>
      <p:sp>
        <p:nvSpPr>
          <p:cNvPr id="8" name="fig-node"/>
          <p:cNvSpPr txBox="1"/>
          <p:nvPr/>
        </p:nvSpPr>
        <p:spPr>
          <a:xfrm>
            <a:off x="5080000" y="4254500"/>
            <a:ext cx="3530600" cy="736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本人</a:t>
            </a:r>
          </a:p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核实结论并决定采用</a:t>
            </a:r>
          </a:p>
        </p:txBody>
      </p:sp>
      <p:cxnSp>
        <p:nvCxnSpPr>
          <p:cNvPr id="9" name="协作关系"/>
          <p:cNvCxnSpPr/>
          <p:nvPr/>
        </p:nvCxnSpPr>
        <p:spPr>
          <a:xfrm>
            <a:off x="3403600" y="2705100"/>
            <a:ext cx="167640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0" name="fig-node"/>
          <p:cNvSpPr txBox="1"/>
          <p:nvPr/>
        </p:nvSpPr>
        <p:spPr>
          <a:xfrm>
            <a:off x="3619500" y="2298700"/>
            <a:ext cx="1270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提出</a:t>
            </a:r>
          </a:p>
        </p:txBody>
      </p:sp>
      <p:cxnSp>
        <p:nvCxnSpPr>
          <p:cNvPr id="11" name="协作关系"/>
          <p:cNvCxnSpPr/>
          <p:nvPr/>
        </p:nvCxnSpPr>
        <p:spPr>
          <a:xfrm>
            <a:off x="6845300" y="3073400"/>
            <a:ext cx="0" cy="118110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2" name="fig-node"/>
          <p:cNvSpPr txBox="1"/>
          <p:nvPr/>
        </p:nvSpPr>
        <p:spPr>
          <a:xfrm>
            <a:off x="6985000" y="3492500"/>
            <a:ext cx="1524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cxnSp>
        <p:nvCxnSpPr>
          <p:cNvPr id="13" name="协作关系"/>
          <p:cNvCxnSpPr/>
          <p:nvPr/>
        </p:nvCxnSpPr>
        <p:spPr>
          <a:xfrm>
            <a:off x="3911600" y="4635500"/>
            <a:ext cx="116840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4" name="fig-node"/>
          <p:cNvSpPr txBox="1"/>
          <p:nvPr/>
        </p:nvSpPr>
        <p:spPr>
          <a:xfrm>
            <a:off x="3898900" y="5054600"/>
            <a:ext cx="3810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采纳、部分采纳或驳回</a:t>
            </a:r>
          </a:p>
        </p:txBody>
      </p:sp>
      <p:sp>
        <p:nvSpPr>
          <p:cNvPr id="15" name="body"/>
          <p:cNvSpPr txBox="1"/>
          <p:nvPr/>
        </p:nvSpPr>
        <p:spPr>
          <a:xfrm>
            <a:off x="546100" y="5613400"/>
            <a:ext cx="8077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本人使用 IDEA 核实编译、运行与测试结果，对证据负责。</a:t>
            </a: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任务说明与开发环境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项目与仓库以上游 mall 为准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项目与仓库以上游 mall 为准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8" name="fn-source"/>
          <p:cNvSpPr txBox="1"/>
          <p:nvPr/>
        </p:nvSpPr>
        <p:spPr>
          <a:xfrm>
            <a:off x="546100" y="5613400"/>
            <a:ext cx="810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基线提交：dcaa93b3150352e5044708d7211b5bed0af4509f</a:t>
            </a:r>
            <a:endParaRPr lang="zh-CN" sz="1000"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508760"/>
            <a:ext cx="118872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上游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508760"/>
            <a:ext cx="7040880" cy="8686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上游项目：https://github.com/macrozheng/mall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许可证：Apache-2.0。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514600"/>
            <a:ext cx="1188720" cy="86868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课堂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2514600"/>
            <a:ext cx="70408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课程仓库尚在准备，课堂使用教师提供的课程环境。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520440"/>
            <a:ext cx="1188720" cy="8686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行号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91640" y="3520440"/>
            <a:ext cx="7040880" cy="86868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报告中的行号一律以基线标签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baseline-dcaa93b3 为准。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526280"/>
            <a:ext cx="1188720" cy="86868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阅读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691640" y="4526280"/>
            <a:ext cx="70408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阅读官方 README 的组织结构、系统架构与业务架构。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37018-C7FF-A716-D3CE-7D1D721F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731520"/>
          </a:xfrm>
        </p:spPr>
        <p:txBody>
          <a:bodyPr lIns="0" rIns="0" anchor="ctr"/>
          <a:lstStyle/>
          <a:p>
            <a:pPr algn="l"/>
            <a:r>
              <a:rPr lang="zh-CN" sz="3000" b="1">
                <a:solidFill>
                  <a:srgbClr val="A33B38"/>
                </a:solidFill>
                <a:latin typeface="Calibri"/>
                <a:ea typeface="微软雅黑"/>
              </a:rPr>
              <a:t>IDEA 从上游地址打开 mall</a:t>
            </a:r>
          </a:p>
        </p:txBody>
      </p:sp>
      <p:sp>
        <p:nvSpPr>
          <p:cNvPr id="3" name="fn-kicker"/>
          <p:cNvSpPr txBox="1"/>
          <p:nvPr/>
        </p:nvSpPr>
        <p:spPr>
          <a:xfrm>
            <a:off x="548640" y="219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>
                <a:solidFill>
                  <a:srgbClr val="A33B38"/>
                </a:solidFill>
                <a:latin typeface="Calibri"/>
                <a:ea typeface="微软雅黑"/>
              </a:rPr>
              <a:t>开发环境</a:t>
            </a:r>
          </a:p>
        </p:txBody>
      </p:sp>
      <p:sp>
        <p:nvSpPr>
          <p:cNvPr id="4" name="Oval 3"/>
          <p:cNvSpPr/>
          <p:nvPr/>
        </p:nvSpPr>
        <p:spPr>
          <a:xfrm>
            <a:off x="571500" y="1485900"/>
            <a:ext cx="411480" cy="411480"/>
          </a:xfrm>
          <a:prstGeom prst="ellipse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新建项目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00784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选择 Project from Version Control</a:t>
            </a:r>
          </a:p>
        </p:txBody>
      </p:sp>
      <p:sp>
        <p:nvSpPr>
          <p:cNvPr id="7" name="Oval 6"/>
          <p:cNvSpPr/>
          <p:nvPr/>
        </p:nvSpPr>
        <p:spPr>
          <a:xfrm>
            <a:off x="571500" y="2308860"/>
            <a:ext cx="411480" cy="411480"/>
          </a:xfrm>
          <a:prstGeom prst="ellipse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填写仓库地址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23744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github.com/macrozheng/mall</a:t>
            </a:r>
          </a:p>
        </p:txBody>
      </p:sp>
      <p:sp>
        <p:nvSpPr>
          <p:cNvPr id="10" name="Oval 9"/>
          <p:cNvSpPr/>
          <p:nvPr/>
        </p:nvSpPr>
        <p:spPr>
          <a:xfrm>
            <a:off x="571500" y="3131820"/>
            <a:ext cx="411480" cy="411480"/>
          </a:xfrm>
          <a:prstGeom prst="ellipse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1752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信任项目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46703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选择 Trust Project</a:t>
            </a:r>
          </a:p>
        </p:txBody>
      </p:sp>
      <p:sp>
        <p:nvSpPr>
          <p:cNvPr id="13" name="Oval 12"/>
          <p:cNvSpPr/>
          <p:nvPr/>
        </p:nvSpPr>
        <p:spPr>
          <a:xfrm>
            <a:off x="571500" y="3954780"/>
            <a:ext cx="411480" cy="411480"/>
          </a:xfrm>
          <a:prstGeom prst="ellipse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Calibri"/>
                <a:ea typeface="微软雅黑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打开并阅读 README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69664"/>
            <a:ext cx="3931920" cy="622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以 Maven 项目打开 mall/pom.xml</a:t>
            </a:r>
          </a:p>
        </p:txBody>
      </p:sp>
      <p:pic>
        <p:nvPicPr>
          <p:cNvPr id="16" name="pic#teacher#shot#E1#p10-clone-ur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433456"/>
            <a:ext cx="3291840" cy="51636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17" name="pic#teacher#shot#E1#p10-trust-projec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312409"/>
            <a:ext cx="3291840" cy="131878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303520" y="3794760"/>
            <a:ext cx="3291840" cy="622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上游地址如图；课程仓库尚在准备。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804672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或者在终端克隆：</a:t>
            </a:r>
          </a:p>
        </p:txBody>
      </p:sp>
      <p:sp>
        <p:nvSpPr>
          <p:cNvPr id="20" name="code-cmd"/>
          <p:cNvSpPr/>
          <p:nvPr/>
        </p:nvSpPr>
        <p:spPr>
          <a:xfrm>
            <a:off x="548640" y="507492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0"/>
              </a:spcAft>
            </a:pPr>
            <a:r>
              <a:rPr lang="zh-CN" sz="1800" b="0">
                <a:solidFill>
                  <a:srgbClr val="E8EDF2"/>
                </a:solidFill>
                <a:latin typeface="Courier New"/>
                <a:ea typeface="微软雅黑"/>
              </a:rPr>
              <a:t>01  git clone https://github.com/macrozheng/mall.git</a:t>
            </a:r>
          </a:p>
        </p:txBody>
      </p:sp>
      <p:sp>
        <p:nvSpPr>
          <p:cNvPr id="90" name="fn"/>
          <p:cNvSpPr txBox="1"/>
          <p:nvPr/>
        </p:nvSpPr>
        <p:spPr>
          <a:xfrm>
            <a:off x="5303520" y="3639312"/>
            <a:ext cx="3291840" cy="1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</a:rPr>
              <a:t>图片来源：教师环境截图</a:t>
            </a:r>
          </a:p>
        </p:txBody>
      </p:sp>
    </p:spTree>
    <p:extLst>
      <p:ext uri="{BB962C8B-B14F-4D97-AF65-F5344CB8AC3E}">
        <p14:creationId xmlns:p14="http://schemas.microsoft.com/office/powerpoint/2010/main" val="196351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任务说明与开发环境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首次检查从版本与构建结果开始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首次检查从版本与构建结果开始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4" name="Text Java 开发工具包（Java "/>
          <p:cNvSpPr txBox="1"/>
          <p:nvPr/>
        </p:nvSpPr>
        <p:spPr>
          <a:xfrm>
            <a:off x="723900" y="1460500"/>
            <a:ext cx="7708900" cy="990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Java 开发工具包（Java Development Kit，JDK）17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和 Maven、IDEA 必备；Claude Code 与 DeepSeek 接入为选开。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5" name="code-cmd"/>
          <p:cNvSpPr txBox="1"/>
          <p:nvPr/>
        </p:nvSpPr>
        <p:spPr>
          <a:xfrm>
            <a:off x="723900" y="2540000"/>
            <a:ext cx="7708900" cy="99060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800" b="0">
                <a:solidFill>
                  <a:srgbClr val="262626"/>
                </a:solidFill>
                <a:latin typeface="Consolas"/>
                <a:ea typeface="微软雅黑"/>
                <a:cs typeface="Consolas"/>
              </a:rPr>
              <a:t>01  java -version</a:t>
            </a:r>
            <a:endParaRPr lang="zh-CN" sz="1800">
              <a:latin typeface="Consolas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1800" b="0">
                <a:solidFill>
                  <a:srgbClr val="262626"/>
                </a:solidFill>
                <a:latin typeface="Consolas"/>
                <a:ea typeface="微软雅黑"/>
                <a:cs typeface="Consolas"/>
              </a:rPr>
              <a:t>02  mvn -version</a:t>
            </a:r>
            <a:endParaRPr lang="zh-CN" sz="1800">
              <a:latin typeface="Consolas"/>
              <a:ea typeface="微软雅黑"/>
            </a:endParaRPr>
          </a:p>
        </p:txBody>
      </p:sp>
      <p:sp>
        <p:nvSpPr>
          <p:cNvPr id="6" name="code-cmd"/>
          <p:cNvSpPr txBox="1"/>
          <p:nvPr/>
        </p:nvSpPr>
        <p:spPr>
          <a:xfrm>
            <a:off x="723900" y="3619500"/>
            <a:ext cx="7708900" cy="99060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800" b="0">
                <a:solidFill>
                  <a:srgbClr val="262626"/>
                </a:solidFill>
                <a:latin typeface="Consolas"/>
                <a:ea typeface="微软雅黑"/>
                <a:cs typeface="Consolas"/>
              </a:rPr>
              <a:t>03  mvn -B -DskipTests -Ddocker.skip=true</a:t>
            </a:r>
            <a:endParaRPr lang="zh-CN" sz="1800">
              <a:latin typeface="Consolas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1800" b="0">
                <a:solidFill>
                  <a:srgbClr val="262626"/>
                </a:solidFill>
                <a:latin typeface="Consolas"/>
                <a:ea typeface="微软雅黑"/>
                <a:cs typeface="Consolas"/>
              </a:rPr>
              <a:t>    -pl mall-portal -am package</a:t>
            </a:r>
            <a:endParaRPr lang="zh-CN" sz="1800">
              <a:latin typeface="Consolas"/>
              <a:ea typeface="微软雅黑"/>
            </a:endParaRPr>
          </a:p>
        </p:txBody>
      </p:sp>
      <p:sp>
        <p:nvSpPr>
          <p:cNvPr id="7" name="Text 预期：Java 版本均为 17，"/>
          <p:cNvSpPr txBox="1"/>
          <p:nvPr/>
        </p:nvSpPr>
        <p:spPr>
          <a:xfrm>
            <a:off x="723900" y="4699000"/>
            <a:ext cx="7708900" cy="990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预期：Java 版本均为 17，构建出现 BUILD SUCCESS。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此命令跳过测试，不能证明所选调用链已经核实。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23A4F-C434-EEAA-244E-3EC9BB94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731520"/>
          </a:xfrm>
        </p:spPr>
        <p:txBody>
          <a:bodyPr lIns="0" rIns="0" anchor="ctr"/>
          <a:lstStyle/>
          <a:p>
            <a:pPr algn="l"/>
            <a:r>
              <a:rPr lang="zh-CN" sz="3000" b="1" dirty="0">
                <a:solidFill>
                  <a:srgbClr val="A33B38"/>
                </a:solidFill>
                <a:latin typeface="Calibri"/>
                <a:ea typeface="微软雅黑"/>
              </a:rPr>
              <a:t>用构建结果核对环境是否可用</a:t>
            </a:r>
          </a:p>
        </p:txBody>
      </p:sp>
      <p:sp>
        <p:nvSpPr>
          <p:cNvPr id="35" name="fn-kicker"/>
          <p:cNvSpPr txBox="1"/>
          <p:nvPr/>
        </p:nvSpPr>
        <p:spPr>
          <a:xfrm>
            <a:off x="548640" y="219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>
                <a:solidFill>
                  <a:srgbClr val="A33B38"/>
                </a:solidFill>
                <a:latin typeface="Calibri"/>
                <a:ea typeface="微软雅黑"/>
              </a:rPr>
              <a:t>开发环境</a:t>
            </a:r>
          </a:p>
        </p:txBody>
      </p:sp>
      <p:sp>
        <p:nvSpPr>
          <p:cNvPr id="36" name="Oval 35"/>
          <p:cNvSpPr/>
          <p:nvPr/>
        </p:nvSpPr>
        <p:spPr>
          <a:xfrm>
            <a:off x="571500" y="1485900"/>
            <a:ext cx="411480" cy="411480"/>
          </a:xfrm>
          <a:prstGeom prst="ellipse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13716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打开 Project 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1737360"/>
            <a:ext cx="338328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Project SDK、Importer、Runner</a:t>
            </a:r>
          </a:p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均选 JDK 17。</a:t>
            </a:r>
          </a:p>
        </p:txBody>
      </p:sp>
      <p:pic>
        <p:nvPicPr>
          <p:cNvPr id="39" name="pic#teacher#shot#E1#p11-project-structure" descr="image.png"/>
          <p:cNvPicPr>
            <a:picLocks noChangeAspect="1"/>
          </p:cNvPicPr>
          <p:nvPr/>
        </p:nvPicPr>
        <p:blipFill>
          <a:blip r:embed="rId3"/>
          <a:srcRect l="26240" t="48947"/>
          <a:stretch>
            <a:fillRect/>
          </a:stretch>
        </p:blipFill>
        <p:spPr>
          <a:xfrm>
            <a:off x="4663440" y="1540562"/>
            <a:ext cx="3931920" cy="94223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0" name="Oval 39"/>
          <p:cNvSpPr/>
          <p:nvPr/>
        </p:nvSpPr>
        <p:spPr>
          <a:xfrm>
            <a:off x="571500" y="2720340"/>
            <a:ext cx="411480" cy="411480"/>
          </a:xfrm>
          <a:prstGeom prst="ellipse">
            <a:avLst/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2697480"/>
            <a:ext cx="74041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在 Terminal 构建，跳过 Docker 镜像</a:t>
            </a:r>
          </a:p>
        </p:txBody>
      </p:sp>
      <p:sp>
        <p:nvSpPr>
          <p:cNvPr id="42" name="code-cmd"/>
          <p:cNvSpPr/>
          <p:nvPr/>
        </p:nvSpPr>
        <p:spPr>
          <a:xfrm>
            <a:off x="548640" y="3213100"/>
            <a:ext cx="8046720" cy="571500"/>
          </a:xfrm>
          <a:prstGeom prst="roundRect">
            <a:avLst>
              <a:gd name="adj" fmla="val 10909"/>
            </a:avLst>
          </a:prstGeom>
          <a:solidFill>
            <a:srgbClr val="F4F4F4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0"/>
              </a:spcAft>
            </a:pPr>
            <a:r>
              <a:rPr lang="zh-CN" sz="1800" b="0">
                <a:solidFill>
                  <a:srgbClr val="E8EDF2"/>
                </a:solidFill>
                <a:latin typeface="Courier New"/>
                <a:ea typeface="微软雅黑"/>
              </a:rPr>
              <a:t>01  mvn -B -DskipTests -Ddocker.skip=true</a:t>
            </a:r>
          </a:p>
          <a:p>
            <a:pPr algn="l">
              <a:spcAft>
                <a:spcPts val="0"/>
              </a:spcAft>
            </a:pPr>
            <a:r>
              <a:rPr lang="zh-CN" sz="1800" b="0">
                <a:solidFill>
                  <a:srgbClr val="E8EDF2"/>
                </a:solidFill>
                <a:latin typeface="Courier New"/>
                <a:ea typeface="微软雅黑"/>
              </a:rPr>
              <a:t>    -pl mall-portal -am package</a:t>
            </a:r>
          </a:p>
        </p:txBody>
      </p:sp>
      <p:pic>
        <p:nvPicPr>
          <p:cNvPr id="43" name="pic#teacher#shot#E1#p11-reactor-ord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48915"/>
            <a:ext cx="3931920" cy="1011928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44" name="pic#teacher#shot#E1#p11-build-success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098518"/>
            <a:ext cx="3931920" cy="1312723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45" name="fn"/>
          <p:cNvSpPr txBox="1"/>
          <p:nvPr/>
        </p:nvSpPr>
        <p:spPr>
          <a:xfrm>
            <a:off x="548640" y="5577840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 dirty="0">
                <a:solidFill>
                  <a:srgbClr val="595959"/>
                </a:solidFill>
                <a:latin typeface="Calibri"/>
                <a:ea typeface="微软雅黑"/>
              </a:rPr>
              <a:t>构建开始：Reactor Build Order</a:t>
            </a:r>
          </a:p>
        </p:txBody>
      </p:sp>
      <p:sp>
        <p:nvSpPr>
          <p:cNvPr id="46" name="fn"/>
          <p:cNvSpPr txBox="1"/>
          <p:nvPr/>
        </p:nvSpPr>
        <p:spPr>
          <a:xfrm>
            <a:off x="4663440" y="5577840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 dirty="0">
                <a:solidFill>
                  <a:srgbClr val="595959"/>
                </a:solidFill>
                <a:latin typeface="Calibri"/>
                <a:ea typeface="微软雅黑"/>
              </a:rPr>
              <a:t>构建完成：BUILD SUCCESS</a:t>
            </a:r>
          </a:p>
        </p:txBody>
      </p:sp>
      <p:sp>
        <p:nvSpPr>
          <p:cNvPr id="98" name="TextBox 37"/>
          <p:cNvSpPr txBox="1"/>
          <p:nvPr/>
        </p:nvSpPr>
        <p:spPr>
          <a:xfrm>
            <a:off x="548640" y="3797300"/>
            <a:ext cx="80518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软件开发工具包（Software Development Kit，SDK）</a:t>
            </a:r>
          </a:p>
        </p:txBody>
      </p:sp>
      <p:sp>
        <p:nvSpPr>
          <p:cNvPr id="90" name="fn"/>
          <p:cNvSpPr txBox="1"/>
          <p:nvPr/>
        </p:nvSpPr>
        <p:spPr>
          <a:xfrm>
            <a:off x="548640" y="4119880"/>
            <a:ext cx="3931920" cy="1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</a:rPr>
              <a:t>图片来源：教师环境截图（本页三张）</a:t>
            </a:r>
          </a:p>
        </p:txBody>
      </p:sp>
    </p:spTree>
    <p:extLst>
      <p:ext uri="{BB962C8B-B14F-4D97-AF65-F5344CB8AC3E}">
        <p14:creationId xmlns:p14="http://schemas.microsoft.com/office/powerpoint/2010/main" val="3704109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任务说明与开发环境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预习回顾先区分生成边界与环境事实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预习回顾先区分生成边界与环境事实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554480"/>
            <a:ext cx="4114800" cy="10972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411480" y="1664208"/>
            <a:ext cx="4114800" cy="173736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生成的 Entity 与 Mapper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不直接改。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变更先判断生成边界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和共用表结构。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617720" y="1554480"/>
            <a:ext cx="4114800" cy="10972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4617720" y="1664208"/>
            <a:ext cx="411480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容器化封装运行环境，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帮助保持环境一致。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611880"/>
            <a:ext cx="4114800" cy="10972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3721608"/>
            <a:ext cx="4114800" cy="1737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构建成功不能代替实际运行与业务查询。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617720" y="3611880"/>
            <a:ext cx="4114800" cy="10972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4617720" y="3721608"/>
            <a:ext cx="4114800" cy="173736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构建方式应依据 pom.xml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等构建配置文件核对。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6DF9B-5605-D2F1-ACAE-0901E16C5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教师演示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教师演示连接业务功能与主体结构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演示把业务功能对上主体结构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"/>
          <p:cNvSpPr/>
          <p:nvPr/>
        </p:nvSpPr>
        <p:spPr>
          <a:xfrm>
            <a:off x="411480" y="1737360"/>
            <a:ext cx="2587752" cy="18288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教师、助教用容器化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环境课前启动整站。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3035808" y="2651760"/>
            <a:ext cx="201168" cy="9144"/>
          </a:xfrm>
          <a:custGeom>
            <a:avLst/>
            <a:gdLst/>
            <a:ahLst/>
            <a:cxnLst/>
            <a:rect l="0" t="0" r="r" b="b"/>
            <a:pathLst>
              <a:path w="201168" h="9144" fill="none">
                <a:moveTo>
                  <a:pt x="0" y="0"/>
                </a:moveTo>
                <a:lnTo>
                  <a:pt x="201168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3273552" y="1737360"/>
            <a:ext cx="2587752" cy="18288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确认 MySQL、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Redis、MongoDB、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RabbitMQ 正常。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5897880" y="2651760"/>
            <a:ext cx="201168" cy="9144"/>
          </a:xfrm>
          <a:custGeom>
            <a:avLst/>
            <a:gdLst/>
            <a:ahLst/>
            <a:cxnLst/>
            <a:rect l="0" t="0" r="r" b="b"/>
            <a:pathLst>
              <a:path w="201168" h="9144" fill="none">
                <a:moveTo>
                  <a:pt x="0" y="0"/>
                </a:moveTo>
                <a:lnTo>
                  <a:pt x="201168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6135624" y="1737360"/>
            <a:ext cx="2587752" cy="18288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确认 admin、portal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启动并完成一次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只读查询。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434840"/>
            <a:ext cx="832104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实际运行优先；官方功能图用于演示备份。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26942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565A7DB-FA4B-98D2-3DF4-3AA6E497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731520"/>
          </a:xfrm>
        </p:spPr>
        <p:txBody>
          <a:bodyPr lIns="0" rIns="0" anchor="ctr"/>
          <a:lstStyle/>
          <a:p>
            <a:pPr algn="l"/>
            <a:r>
              <a:rPr lang="zh-CN" sz="3000" b="1">
                <a:solidFill>
                  <a:srgbClr val="A33B38"/>
                </a:solidFill>
                <a:latin typeface="Calibri"/>
                <a:ea typeface="微软雅黑"/>
              </a:rPr>
              <a:t>后台商品列表可筛选，能看商品数据</a:t>
            </a:r>
            <a:endParaRPr lang="zh-CN" altLang="en-US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5" name="fn-kicker"/>
          <p:cNvSpPr txBox="1"/>
          <p:nvPr/>
        </p:nvSpPr>
        <p:spPr>
          <a:xfrm>
            <a:off x="548640" y="219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>
                <a:solidFill>
                  <a:srgbClr val="A33B38"/>
                </a:solidFill>
                <a:latin typeface="Calibri"/>
                <a:ea typeface="微软雅黑"/>
              </a:rPr>
              <a:t>教师演示</a:t>
            </a:r>
          </a:p>
        </p:txBody>
      </p:sp>
      <p:pic>
        <p:nvPicPr>
          <p:cNvPr id="6" name="pic#mall#full#dcaa93b3150352e5044708d7211b5bed0af4509f#document/resource/mall_admin_show.png" descr="im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88720" y="1737360"/>
            <a:ext cx="6766560" cy="375496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6" name="fn"/>
          <p:cNvSpPr txBox="1"/>
          <p:nvPr/>
        </p:nvSpPr>
        <p:spPr>
          <a:xfrm>
            <a:off x="546100" y="5638800"/>
            <a:ext cx="8051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图片来源：macrozheng/mall，Apache-2.0；document/resource/mall_admin_show.png</a:t>
            </a:r>
            <a:endParaRPr lang="zh-CN" sz="1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基线提交：dcaa93b3150352e5044708d7211b5bed0af4509f</a:t>
            </a:r>
            <a:endParaRPr lang="zh-CN" sz="1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82115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731520"/>
          </a:xfrm>
        </p:spPr>
        <p:txBody>
          <a:bodyPr wrap="square" lIns="0" tIns="18288" rIns="0" bIns="18288" anchor="ctr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lang="zh-CN" sz="3000" b="1">
                <a:solidFill>
                  <a:srgbClr val="A33B38"/>
                </a:solidFill>
                <a:latin typeface="Calibri"/>
                <a:ea typeface="微软雅黑"/>
              </a:rPr>
              <a:t>后台菜单对应管理业务</a:t>
            </a:r>
          </a:p>
        </p:txBody>
      </p:sp>
      <p:sp>
        <p:nvSpPr>
          <p:cNvPr id="3" name="fn-kicker"/>
          <p:cNvSpPr txBox="1"/>
          <p:nvPr/>
        </p:nvSpPr>
        <p:spPr>
          <a:xfrm>
            <a:off x="548640" y="219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>
                <a:solidFill>
                  <a:srgbClr val="A33B38"/>
                </a:solidFill>
                <a:latin typeface="Calibri"/>
                <a:ea typeface="微软雅黑"/>
              </a:rPr>
              <a:t>教师演示</a:t>
            </a:r>
          </a:p>
        </p:txBody>
      </p:sp>
      <p:pic>
        <p:nvPicPr>
          <p:cNvPr id="4" name="pic#mall#crop#dcaa93b3150352e5044708d7211b5bed0af4509f#document/resource/mall_admin_show.png#admin-nav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1371600"/>
            <a:ext cx="7255764" cy="315468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548640" y="4709160"/>
            <a:ext cx="3931920" cy="1005840"/>
          </a:xfrm>
          <a:prstGeom prst="roundRect">
            <a:avLst>
              <a:gd name="adj" fmla="val 7272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262626"/>
                </a:solidFill>
                <a:latin typeface="Calibri"/>
                <a:ea typeface="微软雅黑"/>
              </a:rPr>
              <a:t>同一侧栏的局部：</a:t>
            </a:r>
          </a:p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262626"/>
                </a:solidFill>
                <a:latin typeface="Calibri"/>
                <a:ea typeface="微软雅黑"/>
              </a:rPr>
              <a:t>商品、订单、营销／权限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4709160"/>
            <a:ext cx="3931920" cy="1005840"/>
          </a:xfrm>
          <a:prstGeom prst="roundRect">
            <a:avLst>
              <a:gd name="adj" fmla="val 7272"/>
            </a:avLst>
          </a:prstGeom>
          <a:solidFill>
            <a:srgbClr val="F8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A33B38"/>
                </a:solidFill>
                <a:latin typeface="Calibri"/>
                <a:ea typeface="微软雅黑"/>
              </a:rPr>
              <a:t>演示：商品、订单、</a:t>
            </a:r>
          </a:p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A33B38"/>
                </a:solidFill>
                <a:latin typeface="Calibri"/>
                <a:ea typeface="微软雅黑"/>
              </a:rPr>
              <a:t>促销、内容、用户</a:t>
            </a:r>
          </a:p>
        </p:txBody>
      </p:sp>
      <p:sp>
        <p:nvSpPr>
          <p:cNvPr id="7" name="fn"/>
          <p:cNvSpPr txBox="1"/>
          <p:nvPr/>
        </p:nvSpPr>
        <p:spPr>
          <a:xfrm>
            <a:off x="548640" y="574040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0">
                <a:solidFill>
                  <a:srgbClr val="595959"/>
                </a:solidFill>
                <a:latin typeface="Calibri"/>
                <a:ea typeface="微软雅黑"/>
              </a:rPr>
              <a:t>局部放大。图片来源：macrozheng/mall，Apache-2.0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731520"/>
          </a:xfrm>
        </p:spPr>
        <p:txBody>
          <a:bodyPr wrap="square" lIns="0" tIns="18288" rIns="0" bIns="18288" anchor="ctr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lang="zh-CN" sz="3000" b="1">
                <a:solidFill>
                  <a:srgbClr val="A33B38"/>
                </a:solidFill>
                <a:latin typeface="Calibri"/>
                <a:ea typeface="微软雅黑"/>
              </a:rPr>
              <a:t>前台商城有购物和下单入口</a:t>
            </a:r>
          </a:p>
        </p:txBody>
      </p:sp>
      <p:sp>
        <p:nvSpPr>
          <p:cNvPr id="3" name="fn-kicker"/>
          <p:cNvSpPr txBox="1"/>
          <p:nvPr/>
        </p:nvSpPr>
        <p:spPr>
          <a:xfrm>
            <a:off x="548640" y="219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>
                <a:solidFill>
                  <a:srgbClr val="A33B38"/>
                </a:solidFill>
                <a:latin typeface="Calibri"/>
                <a:ea typeface="微软雅黑"/>
              </a:rPr>
              <a:t>教师演示</a:t>
            </a:r>
          </a:p>
        </p:txBody>
      </p:sp>
      <p:pic>
        <p:nvPicPr>
          <p:cNvPr id="4" name="pic#mall#crop#dcaa93b3150352e5044708d7211b5bed0af4509f#document/resource/re_mall_app_show.jpg#app-home.jpg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70" y="1371600"/>
            <a:ext cx="7469659" cy="283464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548640" y="438912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262626"/>
                </a:solidFill>
                <a:latin typeface="Calibri"/>
                <a:ea typeface="微软雅黑"/>
              </a:rPr>
              <a:t>图中是前台首页顶部的搜索框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438912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8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>
              <a:spcAft>
                <a:spcPts val="400"/>
              </a:spcAft>
            </a:pPr>
            <a:r>
              <a:rPr lang="zh-CN" sz="2000" b="0">
                <a:solidFill>
                  <a:srgbClr val="A33B38"/>
                </a:solidFill>
                <a:latin typeface="Calibri"/>
                <a:ea typeface="微软雅黑"/>
              </a:rPr>
              <a:t>演示：首页、搜索、购物车、下单、会员中心</a:t>
            </a:r>
          </a:p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A33B38"/>
                </a:solidFill>
                <a:latin typeface="Calibri"/>
                <a:ea typeface="微软雅黑"/>
              </a:rPr>
              <a:t>订单流程从购物车进入</a:t>
            </a:r>
          </a:p>
        </p:txBody>
      </p:sp>
      <p:sp>
        <p:nvSpPr>
          <p:cNvPr id="7" name="fn"/>
          <p:cNvSpPr txBox="1"/>
          <p:nvPr/>
        </p:nvSpPr>
        <p:spPr>
          <a:xfrm>
            <a:off x="548640" y="574040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0">
                <a:solidFill>
                  <a:srgbClr val="595959"/>
                </a:solidFill>
                <a:latin typeface="Calibri"/>
                <a:ea typeface="微软雅黑"/>
              </a:rPr>
              <a:t>局部放大。图片来源：macrozheng/mall，Apache-2.0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731520"/>
          </a:xfrm>
        </p:spPr>
        <p:txBody>
          <a:bodyPr wrap="square" lIns="0" tIns="18288" rIns="0" bIns="18288" anchor="ctr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lang="zh-CN" sz="3000" b="1">
                <a:solidFill>
                  <a:srgbClr val="A33B38"/>
                </a:solidFill>
                <a:latin typeface="Calibri"/>
                <a:ea typeface="微软雅黑"/>
              </a:rPr>
              <a:t>系统图与业务图回答不同问题</a:t>
            </a:r>
          </a:p>
        </p:txBody>
      </p:sp>
      <p:sp>
        <p:nvSpPr>
          <p:cNvPr id="3" name="fn-kicker"/>
          <p:cNvSpPr txBox="1"/>
          <p:nvPr/>
        </p:nvSpPr>
        <p:spPr>
          <a:xfrm>
            <a:off x="548640" y="219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>
                <a:solidFill>
                  <a:srgbClr val="A33B38"/>
                </a:solidFill>
                <a:latin typeface="Calibri"/>
                <a:ea typeface="微软雅黑"/>
              </a:rPr>
              <a:t>教师演示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A33B38"/>
                </a:solidFill>
                <a:latin typeface="Calibri"/>
                <a:ea typeface="微软雅黑"/>
              </a:rPr>
              <a:t>系统架构：组件怎么连接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3716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A33B38"/>
                </a:solidFill>
                <a:latin typeface="Calibri"/>
                <a:ea typeface="微软雅黑"/>
              </a:rPr>
              <a:t>业务架构：业务怎么划分</a:t>
            </a:r>
          </a:p>
        </p:txBody>
      </p:sp>
      <p:pic>
        <p:nvPicPr>
          <p:cNvPr id="6" name="pic#mall#full#dcaa93b3150352e5044708d7211b5bed0af4509f#document/resource/re_mall_system_arch.jpg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00329"/>
            <a:ext cx="3931920" cy="223438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pic>
        <p:nvPicPr>
          <p:cNvPr id="7" name="pic#mall#full#dcaa93b3150352e5044708d7211b5bed0af4509f#document/resource/re_mall_business_arch.jpg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35096"/>
            <a:ext cx="3931920" cy="1964846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48640" y="4434840"/>
            <a:ext cx="3931920" cy="822960"/>
          </a:xfrm>
          <a:prstGeom prst="roundRect">
            <a:avLst>
              <a:gd name="adj" fmla="val 8888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262626"/>
                </a:solidFill>
                <a:latin typeface="Calibri"/>
                <a:ea typeface="微软雅黑"/>
              </a:rPr>
              <a:t>看应用和数据存储怎么连接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4434840"/>
            <a:ext cx="3931920" cy="822960"/>
          </a:xfrm>
          <a:prstGeom prst="roundRect">
            <a:avLst>
              <a:gd name="adj" fmla="val 8888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262626"/>
                </a:solidFill>
                <a:latin typeface="Calibri"/>
                <a:ea typeface="微软雅黑"/>
              </a:rPr>
              <a:t>看商品和订单落在哪一块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34000"/>
            <a:ext cx="8046720" cy="406400"/>
          </a:xfrm>
          <a:prstGeom prst="roundRect">
            <a:avLst>
              <a:gd name="adj" fmla="val 16000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9A4A06"/>
                </a:solidFill>
                <a:latin typeface="Calibri"/>
                <a:ea typeface="微软雅黑"/>
              </a:rPr>
              <a:t>系统图看连接，业务图看分工。部署还需运行证据。</a:t>
            </a:r>
          </a:p>
        </p:txBody>
      </p:sp>
      <p:sp>
        <p:nvSpPr>
          <p:cNvPr id="11" name="fn"/>
          <p:cNvSpPr txBox="1"/>
          <p:nvPr/>
        </p:nvSpPr>
        <p:spPr>
          <a:xfrm>
            <a:off x="548640" y="574040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0">
                <a:solidFill>
                  <a:srgbClr val="595959"/>
                </a:solidFill>
                <a:latin typeface="Calibri"/>
                <a:ea typeface="微软雅黑"/>
              </a:rPr>
              <a:t>图片来源：macrozheng/mall，Apache-2.0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731520"/>
          </a:xfrm>
        </p:spPr>
        <p:txBody>
          <a:bodyPr wrap="square" lIns="0" tIns="18288" rIns="0" bIns="18288" anchor="ctr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lang="zh-CN" sz="3000" b="1">
                <a:solidFill>
                  <a:srgbClr val="A33B38"/>
                </a:solidFill>
                <a:latin typeface="Calibri"/>
                <a:ea typeface="微软雅黑"/>
              </a:rPr>
              <a:t>系统局部定位应用、消息与存储</a:t>
            </a:r>
          </a:p>
        </p:txBody>
      </p:sp>
      <p:sp>
        <p:nvSpPr>
          <p:cNvPr id="3" name="fn-kicker"/>
          <p:cNvSpPr txBox="1"/>
          <p:nvPr/>
        </p:nvSpPr>
        <p:spPr>
          <a:xfrm>
            <a:off x="548640" y="219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>
                <a:solidFill>
                  <a:srgbClr val="A33B38"/>
                </a:solidFill>
                <a:latin typeface="Calibri"/>
                <a:ea typeface="微软雅黑"/>
              </a:rPr>
              <a:t>教师演示</a:t>
            </a:r>
          </a:p>
        </p:txBody>
      </p:sp>
      <p:pic>
        <p:nvPicPr>
          <p:cNvPr id="4" name="pic#mall#crop#dcaa93b3150352e5044708d7211b5bed0af4509f#document/resource/re_mall_system_arch.jpg#system-cor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8863"/>
            <a:ext cx="4206240" cy="2817312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card"/>
          <p:cNvSpPr/>
          <p:nvPr/>
        </p:nvSpPr>
        <p:spPr>
          <a:xfrm>
            <a:off x="5029200" y="137160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212080" y="150876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A33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Calibri"/>
                <a:ea typeface="微软雅黑"/>
              </a:rPr>
              <a:t>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879600"/>
            <a:ext cx="329184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mall-admin · mall-portal</a:t>
            </a:r>
          </a:p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mall-search</a:t>
            </a:r>
          </a:p>
        </p:txBody>
      </p:sp>
      <p:sp>
        <p:nvSpPr>
          <p:cNvPr id="8" name="card"/>
          <p:cNvSpPr/>
          <p:nvPr/>
        </p:nvSpPr>
        <p:spPr>
          <a:xfrm>
            <a:off x="5029200" y="24688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12080" y="260604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7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Calibri"/>
                <a:ea typeface="微软雅黑"/>
              </a:rPr>
              <a:t>消息队列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944368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RabbitMQ</a:t>
            </a:r>
          </a:p>
        </p:txBody>
      </p:sp>
      <p:sp>
        <p:nvSpPr>
          <p:cNvPr id="11" name="card"/>
          <p:cNvSpPr/>
          <p:nvPr/>
        </p:nvSpPr>
        <p:spPr>
          <a:xfrm>
            <a:off x="5029200" y="356616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12080" y="370332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176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54864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FFFFFF"/>
                </a:solidFill>
                <a:latin typeface="Calibri"/>
                <a:ea typeface="微软雅黑"/>
              </a:rPr>
              <a:t>数据库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041648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节点是摘录后重排的，连线关系要回到上一页的整图看。</a:t>
            </a:r>
          </a:p>
        </p:txBody>
      </p:sp>
      <p:sp>
        <p:nvSpPr>
          <p:cNvPr id="15" name="fn"/>
          <p:cNvSpPr txBox="1"/>
          <p:nvPr/>
        </p:nvSpPr>
        <p:spPr>
          <a:xfrm>
            <a:off x="548640" y="574040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0">
                <a:solidFill>
                  <a:srgbClr val="595959"/>
                </a:solidFill>
                <a:latin typeface="Calibri"/>
                <a:ea typeface="微软雅黑"/>
              </a:rPr>
              <a:t>节点摘录（已重排）。图片来源：macrozheng/mall，Apache-2.0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731520"/>
          </a:xfrm>
        </p:spPr>
        <p:txBody>
          <a:bodyPr wrap="square" lIns="0" tIns="18288" rIns="0" bIns="18288" anchor="ctr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lang="zh-CN" sz="3000" b="1">
                <a:solidFill>
                  <a:srgbClr val="A33B38"/>
                </a:solidFill>
                <a:latin typeface="Calibri"/>
                <a:ea typeface="微软雅黑"/>
              </a:rPr>
              <a:t>前台业务块包含商品与订单流程</a:t>
            </a:r>
          </a:p>
        </p:txBody>
      </p:sp>
      <p:sp>
        <p:nvSpPr>
          <p:cNvPr id="3" name="fn-kicker"/>
          <p:cNvSpPr txBox="1"/>
          <p:nvPr/>
        </p:nvSpPr>
        <p:spPr>
          <a:xfrm>
            <a:off x="548640" y="219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>
                <a:solidFill>
                  <a:srgbClr val="A33B38"/>
                </a:solidFill>
                <a:latin typeface="Calibri"/>
                <a:ea typeface="微软雅黑"/>
              </a:rPr>
              <a:t>教师演示</a:t>
            </a:r>
          </a:p>
        </p:txBody>
      </p:sp>
      <p:pic>
        <p:nvPicPr>
          <p:cNvPr id="4" name="pic#mall#crop#dcaa93b3150352e5044708d7211b5bed0af4509f#document/resource/re_mall_business_arch.jpg#business-front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8052"/>
            <a:ext cx="8046720" cy="346753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548640" y="5029200"/>
            <a:ext cx="8046720" cy="685800"/>
          </a:xfrm>
          <a:prstGeom prst="roundRect">
            <a:avLst>
              <a:gd name="adj" fmla="val 10666"/>
            </a:avLst>
          </a:prstGeom>
          <a:solidFill>
            <a:srgbClr val="F8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A33B38"/>
                </a:solidFill>
                <a:latin typeface="Calibri"/>
                <a:ea typeface="微软雅黑"/>
              </a:rPr>
              <a:t>商品、购物车和下单都在前台业务块里</a:t>
            </a:r>
          </a:p>
        </p:txBody>
      </p:sp>
      <p:sp>
        <p:nvSpPr>
          <p:cNvPr id="6" name="fn"/>
          <p:cNvSpPr txBox="1"/>
          <p:nvPr/>
        </p:nvSpPr>
        <p:spPr>
          <a:xfrm>
            <a:off x="548640" y="574040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100" b="0">
                <a:solidFill>
                  <a:srgbClr val="595959"/>
                </a:solidFill>
                <a:latin typeface="Calibri"/>
                <a:ea typeface="微软雅黑"/>
              </a:rPr>
              <a:t>局部摘录。图片来源：macrozheng/mall，Apache-2.0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731520"/>
          </a:xfrm>
        </p:spPr>
        <p:txBody>
          <a:bodyPr wrap="square" lIns="0" tIns="18288" rIns="0" bIns="18288" anchor="ctr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lang="zh-CN" sz="3000" b="1">
                <a:solidFill>
                  <a:srgbClr val="A33B38"/>
                </a:solidFill>
                <a:latin typeface="Calibri"/>
                <a:ea typeface="微软雅黑"/>
              </a:rPr>
              <a:t>模块依赖有方向，调用层次有局限</a:t>
            </a:r>
          </a:p>
        </p:txBody>
      </p:sp>
      <p:sp>
        <p:nvSpPr>
          <p:cNvPr id="3" name="fn-kicker"/>
          <p:cNvSpPr txBox="1"/>
          <p:nvPr/>
        </p:nvSpPr>
        <p:spPr>
          <a:xfrm>
            <a:off x="548640" y="219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>
                <a:solidFill>
                  <a:srgbClr val="A33B38"/>
                </a:solidFill>
                <a:latin typeface="Calibri"/>
                <a:ea typeface="微软雅黑"/>
              </a:rPr>
              <a:t>教师演示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828800" cy="685800"/>
          </a:xfrm>
          <a:prstGeom prst="roundRect">
            <a:avLst>
              <a:gd name="adj" fmla="val 10666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mall-admin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463040"/>
            <a:ext cx="1828800" cy="685800"/>
          </a:xfrm>
          <a:prstGeom prst="roundRect">
            <a:avLst>
              <a:gd name="adj" fmla="val 10666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mall-portal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463040"/>
            <a:ext cx="1828800" cy="685800"/>
          </a:xfrm>
          <a:prstGeom prst="roundRect">
            <a:avLst>
              <a:gd name="adj" fmla="val 10666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mall-search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63040"/>
            <a:ext cx="1828800" cy="685800"/>
          </a:xfrm>
          <a:prstGeom prst="roundRect">
            <a:avLst>
              <a:gd name="adj" fmla="val 10666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mall-demo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2834640"/>
            <a:ext cx="1828800" cy="685800"/>
          </a:xfrm>
          <a:prstGeom prst="roundRect">
            <a:avLst>
              <a:gd name="adj" fmla="val 10666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mall-security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834640"/>
            <a:ext cx="2377440" cy="685800"/>
          </a:xfrm>
          <a:prstGeom prst="roundRect">
            <a:avLst>
              <a:gd name="adj" fmla="val 10666"/>
            </a:avLst>
          </a:prstGeom>
          <a:solidFill>
            <a:srgbClr val="F8EBEA"/>
          </a:solidFill>
          <a:ln w="12700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A33B38"/>
                </a:solidFill>
                <a:latin typeface="Calibri"/>
                <a:ea typeface="微软雅黑"/>
              </a:rPr>
              <a:t>mall-mbg</a:t>
            </a:r>
          </a:p>
          <a:p>
            <a:pPr algn="ctr">
              <a:spcAft>
                <a:spcPts val="0"/>
              </a:spcAft>
            </a:pPr>
            <a:r>
              <a:rPr lang="zh-CN" sz="2000" b="0">
                <a:solidFill>
                  <a:srgbClr val="A33B38"/>
                </a:solidFill>
                <a:latin typeface="Calibri"/>
                <a:ea typeface="微软雅黑"/>
              </a:rPr>
              <a:t>生成代码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160520"/>
            <a:ext cx="1828800" cy="685800"/>
          </a:xfrm>
          <a:prstGeom prst="roundRect">
            <a:avLst>
              <a:gd name="adj" fmla="val 10666"/>
            </a:avLst>
          </a:prstGeom>
          <a:solidFill>
            <a:srgbClr val="F6E8E6"/>
          </a:solidFill>
          <a:ln w="9525">
            <a:solidFill>
              <a:srgbClr val="A33B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54864" rIns="45720" bIns="54864" rtlCol="0" anchor="ctr"/>
          <a:lstStyle/>
          <a:p>
            <a:pPr algn="ctr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mall-common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63040" y="2148840"/>
            <a:ext cx="640080" cy="685800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63040" y="2148840"/>
            <a:ext cx="3291840" cy="685800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926080" y="2148840"/>
            <a:ext cx="640080" cy="685800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66160" y="2148840"/>
            <a:ext cx="1645920" cy="685800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69280" y="2148840"/>
            <a:ext cx="182880" cy="685800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583680" y="2148840"/>
            <a:ext cx="1097280" cy="685800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14600" y="3520440"/>
            <a:ext cx="1143000" cy="640080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572000" y="3520440"/>
            <a:ext cx="1097280" cy="640080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2976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箭头 A → B：A 依赖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297680"/>
            <a:ext cx="292608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只画直接依赖，传递依赖不画成直接边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3931920" cy="777240"/>
          </a:xfrm>
          <a:prstGeom prst="roundRect">
            <a:avLst>
              <a:gd name="adj" fmla="val 9411"/>
            </a:avLst>
          </a:prstGeom>
          <a:solidFill>
            <a:srgbClr val="F8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A33B38"/>
                </a:solidFill>
                <a:latin typeface="Calibri"/>
                <a:ea typeface="微软雅黑"/>
              </a:rPr>
              <a:t>mall-mbg 标出生成边界，生成产物不直接改。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5074920"/>
            <a:ext cx="3931920" cy="777240"/>
          </a:xfrm>
          <a:prstGeom prst="roundRect">
            <a:avLst>
              <a:gd name="adj" fmla="val 9411"/>
            </a:avLst>
          </a:prstGeom>
          <a:solidFill>
            <a:srgbClr val="E3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bIns="54864" rtlCol="0" anchor="ctr"/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17606B"/>
                </a:solidFill>
                <a:latin typeface="Calibri"/>
                <a:ea typeface="微软雅黑"/>
              </a:rPr>
              <a:t>调用层次可能遗漏消息监听，须结合运行证据。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F5926-A657-7294-1E71-69203E0F8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731520"/>
          </a:xfrm>
        </p:spPr>
        <p:txBody>
          <a:bodyPr lIns="0" rIns="0" anchor="ctr"/>
          <a:lstStyle/>
          <a:p>
            <a:pPr algn="l"/>
            <a:r>
              <a:rPr lang="zh-CN" sz="3000" b="1">
                <a:solidFill>
                  <a:srgbClr val="A33B38"/>
                </a:solidFill>
                <a:latin typeface="Calibri"/>
                <a:ea typeface="微软雅黑"/>
              </a:rPr>
              <a:t>AI 的依赖解释必须核对构建配置</a:t>
            </a:r>
          </a:p>
        </p:txBody>
      </p:sp>
      <p:sp>
        <p:nvSpPr>
          <p:cNvPr id="3" name="fn-kicker"/>
          <p:cNvSpPr txBox="1"/>
          <p:nvPr/>
        </p:nvSpPr>
        <p:spPr>
          <a:xfrm>
            <a:off x="548640" y="219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>
                <a:solidFill>
                  <a:srgbClr val="A33B38"/>
                </a:solidFill>
                <a:latin typeface="Calibri"/>
                <a:ea typeface="微软雅黑"/>
              </a:rPr>
              <a:t>开发环境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8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l">
              <a:spcAft>
                <a:spcPts val="0"/>
              </a:spcAft>
            </a:pPr>
            <a:r>
              <a:rPr lang="zh-CN" sz="2000" b="0">
                <a:solidFill>
                  <a:srgbClr val="595959"/>
                </a:solidFill>
                <a:latin typeface="Calibri"/>
                <a:ea typeface="微软雅黑"/>
              </a:rPr>
              <a:t>向 Claude Code 提问（只读工具）</a:t>
            </a:r>
          </a:p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262626"/>
                </a:solidFill>
                <a:latin typeface="Calibri"/>
                <a:ea typeface="微软雅黑"/>
              </a:rPr>
              <a:t>列出模块依赖，并解释证据与不确定之处</a:t>
            </a:r>
          </a:p>
        </p:txBody>
      </p:sp>
      <p:sp>
        <p:nvSpPr>
          <p:cNvPr id="5" name="code-ai-output"/>
          <p:cNvSpPr txBox="1"/>
          <p:nvPr/>
        </p:nvSpPr>
        <p:spPr>
          <a:xfrm>
            <a:off x="1198025" y="2331720"/>
            <a:ext cx="6747948" cy="256032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137160" tIns="91440" rIns="137160" bIns="91440" anchor="t"/>
          <a:lstStyle/>
          <a:p>
            <a:pPr algn="l">
              <a:spcAft>
                <a:spcPts val="0"/>
              </a:spcAft>
            </a:pPr>
            <a:r>
              <a:rPr lang="zh-CN" sz="1600" b="0">
                <a:solidFill>
                  <a:srgbClr val="262626"/>
                </a:solidFill>
                <a:latin typeface="Consolas"/>
                <a:ea typeface="微软雅黑"/>
              </a:rPr>
              <a:t>mall-admin → mall-mbg + mall-security</a:t>
            </a:r>
          </a:p>
          <a:p>
            <a:pPr algn="l">
              <a:spcAft>
                <a:spcPts val="0"/>
              </a:spcAft>
            </a:pPr>
            <a:r>
              <a:rPr lang="zh-CN" sz="1600" b="0">
                <a:solidFill>
                  <a:srgbClr val="262626"/>
                </a:solidFill>
                <a:latin typeface="Consolas"/>
                <a:ea typeface="微软雅黑"/>
              </a:rPr>
              <a:t>mall-portal → mall-mbg + mall-security</a:t>
            </a:r>
          </a:p>
          <a:p>
            <a:pPr algn="l">
              <a:spcAft>
                <a:spcPts val="0"/>
              </a:spcAft>
            </a:pPr>
            <a:r>
              <a:rPr lang="zh-CN" sz="1600" b="0">
                <a:solidFill>
                  <a:srgbClr val="262626"/>
                </a:solidFill>
                <a:latin typeface="Consolas"/>
                <a:ea typeface="微软雅黑"/>
              </a:rPr>
              <a:t>mall-search → mall-mbg（排除 redis starter）</a:t>
            </a:r>
          </a:p>
          <a:p>
            <a:pPr algn="l">
              <a:spcAft>
                <a:spcPts val="0"/>
              </a:spcAft>
            </a:pPr>
            <a:r>
              <a:rPr lang="zh-CN" sz="1600" b="0">
                <a:solidFill>
                  <a:srgbClr val="262626"/>
                </a:solidFill>
                <a:latin typeface="Consolas"/>
                <a:ea typeface="微软雅黑"/>
              </a:rPr>
              <a:t>mall-demo → mall-mbg</a:t>
            </a:r>
          </a:p>
          <a:p>
            <a:pPr algn="l">
              <a:spcAft>
                <a:spcPts val="0"/>
              </a:spcAft>
            </a:pPr>
            <a:r>
              <a:rPr lang="zh-CN" sz="1600" b="0">
                <a:solidFill>
                  <a:srgbClr val="262626"/>
                </a:solidFill>
                <a:latin typeface="Consolas"/>
                <a:ea typeface="微软雅黑"/>
              </a:rPr>
              <a:t>mall-mbg → mall-common</a:t>
            </a:r>
          </a:p>
          <a:p>
            <a:pPr algn="l">
              <a:spcAft>
                <a:spcPts val="0"/>
              </a:spcAft>
            </a:pPr>
            <a:r>
              <a:rPr lang="zh-CN" sz="1600" b="0">
                <a:solidFill>
                  <a:srgbClr val="262626"/>
                </a:solidFill>
                <a:latin typeface="Consolas"/>
                <a:ea typeface="微软雅黑"/>
              </a:rPr>
              <a:t>mall-security → mall-common</a:t>
            </a:r>
          </a:p>
          <a:p>
            <a:pPr algn="l">
              <a:spcAft>
                <a:spcPts val="0"/>
              </a:spcAft>
            </a:pPr>
            <a:r>
              <a:rPr lang="zh-CN" sz="1600" b="0">
                <a:solidFill>
                  <a:srgbClr val="262626"/>
                </a:solidFill>
                <a:latin typeface="Consolas"/>
                <a:ea typeface="微软雅黑"/>
              </a:rPr>
              <a:t>不确定之处：</a:t>
            </a:r>
          </a:p>
          <a:p>
            <a:pPr algn="l">
              <a:spcAft>
                <a:spcPts val="0"/>
              </a:spcAft>
            </a:pPr>
            <a:r>
              <a:rPr lang="zh-CN" sz="1600" b="0">
                <a:solidFill>
                  <a:srgbClr val="262626"/>
                </a:solidFill>
                <a:latin typeface="Consolas"/>
                <a:ea typeface="微软雅黑"/>
              </a:rPr>
              <a:t>1. 未运行 mvn dependency:tree：以上传递闭包、版本仲裁、exclusion 的实际效果是按 Maven/POM 语义推断，</a:t>
            </a:r>
            <a:br>
              <a:rPr lang="zh-CN" sz="1600" b="0">
                <a:latin typeface="Consolas"/>
                <a:ea typeface="微软雅黑"/>
              </a:rPr>
            </a:br>
            <a:r>
              <a:rPr lang="zh-CN" sz="1600" b="0">
                <a:solidFill>
                  <a:srgbClr val="262626"/>
                </a:solidFill>
                <a:latin typeface="Consolas"/>
                <a:ea typeface="微软雅黑"/>
              </a:rPr>
              <a:t>不是解析器观测结果。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0352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>
              <a:spcAft>
                <a:spcPts val="0"/>
              </a:spcAft>
            </a:pPr>
            <a:r>
              <a:rPr lang="zh-CN" sz="2000" b="1">
                <a:solidFill>
                  <a:srgbClr val="9A4A06"/>
                </a:solidFill>
                <a:latin typeface="Calibri"/>
                <a:ea typeface="微软雅黑"/>
              </a:rPr>
              <a:t>待核实：逐条对照各模块 pom.xml，不确定之处靠构建核实。</a:t>
            </a:r>
          </a:p>
        </p:txBody>
      </p:sp>
      <p:sp>
        <p:nvSpPr>
          <p:cNvPr id="90" name="fn"/>
          <p:cNvSpPr txBox="1"/>
          <p:nvPr/>
        </p:nvSpPr>
        <p:spPr>
          <a:xfrm>
            <a:off x="1197864" y="4937760"/>
            <a:ext cx="6748272" cy="2926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</a:rPr>
              <a:t>AI 回答节选（原文，去掉 Markdown 标记）：deepseek-flash，经 Claude Code 只读工具，采集时间 2026.10.18 19:37；全文存档：工具/polish/AI回答采集/answer-E1-20261018-1939.md</a:t>
            </a:r>
          </a:p>
        </p:txBody>
      </p:sp>
    </p:spTree>
    <p:extLst>
      <p:ext uri="{BB962C8B-B14F-4D97-AF65-F5344CB8AC3E}">
        <p14:creationId xmlns:p14="http://schemas.microsoft.com/office/powerpoint/2010/main" val="1089085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演示调用层次</a:t>
            </a:r>
            <a:endParaRPr lang="zh-CN" sz="1200" dirty="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依赖、进程与数据归属需要实际判断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在 </a:t>
            </a:r>
            <a:r>
              <a:rPr lang="en-US" altLang="zh-CN" sz="3000" b="1" dirty="0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IDEA </a:t>
            </a:r>
            <a:r>
              <a:rPr lang="zh-CN" altLang="en-US" sz="3000" b="1" dirty="0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中沿调用层次核对源码</a:t>
            </a:r>
            <a:endParaRPr lang="zh-CN" sz="3000" dirty="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664208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005840" y="1554480"/>
            <a:ext cx="772668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在 IDEA 中将光标置于待核对的方法名。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532888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005840" y="2423160"/>
            <a:ext cx="772668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选择 Navigate → Call Hierarchy，打开调用层次。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401568"/>
            <a:ext cx="457200" cy="45720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005840" y="3291840"/>
            <a:ext cx="7726680" cy="67665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切换调用者与被调用者视图，逐项跳转到源码。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4343400"/>
            <a:ext cx="8321040" cy="731520"/>
          </a:xfrm>
          <a:prstGeom prst="rect">
            <a:avLst/>
          </a:prstGeom>
          <a:solidFill>
            <a:srgbClr val="FFFFFF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接口实现和消息监听须另查源码，并用运行证据补充。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216595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任务与步骤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任务步骤形成可核对的导读证据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每步任务都留下可核对的证据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658368" y="1691640"/>
            <a:ext cx="54864" cy="374904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548640" y="1783080"/>
            <a:ext cx="274320" cy="27432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1005840" y="1508760"/>
            <a:ext cx="7726680" cy="86868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109728" rIns="109728" tIns="54864" bIns="5486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⓪ 本人完成构建与课程环境中的一次只读查询。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548640" y="2834640"/>
            <a:ext cx="274320" cy="27432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1005840" y="2560320"/>
            <a:ext cx="772668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09728" rIns="109728" tIns="54864" bIns="5486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① 绘制依赖图和生成边界。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就直接或传递依赖、进程与库、数据归属任选两项判断。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-d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1005840" y="3611880"/>
            <a:ext cx="7726680" cy="86868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109728" rIns="109728" tIns="54864" bIns="5486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② 写出调用链的调用与数据流，附 文件:行号。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-d"/>
          <p:cNvSpPr/>
          <p:nvPr/>
        </p:nvSpPr>
        <p:spPr>
          <a:xfrm>
            <a:off x="548640" y="4937760"/>
            <a:ext cx="274320" cy="27432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9" name="fig"/>
          <p:cNvSpPr/>
          <p:nvPr/>
        </p:nvSpPr>
        <p:spPr>
          <a:xfrm>
            <a:off x="1005840" y="4663440"/>
            <a:ext cx="7726680" cy="868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09728" rIns="109728" tIns="54864" bIns="54864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③ 核实一项推断。④ 区分设计疑点与理解不足。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⑤ 记录环境问题与解决办法。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动手前的准备（只读检出基线，不开分支）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回到 mall 时先核实再填写疑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实验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4" name="body"/>
          <p:cNvSpPr txBox="1"/>
          <p:nvPr/>
        </p:nvSpPr>
        <p:spPr>
          <a:xfrm>
            <a:off x="723900" y="1460500"/>
            <a:ext cx="7708900" cy="5400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在 mall 目录执行（安装步骤见《E1-课前自学》）：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5" name="code-cmd"/>
          <p:cNvSpPr txBox="1"/>
          <p:nvPr/>
        </p:nvSpPr>
        <p:spPr>
          <a:xfrm>
            <a:off x="723900" y="2070000"/>
            <a:ext cx="7708900" cy="108000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700" b="0">
                <a:solidFill>
                  <a:srgbClr val="262626"/>
                </a:solidFill>
                <a:latin typeface="Consolas"/>
                <a:ea typeface="微软雅黑"/>
                <a:cs typeface="Consolas"/>
              </a:rPr>
              <a:t>git switch --detach baseline-dcaa93b3</a:t>
            </a:r>
            <a:endParaRPr lang="zh-CN" sz="1700">
              <a:latin typeface="Consolas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1700" b="0">
                <a:solidFill>
                  <a:srgbClr val="262626"/>
                </a:solidFill>
                <a:latin typeface="Consolas"/>
                <a:ea typeface="微软雅黑"/>
                <a:cs typeface="Consolas"/>
              </a:rPr>
              <a:t>mvn -B -DskipTests -Ddocker.skip=true -pl mall-portal -am package</a:t>
            </a:r>
            <a:endParaRPr lang="zh-CN" sz="1700">
              <a:latin typeface="Consolas"/>
              <a:ea typeface="微软雅黑"/>
            </a:endParaRPr>
          </a:p>
        </p:txBody>
      </p:sp>
      <p:sp>
        <p:nvSpPr>
          <p:cNvPr id="7" name="body"/>
          <p:cNvSpPr txBox="1"/>
          <p:nvPr/>
        </p:nvSpPr>
        <p:spPr>
          <a:xfrm>
            <a:off x="723900" y="3830000"/>
            <a:ext cx="7708900" cy="5400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完成一次只读查询（命令见任务⓪，预期业务 code=200）。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8" name="body"/>
          <p:cNvSpPr txBox="1"/>
          <p:nvPr/>
        </p:nvSpPr>
        <p:spPr>
          <a:xfrm>
            <a:off x="723900" y="4440000"/>
            <a:ext cx="7708900" cy="7874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达标：构建出现 BUILD SUCCESS，并完成一次只读查询；</a:t>
            </a:r>
            <a:br>
              <a:rPr lang="zh-CN" sz="2000" b="0">
                <a:latin typeface="微软雅黑"/>
                <a:ea typeface="微软雅黑"/>
              </a:rPr>
            </a:b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E1 不运行 compare.sh（手册第 127 行）。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9" name="fn-source"/>
          <p:cNvSpPr txBox="1"/>
          <p:nvPr/>
        </p:nvSpPr>
        <p:spPr>
          <a:xfrm>
            <a:off x="546100" y="5480000"/>
            <a:ext cx="81026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来源：学生操作手册.md 第 22、23、127 行（@0a5eae2a）；教案 E1 评分“验证过”</a:t>
            </a:r>
            <a:endParaRPr lang="zh-CN" sz="1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任务⓪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构建和只读查询各自提供不同证据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构建和只读查询，证据各不相同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6" name="code-cmd"/>
          <p:cNvSpPr txBox="1"/>
          <p:nvPr/>
        </p:nvSpPr>
        <p:spPr>
          <a:xfrm>
            <a:off x="722376" y="3493008"/>
            <a:ext cx="7708392" cy="1051560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800" b="0">
                <a:solidFill>
                  <a:srgbClr val="262626"/>
                </a:solidFill>
                <a:latin typeface="Consolas"/>
                <a:ea typeface="微软雅黑"/>
                <a:cs typeface="Consolas"/>
              </a:rPr>
              <a:t>curl --noproxy '*' </a:t>
            </a:r>
            <a:br/>
            <a:r>
              <a:rPr lang="zh-CN" sz="1800" b="0">
                <a:solidFill>
                  <a:srgbClr val="262626"/>
                </a:solidFill>
                <a:latin typeface="Consolas"/>
                <a:ea typeface="微软雅黑"/>
                <a:cs typeface="Consolas"/>
              </a:rPr>
              <a:t>'http://127.0.0.1:18085/product/search</a:t>
            </a:r>
            <a:br/>
            <a:r>
              <a:rPr lang="zh-CN" sz="1800" b="0">
                <a:solidFill>
                  <a:srgbClr val="262626"/>
                </a:solidFill>
                <a:latin typeface="Consolas"/>
                <a:ea typeface="微软雅黑"/>
                <a:cs typeface="Consolas"/>
              </a:rPr>
              <a:t>?keyword=HUAWEI%20P20&amp;pageNum=1&amp;pageSize=5'</a:t>
            </a:r>
          </a:p>
        </p:txBody>
      </p:sp>
      <p:sp>
        <p:nvSpPr>
          <p:cNvPr id="101" name="fig-d"/>
          <p:cNvSpPr/>
          <p:nvPr/>
        </p:nvSpPr>
        <p:spPr>
          <a:xfrm>
            <a:off x="411480" y="1481328"/>
            <a:ext cx="1188720" cy="84124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构建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481328"/>
            <a:ext cx="7040880" cy="84124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构建：使用上游 mall-portal 模块完成 package。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命令见环境检查页，记录本人执行的完整输出。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441448"/>
            <a:ext cx="1188720" cy="84124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查询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2441448"/>
            <a:ext cx="7040880" cy="84124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只读查询：在教师准备好的课程机器上执行商品搜索。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4709160"/>
            <a:ext cx="8321040" cy="868680"/>
          </a:xfrm>
          <a:prstGeom prst="rect">
            <a:avLst/>
          </a:prstGeom>
          <a:solidFill>
            <a:srgbClr val="FFFFFF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预期：业务 code=200，记录实际商品列表。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连接失败先记录环境问题，修复后补做。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任务①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依赖、进程与数据归属需要实际判断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 dirty="0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依赖、进程与数据归属要自己判断</a:t>
            </a:r>
            <a:endParaRPr lang="zh-CN" sz="3000" dirty="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481328"/>
            <a:ext cx="1005840" cy="95097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依赖图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508760" y="1481328"/>
            <a:ext cx="7223760" cy="950976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依赖图包含 mall-admin、mall-portal、mall-search、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mall-demo、mall-security、mall-mbg、mall-common。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560320"/>
            <a:ext cx="1005840" cy="95097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边界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508760" y="2560320"/>
            <a:ext cx="7223760" cy="950976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生成代码边界：在图上标出 mall-mbg。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639312"/>
            <a:ext cx="1005840" cy="95097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依赖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508760" y="3639312"/>
            <a:ext cx="7223760" cy="950976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依赖判断：admin、portal 通过 mbg/security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传递依赖 common，不画成直接边。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718304"/>
            <a:ext cx="1005840" cy="95097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进程与库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508760" y="4718304"/>
            <a:ext cx="7223760" cy="950976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进程与库：mbg 是库。数据归属：生成 Mapper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在 mbg，PortalOrderDao 及手写语句在 portal。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200" b="1" dirty="0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任务② 选候选调用链</a:t>
            </a:r>
            <a:endParaRPr lang="zh-CN" sz="1200" dirty="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依赖、进程与数据归属需要实际判断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候选调用链按入口与核实条件选择</a:t>
            </a:r>
            <a:endParaRPr lang="zh-CN" sz="3000" dirty="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7" name="Text 进程与库：mbg 是库。数据归属"/>
          <p:cNvSpPr txBox="1"/>
          <p:nvPr/>
        </p:nvSpPr>
        <p:spPr>
          <a:xfrm>
            <a:off x="723900" y="4699000"/>
            <a:ext cx="7708900" cy="990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所选链须附基线文件与行号，核实一项具体推断；</a:t>
            </a:r>
            <a:br>
              <a:rPr lang="en-US" alt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</a:br>
            <a:r>
              <a:rPr lang="zh-CN" altLang="en-US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未涉及消息时如实注明。</a:t>
            </a:r>
            <a:endParaRPr lang="zh-CN" sz="2000" dirty="0">
              <a:latin typeface="微软雅黑"/>
              <a:ea typeface="微软雅黑"/>
            </a:endParaRPr>
          </a:p>
        </p:txBody>
      </p:sp>
      <p:graphicFrame>
        <p:nvGraphicFramePr>
          <p:cNvPr id="20" name="候选调用链表"/>
          <p:cNvGraphicFramePr/>
          <p:nvPr/>
        </p:nvGraphicFramePr>
        <p:xfrm>
          <a:off x="723900" y="1460500"/>
          <a:ext cx="7708900" cy="2940000"/>
        </p:xfrm>
        <a:graphic>
          <a:graphicData uri="http://schemas.openxmlformats.org/drawingml/2006/table">
            <a:tbl>
              <a:tblPr firstRow="1"/>
              <a:tblGrid>
                <a:gridCol w="914400"/>
                <a:gridCol w="2011680"/>
                <a:gridCol w="4782820"/>
              </a:tblGrid>
              <a:tr h="42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调用链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目标服务类（除注明外在 mall-portal）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E1-01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会员领取优惠券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UmsMemberCouponServiceImpl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E1-02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会员收货地址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UmsMemberReceiveAddressServiceImpl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E1-03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商品收藏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MemberCollectionServiceImpl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E1-04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浏览记录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MemberReadHistoryServiceImpl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E1-05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品牌改名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PmsBrandServiceImpl（mall-admin）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E1-06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首页内容聚合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HomeServiceImpl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079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任务②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调用链要从入口追到存储与消息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调用链从入口追到存储和消息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"/>
          <p:cNvSpPr/>
          <p:nvPr/>
        </p:nvSpPr>
        <p:spPr>
          <a:xfrm>
            <a:off x="411480" y="1463040"/>
            <a:ext cx="8321040" cy="84124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入口：OmsPortalOrderController 下单、支付与取消。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572000" y="2313432"/>
            <a:ext cx="9144" cy="201168"/>
          </a:xfrm>
          <a:custGeom>
            <a:avLst/>
            <a:gdLst/>
            <a:ahLst/>
            <a:cxnLst/>
            <a:rect l="0" t="0" r="r" b="b"/>
            <a:pathLst>
              <a:path w="9144" h="201168" fill="none">
                <a:moveTo>
                  <a:pt x="0" y="0"/>
                </a:moveTo>
                <a:lnTo>
                  <a:pt x="0" y="201168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2523744"/>
            <a:ext cx="8321040" cy="84124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服务：OmsPortalOrderServiceImpl 调用生成 Mapper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和 PortalOrderDao，写订单与更新库存。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572000" y="3374136"/>
            <a:ext cx="9144" cy="201168"/>
          </a:xfrm>
          <a:custGeom>
            <a:avLst/>
            <a:gdLst/>
            <a:ahLst/>
            <a:cxnLst/>
            <a:rect l="0" t="0" r="r" b="b"/>
            <a:pathLst>
              <a:path w="9144" h="201168" fill="none">
                <a:moveTo>
                  <a:pt x="0" y="0"/>
                </a:moveTo>
                <a:lnTo>
                  <a:pt x="0" y="201168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3584448"/>
            <a:ext cx="8321040" cy="84124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消息：投递延迟消息，过期后路由到取消队列。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CancelOrderReceiver 再调用服务处理订单。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709160"/>
            <a:ext cx="83210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基线 /order/cancelOrder 投递延迟消息。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消息监听器按订单状态决定是否关闭。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教师示例的 ① 业务需求与约束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小结用类的职责与调用者检查理解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下单锁库存、支付扣库存、超时自动取消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8" name="fn-source"/>
          <p:cNvSpPr txBox="1"/>
          <p:nvPr/>
        </p:nvSpPr>
        <p:spPr>
          <a:xfrm>
            <a:off x="546100" y="5480000"/>
            <a:ext cx="8102600" cy="4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来源：基线 dcaa93b3150352e5044708d7211b5bed0af4509f；路径前缀 mall-portal/src/main/java/com/macro/mall/portal/</a:t>
            </a:r>
            <a:endParaRPr lang="zh-CN" sz="1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OmsPortalOrderController.java:41-45、49-53、93-97；service/impl/OmsPortalOrderServiceImpl.java:165、253-265、313-324；资料/brownfield-project-screen.md:89</a:t>
            </a:r>
            <a:endParaRPr lang="zh-CN" sz="1000"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463040"/>
            <a:ext cx="1005840" cy="93268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下单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508760" y="1463040"/>
            <a:ext cx="7223760" cy="93268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下单：入口调用 generateOrder，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并锁定库存（lockStock）。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468880"/>
            <a:ext cx="1005840" cy="93268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支付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508760" y="2468880"/>
            <a:ext cx="7223760" cy="93268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支付成功：paySuccess 把订单状态置为 1，并扣减真实库存。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474720"/>
            <a:ext cx="1005840" cy="93268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超时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508760" y="3474720"/>
            <a:ext cx="7223760" cy="93268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超时未付：延迟消息到期后调用 cancelOrder，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释放库存锁、券状态改回 0、返还使用积分。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480560"/>
            <a:ext cx="1005840" cy="93268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不得修改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508760" y="4480560"/>
            <a:ext cx="7223760" cy="932688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不得修改：mall-mbg 生成模型；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admin 与 portal 共用表结构；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实体带 Schema 注解直接当 API。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教师示例讲下单—支付—超时取消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类图示例表达职责与依赖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 dirty="0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类图看职责与依赖</a:t>
            </a:r>
            <a:endParaRPr lang="zh-CN" sz="3000" dirty="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4" name="fig-node"/>
          <p:cNvSpPr txBox="1"/>
          <p:nvPr/>
        </p:nvSpPr>
        <p:spPr>
          <a:xfrm>
            <a:off x="571500" y="1447800"/>
            <a:ext cx="3556000" cy="736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en-US" altLang="zh-CN" sz="2000" b="0" dirty="0" err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OmsPortalOrderController</a:t>
            </a:r>
            <a:endParaRPr lang="zh-CN" sz="2000" dirty="0">
              <a:latin typeface="微软雅黑"/>
              <a:ea typeface="微软雅黑"/>
            </a:endParaRPr>
          </a:p>
        </p:txBody>
      </p:sp>
      <p:sp>
        <p:nvSpPr>
          <p:cNvPr id="5" name="fig-node"/>
          <p:cNvSpPr txBox="1"/>
          <p:nvPr/>
        </p:nvSpPr>
        <p:spPr>
          <a:xfrm>
            <a:off x="4445000" y="1447800"/>
            <a:ext cx="4102100" cy="736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OmsPortalOrderService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（接口）</a:t>
            </a:r>
            <a:endParaRPr lang="zh-CN" sz="2000">
              <a:latin typeface="微软雅黑"/>
              <a:ea typeface="微软雅黑"/>
            </a:endParaRPr>
          </a:p>
        </p:txBody>
      </p:sp>
      <p:cxnSp>
        <p:nvCxnSpPr>
          <p:cNvPr id="6" name="Connection"/>
          <p:cNvCxnSpPr/>
          <p:nvPr/>
        </p:nvCxnSpPr>
        <p:spPr>
          <a:xfrm>
            <a:off x="3746500" y="1790700"/>
            <a:ext cx="698500" cy="0"/>
          </a:xfrm>
          <a:prstGeom prst="line">
            <a:avLst/>
          </a:prstGeom>
          <a:ln w="19050">
            <a:solidFill>
              <a:srgbClr val="595959"/>
            </a:solidFill>
            <a:tailEnd type="arrow"/>
          </a:ln>
        </p:spPr>
      </p:cxnSp>
      <p:sp>
        <p:nvSpPr>
          <p:cNvPr id="7" name="fig-node"/>
          <p:cNvSpPr txBox="1"/>
          <p:nvPr/>
        </p:nvSpPr>
        <p:spPr>
          <a:xfrm>
            <a:off x="4445000" y="2705100"/>
            <a:ext cx="4102100" cy="11430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OmsPortalOrderServiceImpl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generateOrder / paySuccess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cancelOrder</a:t>
            </a:r>
            <a:endParaRPr lang="zh-CN" sz="2000">
              <a:latin typeface="微软雅黑"/>
              <a:ea typeface="微软雅黑"/>
            </a:endParaRPr>
          </a:p>
        </p:txBody>
      </p:sp>
      <p:cxnSp>
        <p:nvCxnSpPr>
          <p:cNvPr id="8" name="Connection"/>
          <p:cNvCxnSpPr/>
          <p:nvPr/>
        </p:nvCxnSpPr>
        <p:spPr>
          <a:xfrm flipV="1">
            <a:off x="6477000" y="2184400"/>
            <a:ext cx="0" cy="520700"/>
          </a:xfrm>
          <a:prstGeom prst="line">
            <a:avLst/>
          </a:prstGeom>
          <a:ln w="19050">
            <a:solidFill>
              <a:srgbClr val="595959"/>
            </a:solidFill>
            <a:prstDash val="dash"/>
            <a:tailEnd type="none"/>
          </a:ln>
        </p:spPr>
      </p:cxnSp>
      <p:sp>
        <p:nvSpPr>
          <p:cNvPr id="9" name="fig-node"/>
          <p:cNvSpPr txBox="1"/>
          <p:nvPr/>
        </p:nvSpPr>
        <p:spPr>
          <a:xfrm>
            <a:off x="571500" y="2730500"/>
            <a:ext cx="3556000" cy="7620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CancelOrderReceiver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handle(orderId)</a:t>
            </a:r>
            <a:endParaRPr lang="zh-CN" sz="2000">
              <a:latin typeface="微软雅黑"/>
              <a:ea typeface="微软雅黑"/>
            </a:endParaRPr>
          </a:p>
        </p:txBody>
      </p:sp>
      <p:cxnSp>
        <p:nvCxnSpPr>
          <p:cNvPr id="10" name="Connection"/>
          <p:cNvCxnSpPr/>
          <p:nvPr/>
        </p:nvCxnSpPr>
        <p:spPr>
          <a:xfrm flipV="1">
            <a:off x="4127500" y="2184400"/>
            <a:ext cx="317500" cy="546100"/>
          </a:xfrm>
          <a:prstGeom prst="line">
            <a:avLst/>
          </a:prstGeom>
          <a:ln w="19050">
            <a:solidFill>
              <a:srgbClr val="595959"/>
            </a:solidFill>
            <a:tailEnd type="arrow"/>
          </a:ln>
        </p:spPr>
      </p:cxnSp>
      <p:sp>
        <p:nvSpPr>
          <p:cNvPr id="11" name="fig-node"/>
          <p:cNvSpPr txBox="1"/>
          <p:nvPr/>
        </p:nvSpPr>
        <p:spPr>
          <a:xfrm>
            <a:off x="571500" y="4546600"/>
            <a:ext cx="3365500" cy="7493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OmsOrderMapper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生成代码，mall-mbg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" name="fig-node"/>
          <p:cNvSpPr txBox="1"/>
          <p:nvPr/>
        </p:nvSpPr>
        <p:spPr>
          <a:xfrm>
            <a:off x="4762500" y="4546600"/>
            <a:ext cx="3784600" cy="7493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PortalOrderDao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手写数据访问</a:t>
            </a:r>
            <a:endParaRPr lang="zh-CN" sz="2000">
              <a:latin typeface="微软雅黑"/>
              <a:ea typeface="微软雅黑"/>
            </a:endParaRPr>
          </a:p>
        </p:txBody>
      </p:sp>
      <p:cxnSp>
        <p:nvCxnSpPr>
          <p:cNvPr id="13" name="Connection"/>
          <p:cNvCxnSpPr/>
          <p:nvPr/>
        </p:nvCxnSpPr>
        <p:spPr>
          <a:xfrm flipH="1">
            <a:off x="2286000" y="3848100"/>
            <a:ext cx="3302000" cy="698500"/>
          </a:xfrm>
          <a:prstGeom prst="line">
            <a:avLst/>
          </a:prstGeom>
          <a:ln w="19050">
            <a:solidFill>
              <a:srgbClr val="595959"/>
            </a:solidFill>
            <a:tailEnd type="arrow"/>
          </a:ln>
        </p:spPr>
      </p:cxnSp>
      <p:cxnSp>
        <p:nvCxnSpPr>
          <p:cNvPr id="14" name="Connection"/>
          <p:cNvCxnSpPr/>
          <p:nvPr/>
        </p:nvCxnSpPr>
        <p:spPr>
          <a:xfrm flipH="1">
            <a:off x="6604000" y="3848100"/>
            <a:ext cx="254000" cy="698500"/>
          </a:xfrm>
          <a:prstGeom prst="line">
            <a:avLst/>
          </a:prstGeom>
          <a:ln w="19050">
            <a:solidFill>
              <a:srgbClr val="595959"/>
            </a:solidFill>
            <a:tailEnd type="arrow"/>
          </a:ln>
        </p:spPr>
      </p:cxnSp>
      <p:sp>
        <p:nvSpPr>
          <p:cNvPr id="15" name="fn-source"/>
          <p:cNvSpPr txBox="1"/>
          <p:nvPr/>
        </p:nvSpPr>
        <p:spPr>
          <a:xfrm>
            <a:off x="546100" y="5638800"/>
            <a:ext cx="8051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基线：dcaa93b3150352e5044708d7211b5bed0af4509f</a:t>
            </a:r>
            <a:endParaRPr lang="zh-CN" sz="1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OmsPortalOrderController.java:41–68；OmsPortalOrderServiceImpl.java:94–333；CancelOrderReceiver.java:16–23</a:t>
            </a:r>
            <a:endParaRPr lang="zh-CN" sz="1000">
              <a:latin typeface="微软雅黑"/>
              <a:ea typeface="微软雅黑"/>
            </a:endParaRPr>
          </a:p>
        </p:txBody>
      </p:sp>
      <p:sp>
        <p:nvSpPr>
          <p:cNvPr id="99" name="fig-node"/>
          <p:cNvSpPr txBox="1"/>
          <p:nvPr/>
        </p:nvSpPr>
        <p:spPr>
          <a:xfrm>
            <a:off x="6400800" y="2184400"/>
            <a:ext cx="152400" cy="152400"/>
          </a:xfrm>
          <a:prstGeom prst="triangle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endParaRPr>
              <a:latin typeface="微软雅黑"/>
              <a:ea typeface="微软雅黑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6CDFF6-DDB8-55AD-BC55-79602569881E}"/>
              </a:ext>
            </a:extLst>
          </p:cNvPr>
          <p:cNvSpPr txBox="1"/>
          <p:nvPr/>
        </p:nvSpPr>
        <p:spPr>
          <a:xfrm>
            <a:off x="5760720" y="146304"/>
            <a:ext cx="283464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首次作业允许模仿。</a:t>
            </a: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教师示例讲下单—支付—超时取消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活动图示例区分支付与超时分支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活动图把支付和超时分开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4" name="fig-node"/>
          <p:cNvSpPr txBox="1"/>
          <p:nvPr/>
        </p:nvSpPr>
        <p:spPr>
          <a:xfrm>
            <a:off x="546100" y="1460500"/>
            <a:ext cx="7975600" cy="5334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下单：写订单并投递延迟消息</a:t>
            </a:r>
            <a:endParaRPr lang="zh-CN" sz="2000">
              <a:latin typeface="微软雅黑"/>
              <a:ea typeface="微软雅黑"/>
            </a:endParaRPr>
          </a:p>
        </p:txBody>
      </p:sp>
      <p:cxnSp>
        <p:nvCxnSpPr>
          <p:cNvPr id="5" name="Connection"/>
          <p:cNvCxnSpPr/>
          <p:nvPr/>
        </p:nvCxnSpPr>
        <p:spPr>
          <a:xfrm>
            <a:off x="2349500" y="1993900"/>
            <a:ext cx="0" cy="34290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cxnSp>
        <p:nvCxnSpPr>
          <p:cNvPr id="6" name="Connection"/>
          <p:cNvCxnSpPr/>
          <p:nvPr/>
        </p:nvCxnSpPr>
        <p:spPr>
          <a:xfrm>
            <a:off x="6667500" y="1993900"/>
            <a:ext cx="0" cy="34290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7" name="fig-node"/>
          <p:cNvSpPr txBox="1"/>
          <p:nvPr/>
        </p:nvSpPr>
        <p:spPr>
          <a:xfrm>
            <a:off x="546100" y="2349500"/>
            <a:ext cx="3746500" cy="5715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支付成功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8" name="fig-node"/>
          <p:cNvSpPr txBox="1"/>
          <p:nvPr/>
        </p:nvSpPr>
        <p:spPr>
          <a:xfrm>
            <a:off x="4762500" y="2349500"/>
            <a:ext cx="3784600" cy="6985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延迟消息到期并进入监听器</a:t>
            </a:r>
            <a:endParaRPr lang="zh-CN" sz="2000">
              <a:latin typeface="微软雅黑"/>
              <a:ea typeface="微软雅黑"/>
            </a:endParaRPr>
          </a:p>
        </p:txBody>
      </p:sp>
      <p:cxnSp>
        <p:nvCxnSpPr>
          <p:cNvPr id="9" name="Connection"/>
          <p:cNvCxnSpPr/>
          <p:nvPr/>
        </p:nvCxnSpPr>
        <p:spPr>
          <a:xfrm>
            <a:off x="2349500" y="2921000"/>
            <a:ext cx="0" cy="50800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cxnSp>
        <p:nvCxnSpPr>
          <p:cNvPr id="10" name="Connection"/>
          <p:cNvCxnSpPr/>
          <p:nvPr/>
        </p:nvCxnSpPr>
        <p:spPr>
          <a:xfrm>
            <a:off x="6667500" y="3048000"/>
            <a:ext cx="0" cy="38100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1" name="fig-node"/>
          <p:cNvSpPr txBox="1"/>
          <p:nvPr/>
        </p:nvSpPr>
        <p:spPr>
          <a:xfrm>
            <a:off x="546100" y="3429000"/>
            <a:ext cx="3746500" cy="8128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状态改为 1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扣减库存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2" name="fig-node"/>
          <p:cNvSpPr txBox="1"/>
          <p:nvPr/>
        </p:nvSpPr>
        <p:spPr>
          <a:xfrm>
            <a:off x="4762500" y="3429000"/>
            <a:ext cx="3784600" cy="6985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查询订单：状态仍为 0？</a:t>
            </a:r>
            <a:endParaRPr lang="zh-CN" sz="2000">
              <a:latin typeface="微软雅黑"/>
              <a:ea typeface="微软雅黑"/>
            </a:endParaRPr>
          </a:p>
        </p:txBody>
      </p:sp>
      <p:cxnSp>
        <p:nvCxnSpPr>
          <p:cNvPr id="13" name="Connection"/>
          <p:cNvCxnSpPr/>
          <p:nvPr/>
        </p:nvCxnSpPr>
        <p:spPr>
          <a:xfrm>
            <a:off x="6667500" y="4127500"/>
            <a:ext cx="0" cy="38100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4" name="fig-node"/>
          <p:cNvSpPr txBox="1"/>
          <p:nvPr/>
        </p:nvSpPr>
        <p:spPr>
          <a:xfrm>
            <a:off x="4762500" y="4508500"/>
            <a:ext cx="3784600" cy="6858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是：关闭并释放库存锁定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否：直接返回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5" name="Text 支付后消息仍可能到达，取消须检查"/>
          <p:cNvSpPr txBox="1"/>
          <p:nvPr/>
        </p:nvSpPr>
        <p:spPr>
          <a:xfrm>
            <a:off x="546100" y="5308600"/>
            <a:ext cx="800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支付后消息仍可能到达，取消须检查订单状态。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6" name="fn-source"/>
          <p:cNvSpPr txBox="1"/>
          <p:nvPr/>
        </p:nvSpPr>
        <p:spPr>
          <a:xfrm>
            <a:off x="546100" y="5638800"/>
            <a:ext cx="8051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基线：dcaa93b3150352e5044708d7211b5bed0af4509f</a:t>
            </a:r>
            <a:endParaRPr lang="zh-CN" sz="1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OmsPortalOrderServiceImpl.java:224–245、253–263、297–333；CancelOrderReceiver.java:16–23</a:t>
            </a:r>
            <a:endParaRPr lang="zh-CN" sz="1000">
              <a:latin typeface="微软雅黑"/>
              <a:ea typeface="微软雅黑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A6C9D1E-53BE-BCA0-B597-40679CF26325}"/>
              </a:ext>
            </a:extLst>
          </p:cNvPr>
          <p:cNvSpPr txBox="1"/>
          <p:nvPr/>
        </p:nvSpPr>
        <p:spPr>
          <a:xfrm>
            <a:off x="5760720" y="146304"/>
            <a:ext cx="283464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首次作业允许模仿。</a:t>
            </a: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教师示例讲下单—支付—超时取消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时序图示例追踪延迟消息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时序图跟着延迟消息走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4" name="fig-node"/>
          <p:cNvSpPr txBox="1"/>
          <p:nvPr/>
        </p:nvSpPr>
        <p:spPr>
          <a:xfrm>
            <a:off x="546100" y="1447800"/>
            <a:ext cx="1841500" cy="4318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订单服务</a:t>
            </a:r>
            <a:endParaRPr lang="zh-CN" sz="2000">
              <a:latin typeface="微软雅黑"/>
              <a:ea typeface="微软雅黑"/>
            </a:endParaRPr>
          </a:p>
        </p:txBody>
      </p:sp>
      <p:cxnSp>
        <p:nvCxnSpPr>
          <p:cNvPr id="5" name="Connection"/>
          <p:cNvCxnSpPr/>
          <p:nvPr/>
        </p:nvCxnSpPr>
        <p:spPr>
          <a:xfrm>
            <a:off x="1460500" y="1879600"/>
            <a:ext cx="0" cy="3594100"/>
          </a:xfrm>
          <a:prstGeom prst="line">
            <a:avLst/>
          </a:prstGeom>
          <a:ln w="19050">
            <a:solidFill>
              <a:srgbClr val="595959"/>
            </a:solidFill>
            <a:prstDash val="dash"/>
            <a:tailEnd type="none"/>
          </a:ln>
        </p:spPr>
      </p:cxnSp>
      <p:sp>
        <p:nvSpPr>
          <p:cNvPr id="6" name="fig-node"/>
          <p:cNvSpPr txBox="1"/>
          <p:nvPr/>
        </p:nvSpPr>
        <p:spPr>
          <a:xfrm>
            <a:off x="2578100" y="1447800"/>
            <a:ext cx="1841500" cy="4318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延迟队列</a:t>
            </a:r>
            <a:endParaRPr lang="zh-CN" sz="2000">
              <a:latin typeface="微软雅黑"/>
              <a:ea typeface="微软雅黑"/>
            </a:endParaRPr>
          </a:p>
        </p:txBody>
      </p:sp>
      <p:cxnSp>
        <p:nvCxnSpPr>
          <p:cNvPr id="7" name="Connection"/>
          <p:cNvCxnSpPr/>
          <p:nvPr/>
        </p:nvCxnSpPr>
        <p:spPr>
          <a:xfrm>
            <a:off x="3492500" y="1879600"/>
            <a:ext cx="0" cy="3594100"/>
          </a:xfrm>
          <a:prstGeom prst="line">
            <a:avLst/>
          </a:prstGeom>
          <a:ln w="19050">
            <a:solidFill>
              <a:srgbClr val="595959"/>
            </a:solidFill>
            <a:prstDash val="dash"/>
            <a:tailEnd type="none"/>
          </a:ln>
        </p:spPr>
      </p:cxnSp>
      <p:sp>
        <p:nvSpPr>
          <p:cNvPr id="8" name="fig-node"/>
          <p:cNvSpPr txBox="1"/>
          <p:nvPr/>
        </p:nvSpPr>
        <p:spPr>
          <a:xfrm>
            <a:off x="4610100" y="1447800"/>
            <a:ext cx="1841500" cy="4318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取消队列</a:t>
            </a:r>
            <a:endParaRPr lang="zh-CN" sz="2000">
              <a:latin typeface="微软雅黑"/>
              <a:ea typeface="微软雅黑"/>
            </a:endParaRPr>
          </a:p>
        </p:txBody>
      </p:sp>
      <p:cxnSp>
        <p:nvCxnSpPr>
          <p:cNvPr id="9" name="Connection"/>
          <p:cNvCxnSpPr/>
          <p:nvPr/>
        </p:nvCxnSpPr>
        <p:spPr>
          <a:xfrm>
            <a:off x="5524500" y="1879600"/>
            <a:ext cx="0" cy="3594100"/>
          </a:xfrm>
          <a:prstGeom prst="line">
            <a:avLst/>
          </a:prstGeom>
          <a:ln w="19050">
            <a:solidFill>
              <a:srgbClr val="595959"/>
            </a:solidFill>
            <a:prstDash val="dash"/>
            <a:tailEnd type="none"/>
          </a:ln>
        </p:spPr>
      </p:cxnSp>
      <p:sp>
        <p:nvSpPr>
          <p:cNvPr id="10" name="fig-node"/>
          <p:cNvSpPr txBox="1"/>
          <p:nvPr/>
        </p:nvSpPr>
        <p:spPr>
          <a:xfrm>
            <a:off x="6642100" y="1447800"/>
            <a:ext cx="1841500" cy="4318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监听器</a:t>
            </a:r>
            <a:endParaRPr lang="zh-CN" sz="2000">
              <a:latin typeface="微软雅黑"/>
              <a:ea typeface="微软雅黑"/>
            </a:endParaRPr>
          </a:p>
        </p:txBody>
      </p:sp>
      <p:cxnSp>
        <p:nvCxnSpPr>
          <p:cNvPr id="11" name="Connection"/>
          <p:cNvCxnSpPr/>
          <p:nvPr/>
        </p:nvCxnSpPr>
        <p:spPr>
          <a:xfrm>
            <a:off x="7556500" y="1879600"/>
            <a:ext cx="0" cy="3594100"/>
          </a:xfrm>
          <a:prstGeom prst="line">
            <a:avLst/>
          </a:prstGeom>
          <a:ln w="19050">
            <a:solidFill>
              <a:srgbClr val="595959"/>
            </a:solidFill>
            <a:prstDash val="dash"/>
            <a:tailEnd type="none"/>
          </a:ln>
        </p:spPr>
      </p:cxnSp>
      <p:cxnSp>
        <p:nvCxnSpPr>
          <p:cNvPr id="12" name="Connection"/>
          <p:cNvCxnSpPr/>
          <p:nvPr/>
        </p:nvCxnSpPr>
        <p:spPr>
          <a:xfrm>
            <a:off x="1460500" y="2717800"/>
            <a:ext cx="203200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3" name="fig-node"/>
          <p:cNvSpPr txBox="1"/>
          <p:nvPr/>
        </p:nvSpPr>
        <p:spPr>
          <a:xfrm>
            <a:off x="1549400" y="2006600"/>
            <a:ext cx="1905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投递 orderId，</a:t>
            </a: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设置过期时间</a:t>
            </a:r>
          </a:p>
        </p:txBody>
      </p:sp>
      <p:cxnSp>
        <p:nvCxnSpPr>
          <p:cNvPr id="14" name="Connection"/>
          <p:cNvCxnSpPr/>
          <p:nvPr/>
        </p:nvCxnSpPr>
        <p:spPr>
          <a:xfrm>
            <a:off x="3492500" y="3606800"/>
            <a:ext cx="203200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5" name="fig-node"/>
          <p:cNvSpPr txBox="1"/>
          <p:nvPr/>
        </p:nvSpPr>
        <p:spPr>
          <a:xfrm>
            <a:off x="3581400" y="2895600"/>
            <a:ext cx="1930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到期后经死信</a:t>
            </a: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路由转发</a:t>
            </a:r>
          </a:p>
        </p:txBody>
      </p:sp>
      <p:cxnSp>
        <p:nvCxnSpPr>
          <p:cNvPr id="16" name="Connection"/>
          <p:cNvCxnSpPr/>
          <p:nvPr/>
        </p:nvCxnSpPr>
        <p:spPr>
          <a:xfrm>
            <a:off x="5524500" y="4457700"/>
            <a:ext cx="203200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7" name="code-label"/>
          <p:cNvSpPr txBox="1"/>
          <p:nvPr/>
        </p:nvSpPr>
        <p:spPr>
          <a:xfrm>
            <a:off x="5613400" y="4064000"/>
            <a:ext cx="19177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800" b="0">
                <a:solidFill>
                  <a:srgbClr val="262626"/>
                </a:solidFill>
                <a:latin typeface="Consolas"/>
                <a:ea typeface="微软雅黑"/>
                <a:cs typeface="Consolas"/>
              </a:rPr>
              <a:t>handle(orderId)</a:t>
            </a:r>
            <a:endParaRPr lang="zh-CN" sz="1800">
              <a:latin typeface="Consolas"/>
              <a:ea typeface="微软雅黑"/>
            </a:endParaRPr>
          </a:p>
        </p:txBody>
      </p:sp>
      <p:cxnSp>
        <p:nvCxnSpPr>
          <p:cNvPr id="18" name="Connection"/>
          <p:cNvCxnSpPr/>
          <p:nvPr/>
        </p:nvCxnSpPr>
        <p:spPr>
          <a:xfrm flipH="1">
            <a:off x="1460500" y="5257800"/>
            <a:ext cx="609600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19" name="code-label"/>
          <p:cNvSpPr txBox="1"/>
          <p:nvPr/>
        </p:nvSpPr>
        <p:spPr>
          <a:xfrm>
            <a:off x="2794000" y="4838700"/>
            <a:ext cx="43180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800" b="0">
                <a:solidFill>
                  <a:srgbClr val="262626"/>
                </a:solidFill>
                <a:latin typeface="Consolas"/>
                <a:ea typeface="微软雅黑"/>
                <a:cs typeface="Consolas"/>
              </a:rPr>
              <a:t>cancelOrder(orderId)</a:t>
            </a:r>
            <a:endParaRPr lang="zh-CN" sz="1800">
              <a:latin typeface="Consolas"/>
              <a:ea typeface="微软雅黑"/>
            </a:endParaRPr>
          </a:p>
        </p:txBody>
      </p:sp>
      <p:sp>
        <p:nvSpPr>
          <p:cNvPr id="20" name="fn-source"/>
          <p:cNvSpPr txBox="1"/>
          <p:nvPr/>
        </p:nvSpPr>
        <p:spPr>
          <a:xfrm>
            <a:off x="546100" y="5638800"/>
            <a:ext cx="8051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基线：dcaa93b3150352e5044708d7211b5bed0af4509f</a:t>
            </a:r>
            <a:endParaRPr lang="zh-CN" sz="1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CancelOrderSender.java:23–30；RabbitMqConfig.java:49–54；CancelOrderReceiver.java:16–23</a:t>
            </a:r>
            <a:endParaRPr lang="zh-CN" sz="1000">
              <a:latin typeface="微软雅黑"/>
              <a:ea typeface="微软雅黑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89A92D-1DE6-3367-5B93-BA765D85F01E}"/>
              </a:ext>
            </a:extLst>
          </p:cNvPr>
          <p:cNvSpPr txBox="1"/>
          <p:nvPr/>
        </p:nvSpPr>
        <p:spPr>
          <a:xfrm>
            <a:off x="5760720" y="146304"/>
            <a:ext cx="2834640" cy="402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首次作业允许模仿。</a:t>
            </a: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教师示例的 ② 现有设计的优势与不足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小结用类的职责与调用者检查理解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延迟消息免去下单等待，补偿却写了两份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4" name="table"/>
          <p:cNvGraphicFramePr/>
          <p:nvPr/>
        </p:nvGraphicFramePr>
        <p:xfrm>
          <a:off x="546100" y="1473200"/>
          <a:ext cx="8051800" cy="3749040"/>
        </p:xfrm>
        <a:graphic>
          <a:graphicData uri="http://schemas.openxmlformats.org/drawingml/2006/table">
            <a:tbl>
              <a:tblPr firstRow="1"/>
              <a:tblGrid>
                <a:gridCol w="889000"/>
                <a:gridCol w="7162800"/>
              </a:tblGrid>
              <a:tr h="32258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现有设计的情况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优势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入口与服务分层：5 个入口（下单、支付、用户取消、发延迟取消消息、批量取消超时订单）各调用一个服务方法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优势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延迟消息把下单与取消解耦：下单末尾发送延迟取消消息，到期由监听器调用 cancelOrder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优势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事务声明集中在接口：generateOrder、paySuccess、cancelTimeOutOrder、cancelOrder 各带 @Transactional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两条取消路径各写一份补偿：释放库存锁、券状态改回 0、返还使用积分，</a:t>
                      </a:r>
                      <a:b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逐项相同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paySuccess 把订单状态直接置为 1，不判断原状态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订单服务没有测试：mall-portal/src/test 下只有 MallPortalApplicationTests、PortalProductDaoTests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generateOrder 约 157 行（第 94–250 行）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fn-source"/>
          <p:cNvSpPr txBox="1"/>
          <p:nvPr/>
        </p:nvSpPr>
        <p:spPr>
          <a:xfrm>
            <a:off x="546100" y="5380000"/>
            <a:ext cx="81026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来源：基线 dcaa93b3150352e5044708d7211b5bed0af4509f；路径前缀 mall-portal/src/main/java/com/macro/mall/portal/</a:t>
            </a:r>
            <a:endParaRPr lang="zh-CN" sz="1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OmsPortalOrderController.java:41-97；service/impl/OmsPortalOrderServiceImpl.java:94-250、253-265、268-324；service/OmsPortalOrderService.java:26,32,38,44；基线 mall-portal/src/test 目录</a:t>
            </a:r>
            <a:endParaRPr lang="zh-CN" sz="1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教师示例的 ③ 可维护性评价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小结用类的职责与调用者检查理解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补偿重复伤易修改性，缺测试伤易测试性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4" name="table"/>
          <p:cNvGraphicFramePr/>
          <p:nvPr/>
        </p:nvGraphicFramePr>
        <p:xfrm>
          <a:off x="546100" y="1473200"/>
          <a:ext cx="8051800" cy="3103880"/>
        </p:xfrm>
        <a:graphic>
          <a:graphicData uri="http://schemas.openxmlformats.org/drawingml/2006/table">
            <a:tbl>
              <a:tblPr firstRow="1"/>
              <a:tblGrid>
                <a:gridCol w="1051560"/>
                <a:gridCol w="2377440"/>
                <a:gridCol w="2011680"/>
                <a:gridCol w="2606040"/>
              </a:tblGrid>
              <a:tr h="32258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子特性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判定问题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可观察指标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本例取值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模块化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一处改动会落在几个模块里？依赖是否单向？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模块数；</a:t>
                      </a:r>
                      <a:b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有无循环依赖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控制器与监听器</a:t>
                      </a:r>
                      <a:b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均有取消入口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可复用性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这段代码能否不加修改地</a:t>
                      </a:r>
                      <a:b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被别处使用？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被几个模块共同使用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未取值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易分析性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读者能否从名称和结构</a:t>
                      </a:r>
                      <a:b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看出它做什么、影响哪里？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方法行数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generateOrder 约 157 行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易修改性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修改一条规则要改几处？会不会碰坏别处？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同一规则出现几处；</a:t>
                      </a:r>
                      <a:b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改动文件数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取消补偿 2 处（见上页），</a:t>
                      </a:r>
                      <a:b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在同一文件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易测试性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不启动整个系统能否验证它？依赖能否替换？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覆盖率；</a:t>
                      </a:r>
                      <a:b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依赖可否替换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订单服务测试 0 个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722376" y="4754880"/>
            <a:ext cx="7708392" cy="329184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子特性、判定问题与指标沿用 T1 第 33 页。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6" name="body"/>
          <p:cNvSpPr txBox="1"/>
          <p:nvPr/>
        </p:nvSpPr>
        <p:spPr>
          <a:xfrm>
            <a:off x="722376" y="5102352"/>
            <a:ext cx="7708392" cy="329184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指标是课程选定的观察量，不由标准直接规定。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7" name="fn-source"/>
          <p:cNvSpPr txBox="1"/>
          <p:nvPr/>
        </p:nvSpPr>
        <p:spPr>
          <a:xfrm>
            <a:off x="546100" y="5480000"/>
            <a:ext cx="81026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来源：基线 dcaa93b3150352e5044708d7211b5bed0af4509f；OmsPortalOrderServiceImpl.java:94-250（方法行数）、</a:t>
            </a:r>
            <a:br>
              <a:rPr lang="zh-CN" sz="1000" b="0">
                <a:latin typeface="微软雅黑"/>
                <a:ea typeface="微软雅黑"/>
              </a:rPr>
            </a:b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282-292 与 313-324（取消补偿）；基线 mall-portal/src/test 目录；课件-2026/T1-标准与规范-v2.pptx 第 33 页</a:t>
            </a:r>
            <a:endParaRPr lang="zh-CN" sz="1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教师示例的 ④ 改进方案（设想）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小结用类的职责与调用者检查理解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取消与补偿收归一处，条件更新防重复取消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4" name="table"/>
          <p:cNvGraphicFramePr/>
          <p:nvPr/>
        </p:nvGraphicFramePr>
        <p:xfrm>
          <a:off x="546100" y="1473200"/>
          <a:ext cx="8051800" cy="2402840"/>
        </p:xfrm>
        <a:graphic>
          <a:graphicData uri="http://schemas.openxmlformats.org/drawingml/2006/table">
            <a:tbl>
              <a:tblPr firstRow="1"/>
              <a:tblGrid>
                <a:gridCol w="1498600"/>
                <a:gridCol w="6553200"/>
              </a:tblGrid>
              <a:tr h="32258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设想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把取消订单与三项补偿（释放库存锁、券状态改回 0、返还使用积分）收进一个类；取消时按状态条件更新，防止重复取消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应用原则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DRY：补偿只写一份；单一职责：取消与补偿归一个类；</a:t>
                      </a:r>
                      <a:b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信息隐藏：调用方不必知道补偿细节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可维护性评价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易修改性：同一规则出现的处数由 2 处变为 1 处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优势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改补偿规则只改一处，两条取消路径不再各写一份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258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不足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多一个类；需要测试保护，而基线没有订单服务测试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723900" y="3986040"/>
            <a:ext cx="7708900" cy="5200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设想，不含代码；E2 教师示例会实现并验证。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6" name="fn-source"/>
          <p:cNvSpPr txBox="1"/>
          <p:nvPr/>
        </p:nvSpPr>
        <p:spPr>
          <a:xfrm>
            <a:off x="546100" y="5480000"/>
            <a:ext cx="81026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来源：基线 dcaa93b3150352e5044708d7211b5bed0af4509f；OmsPortalOrderServiceImpl.java:297-309（取消更新不带状态条件）、282-292 与 313-324（补偿 2 处）；基线 mall-portal/src/test 目录</a:t>
            </a:r>
            <a:endParaRPr lang="zh-CN" sz="1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教师示例的 ⑤ 取舍对比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小结用类的职责与调用者检查理解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两套方案各有代价，取舍看规则是否还会变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4" name="table"/>
          <p:cNvGraphicFramePr/>
          <p:nvPr/>
        </p:nvGraphicFramePr>
        <p:xfrm>
          <a:off x="546100" y="1473200"/>
          <a:ext cx="8051800" cy="3103880"/>
        </p:xfrm>
        <a:graphic>
          <a:graphicData uri="http://schemas.openxmlformats.org/drawingml/2006/table">
            <a:tbl>
              <a:tblPr firstRow="1"/>
              <a:tblGrid>
                <a:gridCol w="1143000"/>
                <a:gridCol w="3543300"/>
                <a:gridCol w="3365500"/>
              </a:tblGrid>
              <a:tr h="32258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比较项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现有设计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改进设想</a:t>
                      </a:r>
                      <a:endParaRPr lang="zh-CN" sz="16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修改点数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取消补偿 2 处：cancelTimeOutOrder、cancelOrder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取消补偿 1 处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类数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补偿写在 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OmsPortalOrderServiceImpl </a:t>
                      </a: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的两个方法里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 1 个类，专管取消与补偿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测试难度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订单服务 0 个测试，没有保护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取消集中后可单独测试，</a:t>
                      </a:r>
                      <a:b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仍须新写测试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运行风险一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支付与取消并发时，可能先付后被取消，或取消后又被置为已付款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条件更新可防重复取消；paySuccess 未改，其风险仍在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运行风险二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补偿改一处、漏另一处，两条路径不一致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补偿只有一份，不会出现两处不一致</a:t>
                      </a:r>
                      <a:endParaRPr lang="zh-CN" sz="16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  <p:sp>
        <p:nvSpPr>
          <p:cNvPr id="5" name="body"/>
          <p:cNvSpPr txBox="1"/>
          <p:nvPr/>
        </p:nvSpPr>
        <p:spPr>
          <a:xfrm>
            <a:off x="722376" y="5047488"/>
            <a:ext cx="7708392" cy="384048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运行风险为源码可见风险，未运行验证；改进设想不含代码。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6" name="fn-source"/>
          <p:cNvSpPr txBox="1"/>
          <p:nvPr/>
        </p:nvSpPr>
        <p:spPr>
          <a:xfrm>
            <a:off x="546100" y="5480000"/>
            <a:ext cx="81026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来源：基线 dcaa93b3150352e5044708d7211b5bed0af4509f；OmsPortalOrderServiceImpl.java:253-265（支付）、282-292 与 313-324（补偿）、297-309（取消更新）；基线 mall-portal/src/test 目录</a:t>
            </a:r>
            <a:endParaRPr lang="zh-CN" sz="1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教师示例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证据坐标让调用链可以独立复核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证据坐标让调用链可以独立复核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9" name="fn-source"/>
          <p:cNvSpPr txBox="1"/>
          <p:nvPr/>
        </p:nvSpPr>
        <p:spPr>
          <a:xfrm>
            <a:off x="546100" y="5613400"/>
            <a:ext cx="810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共同路径前缀：mall-portal/src/main/java/com/macro/mall/portal/</a:t>
            </a:r>
            <a:endParaRPr lang="zh-CN" sz="1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基线：dcaa93b3150352e5044708d7211b5bed0af4509f</a:t>
            </a:r>
            <a:endParaRPr lang="zh-CN" sz="1000">
              <a:latin typeface="微软雅黑"/>
              <a:ea typeface="微软雅黑"/>
            </a:endParaRPr>
          </a:p>
        </p:txBody>
      </p:sp>
      <p:graphicFrame>
        <p:nvGraphicFramePr>
          <p:cNvPr id="20" name="证据坐标表"/>
          <p:cNvGraphicFramePr/>
          <p:nvPr/>
        </p:nvGraphicFramePr>
        <p:xfrm>
          <a:off x="546100" y="1460500"/>
          <a:ext cx="8077200" cy="3400000"/>
        </p:xfrm>
        <a:graphic>
          <a:graphicData uri="http://schemas.openxmlformats.org/drawingml/2006/table">
            <a:tbl>
              <a:tblPr firstRow="1"/>
              <a:tblGrid>
                <a:gridCol w="5486400"/>
                <a:gridCol w="2590800"/>
              </a:tblGrid>
              <a:tr h="34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文件:行号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controller/OmsPortalOrderController.java:41–44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下单入口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controller/OmsPortalOrderController.java:49–52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支付入口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controller/OmsPortalOrderController.java:65–68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延迟消息入口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service/impl/OmsPortalOrderServiceImpl.java:224、245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写订单与发消息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service/impl/OmsPortalOrderServiceImpl.java:253–263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支付处理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service/impl/OmsPortalOrderServiceImpl.java:297–333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取消查询、补偿与延迟消息发送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component/CancelOrderSender.java:23–30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发送时设置消息过期时间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config/RabbitMqConfig.java:49–54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过期消息经死信路由转发到取消队列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component/CancelOrderReceiver.java:16–23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监听 mall.order.cancel，</a:t>
                      </a:r>
                      <a:b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 cancelOrder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任务③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受控核实记录预期、观察与修正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可重复运行的核实记录预期、观察与修正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"/>
          <p:cNvSpPr/>
          <p:nvPr/>
        </p:nvSpPr>
        <p:spPr>
          <a:xfrm>
            <a:off x="411480" y="1508760"/>
            <a:ext cx="2587752" cy="265176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预期：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先写下一项可检验的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调用或状态推断。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3035808" y="2834640"/>
            <a:ext cx="201168" cy="9144"/>
          </a:xfrm>
          <a:custGeom>
            <a:avLst/>
            <a:gdLst/>
            <a:ahLst/>
            <a:cxnLst/>
            <a:rect l="0" t="0" r="r" b="b"/>
            <a:pathLst>
              <a:path w="201168" h="9144" fill="none">
                <a:moveTo>
                  <a:pt x="0" y="0"/>
                </a:moveTo>
                <a:lnTo>
                  <a:pt x="201168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3273552" y="1508760"/>
            <a:ext cx="2587752" cy="265176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观察：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使用断点、测试或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可重复运行，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保存实际现象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与相应输入。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5897880" y="2834640"/>
            <a:ext cx="201168" cy="9144"/>
          </a:xfrm>
          <a:custGeom>
            <a:avLst/>
            <a:gdLst/>
            <a:ahLst/>
            <a:cxnLst/>
            <a:rect l="0" t="0" r="r" b="b"/>
            <a:pathLst>
              <a:path w="201168" h="9144" fill="none">
                <a:moveTo>
                  <a:pt x="0" y="0"/>
                </a:moveTo>
                <a:lnTo>
                  <a:pt x="201168" y="0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6135624" y="1508760"/>
            <a:ext cx="2587752" cy="265176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修正：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不一致时修订判断，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并解释为什么。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572000"/>
            <a:ext cx="8321040" cy="86868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构建通过、商品查询通过均不能代替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下单或取消调用链的一项推断核实。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任务③ 写可重复运行的核实方案</a:t>
            </a:r>
            <a:endParaRPr lang="zh-CN" sz="1200" dirty="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依赖、进程与数据归属需要实际判断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用隔离的课程环境核实取消请求的实际行为</a:t>
            </a:r>
            <a:endParaRPr lang="zh-CN" sz="3000" dirty="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481328"/>
            <a:ext cx="1188720" cy="89611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准备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481328"/>
            <a:ext cx="7040880" cy="896112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准备：使用教师提供的隔离课程环境，记录初始状态。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505456"/>
            <a:ext cx="1188720" cy="896112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操作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2505456"/>
            <a:ext cx="7040880" cy="89611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操作：先在入口与消息监听器设置断点；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再发送含 orderId 的 POST /order/cancelOrder 请求。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529584"/>
            <a:ext cx="1188720" cy="896112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预期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91640" y="3529584"/>
            <a:ext cx="7040880" cy="896112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预期：基线入口仅投递消息；状态为 0 时才执行取消。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553712"/>
            <a:ext cx="1188720" cy="89611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观察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691640" y="4553712"/>
            <a:ext cx="7040880" cy="896112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观察：现场记录断点、状态与消息；对照预期修正推断。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899592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难点通俗示例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网购包裹逾期未到需要按证据归因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包裹逾期未到，先查证据再归因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4" name="Text 先查看物流轨迹，确认已出现的处理"/>
          <p:cNvSpPr txBox="1"/>
          <p:nvPr/>
        </p:nvSpPr>
        <p:spPr>
          <a:xfrm>
            <a:off x="723900" y="1460500"/>
            <a:ext cx="7708900" cy="990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先查看物流轨迹，确认已出现的处理节点。</a:t>
            </a:r>
            <a:endParaRPr lang="zh-CN" sz="2000">
              <a:latin typeface="微软雅黑"/>
              <a:ea typeface="微软雅黑"/>
            </a:endParaRPr>
          </a:p>
        </p:txBody>
      </p:sp>
      <p:graphicFrame>
        <p:nvGraphicFramePr>
          <p:cNvPr id="20" name="归因对照表"/>
          <p:cNvGraphicFramePr/>
          <p:nvPr/>
        </p:nvGraphicFramePr>
        <p:xfrm>
          <a:off x="723900" y="2651760"/>
          <a:ext cx="7708900" cy="1920000"/>
        </p:xfrm>
        <a:graphic>
          <a:graphicData uri="http://schemas.openxmlformats.org/drawingml/2006/table">
            <a:tbl>
              <a:tblPr firstRow="1"/>
              <a:tblGrid>
                <a:gridCol w="2286000"/>
                <a:gridCol w="3474720"/>
                <a:gridCol w="1948180"/>
              </a:tblGrid>
              <a:tr h="48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原因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怎么查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回到 mall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发件方未发出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检查业务内部处理是否完成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任务③ 核实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本人填写地址有误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修正本人理解或操作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任务④ 分类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运输积压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记录环境条件及解决办法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任务⑤ 环境记录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任务③ 核实示例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回到 mall 时先核实再填写疑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回到 mall 时先核实再填写疑点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"/>
          <p:cNvSpPr/>
          <p:nvPr/>
        </p:nvSpPr>
        <p:spPr>
          <a:xfrm>
            <a:off x="411480" y="1463040"/>
            <a:ext cx="832104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推断：取消接口返回成功，订单应立即关闭。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572000" y="2203704"/>
            <a:ext cx="9144" cy="201168"/>
          </a:xfrm>
          <a:custGeom>
            <a:avLst/>
            <a:gdLst/>
            <a:ahLst/>
            <a:cxnLst/>
            <a:rect l="0" t="0" r="r" b="b"/>
            <a:pathLst>
              <a:path w="9144" h="201168" fill="none">
                <a:moveTo>
                  <a:pt x="0" y="0"/>
                </a:moveTo>
                <a:lnTo>
                  <a:pt x="0" y="201168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2414016"/>
            <a:ext cx="8321040" cy="7315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FFFFFF"/>
                </a:solidFill>
                <a:latin typeface="微软雅黑"/>
                <a:ea typeface="微软雅黑"/>
              </a:rPr>
              <a:t>核对基线 Controller:65–68：实际只投递延迟消息。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572000" y="3154680"/>
            <a:ext cx="9144" cy="201168"/>
          </a:xfrm>
          <a:custGeom>
            <a:avLst/>
            <a:gdLst/>
            <a:ahLst/>
            <a:cxnLst/>
            <a:rect l="0" t="0" r="r" b="b"/>
            <a:pathLst>
              <a:path w="9144" h="201168" fill="none">
                <a:moveTo>
                  <a:pt x="0" y="0"/>
                </a:moveTo>
                <a:lnTo>
                  <a:pt x="0" y="201168"/>
                </a:lnTo>
              </a:path>
            </a:pathLst>
          </a:custGeom>
          <a:noFill/>
          <a:ln w="22225">
            <a:solidFill>
              <a:srgbClr val="A33B38"/>
            </a:solidFill>
            <a:tailEnd type="triangle" w="med" len="med"/>
          </a:ln>
        </p:spPr>
        <p:txBody>
          <a:bodyPr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11480" y="3364992"/>
            <a:ext cx="8321040" cy="7315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先修正对基线行为的理解：成功返回不代表即时取消。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是否设计问题还须核对需求与接口约定。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572000"/>
            <a:ext cx="83210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环境问题：若课程配置未启动消费者，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595959"/>
                </a:solidFill>
                <a:latin typeface="微软雅黑"/>
                <a:ea typeface="微软雅黑"/>
              </a:rPr>
              <a:t>任务⑤记录配置与处理，不把它当作业务失败。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任务④⑤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疑点需要子特性、指标与核实证据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疑点需要子特性、指标与核实证据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"/>
          <p:cNvSpPr/>
          <p:nvPr/>
        </p:nvSpPr>
        <p:spPr>
          <a:xfrm>
            <a:off x="411480" y="1508760"/>
            <a:ext cx="8321040" cy="640080"/>
          </a:xfrm>
          <a:prstGeom prst="rect">
            <a:avLst/>
          </a:prstGeom>
          <a:solidFill>
            <a:srgbClr val="FFFFFF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每项疑点填写：子特性与指标。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-d"/>
          <p:cNvSpPr/>
          <p:nvPr/>
        </p:nvSpPr>
        <p:spPr>
          <a:xfrm>
            <a:off x="411480" y="2377440"/>
            <a:ext cx="4114800" cy="4572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设计问题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"/>
          <p:cNvSpPr/>
          <p:nvPr/>
        </p:nvSpPr>
        <p:spPr>
          <a:xfrm>
            <a:off x="411480" y="2834640"/>
            <a:ext cx="4114800" cy="1188720"/>
          </a:xfrm>
          <a:prstGeom prst="rect">
            <a:avLst/>
          </a:prstGeom>
          <a:solidFill>
            <a:srgbClr val="F6E8E6"/>
          </a:solidFill>
          <a:ln>
            <a:noFill/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设计问题：核对后，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设计疑点仍然成立。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-d"/>
          <p:cNvSpPr/>
          <p:nvPr/>
        </p:nvSpPr>
        <p:spPr>
          <a:xfrm>
            <a:off x="4617720" y="2377440"/>
            <a:ext cx="4114800" cy="4572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理解不足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"/>
          <p:cNvSpPr/>
          <p:nvPr/>
        </p:nvSpPr>
        <p:spPr>
          <a:xfrm>
            <a:off x="4617720" y="2834640"/>
            <a:ext cx="411480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137160" rIns="137160" tIns="68580" bIns="6858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理解不足：核对后，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自己的理解得到纠正。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411480" y="4297680"/>
            <a:ext cx="83210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环境问题另记现象、原因和解决办法。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允许核对后确认原设计合理。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任务④ 疑点清单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疑点清单用可观察指标填写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疑点清单用可观察指标填写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9" name="疑点清单指标表"/>
          <p:cNvGraphicFramePr/>
          <p:nvPr/>
        </p:nvGraphicFramePr>
        <p:xfrm>
          <a:off x="546100" y="1473200"/>
          <a:ext cx="8051800" cy="403860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子特性</a:t>
                      </a:r>
                      <a:endParaRPr lang="zh-CN" sz="20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判定问题</a:t>
                      </a:r>
                      <a:endParaRPr lang="zh-CN" sz="20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可观察指标</a:t>
                      </a:r>
                      <a:endParaRPr lang="zh-CN" sz="2000" b="1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模块化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一处改动会落在几个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模块里？依赖是否单向？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改动涉及的模块数；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是否出现循环依赖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可复用性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这段代码能否不加修改地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被别处使用？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被几个模块共同使用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易分析性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读者能否从名称和结构看出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它做什么、影响哪里？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方法行数；名称与行为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是否一致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易修改性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修改一条规则要改几处？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会不会碰坏别处？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同一规则出现几处；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一次改动涉及几个文件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易测试性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不启动整个系统能否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验证它？依赖能否替换？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lang="zh-CN" sz="20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测试覆盖率；依赖能否替换</a:t>
                      </a:r>
                      <a:endParaRPr lang="zh-CN" sz="200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63500" marR="38100" marT="63500" marB="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指标是课程选定的观察量，不由标准"/>
          <p:cNvSpPr txBox="1"/>
          <p:nvPr/>
        </p:nvSpPr>
        <p:spPr>
          <a:xfrm>
            <a:off x="546100" y="5562600"/>
            <a:ext cx="80518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指标是课程选定的观察量，不由标准直接规定。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实验检查的常见失分</a:t>
            </a:r>
            <a:endParaRPr lang="zh-CN" sz="1200" dirty="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依赖、进程与数据归属需要实际判断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3000" b="1" dirty="0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失分多因证据缺失、验证范围不清</a:t>
            </a:r>
            <a:endParaRPr lang="zh-CN" sz="3000" dirty="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7" name="Text 进程与库：mbg 是库。数据归属"/>
          <p:cNvSpPr txBox="1"/>
          <p:nvPr/>
        </p:nvSpPr>
        <p:spPr>
          <a:xfrm>
            <a:off x="723900" y="4699000"/>
            <a:ext cx="7708900" cy="990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altLang="en-US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不要求修改产品代码；构建与查询通过不能替代调用链核实。</a:t>
            </a:r>
            <a:endParaRPr lang="zh-CN" sz="2000" dirty="0">
              <a:latin typeface="微软雅黑"/>
              <a:ea typeface="微软雅黑"/>
            </a:endParaRPr>
          </a:p>
        </p:txBody>
      </p:sp>
      <p:graphicFrame>
        <p:nvGraphicFramePr>
          <p:cNvPr id="20" name="常见失分表"/>
          <p:cNvGraphicFramePr/>
          <p:nvPr/>
        </p:nvGraphicFramePr>
        <p:xfrm>
          <a:off x="723900" y="1600200"/>
          <a:ext cx="7708900" cy="2080000"/>
        </p:xfrm>
        <a:graphic>
          <a:graphicData uri="http://schemas.openxmlformats.org/drawingml/2006/table">
            <a:tbl>
              <a:tblPr firstRow="1"/>
              <a:tblGrid>
                <a:gridCol w="1600200"/>
                <a:gridCol w="6108700"/>
              </a:tblGrid>
              <a:tr h="52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评分项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常见缺口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A33B38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讲清楚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缺少生成边界或所选链的调用与数据流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有依据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仅有 AI 解释，缺少源码位置和核实依据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验证过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sz="16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仅有启动截图，未核实所选链的推断</a:t>
                      </a:r>
                    </a:p>
                  </a:txBody>
                  <a:tcPr marL="50800" marR="25400" marT="25400" marB="25400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9D9D9"/>
                      </a:solidFill>
                    </a:lnT>
                    <a:lnB w="9525">
                      <a:solidFill>
                        <a:srgbClr val="D9D9D9"/>
                      </a:solidFill>
                    </a:lnB>
                    <a:solidFill>
                      <a:srgbClr val="FBF3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3837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小结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小结用类的职责与调用者检查理解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小结用类的职责与调用者检查理解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554480"/>
            <a:ext cx="109728" cy="640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594360" y="1554480"/>
            <a:ext cx="813816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抽2名学生讲解一个类的职责与调用者；完成投票签到。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304288"/>
            <a:ext cx="109728" cy="64008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594360" y="2304288"/>
            <a:ext cx="813816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随机指定一个类，请学生讲清它属于哪个模块、被谁调用。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429000"/>
            <a:ext cx="640080" cy="640080"/>
          </a:xfrm>
          <a:prstGeom prst="ellipse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?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234440" y="3200400"/>
            <a:ext cx="7498080" cy="118872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182880" rIns="182880" tIns="91440" bIns="9144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提问：Claude Code 对某段代码的解释与 IDEA 调用</a:t>
            </a:r>
            <a:br>
              <a:rPr lang="zh-CN" sz="2200">
                <a:latin typeface="微软雅黑"/>
                <a:ea typeface="微软雅黑"/>
              </a:rPr>
            </a:br>
            <a:r>
              <a:rPr lang="zh-CN" altLang="en-US" sz="2200" b="1">
                <a:solidFill>
                  <a:srgbClr val="262626"/>
                </a:solidFill>
                <a:latin typeface="微软雅黑"/>
                <a:ea typeface="微软雅黑"/>
              </a:rPr>
              <a:t>层次的结果不一致，以哪个为准？怎么核实？</a:t>
            </a:r>
            <a:endParaRPr lang="zh-CN" sz="22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一页说明样例的三项写法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网购包裹逾期未到需要按证据归因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小结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7" name="fn-source"/>
          <p:cNvSpPr txBox="1"/>
          <p:nvPr/>
        </p:nvSpPr>
        <p:spPr>
          <a:xfrm>
            <a:off x="546100" y="5480000"/>
            <a:ext cx="81026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来源：教案 E1 评分细则；</a:t>
            </a:r>
            <a:br>
              <a:rPr lang="zh-CN" sz="1000" b="0">
                <a:latin typeface="微软雅黑"/>
                <a:ea typeface="微软雅黑"/>
              </a:rPr>
            </a:br>
            <a:r>
              <a:rPr lang="zh-CN" sz="10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基线 dcaa93b3150352e5044708d7211b5bed0af4509f；路径前缀 mall-portal/src/main/java/com/macro/mall/portal/</a:t>
            </a:r>
            <a:endParaRPr lang="zh-CN" sz="1000"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508760"/>
            <a:ext cx="1051560" cy="102412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讲清楚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554480" y="1508760"/>
            <a:ext cx="7178040" cy="102412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讲清楚（30）：说明七个模块与 mall-mbg 生成边界；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说明下单—支付—超时取消调用链经过哪些层和类。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（教师示例）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697480"/>
            <a:ext cx="1051560" cy="102412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有依据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554480" y="2697480"/>
            <a:ext cx="7178040" cy="102412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有依据（30）：给出文件名和行号；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依赖关系的判断写来源（如 pom.xml 行号）。（教师示例）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886200"/>
            <a:ext cx="1051560" cy="1024128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验证过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554480" y="3886200"/>
            <a:ext cx="7178040" cy="1024128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验证过（40）：写本人构建与只读查询的实际结果；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对一项推断写预期、观察与修正。（教师示例）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731520"/>
          </a:xfrm>
        </p:spPr>
        <p:txBody>
          <a:bodyPr wrap="square" lIns="0" tIns="18288" rIns="0" bIns="18288" anchor="ctr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lang="zh-CN" sz="3000" b="1">
                <a:solidFill>
                  <a:srgbClr val="A33B38"/>
                </a:solidFill>
                <a:latin typeface="Calibri"/>
                <a:ea typeface="微软雅黑"/>
              </a:rPr>
              <a:t>签到：调用层次追不到的原因</a:t>
            </a:r>
          </a:p>
        </p:txBody>
      </p:sp>
      <p:sp>
        <p:nvSpPr>
          <p:cNvPr id="3" name="fn-kicker"/>
          <p:cNvSpPr txBox="1"/>
          <p:nvPr/>
        </p:nvSpPr>
        <p:spPr>
          <a:xfrm>
            <a:off x="548640" y="21945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zh-CN" sz="1200" b="1">
                <a:solidFill>
                  <a:srgbClr val="A33B38"/>
                </a:solidFill>
                <a:latin typeface="Calibri"/>
                <a:ea typeface="微软雅黑"/>
              </a:rPr>
              <a:t>小结</a:t>
            </a:r>
          </a:p>
        </p:txBody>
      </p:sp>
      <p:sp>
        <p:nvSpPr>
          <p:cNvPr id="301" name="quiz"/>
          <p:cNvSpPr txBox="1"/>
          <p:nvPr/>
        </p:nvSpPr>
        <p:spPr>
          <a:xfrm>
            <a:off x="237744" y="1444752"/>
            <a:ext cx="8686800" cy="4480560"/>
          </a:xfrm>
          <a:prstGeom prst="rect">
            <a:avLst/>
          </a:prstGeo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在 IDEA 中查看 OmsPortalOrderController 的调用层次，追不到 CancelOrderReceiver。最可能的原因是：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（A）它由消息队列监听触发，不在从控制器出发的静态调用链上；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（B）这个类已被删除；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（C）IDEA 的调用层次功能出错；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（D）项目还没有编译。</a:t>
            </a:r>
          </a:p>
          <a:p>
            <a:pPr algn="l" ea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</a:pPr>
            <a:r>
              <a:rPr sz="2000" b="0" lang="zh-CN" altLang="en-US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请看完演示再投票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实验要求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训练目标说明本次实验的能力要求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训练目标说明本次实验的能力要求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463040"/>
            <a:ext cx="109728" cy="786384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594360" y="1463040"/>
            <a:ext cx="8138160" cy="7863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1、能在给定环境中搭建、编译并运行 mall，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演示后台管理系统与前台商城系统的主要功能；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340864"/>
            <a:ext cx="109728" cy="14173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594360" y="2340864"/>
            <a:ext cx="813816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2、能借助官方资料（项目组织结构、系统架构图、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业务架构图）讲清 mall 的主体结构，绘制模块依赖图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并标出生成代码边界，沿一条业务调用链给出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文件:行号与数据流；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849624"/>
            <a:ext cx="109728" cy="786384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594360" y="3849624"/>
            <a:ext cx="8138160" cy="7863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3、能说明 IntelliJ IDEA、Claude Code、DeepSeek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在开发中各自的角色、职责与边界；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727448"/>
            <a:ext cx="109728" cy="786384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594360" y="4727448"/>
            <a:ext cx="8138160" cy="7863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4、能对调用链中的一项推断作可重复运行的核实，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用可维护性子特性区分设计问题与理解不足。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实验要求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实验要求保留本人完成的导读证据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实验要求保留本人完成的导读证据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444752"/>
            <a:ext cx="1188720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目标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691640" y="1444752"/>
            <a:ext cx="7040880" cy="768096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实验目标：本人完成构建、运行 mall 并做一次只读查询；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对照官方组织结构与架构图说明主体结构；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286000"/>
            <a:ext cx="1188720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依赖图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691640" y="2286000"/>
            <a:ext cx="7040880" cy="768096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七个Maven模块的结构与依赖图，标出生成代码边界，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并写出两项依赖或数据归属判断；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127248"/>
            <a:ext cx="1188720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调用链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691640" y="3127248"/>
            <a:ext cx="7040880" cy="768096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所选业务调用链（教师示例为“下单—支付—超时取消”）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从入口到服务、存储／消息的调用与数据流；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3968496"/>
            <a:ext cx="1188720" cy="768096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核实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691640" y="3968496"/>
            <a:ext cx="7040880" cy="768096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对一项推断的可重复运行的核实；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疑点清单（设计问题或理解不足）。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9" name="fn-note"/>
          <p:cNvSpPr/>
          <p:nvPr/>
        </p:nvSpPr>
        <p:spPr>
          <a:xfrm>
            <a:off x="411480" y="4873752"/>
            <a:ext cx="832104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73152" rIns="73152" tIns="36576" bIns="36576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说明：七个Maven模块为 mall-common、mall-mbg、</a:t>
            </a:r>
            <a:endParaRPr lang="zh-CN" sz="16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mall-security、mall-demo、mall-admin、mall-search、</a:t>
            </a:r>
            <a:endParaRPr lang="zh-CN" sz="16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1600" b="0">
                <a:solidFill>
                  <a:srgbClr val="595959"/>
                </a:solidFill>
                <a:latin typeface="微软雅黑"/>
                <a:ea typeface="微软雅黑"/>
              </a:rPr>
              <a:t>mall-portal。来源：基线 pom.xml:13–19。</a:t>
            </a:r>
            <a:endParaRPr lang="zh-CN" sz="16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实验要求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输出成果须展示本人完成的导读过程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输出成果须展示本人完成的导读过程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70992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005840" y="1508760"/>
            <a:ext cx="7726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展示本人构建与只读查询的结果；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76148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005840" y="2560320"/>
            <a:ext cx="7726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画出模块依赖图（开发视图），标出生成代码边界，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说明你在依赖、进程与库、数据归属中作出的两项判断；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81304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005840" y="3611880"/>
            <a:ext cx="7726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说明所选调用链经过哪些层、依赖方向与数据流，</a:t>
            </a:r>
            <a:br>
              <a:rPr lang="zh-CN" sz="2000">
                <a:latin typeface="微软雅黑"/>
                <a:ea typeface="微软雅黑"/>
              </a:rPr>
            </a:b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给出 文件:行号；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864608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A33B38"/>
            </a:solidFill>
          </a:ln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A33B38"/>
                </a:solidFill>
                <a:latin typeface="微软雅黑"/>
                <a:ea typeface="微软雅黑"/>
              </a:rPr>
              <a:t>√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005840" y="4663440"/>
            <a:ext cx="7726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说明你对哪项推断做了核实，预期与观察是否一致；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实验要求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输出成果须解释疑点与工具使用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输出成果须解释疑点与工具使用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554480"/>
            <a:ext cx="1051560" cy="10058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疑点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554480" y="1554480"/>
            <a:ext cx="7178040" cy="10058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指出疑点，并说明属于“设计问题”还是“理解不足”。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743200"/>
            <a:ext cx="1051560" cy="100584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AI使用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554480" y="2743200"/>
            <a:ext cx="7178040" cy="100584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在一页说明的“AI使用”中写明本次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IDEA、Claude Code、DeepSeek 各自做了什么，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哪些结论由你本人核实。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931920"/>
            <a:ext cx="1051560" cy="10058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600" b="1">
                <a:solidFill>
                  <a:srgbClr val="FFFFFF"/>
                </a:solidFill>
                <a:latin typeface="微软雅黑"/>
                <a:ea typeface="微软雅黑"/>
              </a:rPr>
              <a:t>模仿</a:t>
            </a:r>
            <a:endParaRPr lang="zh-CN" sz="16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554480" y="3931920"/>
            <a:ext cx="717804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所选业务调用链可参照教师给出的类图、活动图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与时序图示例，首次作业允许模仿。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实验要求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评分按讲清楚、有依据、验证过判定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评分按讲清楚、有依据、验证过判定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4" name="Text 讲清楚 30：七个模块与生成边界"/>
          <p:cNvSpPr txBox="1"/>
          <p:nvPr/>
        </p:nvSpPr>
        <p:spPr>
          <a:xfrm>
            <a:off x="546100" y="1422400"/>
            <a:ext cx="2565400" cy="33000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讲清楚</a:t>
            </a:r>
            <a:r>
              <a:rPr lang="en-US" alt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30——</a:t>
            </a:r>
            <a:endParaRPr lang="zh-CN" sz="2000" b="0" dirty="0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七个模块与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生成边界10，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所选链从入口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到服务、存储／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消息的调用和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数据流20（附 </a:t>
            </a: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文件</a:t>
            </a:r>
            <a:r>
              <a:rPr lang="en-US" alt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:</a:t>
            </a:r>
            <a:r>
              <a:rPr lang="zh-CN" altLang="en-US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行号）；</a:t>
            </a:r>
            <a:endParaRPr lang="zh-CN" sz="2000" b="0" dirty="0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 有依据 30：依赖、进程与库、数"/>
          <p:cNvSpPr txBox="1"/>
          <p:nvPr/>
        </p:nvSpPr>
        <p:spPr>
          <a:xfrm>
            <a:off x="3289300" y="1422400"/>
            <a:ext cx="2565400" cy="33000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有依据</a:t>
            </a:r>
            <a:r>
              <a:rPr lang="en-US" alt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30——</a:t>
            </a:r>
            <a:endParaRPr lang="zh-CN" sz="2000" b="0" dirty="0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依赖、进程与库、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数据归属中的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两项实际判断20，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区分设计疑点与</a:t>
            </a: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理解不足</a:t>
            </a:r>
            <a:r>
              <a:rPr lang="en-US" alt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 lang="zh-CN" altLang="en-US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</a:t>
            </a:r>
            <a:endParaRPr lang="zh-CN" sz="2000" b="0" dirty="0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 验证过 40：本人完成构建与一次"/>
          <p:cNvSpPr txBox="1"/>
          <p:nvPr/>
        </p:nvSpPr>
        <p:spPr>
          <a:xfrm>
            <a:off x="6032500" y="1422400"/>
            <a:ext cx="2565400" cy="33000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验证过</a:t>
            </a:r>
            <a:r>
              <a:rPr lang="en-US" alt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40——</a:t>
            </a:r>
            <a:endParaRPr lang="zh-CN" sz="2000" b="0" dirty="0"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本人完成构建与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一次只读查询20，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对所选链的一项推断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用可重复运行的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测试、断点或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实际运行核实，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记录预期、观察与</a:t>
            </a:r>
          </a:p>
          <a:p>
            <a:pPr algn="l">
              <a:lnSpc>
                <a:spcPct val="100000"/>
              </a:lnSpc>
              <a:buNone/>
            </a:pPr>
            <a:r>
              <a:rPr lang="zh-CN" sz="2000" b="0" dirty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修正20。</a:t>
            </a:r>
          </a:p>
        </p:txBody>
      </p:sp>
      <p:sp>
        <p:nvSpPr>
          <p:cNvPr id="7" name="Text 不要求修改产品代码或制造缺陷。&#10;"/>
          <p:cNvSpPr txBox="1"/>
          <p:nvPr/>
        </p:nvSpPr>
        <p:spPr>
          <a:xfrm>
            <a:off x="546100" y="4800000"/>
            <a:ext cx="8051800" cy="6858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不要求修改产品代码或制造缺陷。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工具通过不能代替所选链核实。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实验要求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提交说明必须能解释证据来源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提交说明必须能解释证据来源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508760"/>
            <a:ext cx="1280160" cy="9144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提交物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1783080" y="1508760"/>
            <a:ext cx="6949440" cy="9144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一页说明（按讲清楚、有依据、验证过组织）＋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不超过2分钟本人录屏。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560320"/>
            <a:ext cx="1280160" cy="91440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AI使用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1783080" y="2560320"/>
            <a:ext cx="6949440" cy="914400"/>
          </a:xfrm>
          <a:prstGeom prst="rect">
            <a:avLst/>
          </a:prstGeom>
          <a:solidFill>
            <a:srgbClr val="F6E8E6"/>
          </a:solidFill>
          <a:ln w="12700">
            <a:solidFill>
              <a:srgbClr val="A33B38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“AI使用”说明 IDEA、Claude Code、DeepSeek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各自做了什么，哪些结论由本人核实。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611880"/>
            <a:ext cx="1280160" cy="9144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模仿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1783080" y="3611880"/>
            <a:ext cx="694944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所选调用链可参照教师图示，首次作业允许模仿。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107" name="fig-d"/>
          <p:cNvSpPr/>
          <p:nvPr/>
        </p:nvSpPr>
        <p:spPr>
          <a:xfrm>
            <a:off x="411480" y="4663440"/>
            <a:ext cx="1280160" cy="91440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txBody>
          <a:bodyPr wrap="square" lIns="18288" rIns="18288" tIns="9144" bIns="9144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</a:rPr>
              <a:t>时间</a:t>
            </a:r>
            <a:endParaRPr lang="zh-CN" sz="1800">
              <a:latin typeface="微软雅黑"/>
              <a:ea typeface="微软雅黑"/>
            </a:endParaRPr>
          </a:p>
        </p:txBody>
      </p:sp>
      <p:sp>
        <p:nvSpPr>
          <p:cNvPr id="108" name="fig"/>
          <p:cNvSpPr/>
          <p:nvPr/>
        </p:nvSpPr>
        <p:spPr>
          <a:xfrm>
            <a:off x="1783080" y="4663440"/>
            <a:ext cx="694944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A6A6A6"/>
            </a:solidFill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000" b="0">
                <a:solidFill>
                  <a:srgbClr val="262626"/>
                </a:solidFill>
                <a:latin typeface="微软雅黑"/>
                <a:ea typeface="微软雅黑"/>
              </a:rPr>
              <a:t>提交时间由教师在课程网站公布，录屏须本人操作。</a:t>
            </a:r>
            <a:endParaRPr lang="zh-CN" sz="2000"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结束页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结束：结构、边界与核实共同支撑判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结构、边界、核实，三样都要有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101" name="fig-d"/>
          <p:cNvSpPr/>
          <p:nvPr/>
        </p:nvSpPr>
        <p:spPr>
          <a:xfrm>
            <a:off x="411480" y="1600200"/>
            <a:ext cx="109728" cy="7315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2" name="fig"/>
          <p:cNvSpPr/>
          <p:nvPr/>
        </p:nvSpPr>
        <p:spPr>
          <a:xfrm>
            <a:off x="594360" y="1600200"/>
            <a:ext cx="813816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① 用组织结构、模块依赖与业务图说明系统。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3" name="fig-d"/>
          <p:cNvSpPr/>
          <p:nvPr/>
        </p:nvSpPr>
        <p:spPr>
          <a:xfrm>
            <a:off x="411480" y="2514600"/>
            <a:ext cx="109728" cy="7315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4" name="fig"/>
          <p:cNvSpPr/>
          <p:nvPr/>
        </p:nvSpPr>
        <p:spPr>
          <a:xfrm>
            <a:off x="594360" y="2514600"/>
            <a:ext cx="813816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② 用生成代码边界、工具职责界定可做的工作。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5" name="fig-d"/>
          <p:cNvSpPr/>
          <p:nvPr/>
        </p:nvSpPr>
        <p:spPr>
          <a:xfrm>
            <a:off x="411480" y="3429000"/>
            <a:ext cx="109728" cy="731520"/>
          </a:xfrm>
          <a:prstGeom prst="rect">
            <a:avLst/>
          </a:prstGeom>
          <a:solidFill>
            <a:srgbClr val="A33B38"/>
          </a:solidFill>
          <a:ln w="12700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endParaRPr lang="zh-CN">
              <a:latin typeface="微软雅黑"/>
              <a:ea typeface="微软雅黑"/>
            </a:endParaRPr>
          </a:p>
        </p:txBody>
      </p:sp>
      <p:sp>
        <p:nvSpPr>
          <p:cNvPr id="106" name="fig"/>
          <p:cNvSpPr/>
          <p:nvPr/>
        </p:nvSpPr>
        <p:spPr>
          <a:xfrm>
            <a:off x="594360" y="3429000"/>
            <a:ext cx="813816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wrap="square" lIns="91440" rIns="91440" tIns="45720" bIns="45720" anchor="ctr"/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2200" b="0">
                <a:solidFill>
                  <a:srgbClr val="262626"/>
                </a:solidFill>
                <a:latin typeface="微软雅黑"/>
                <a:ea typeface="微软雅黑"/>
              </a:rPr>
              <a:t>③ 用 文件:行号 与可重复运行的核实支持自己的判断。</a:t>
            </a:r>
            <a:endParaRPr lang="zh-CN" sz="2200">
              <a:latin typeface="微软雅黑"/>
              <a:ea typeface="微软雅黑"/>
            </a:endParaRPr>
          </a:p>
        </p:txBody>
      </p:sp>
      <p:sp>
        <p:nvSpPr>
          <p:cNvPr id="107" name="fig"/>
          <p:cNvSpPr/>
          <p:nvPr/>
        </p:nvSpPr>
        <p:spPr>
          <a:xfrm>
            <a:off x="411480" y="4572000"/>
            <a:ext cx="8321040" cy="914400"/>
          </a:xfrm>
          <a:prstGeom prst="rect">
            <a:avLst/>
          </a:prstGeom>
          <a:solidFill>
            <a:srgbClr val="A33B38"/>
          </a:solidFill>
          <a:ln w="28575">
            <a:solidFill>
              <a:srgbClr val="A33B38"/>
            </a:solidFill>
          </a:ln>
        </p:spPr>
        <p:txBody>
          <a:bodyPr wrap="square" lIns="73152" rIns="73152" tIns="36576" bIns="36576" anchor="ctr"/>
          <a:lstStyle/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下次课：T2 运行环境。</a:t>
            </a:r>
            <a:endParaRPr lang="zh-CN" sz="2000">
              <a:latin typeface="微软雅黑"/>
              <a:ea typeface="微软雅黑"/>
            </a:endParaRPr>
          </a:p>
          <a:p>
            <a:pPr algn="ctr">
              <a:lnSpc>
                <a:spcPct val="100000"/>
              </a:lnSpc>
              <a:buNone/>
            </a:pPr>
            <a:r>
              <a:rPr lang="zh-CN" altLang="en-US" sz="2000" b="1">
                <a:solidFill>
                  <a:srgbClr val="FFFFFF"/>
                </a:solidFill>
                <a:latin typeface="微软雅黑"/>
                <a:ea typeface="微软雅黑"/>
              </a:rPr>
              <a:t>运行形态与模块化原则共同回应需求和约束。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n-kicker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215900"/>
            <a:ext cx="7874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12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本章参考资料</a:t>
            </a:r>
            <a:endParaRPr lang="zh-CN" sz="12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3" name="Text 参考资料说明概念与项目证据出处">
            <a:extLst>
              <a:ext uri="{FF2B5EF4-FFF2-40B4-BE49-F238E27FC236}">
                <a16:creationId xmlns:a16="http://schemas.microsoft.com/office/drawing/2014/main" id="{235FBB8C-6FFE-D04D-BCB5-52B77B0D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35000"/>
            <a:ext cx="8077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3000" b="1">
                <a:solidFill>
                  <a:srgbClr val="A33B38"/>
                </a:solidFill>
                <a:latin typeface="微软雅黑"/>
                <a:ea typeface="微软雅黑"/>
                <a:cs typeface="微软雅黑"/>
              </a:rPr>
              <a:t>参考资料说明概念与项目证据出处</a:t>
            </a:r>
            <a:endParaRPr lang="zh-CN" sz="3000" b="1">
              <a:solidFill>
                <a:srgbClr val="A33B38"/>
              </a:solidFill>
              <a:latin typeface="微软雅黑"/>
              <a:ea typeface="微软雅黑"/>
            </a:endParaRPr>
          </a:p>
        </p:txBody>
      </p:sp>
      <p:sp>
        <p:nvSpPr>
          <p:cNvPr id="4" name="Text [19] ISO/IEC 250"/>
          <p:cNvSpPr txBox="1"/>
          <p:nvPr/>
        </p:nvSpPr>
        <p:spPr>
          <a:xfrm>
            <a:off x="723900" y="1460500"/>
            <a:ext cx="7708900" cy="990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[19] ISO/IEC 25010:2023 产品质量模型。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https://www.iso.org/standard/78176.html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5" name="Text [45] macrozheng."/>
          <p:cNvSpPr txBox="1"/>
          <p:nvPr/>
        </p:nvSpPr>
        <p:spPr>
          <a:xfrm>
            <a:off x="723900" y="2540000"/>
            <a:ext cx="7708900" cy="990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[45] macrozheng. mall：项目 README 与源码。</a:t>
            </a:r>
            <a:endParaRPr lang="zh-CN" sz="2000">
              <a:latin typeface="微软雅黑"/>
              <a:ea typeface="微软雅黑"/>
            </a:endParaRPr>
          </a:p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https://github.com/macrozheng/mall</a:t>
            </a:r>
            <a:endParaRPr lang="zh-CN" sz="2000">
              <a:latin typeface="微软雅黑"/>
              <a:ea typeface="微软雅黑"/>
            </a:endParaRPr>
          </a:p>
        </p:txBody>
      </p:sp>
      <p:sp>
        <p:nvSpPr>
          <p:cNvPr id="6" name="Text [47] 课程组《AI协作与产出"/>
          <p:cNvSpPr txBox="1"/>
          <p:nvPr/>
        </p:nvSpPr>
        <p:spPr>
          <a:xfrm>
            <a:off x="723900" y="3619500"/>
            <a:ext cx="7708900" cy="990600"/>
          </a:xfrm>
          <a:prstGeom prst="roundRect">
            <a:avLst/>
          </a:prstGeom>
          <a:solidFill>
            <a:srgbClr val="F6E8E6"/>
          </a:solidFill>
          <a:ln w="9525">
            <a:solidFill>
              <a:srgbClr val="A33B38"/>
            </a:solidFill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zh-CN" sz="20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[47] 课程组《AI协作与产出验收规范》。</a:t>
            </a:r>
            <a:endParaRPr lang="zh-CN" sz="2000"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406507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SDC-2026">
      <a:dk1>
        <a:srgbClr val="262626"/>
      </a:dk1>
      <a:lt1>
        <a:srgbClr val="FFFFFF"/>
      </a:lt1>
      <a:dk2>
        <a:srgbClr val="A33B38"/>
      </a:dk2>
      <a:lt2>
        <a:srgbClr val="F6E8E6"/>
      </a:lt2>
      <a:accent1>
        <a:srgbClr val="A33B38"/>
      </a:accent1>
      <a:accent2>
        <a:srgbClr val="A33B38"/>
      </a:accent2>
      <a:accent3>
        <a:srgbClr val="595959"/>
      </a:accent3>
      <a:accent4>
        <a:srgbClr val="2E7D32"/>
      </a:accent4>
      <a:accent5>
        <a:srgbClr val="B26A00"/>
      </a:accent5>
      <a:accent6>
        <a:srgbClr val="D9D9D9"/>
      </a:accent6>
      <a:hlink>
        <a:srgbClr val="A33B38"/>
      </a:hlink>
      <a:folHlink>
        <a:srgbClr val="7F7F7F"/>
      </a:folHlink>
    </a:clrScheme>
    <a:fontScheme name="SDC-2026">
      <a:maj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7819</Words>
  <Application>Microsoft Office PowerPoint</Application>
  <PresentationFormat>全屏显示(4:3)</PresentationFormat>
  <Paragraphs>756</Paragraphs>
  <Slides>66</Slides>
  <Notes>62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7" baseType="lpstr">
      <vt:lpstr>黑体</vt:lpstr>
      <vt:lpstr>微软雅黑</vt:lpstr>
      <vt:lpstr>Arial</vt:lpstr>
      <vt:lpstr>Calibri</vt:lpstr>
      <vt:lpstr>Cambria</vt:lpstr>
      <vt:lpstr>Consolas</vt:lpstr>
      <vt:lpstr>Courier New</vt:lpstr>
      <vt:lpstr>Times New Roman</vt:lpstr>
      <vt:lpstr>Verdana</vt:lpstr>
      <vt:lpstr>Wingdings</vt:lpstr>
      <vt:lpstr>2_985平台</vt:lpstr>
      <vt:lpstr>软件设计与规范</vt:lpstr>
      <vt:lpstr>本次课内容</vt:lpstr>
      <vt:lpstr>本次课目标</vt:lpstr>
      <vt:lpstr>PowerPoint 演示文稿</vt:lpstr>
      <vt:lpstr>PowerPoint 演示文稿</vt:lpstr>
      <vt:lpstr>任务说明与开发环境</vt:lpstr>
      <vt:lpstr>任务说明与开发环境</vt:lpstr>
      <vt:lpstr>任务说明与开发环境</vt:lpstr>
      <vt:lpstr>IDEA 从上游地址打开 mall</vt:lpstr>
      <vt:lpstr>构建结果用于核对环境是否可用</vt:lpstr>
      <vt:lpstr>教师演示</vt:lpstr>
      <vt:lpstr>后台首页呈现商品与订单概览</vt:lpstr>
      <vt:lpstr>后台菜单覆盖管理业务</vt:lpstr>
      <vt:lpstr>前台商城呈现购物与订单入口</vt:lpstr>
      <vt:lpstr>系统图与业务图回答不同问题</vt:lpstr>
      <vt:lpstr>系统局部定位应用、消息与存储</vt:lpstr>
      <vt:lpstr>前台业务块包含商品与订单流程</vt:lpstr>
      <vt:lpstr>模块依赖有方向，调用层次有局限</vt:lpstr>
      <vt:lpstr>教师演示：调用层次</vt:lpstr>
      <vt:lpstr>AI 的依赖解释必须核对构建配置</vt:lpstr>
      <vt:lpstr>任务与步骤</vt:lpstr>
      <vt:lpstr>任务⓪</vt:lpstr>
      <vt:lpstr>任务①</vt:lpstr>
      <vt:lpstr>任务②：候选调用链</vt:lpstr>
      <vt:lpstr>任务②</vt:lpstr>
      <vt:lpstr>教师示例：下单—支付—超时取消</vt:lpstr>
      <vt:lpstr>教师示例：下单—支付—超时取消</vt:lpstr>
      <vt:lpstr>教师示例：下单—支付—超时取消</vt:lpstr>
      <vt:lpstr>教师示例</vt:lpstr>
      <vt:lpstr>任务③</vt:lpstr>
      <vt:lpstr>任务③：受控核实方案</vt:lpstr>
      <vt:lpstr>难点通俗示例</vt:lpstr>
      <vt:lpstr>任务③④⑤</vt:lpstr>
      <vt:lpstr>任务④⑤</vt:lpstr>
      <vt:lpstr>任务④</vt:lpstr>
      <vt:lpstr>实验检查：常见失分</vt:lpstr>
      <vt:lpstr>小结</vt:lpstr>
      <vt:lpstr>问答题：修改前先判断不可变约束</vt:lpstr>
      <vt:lpstr>实验要求</vt:lpstr>
      <vt:lpstr>实验要求</vt:lpstr>
      <vt:lpstr>实验要求</vt:lpstr>
      <vt:lpstr>实验要求</vt:lpstr>
      <vt:lpstr>实验要求</vt:lpstr>
      <vt:lpstr>实验要求</vt:lpstr>
      <vt:lpstr>结束页</vt:lpstr>
      <vt:lpstr>本章参考资料</vt:lpstr>
      <vt:lpstr>PowerPoint 演示文稿</vt:lpstr>
      <vt:lpstr>PowerPoint 演示文稿</vt:lpstr>
      <vt:lpstr>PowerPoint 演示文稿</vt:lpstr>
      <vt:lpstr>PowerPoint 演示文稿</vt:lpstr>
      <vt:lpstr>附录·课前自学</vt:lpstr>
      <vt:lpstr>附录·课前自学</vt:lpstr>
      <vt:lpstr>附录·课前自学</vt:lpstr>
      <vt:lpstr>课前自学：在 IDEA 中检查模型入口</vt:lpstr>
      <vt:lpstr>附录·课前自学</vt:lpstr>
      <vt:lpstr>附录·课前自学</vt:lpstr>
      <vt:lpstr>附录·课前自学</vt:lpstr>
      <vt:lpstr>附录·课前自学</vt:lpstr>
      <vt:lpstr>附录·课前自学</vt:lpstr>
      <vt:lpstr>附录·课前自学</vt:lpstr>
      <vt:lpstr>附录·课前自学</vt:lpstr>
      <vt:lpstr>附录·课前自学</vt:lpstr>
      <vt:lpstr>附录·课前自学</vt:lpstr>
      <vt:lpstr>附录·课前自学</vt:lpstr>
      <vt:lpstr>附录·课前自学</vt:lpstr>
      <vt:lpstr>附录·课前自学</vt:lpstr>
    </vt:vector>
  </TitlesOfParts>
  <Company>sei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</cp:lastModifiedBy>
  <cp:revision>1062</cp:revision>
  <cp:lastPrinted>2003-09-14T10:10:00Z</cp:lastPrinted>
  <dcterms:created xsi:type="dcterms:W3CDTF">2003-08-28T12:03:00Z</dcterms:created>
  <dcterms:modified xsi:type="dcterms:W3CDTF">2026-10-12T11:57:01Z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