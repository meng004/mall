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本节 15 分钟</a:t>
            </a:r>
          </a:p>
          <a:p>
            <a:r>
              <a:t>定义：这次实验在既有代码上画相关视图，比较两种最小方案，并完成一处局部改动或可运行对照。</a:t>
            </a:r>
          </a:p>
          <a:p>
            <a:r>
              <a:t>代价：开场把本次细则当成上一份作业的投票标准，投出来的分对不上那份作品。</a:t>
            </a:r>
          </a:p>
          <a:p>
            <a:r>
              <a:t>判定：先看被演示的是哪一次实验，再用那一次的细则投票，然后才答签到。</a:t>
            </a:r>
          </a:p>
          <a:p>
            <a:r>
              <a:t>权衡：三个班周次不同，口头交代时间。课上只强调这是第 4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E1 的细则。被演示的是上一份作品，不是这次要交的作业。</a:t>
            </a:r>
          </a:p>
          <a:p>
            <a:r>
              <a:t>代价：用这次实验的三栏去投 E1 的作品，两项作业的证据会对错位。</a:t>
            </a:r>
          </a:p>
          <a:p>
            <a:r>
              <a:t>判定：票要能对上模块与生成边界、调用链上的文件:行号，以及本人做过的构建和核实。</a:t>
            </a:r>
          </a:p>
          <a:p>
            <a:r>
              <a:t>权衡：E1 不要求修改产品代码，也不要求制造缺陷。这次实验的细则和边界在后面单独讲。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答案：A</a:t>
            </a:r>
          </a:p>
          <a:p>
            <a:r>
              <a:t>定义：顺着服务层去访问数据仍然算正常。判断跑到入口、下层调用上层、越过服务直接调接口，才是常见的违背形态。</a:t>
            </a:r>
          </a:p>
          <a:p>
            <a:r>
              <a:t>代价：把正常的服务层访问也当成缺陷，后面的方案比较会找错靶子。</a:t>
            </a:r>
          </a:p>
          <a:p>
            <a:r>
              <a:t>判定：控制器经过服务再去碰数据，依赖方向没有反。另外三项才是常见的违背形态。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定义：这五题是实验前的预习。这里只给正确答案、判定依据，以及容易混到的另一个概念。</a:t>
            </a:r>
          </a:p>
          <a:p>
            <a:r>
              <a:t>代价：把逻辑视图当成模块组织，后面的四张图会答非所问。</a:t>
            </a:r>
          </a:p>
          <a:p>
            <a:r>
              <a:t>判定：第 1 题看的是模块；第 2 题不能只看注解写在哪一行；第 3 题是逻辑泄漏。</a:t>
            </a:r>
          </a:p>
          <a:p>
            <a:r>
              <a:t>权衡：第 4 题选自动发现越界，不选编译速度。第 5 题还要写出被否决的方案。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定义：目标是在分层和调用链里指出一处具体问题或变化成本，并完成一处局部改动或可运行对照。</a:t>
            </a:r>
          </a:p>
          <a:p>
            <a:r>
              <a:t>代价：把整站迁到另一种架构当成这次的完成标准，局部证据就做不完。</a:t>
            </a:r>
          </a:p>
          <a:p>
            <a:r>
              <a:t>判定：作品要能对上所选业务的视图、文件:行号，以及两种方案的可测试性、可替换性和代价。</a:t>
            </a:r>
          </a:p>
          <a:p>
            <a:r>
              <a:t>权衡：不要求完整迁移架构。真实例外可以解释，但不能悄悄拿掉安全、事务或对外接口。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定义：改前逻辑视图里，单笔取消先按条件查出，再按主键改状态，然后补偿。用户取消和到期消息都进这一份。</a:t>
            </a:r>
          </a:p>
          <a:p>
            <a:r>
              <a:t>代价：查和改不是同一次条件更新。支付若插在中间，仍可能覆盖状态并重复补偿。</a:t>
            </a:r>
          </a:p>
          <a:p>
            <a:r>
              <a:t>判定：图上要能读出 cancelOrder，以及“先查后改，再补偿”。调用者是 /cancelUserOrder 和 CancelOrderReceiver。</a:t>
            </a:r>
          </a:p>
          <a:p>
            <a:r>
              <a:t>权衡：四个入口里，/cancelOrder 只发延迟消息，画在进程视图；定时任务第 14 行未注册。进程整图字大约 7 磅，这页不铺整图。</a:t>
            </a:r>
          </a:p>
          <a:p>
            <a:r>
              <a:t>基线 6518df70cba7bd7ba7d7a96719d7decc77f5c917。分支当前头 2cc1bcfb9201b01ecb44f3b86564a6aedab89971。最终代码 47f4f735b26f75deb6e149e069cfe720869f46c6。图稿与对照 6cf9e39ee30d314c7262bc18e2b320da6f7dc505。进程整图：SDC/E2/outputs/E2-00/diagrams/process-before.html，本地 e2-00-process-before.png。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定义：改前的第二份补偿在 cancelTimeOutOrder：先把超时单的状态改成取消，再逐单释放库存、退券、返还积分。</a:t>
            </a:r>
          </a:p>
          <a:p>
            <a:r>
              <a:t>代价：规则和单笔各写一处。以后多一种补偿，要两处一起改，容易漏。</a:t>
            </a:r>
          </a:p>
          <a:p>
            <a:r>
              <a:t>判定：图上要能读出 cancelTimeOutOrder，以及“批量改状态再补偿”。入口是 /cancelTimeOutOrder。</a:t>
            </a:r>
          </a:p>
          <a:p>
            <a:r>
              <a:t>权衡：定时任务的 @Component 已注释，虚线表示未注册、不运行。这一页只放大批量这一份，不代替单笔那一页。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定义：改前这一段：调用方发 /cancelOrder，控制器只把延迟消息送进 TTL，并不取消订单。改后这一跳不变。</a:t>
            </a:r>
          </a:p>
          <a:p>
            <a:r>
              <a:t>代价：名字像取消，当时订单仍待付款。真正取消要等死信。入口地址没有改。</a:t>
            </a:r>
          </a:p>
          <a:p>
            <a:r>
              <a:t>判定：能读出 POST /cancelOrder，以及“发延迟消息进 TTL”。改后仍是这一跳，不是直接改订单。</a:t>
            </a:r>
          </a:p>
          <a:p>
            <a:r>
              <a:t>权衡：下一张才是到期之后谁来执行。改后收到一处的是后面的取消实现，不是这条延迟消息。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定义：到期后死信回到取消接收者，再调用 cancelOrder。超时批量则走 /cancelTimeOutOrder，停在服务自己的补偿。</a:t>
            </a:r>
          </a:p>
          <a:p>
            <a:r>
              <a:t>代价：两份补偿还各写一处。定时任务标着未注册，实际不跑。</a:t>
            </a:r>
          </a:p>
          <a:p>
            <a:r>
              <a:t>判定：能读出死信 mall.order.cancel，以及 POST /cancelTimeOutOrder。</a:t>
            </a:r>
          </a:p>
          <a:p>
            <a:r>
              <a:t>权衡：改后这两条都会再进 OrderCancellation。延迟消息那一跳改前改后一样，不再单列一页。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定义：单笔 cancelOrder 与批量 cancelOverdue 都再调用 OrderCancellation，补偿只留在 cancelIf。</a:t>
            </a:r>
          </a:p>
          <a:p>
            <a:r>
              <a:t>代价：多一跳。控制器、接收者和定时任务都没改。</a:t>
            </a:r>
          </a:p>
          <a:p>
            <a:r>
              <a:t>判定：能读出 cancel 与 cancelOverdue 指向同一个类。写入点从 2 处收到 1 处。</a:t>
            </a:r>
          </a:p>
          <a:p>
            <a:r>
              <a:t>权衡：条件更新的源码在后面同一处。定时任务仍然未注册。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定义：改后把两份补偿收进 OrderCancellation。条件更新命中的行数不是 1，就返回，不做补偿。</a:t>
            </a:r>
          </a:p>
          <a:p>
            <a:r>
              <a:t>代价：多一个类，服务方法多一次跳转。入口仍依赖原来的订单服务。</a:t>
            </a:r>
          </a:p>
          <a:p>
            <a:r>
              <a:t>判定：图上读 OrderCancellation。代码里 updated 不是 1 就返回。条件从第 81 行写起，这里只留更新和返回。</a:t>
            </a:r>
          </a:p>
          <a:p>
            <a:r>
              <a:t>权衡：控制器、消息接收者和定时任务没改。单笔 cancel 要求未删除；批量不要求，以便删过的待付款单仍能补偿。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定义：对照结论是符合。改前、改后都通过，因为这是行为保持，不是先造一个失败再修掉。</a:t>
            </a:r>
          </a:p>
          <a:p>
            <a:r>
              <a:t>代价：把 pass 理解成业务已经在运行的门户上放行，会超过这组测试实际覆盖的范围。</a:t>
            </a:r>
          </a:p>
          <a:p>
            <a:r>
              <a:t>判定：示例材料的对照结论符合。课程作业是否得分，仍看本次细则里的证据，不由这一行结论代替。</a:t>
            </a:r>
          </a:p>
          <a:p>
            <a:r>
              <a:t>权衡：变异删掉积分返还、改成无条件更新、漏掉释放库存、批量又要求未删除，测试都会变红。测完已回到该提交。</a:t>
            </a:r>
          </a:p>
          <a:p>
            <a:r>
              <a:t>变异记录与对照在同一提交 6cf9e39ee30d314c7262bc18e2b320da6f7dc505。没有走 HTTP，也没有向真实队列发延迟消息。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定义：扩展题把订单状态的出发集合收进一个模块。支付只允许从待付款出发，后台关闭也只允许从待付款出发。</a:t>
            </a:r>
          </a:p>
          <a:p>
            <a:r>
              <a:t>代价：多一个模块、两条依赖。规则若仍在两个应用里各写一份，改一处时另一处不会跟着变。</a:t>
            </a:r>
          </a:p>
          <a:p>
            <a:r>
              <a:t>判定：改前两处失败：已付款订单仍能被后台关掉，重复支付仍会改写并扣库存。改后 5 个测试通过。</a:t>
            </a:r>
          </a:p>
          <a:p>
            <a:r>
              <a:t>权衡：用户取消不走这里，那是 E2-00。被否决的做法包括放进公共库，以及两边各写一份再靠测试发现不一致。</a:t>
            </a:r>
          </a:p>
          <a:p>
            <a:r>
              <a:t>分支当前头 dbd610b17298617a3b2e9d98374e4c7e680ace59。最终代码 c1cb8ca81a7de1344a05bab90a50673e955cc1e1。对照与图稿 6ec10fdf131dac0fe7599cfb51b3198226614de2。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定义：公共逻辑视图里，/order/cancelOrder 这条边实际只发延迟消息。本题的差异是后来把补偿收进一个类。</a:t>
            </a:r>
          </a:p>
          <a:p>
            <a:r>
              <a:t>代价：只复用整图、不标差异，会把教师示例改过的结构说成基线上的结构。</a:t>
            </a:r>
          </a:p>
          <a:p>
            <a:r>
              <a:t>判定：能指出取消这条边的名字和实际动作不一致，并说明宿主端口不在这张局部图里。</a:t>
            </a:r>
          </a:p>
          <a:p>
            <a:r>
              <a:t>权衡：容器端口和宿主映射要分开。13306、5673、16379、27018 是课程环境的宿主映射。物理视图沿用公共部署，本题没有新机器。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定义：第一步用相关的视图解释所选业务的职责、依赖和运行边界，不必四张都从零重画。</a:t>
            </a:r>
          </a:p>
          <a:p>
            <a:r>
              <a:t>代价：四张图回答四个问题。用一张图同时回答模块、进程和机器，差异会标错地方。</a:t>
            </a:r>
          </a:p>
          <a:p>
            <a:r>
              <a:t>判定：问这张图回答的是职责、运行时通信、模块，还是机器和端口。本题差异至少要出现在其中一张上。</a:t>
            </a:r>
          </a:p>
          <a:p>
            <a:r>
              <a:t>权衡：公共图够用的部分直接标“沿用”。只有和所选业务不同的边、类或端口才需要另画。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定义：第二步指出一处具体的原则问题或变化成本，并给出文件:行号、调用者或数据流。</a:t>
            </a:r>
          </a:p>
          <a:p>
            <a:r>
              <a:t>代价：只写“补偿重复了”，不给行号和调用者，有依据这一档对不上。</a:t>
            </a:r>
          </a:p>
          <a:p>
            <a:r>
              <a:t>判定：这一段是先按条件查出，再按主键改状态。调用者包括用户取消入口；批量那一份在同文件的 cancelTimeOutOrder。</a:t>
            </a:r>
          </a:p>
          <a:p>
            <a:r>
              <a:t>权衡：行号必须对上你打开的那一版。教师示例的基线行号不能直接当成你改过之后的行号。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定义：第三步比较两种最小方案。教师示例否决了只在原服务里抽私有方法，采用了独立的取消类。</a:t>
            </a:r>
          </a:p>
          <a:p>
            <a:r>
              <a:t>代价：只写一个方案，或者不写代价，比较这一项就是空的。</a:t>
            </a:r>
          </a:p>
          <a:p>
            <a:r>
              <a:t>判定：可测试性看能不能单独构造并观察协作者；可替换性看换规则要动几处；代价看多出来的类和跳转。</a:t>
            </a:r>
          </a:p>
          <a:p>
            <a:r>
              <a:t>权衡：学生做自己选的靶点时，两种方案都要是最小改动。不要拿“重写整个模块”当其中一种。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定义：第四步对一个关键接缝做局部改动或可运行对照，并在同一输入下比较前后行为与修改成本。</a:t>
            </a:r>
          </a:p>
          <a:p>
            <a:r>
              <a:t>代价：改前改后用了不同输入，行为保持或问题改善都无法比较。</a:t>
            </a:r>
          </a:p>
          <a:p>
            <a:r>
              <a:t>判定：要看到同一输入下的结果，以及依赖、修改点或测试成本哪一项变了。没跑过的路径单独标明。</a:t>
            </a:r>
          </a:p>
          <a:p>
            <a:r>
              <a:t>权衡：行为保持是前后都通过。行为修正是改前失败、改后通过。两种都要讲清，不能混成一句“测试过了”。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定义：这些是本次细则里对不上的证据，以及教师示例对照时已经标出的未验证范围。</a:t>
            </a:r>
          </a:p>
          <a:p>
            <a:r>
              <a:t>代价：缺了行号、调用者或同一输入的对照，对应的那一档就没有证据。</a:t>
            </a:r>
          </a:p>
          <a:p>
            <a:r>
              <a:t>判定：验证过要看到局部改动或可运行对照。检测口径的报错还要和运行时事实分开。</a:t>
            </a:r>
          </a:p>
          <a:p>
            <a:r>
              <a:t>权衡：允许写“这里还没验证”。不允许把未做的对照写成已经做过。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定义：检测口径是规则扫哪些文件。运行时事实是这次调用有没有经过代理、事务有没有生效。</a:t>
            </a:r>
          </a:p>
          <a:p>
            <a:r>
              <a:t>代价：把误报当成必须修改的缺陷，会去改一个仍然生效的事务，或者漏掉真正的重复补偿。</a:t>
            </a:r>
          </a:p>
          <a:p>
            <a:r>
              <a:t>判定：先看规则的扫描范围，再拿同一次调用的测试或运行结果对照。对不上的时候，先怀疑口径。</a:t>
            </a:r>
          </a:p>
          <a:p>
            <a:r>
              <a:t>权衡：接口上的事务注解，不能据此推广到自调用，也不能推广到别的织入方式。</a:t>
            </a:r>
          </a:p>
          <a:p>
            <a:r>
              <a:t>参考要点：先核对规则扫的是实现类还是接口；再用同一次调用的测试对照，报错不等于缺陷。</a:t>
            </a:r>
          </a:p>
          <a:p>
            <a:r>
              <a:t>依据：教案第 4 次课小结。基线服务接口第 38 到 45 行的事务注解写在接口上。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定义：三栏都是 30、30、40。每一栏里的两个子项都要有自己的证据。</a:t>
            </a:r>
          </a:p>
          <a:p>
            <a:r>
              <a:t>代价：未实施的方案图不能拿验证过这一栏的分。缺哪一项，就少哪一项的证据。</a:t>
            </a:r>
          </a:p>
          <a:p>
            <a:r>
              <a:t>判定：讲清楚看问题和视图；有依据看原则和两种方案；验证过看同一输入下的前后对照。</a:t>
            </a:r>
          </a:p>
          <a:p>
            <a:r>
              <a:t>权衡：示例材料对照符合，只说明那一份参考实现的记录齐。你的作业分看你自己的证据。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定义：提交是一页说明加不超过 2 分钟的本人录屏，然后再做 3 份同次作业的互评。</a:t>
            </a:r>
          </a:p>
          <a:p>
            <a:r>
              <a:t>代价：超时未交，或互评不足 3 份，过程记录就不完整。</a:t>
            </a:r>
          </a:p>
          <a:p>
            <a:r>
              <a:t>判定：说明按五问组织。录屏里要能看到你指出的那一处行号，以及前后对照或局部改动。</a:t>
            </a:r>
          </a:p>
          <a:p>
            <a:r>
              <a:t>权衡：参考实现可以看，不能代替本人的选择、执行和证据。互评看的是同一次作业。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4 次课｜体系结构建模与方案评价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E1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七个模块与生成边界10</a:t>
                      </a:r>
                    </a:p>
                  </a:txBody>
                  <a:tcPr anchor="ctr"/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所选链从入口到服务、存储／消息的调用和数据流20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（附 文件:行号）</a:t>
                      </a:r>
                    </a:p>
                  </a:txBody>
                  <a:tcPr anchor="ctr"/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依赖、进程与库、数据归属中的两项实际判断20</a:t>
                      </a:r>
                    </a:p>
                  </a:txBody>
                  <a:tcPr anchor="ctr"/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区分设计疑点与理解不足10</a:t>
                      </a:r>
                    </a:p>
                  </a:txBody>
                  <a:tcPr anchor="ctr"/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本人完成构建与一次只读查询20</a:t>
                      </a:r>
                    </a:p>
                  </a:txBody>
                  <a:tcPr anchor="ctr"/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对所选链的一项推断用受控测试、断点或可重复运行核实，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记录预期、观察与修正20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下列哪一项不属于“分层被违背”的常见形态？请看完演示再投票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（A）控制器通过服务层访问数据；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（B）业务逻辑泄漏到控制器；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（C）数据访问层反向调用控制器；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（D）跨层直接调用数据访问接口。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请投票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先看过演示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 开发视图。依据：它看代码怎样组织成模块。易混：逻辑视图。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2 写在实现类上就一定生效：错误。还要看是否经过代理。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302812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 业务判断写在控制器中，是逻辑泄漏。这一层懂了返回码。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167835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 依赖规则让以后的修改自动发现越界，并不是为了编译变快。</a:t>
            </a:r>
          </a:p>
        </p:txBody>
      </p:sp>
      <p:sp>
        <p:nvSpPr>
          <p:cNvPr id="7" name="fig"/>
          <p:cNvSpPr/>
          <p:nvPr/>
        </p:nvSpPr>
        <p:spPr>
          <a:xfrm>
            <a:off x="164592" y="5032857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 决策记录要写上下文、决定、后果和被否决的方案：正确。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从候选靶点选一项。教师示例 E2-00，扩展题 E2-01。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2654046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学生要在分层和调用链中指出具体问题或变化成本并给出证据。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735324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本次实验要完成局部改动或可运行对照，并比较两种最小方案。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816602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本次明确不要求完整迁移架构。安全、事务、对外接口仍保留。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教师示例 E2-00：改前单笔补偿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/cancelUserOrder 与 CancelOrderReceiver。Issue #42</a:t>
            </a:r>
          </a:p>
        </p:txBody>
      </p:sp>
      <p:pic>
        <p:nvPicPr>
          <p:cNvPr id="4" name="pic#archify#crop#6cf9e39ee30d314c7262bc18e2b320da6f7dc505#SDC/E2/outputs/E2-00/diagrams/logical-before.html#e2-00-single-compensate.png" descr="e2-00-single-compens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960" y="2267712"/>
            <a:ext cx="4490078" cy="3310127"/>
          </a:xfrm>
          <a:prstGeom prst="rect">
            <a:avLst/>
          </a:prstGeom>
        </p:spPr>
      </p:pic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图片来源：archify 派生图，局部，meng004/​mall，logical-before.html，6cf9e39e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改前局部：批量补偿</a:t>
            </a:r>
          </a:p>
        </p:txBody>
      </p:sp>
      <p:pic>
        <p:nvPicPr>
          <p:cNvPr id="3" name="pic#archify#crop#6cf9e39ee30d314c7262bc18e2b320da6f7dc505#SDC/E2/outputs/E2-00/diagrams/logical-before.html#e2-00-batch-compensate.png" descr="e2-00-batch-compens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152" y="1298448"/>
            <a:ext cx="4795694" cy="356615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/cancelTimeOutOrder。OrderTimeOutCancelTask 未注册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派生图，局部，meng004/​mall，logical-before.html，6cf9e39e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改前进程局部：延迟消息</a:t>
            </a:r>
          </a:p>
        </p:txBody>
      </p:sp>
      <p:pic>
        <p:nvPicPr>
          <p:cNvPr id="3" name="pic#archify#crop#6cf9e39ee30d314c7262bc18e2b320da6f7dc505#SDC/E2/outputs/E2-00/diagrams/process-before.html#e2-00-process-before-a.png" descr="e2-00-process-before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057" y="1298448"/>
            <a:ext cx="7397885" cy="35661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/cancelOrder 只发延迟消息。改后这一跳仍只发消息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派生图，局部，meng004/​mall，process-before.html，6cf9e39e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改前进程局部：到期与批量</a:t>
            </a:r>
          </a:p>
        </p:txBody>
      </p:sp>
      <p:pic>
        <p:nvPicPr>
          <p:cNvPr id="3" name="pic#archify#crop#6cf9e39ee30d314c7262bc18e2b320da6f7dc505#SDC/E2/outputs/E2-00/diagrams/process-before.html#e2-00-process-before-b.png" descr="e2-00-process-before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298448"/>
            <a:ext cx="8631936" cy="3737235"/>
          </a:xfrm>
          <a:prstGeom prst="rect">
            <a:avLst/>
          </a:prstGeom>
        </p:spPr>
      </p:pic>
      <p:sp>
        <p:nvSpPr>
          <p:cNvPr id="4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派生图，局部，meng004/​mall，process-before.html，6cf9e39e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改后进程局部：收到一处</a:t>
            </a:r>
          </a:p>
        </p:txBody>
      </p:sp>
      <p:pic>
        <p:nvPicPr>
          <p:cNvPr id="3" name="pic#archify#crop#6cf9e39ee30d314c7262bc18e2b320da6f7dc505#SDC/E2/outputs/E2-00/diagrams/process-after.html#e2-00-process-after-b.png" descr="e2-00-process-after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597" y="1298448"/>
            <a:ext cx="7412804" cy="356615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901183"/>
            <a:ext cx="8412480" cy="6766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两份补偿收到一处。写入点 2 处 → 1 处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派生图，局部，meng004/​mall，process-after.html，6cf9e39e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改后：命中一行才做补偿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153619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int updated ​= ​orderMapper.​updateByExampleSelective(​record,​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 example);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 (​updated ​!= ​1)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 false;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303580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出处：meng004/​mall@​47f4f735b26f75deb6e149e069cfe720869f46c6:​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mall-portal/​src/​main/​java/​com/​macro/​mall/​portal/​service/​impl/​OrderCancellation.java:​85-88</a:t>
            </a:r>
          </a:p>
        </p:txBody>
      </p:sp>
      <p:pic>
        <p:nvPicPr>
          <p:cNvPr id="5" name="pic#archify#crop#6cf9e39ee30d314c7262bc18e2b320da6f7dc505#SDC/E2/outputs/E2-00/diagrams/logical-after.html#e2-00-order-cancellation.png" descr="e2-00-order-cance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008" y="3511296"/>
            <a:ext cx="4609982" cy="2066543"/>
          </a:xfrm>
          <a:prstGeom prst="rect">
            <a:avLst/>
          </a:prstGeom>
        </p:spPr>
      </p:pic>
      <p:sp>
        <p:nvSpPr>
          <p:cNvPr id="6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图片来源：archify 派生图，局部，meng004/​mall，logical-after.html，6cf9e39e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对照结论与写入点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记录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改前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pass，预期 pass。4 个测试，失败 0，跳过 0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改后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pass，预期 pass。8 个测试，失败 0，跳过 0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结论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符合。EXPECT_BASE=pass。行为保持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写入点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基线 2 处，改后 1 处，在 cancelIf</a:t>
                      </a:r>
                    </a:p>
                  </a:txBody>
                  <a:tcPr anchor="ctr"/>
                </a:tc>
              </a:tr>
              <a:tr h="6766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变异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删掉积分返还后，8 个里 4 个失败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候选靶点：扩展题 E2-01（Issue #43）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portal 与 admin 共用 mall-order-rule。改前 fail、改后 pass，这是行为修正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支付、发货、确认收货和后台关闭，各自只允许一组出发状态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public static List&lt;Integer&gt; ​from(​int target)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return switch (​target)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case PAID ​-&gt; ​List.​of(​UNPAID);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case SHIPPED ​-&gt; ​List.​of(​PAID);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case COMPLETE ​-&gt; ​List.​of(​SHIPPED);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case CLOSED ​-&gt; ​List.​of(​UNPAID);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default ​-&gt; ​List.​of(​);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出处：meng004/​mall@​c1cb8ca81a7de1344a05bab90a50673e955cc1e1:​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mall-order-rule/​src/​main/​java/​com/​macro/​mall/​order/​OrderStatus.java:​19-26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公共视图局部：下单链</a:t>
            </a:r>
          </a:p>
        </p:txBody>
      </p:sp>
      <p:pic>
        <p:nvPicPr>
          <p:cNvPr id="3" name="pic#archify#crop#c247ba6a8721f64bdfa1f0d4c7bb0b219ff6a60c#SDC/E2/diagrams/mall-logical.html#mall-logical-order.png" descr="mall-logical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580" y="1298448"/>
            <a:ext cx="6852839" cy="3035808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365760" y="4370832"/>
            <a:ext cx="8412480" cy="1207007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可复用公共视图，本题差异要另外标明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3306→13306、5672→5673、6379→16379、27017→27018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614416"/>
            <a:ext cx="8321040" cy="29260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局部放大。图片来源：archify 派生图，局部，meng004/​mall，mall-logical.html，c247ba6a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步骤① 用相关的“4+1”视图解释所选业务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逻辑视图写职责和依赖。可以复用公共图，再标出本题差在哪里。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2654046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进程视图写运行时谁发消息、谁执行。队列本身不执行 Java。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735324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开发视图写模块怎么分。物理视图把容器端口和宿主映射分开。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816602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没有新进程或新机器时，写明物理视图沿用公共部署，不要另画一台。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步骤② 文件:行号、调用者或数据流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387705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OmsOrderExample example ​= ​new OmsOrderExample(​);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example.​createCriteria(​).​andIdEqualTo(​orderId).​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andStatusEqualTo(​0).​andDeleteStatusEqualTo(​0);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List&lt;OmsOrder&gt; ​cancelOrderList ​= ​orderMapper.​selectByExample(​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example);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 (​CollectionUtils.​isEmpty(​cancelOrderList))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return;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OmsOrder cancelOrder ​= ​cancelOrderList.​get(​0);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 (​cancelOrder ​!= ​null)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​//修改订单状态为取消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cancelOrder.​setStatus(​4);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orderMapper.​updateByPrimaryKeySelective(​cancelOrder);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537667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出处：meng004/​mall@​6518df70cba7bd7ba7d7a96719d7decc77f5c917:​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mall-portal/​src/​main/​java/​com/​macro/​mall/​portal/​service/​impl/​OmsPortalOrderServiceImpl.java:​299-309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步骤③ 两种最小方案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可测试性、可替换性与代价</a:t>
            </a:r>
          </a:p>
        </p:txBody>
      </p:sp>
      <p:sp>
        <p:nvSpPr>
          <p:cNvPr id="4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方案 A：私有方法</a:t>
            </a:r>
          </a:p>
        </p:txBody>
      </p:sp>
      <p:sp>
        <p:nvSpPr>
          <p:cNvPr id="5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方案 B：独立的类</a:t>
            </a:r>
          </a:p>
        </p:txBody>
      </p:sp>
      <p:sp>
        <p:nvSpPr>
          <p:cNvPr id="6" name="fig"/>
          <p:cNvSpPr/>
          <p:nvPr/>
        </p:nvSpPr>
        <p:spPr>
          <a:xfrm>
            <a:off x="36576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测试仍绕整份服务</a:t>
            </a:r>
          </a:p>
        </p:txBody>
      </p:sp>
      <p:sp>
        <p:nvSpPr>
          <p:cNvPr id="7" name="fig"/>
          <p:cNvSpPr/>
          <p:nvPr/>
        </p:nvSpPr>
        <p:spPr>
          <a:xfrm>
            <a:off x="4663440" y="320954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测试可直接构造</a:t>
            </a:r>
          </a:p>
        </p:txBody>
      </p:sp>
      <p:sp>
        <p:nvSpPr>
          <p:cNvPr id="8" name="fig"/>
          <p:cNvSpPr/>
          <p:nvPr/>
        </p:nvSpPr>
        <p:spPr>
          <a:xfrm>
            <a:off x="36576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规则本身换不掉</a:t>
            </a:r>
          </a:p>
        </p:txBody>
      </p:sp>
      <p:sp>
        <p:nvSpPr>
          <p:cNvPr id="9" name="fig"/>
          <p:cNvSpPr/>
          <p:nvPr/>
        </p:nvSpPr>
        <p:spPr>
          <a:xfrm>
            <a:off x="4663440" y="409346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换规则只换一处</a:t>
            </a:r>
          </a:p>
        </p:txBody>
      </p:sp>
      <p:sp>
        <p:nvSpPr>
          <p:cNvPr id="10" name="fig"/>
          <p:cNvSpPr/>
          <p:nvPr/>
        </p:nvSpPr>
        <p:spPr>
          <a:xfrm>
            <a:off x="36576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代价是少一个类</a:t>
            </a:r>
          </a:p>
        </p:txBody>
      </p:sp>
      <p:sp>
        <p:nvSpPr>
          <p:cNvPr id="11" name="fig"/>
          <p:cNvSpPr/>
          <p:nvPr/>
        </p:nvSpPr>
        <p:spPr>
          <a:xfrm>
            <a:off x="4663440" y="4977384"/>
            <a:ext cx="4114800" cy="79247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代价是多一个类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步骤④ 同一输入下比较前后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同一输入下比较前后行为与修改成本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2432304"/>
            <a:ext cx="8814816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教师示例用同一组测试：改前 4 个通过，改后 8 个通过，跳过都是 0。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298698"/>
            <a:ext cx="8814816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补偿写入点从 2 处收成 1 处。新增一种补偿时只改这一处。</a:t>
            </a:r>
          </a:p>
        </p:txBody>
      </p:sp>
      <p:sp>
        <p:nvSpPr>
          <p:cNvPr id="6" name="fig"/>
          <p:cNvSpPr/>
          <p:nvPr/>
        </p:nvSpPr>
        <p:spPr>
          <a:xfrm>
            <a:off x="813816" y="4165091"/>
            <a:ext cx="7516367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对外接口没改。控制器、接收者和定时任务也没改。</a:t>
            </a:r>
          </a:p>
        </p:txBody>
      </p:sp>
      <p:sp>
        <p:nvSpPr>
          <p:cNvPr id="7" name="fig"/>
          <p:cNvSpPr/>
          <p:nvPr/>
        </p:nvSpPr>
        <p:spPr>
          <a:xfrm>
            <a:off x="164592" y="5031486"/>
            <a:ext cx="8814816" cy="72008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没有打到运行中的门户，也没有向真实队列发消息，这些就还没验证。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方案还没实施，却把方案图写成已经验证过。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654046"/>
            <a:ext cx="7918704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规则一报错就当成缺陷，不核对它扫的是哪一类文件。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735324"/>
            <a:ext cx="7516367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没走的路径写成运行时已经验证，例如没发过的队列消息。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816602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不写文件:行号和调用者，或按方法长短、用了 Mapper 来判错。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164592" y="1572768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规则报错就一定是缺陷吗？怎么判断是检测口径问题还是真实问题？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2654046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E2-00 是行为保持：同一输入下改前通过，改后仍通过。</a:t>
            </a:r>
          </a:p>
        </p:txBody>
      </p:sp>
      <p:sp>
        <p:nvSpPr>
          <p:cNvPr id="5" name="fig"/>
          <p:cNvSpPr/>
          <p:nvPr/>
        </p:nvSpPr>
        <p:spPr>
          <a:xfrm>
            <a:off x="164592" y="3735324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E2-01 是行为修正：改前失败，改后通过，错误行为被改掉。</a:t>
            </a:r>
          </a:p>
        </p:txBody>
      </p:sp>
      <p:sp>
        <p:nvSpPr>
          <p:cNvPr id="6" name="fig"/>
          <p:cNvSpPr/>
          <p:nvPr/>
        </p:nvSpPr>
        <p:spPr>
          <a:xfrm>
            <a:off x="164592" y="4816602"/>
            <a:ext cx="8814816" cy="934974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误报例子：规则只扫实现类，会把写在接口上的事务报成缺失。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059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真实设计问题或变化场景及源码调用关系15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相关4+1视图说明职责、依赖与运行边界15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用SOLID、整洁代码或信息隐藏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解释具体风险或变更成本15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比较两种最小方案的可测试性、可替换性与代价15</a:t>
                      </a:r>
                    </a:p>
                  </a:txBody>
                  <a:tcPr anchor="ctr"/>
                </a:tc>
              </a:tr>
              <a:tr h="676655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对一个关键接缝完成局部改动或可运行对照20</a:t>
                      </a:r>
                    </a:p>
                  </a:txBody>
                  <a:tcPr anchor="ctr"/>
                </a:tc>
              </a:tr>
              <a:tr h="6766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同一输入下的行为保持或问题改善，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以及依赖、修改点或测试成本的对比20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一页说明（按五问组织）＋不超过2分钟本人录屏，课后48小时内上传，再于48小时内完成3份互评。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录屏由本人讲解，并展示本实验相应的证据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说明里写本人的选择、执行和证据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只交还没实施的设想时，不得声称改进已经验证</a:t>
            </a:r>
          </a:p>
        </p:txBody>
      </p:sp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