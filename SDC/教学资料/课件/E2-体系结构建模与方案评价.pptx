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89" r:id="rId53"/>
    <p:sldId id="257" r:id="rId10"/>
    <p:sldId id="258" r:id="rId11"/>
    <p:sldId id="259" r:id="rId12"/>
    <p:sldId id="260" r:id="rId13"/>
    <p:sldId id="278" r:id="rId31"/>
    <p:sldId id="279" r:id="rId32"/>
    <p:sldId id="280" r:id="rId33"/>
    <p:sldId id="281" r:id="rId34"/>
    <p:sldId id="282" r:id="rId35"/>
    <p:sldId id="261" r:id="rId14"/>
    <p:sldId id="262" r:id="rId15"/>
    <p:sldId id="263" r:id="rId16"/>
    <p:sldId id="264" r:id="rId17"/>
    <p:sldId id="283" r:id="rId36"/>
    <p:sldId id="284" r:id="rId37"/>
    <p:sldId id="265" r:id="rId18"/>
    <p:sldId id="266" r:id="rId19"/>
    <p:sldId id="285" r:id="rId38"/>
    <p:sldId id="267" r:id="rId20"/>
    <p:sldId id="287" r:id="rId40"/>
    <p:sldId id="288" r:id="rId41"/>
    <p:sldId id="268" r:id="rId21"/>
    <p:sldId id="291" r:id="rId55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86" r:id="rId39"/>
    <p:sldId id="276" r:id="rId29"/>
    <p:sldId id="277" r:id="rId30"/>
    <p:sldId id="290" r:id="rId54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4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20.xml"/><Relationship Id="rId39" Type="http://schemas.openxmlformats.org/officeDocument/2006/relationships/slide" Target="slides/slide33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Relationship Id="rId53" Type="http://schemas.openxmlformats.org/officeDocument/2006/relationships/slide" Target="slides/slide2.xml"/><Relationship Id="rId54" Type="http://schemas.openxmlformats.org/officeDocument/2006/relationships/slide" Target="slides/slide36.xml"/><Relationship Id="rId55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本节 15 分钟</a:t>
            </a:r>
          </a:p>
          <a:p>
            <a:r>
              <a:t>定义：这次实验在既有代码上画相关视图，比较两种最小方案，并核实 AI 对调用链与方案的回答。</a:t>
            </a:r>
          </a:p>
          <a:p>
            <a:r>
              <a:t>代价：开场把本次细则当成上一份作业的投票标准，投出来的分对不上那份作品。</a:t>
            </a:r>
          </a:p>
          <a:p>
            <a:r>
              <a:t>判定：先看被演示的是哪一次实验，再用那一次的细则投票，然后才答签到。</a:t>
            </a:r>
          </a:p>
          <a:p>
            <a:r>
              <a:t>权衡：三个班周次不同，口头交代时间。课上只强调这是第 4 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定义：这一页用的是实验 E1 的细则。被演示的是上一份作品，不是这次要交的作业。</a:t>
            </a:r>
          </a:p>
          <a:p>
            <a:r>
              <a:t>代价：用这次实验的三栏去投 E1 的作品，两项作业的证据会对错位。</a:t>
            </a:r>
          </a:p>
          <a:p>
            <a:r>
              <a:t>判定：票要能对上模块与生成边界、调用链上的文件:行号，以及本人做过的构建和核实。</a:t>
            </a:r>
          </a:p>
          <a:p>
            <a:r>
              <a:t>权衡：E1 不要求修改产品代码，也不要求制造缺陷。这次实验的细则和边界在后面单独讲。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题目页</a:t>
            </a:r>
          </a:p>
          <a:p>
            <a:r>
              <a:t>答案：B</a:t>
            </a:r>
          </a:p>
          <a:p>
            <a:r>
              <a:t>定义：行为保持看的是同一输入下的可观察结果：订单状态、库存、优惠券。</a:t>
            </a:r>
          </a:p>
          <a:p>
            <a:r>
              <a:t>代价：只看代码行数或 AI 的说法，补偿逻辑改错了也发现不了。</a:t>
            </a:r>
          </a:p>
          <a:p>
            <a:r>
              <a:t>判定：改前改后用同一输入各跑一遍，三项结果一致才算行为保持。</a:t>
            </a:r>
          </a:p>
          <a:p>
            <a:r>
              <a:t>权衡：先完成实名演示再答这一题。选错这一题，这次到场就不计入。答案只留在备注。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本节 5 分钟</a:t>
            </a:r>
          </a:p>
          <a:p>
            <a:r>
              <a:t>定义：这五题是 T2 课前的预习。这里只给正确答案、判定依据，以及容易混到的另一个概念。</a:t>
            </a:r>
          </a:p>
          <a:p>
            <a:r>
              <a:t>代价：把“按流程步骤拆类”当成信息隐藏，E2-00 收口时补偿还会散在几处。</a:t>
            </a:r>
          </a:p>
          <a:p>
            <a:r>
              <a:t>判定：第 1 题看团队自己管到哪一层；第 2 题生成产物不直接改；第 5 题要藏的是“关单要补偿什么”这一设计决定（本次教师示例 E2-00）。</a:t>
            </a:r>
          </a:p>
          <a:p>
            <a:r>
              <a:t>权衡：第 3 题不选算法效率；第 4 题构建方式写在 pom.xml 或 build.gradle。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定义：本次目标依据教案四条：能用相关的“4+1”视图解释所选业务的职责、依赖与运行边界；能在分层和调用链中识别与设计原则相关的具体问题或变化成本，并给出证据；能比较两种最小改造方案的可测试性、可替换性与代价；能用提示词模式让 AI 解释调用链、比较方案，并用断点、执行记录或教师示例的对照记录核实 AI 的回答。重点、难点为教案原句。</a:t>
            </a:r>
          </a:p>
          <a:p>
            <a:r>
              <a:t>代价：把整站迁到另一种架构当成这次的完成标准，局部证据就做不完。</a:t>
            </a:r>
          </a:p>
          <a:p>
            <a:r>
              <a:t>判定：作品要能对上所选业务的视图、文件:行号，以及两种方案的可测试性、可替换性和代价。</a:t>
            </a:r>
          </a:p>
          <a:p>
            <a:r>
              <a:t>权衡：不要求完整迁移架构。真实例外可以解释，但不能悄悄拿掉安全、事务或对外接口。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本节 60 分钟</a:t>
            </a:r>
          </a:p>
          <a:p>
            <a:r>
              <a:t>定义：改前逻辑视图里，单笔取消先按条件查出，再按主键改状态，然后补偿。用户取消和到期消息都进这一份。</a:t>
            </a:r>
          </a:p>
          <a:p>
            <a:r>
              <a:t>代价：查和改不是同一次条件更新。支付若插在中间，仍可能覆盖状态并重复补偿。</a:t>
            </a:r>
          </a:p>
          <a:p>
            <a:r>
              <a:t>判定：图上要能读出 cancelOrder，以及“先查后改，再补偿”。调用者是 /cancelUserOrder 和 CancelOrderReceiver。</a:t>
            </a:r>
          </a:p>
          <a:p>
            <a:r>
              <a:t>权衡：四个入口里，/cancelOrder 只发延迟消息，画在进程视图；定时任务第 14 行未注册。进程整图字大约 7 磅，这页不铺整图。</a:t>
            </a:r>
          </a:p>
          <a:p>
            <a:r>
              <a:t>基线 dcaa93b3150352e5044708d7211b5bed0af4509f。分支当前头 2cc1bcfb9201b01ecb44f3b86564a6aedab89971。最终代码 47f4f735b26f75deb6e149e069cfe720869f46c6。图稿与对照 6cf9e39ee30d314c7262bc18e2b320da6f7dc505。进程整图：SDC/E2/outputs/E2-00/diagrams/process-before.html，本地 e2-00-process-before.png。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定义：改前的第二份补偿在 cancelTimeOutOrder：先把超时单的状态改成取消，再逐单释放库存、退券、返还积分。</a:t>
            </a:r>
          </a:p>
          <a:p>
            <a:r>
              <a:t>代价：规则和单笔各写一处。以后多一种补偿，要两处一起改，容易漏。</a:t>
            </a:r>
          </a:p>
          <a:p>
            <a:r>
              <a:t>判定：图上要能读出 cancelTimeOutOrder，以及“批量改状态再补偿”。入口是 /cancelTimeOutOrder。</a:t>
            </a:r>
          </a:p>
          <a:p>
            <a:r>
              <a:t>权衡：定时任务的 @Component 已注释，虚线表示未注册、不运行。这一页只放大批量这一份，不代替单笔那一页。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定义：改前这一段：调用方发 /cancelOrder，控制器只把延迟消息送进 TTL，并不取消订单。改后这一跳不变。</a:t>
            </a:r>
          </a:p>
          <a:p>
            <a:r>
              <a:t>代价：名字像取消，当时订单仍待付款。真正取消要等死信。入口地址没有改。</a:t>
            </a:r>
          </a:p>
          <a:p>
            <a:r>
              <a:t>判定：能读出 POST /cancelOrder，以及“发延迟消息进 TTL”。改后仍是这一跳，不是直接改订单。</a:t>
            </a:r>
          </a:p>
          <a:p>
            <a:r>
              <a:t>权衡：下一张才是到期之后谁来执行。改后收到一处的是后面的取消实现，不是这条延迟消息。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定义：到期后死信回到取消接收者，再调用 cancelOrder。超时批量则走 /cancelTimeOutOrder，停在服务自己的补偿。</a:t>
            </a:r>
          </a:p>
          <a:p>
            <a:r>
              <a:t>代价：两份补偿还各写一处。定时任务标着未注册，实际不跑。</a:t>
            </a:r>
          </a:p>
          <a:p>
            <a:r>
              <a:t>判定：能读出死信 mall.order.cancel，以及 POST /cancelTimeOutOrder。</a:t>
            </a:r>
          </a:p>
          <a:p>
            <a:r>
              <a:t>权衡：改后这两条都会再进 OrderCancellation。延迟消息那一跳改前改后一样，不再单列一页。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定义：单笔 cancelOrder 与批量 cancelOverdue 都再调用 OrderCancellation，补偿只留在 cancelIf。</a:t>
            </a:r>
          </a:p>
          <a:p>
            <a:r>
              <a:t>代价：多一跳。控制器、接收者和定时任务都没改。</a:t>
            </a:r>
          </a:p>
          <a:p>
            <a:r>
              <a:t>判定：能读出 cancel 与 cancelOverdue 指向同一个类。写入点从 2 处收到 1 处。</a:t>
            </a:r>
          </a:p>
          <a:p>
            <a:r>
              <a:t>权衡：条件更新的源码在后面同一处。定时任务仍然未注册。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定义：改后把两份补偿收进 OrderCancellation。条件更新命中的行数不是 1，就返回，不做补偿。</a:t>
            </a:r>
          </a:p>
          <a:p>
            <a:r>
              <a:t>代价：多一个类，服务方法多一次跳转。入口仍依赖原来的订单服务。</a:t>
            </a:r>
          </a:p>
          <a:p>
            <a:r>
              <a:t>判定：图上读 OrderCancellation。代码里 updated 不是 1 就返回。条件从第 81 行写起，这里只留更新和返回。</a:t>
            </a:r>
          </a:p>
          <a:p>
            <a:r>
              <a:t>权衡：控制器、消息接收者和定时任务没改。单笔 cancel 要求未删除；批量不要求，以便删过的待付款单仍能补偿。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定义：对照结论是符合。改前、改后都通过，因为这是行为保持，不是先造一个失败再修掉。</a:t>
            </a:r>
          </a:p>
          <a:p>
            <a:r>
              <a:t>代价：把 pass 理解成业务已经在运行的门户上放行，会超过这组测试实际覆盖的范围。</a:t>
            </a:r>
          </a:p>
          <a:p>
            <a:r>
              <a:t>判定：示例材料的对照结论符合。课程作业是否得分，仍看本次细则里的证据，不由这一行结论代替。</a:t>
            </a:r>
          </a:p>
          <a:p>
            <a:r>
              <a:t>权衡：变异删掉积分返还、改成无条件更新、漏掉释放库存、批量又要求未删除，测试都会变红。测完已回到该提交。</a:t>
            </a:r>
          </a:p>
          <a:p>
            <a:r>
              <a:t>变异记录与对照在同一提交 6cf9e39ee30d314c7262bc18e2b320da6f7dc505。没有走 HTTP，也没有向真实队列发延迟消息。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定义：扩展题把订单状态的出发集合收进一个模块。支付只允许从待付款出发，后台关闭也只允许从待付款出发。</a:t>
            </a:r>
          </a:p>
          <a:p>
            <a:r>
              <a:t>代价：多一个模块、两条依赖。规则若仍在两个应用里各写一份，改一处时另一处不会跟着变。</a:t>
            </a:r>
          </a:p>
          <a:p>
            <a:r>
              <a:t>判定：改前两处失败：已付款订单仍能被后台关掉，重复支付仍会改写并扣库存。改后 5 个测试通过。</a:t>
            </a:r>
          </a:p>
          <a:p>
            <a:r>
              <a:t>权衡：用户取消不走这里，那是 E2-00。被否决的做法包括放进公共库，以及两边各写一份再靠测试发现不一致。</a:t>
            </a:r>
          </a:p>
          <a:p>
            <a:r>
              <a:t>分支当前头 dbd610b17298617a3b2e9d98374e4c7e680ace59。最终代码 c1cb8ca81a7de1344a05bab90a50673e955cc1e1。对照与图稿 6ec10fdf131dac0fe7599cfb51b3198226614de2。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定义：公共逻辑视图里，/order/cancelOrder 这条边实际只发延迟消息。本题的差异是后来把补偿收进一个类。</a:t>
            </a:r>
          </a:p>
          <a:p>
            <a:r>
              <a:t>代价：只复用整图、不标差异，会把教师示例改过的结构说成基线上的结构。</a:t>
            </a:r>
          </a:p>
          <a:p>
            <a:r>
              <a:t>判定：能指出取消这条边的名字和实际动作不一致，并说明宿主端口不在这张局部图里。</a:t>
            </a:r>
          </a:p>
          <a:p>
            <a:r>
              <a:t>权衡：容器端口和宿主映射要分开。13306、5673、16379、27018 是课程环境的宿主映射。物理视图沿用公共部署，本题没有新机器。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定义：第一步用相关的视图解释所选业务的职责、依赖和运行边界，不必四张都从零重画。</a:t>
            </a:r>
          </a:p>
          <a:p>
            <a:r>
              <a:t>代价：四张图回答四个问题。用一张图同时回答模块、进程和机器，差异会标错地方。</a:t>
            </a:r>
          </a:p>
          <a:p>
            <a:r>
              <a:t>判定：问这张图回答的是职责、运行时通信、模块，还是机器和端口。本题差异至少要出现在其中一张上。</a:t>
            </a:r>
          </a:p>
          <a:p>
            <a:r>
              <a:t>权衡：公共图够用的部分直接标“沿用”。只有和所选业务不同的边、类或端口才需要另画。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定义：第二步指出一处具体的原则问题或变化成本，并给出文件:行号、调用者或数据流。</a:t>
            </a:r>
          </a:p>
          <a:p>
            <a:r>
              <a:t>代价：只写“补偿重复了”，不给行号和调用者，有依据这一档对不上。</a:t>
            </a:r>
          </a:p>
          <a:p>
            <a:r>
              <a:t>判定：这一段是先按条件查出，再按主键改状态。调用者包括用户取消入口；批量那一份在同文件的 cancelTimeOutOrder。</a:t>
            </a:r>
          </a:p>
          <a:p>
            <a:r>
              <a:t>权衡：行号必须对上你打开的那一版。教师示例的基线行号不能直接当成你改过之后的行号。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定义：第三步比较两种最小方案。教师示例否决了只在原服务里抽私有方法，采用了独立的取消类。</a:t>
            </a:r>
          </a:p>
          <a:p>
            <a:r>
              <a:t>代价：只写一个方案，或者不写代价，比较这一项就是空的。</a:t>
            </a:r>
          </a:p>
          <a:p>
            <a:r>
              <a:t>判定：可测试性看能不能单独构造并观察协作者；可替换性看换规则要动几处；代价看多出来的类和跳转。</a:t>
            </a:r>
          </a:p>
          <a:p>
            <a:r>
              <a:t>权衡：学生做自己选的选题时，两种方案都要是最小改动。不要拿“重写整个模块”当其中一种。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定义：第四步核实 AI 对调用链与两种方案的说法：用断点或日志核实一项运行时事实，记录预期、观察与修正；用教师示例 E2-00 的对照记录核实修改点与测试成本的差异。</a:t>
            </a:r>
          </a:p>
          <a:p>
            <a:r>
              <a:t>代价：只复述 AI 的结论、不核实，这一档不得“验证过”分；没有运行过的路径，只能写“未核实”。</a:t>
            </a:r>
          </a:p>
          <a:p>
            <a:r>
              <a:t>判定：能看到本人的断点或日志记录，并对上预期、观察、修正三项；教师示例同一组测试改前 4 个通过、改后 8 个通过，补偿写入点从 2 处收成 1 处。</a:t>
            </a:r>
          </a:p>
          <a:p>
            <a:r>
              <a:t>权衡：要求核实一项运行时事实，不要求逐句运行；方法见“怎样核对 AI 的产出”。</a:t>
            </a:r>
          </a:p>
          <a:p>
            <a:r>
              <a:t>依据：教案第 4 次课步骤④；事实卡 E2 G11、G12、G19。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定义：这些是本次细则里对不上的证据，以及教师示例对照时已经标出的未验证范围。</a:t>
            </a:r>
          </a:p>
          <a:p>
            <a:r>
              <a:t>代价：缺了行号、调用者或同一输入的对照，对应的那一档就没有证据。</a:t>
            </a:r>
          </a:p>
          <a:p>
            <a:r>
              <a:t>判定：验证过要看到对 AI 回答的断点、日志或执行记录，以及与教师示例 E2-00 的对照。检查规则的扫描范围的报错还要和运行时事实分开。</a:t>
            </a:r>
          </a:p>
          <a:p>
            <a:r>
              <a:t>权衡：允许写“这里还没验证”。不允许把未做的对照写成已经做过。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本节 10 分钟</a:t>
            </a:r>
          </a:p>
          <a:p>
            <a:r>
              <a:t>定义：检查规则的扫描范围是规则扫哪些文件。运行时事实是这次调用有没有经过代理、事务有没有生效。</a:t>
            </a:r>
          </a:p>
          <a:p>
            <a:r>
              <a:t>代价：把误报当成必须修改的缺陷，会去改一个仍然生效的事务，或者漏掉真正的重复补偿。</a:t>
            </a:r>
          </a:p>
          <a:p>
            <a:r>
              <a:t>判定：先看规则的扫描范围，再拿同一次调用的测试或运行结果对照。对不上的时候，先怀疑口径。</a:t>
            </a:r>
          </a:p>
          <a:p>
            <a:r>
              <a:t>权衡：接口上的事务注解，不能据此推广到自调用，也不能推广到别的织入方式。</a:t>
            </a:r>
          </a:p>
          <a:p>
            <a:r>
              <a:t>参考要点：先核对规则扫的是实现类还是接口；再用同一次调用的测试对照，报错不等于缺陷。</a:t>
            </a:r>
          </a:p>
          <a:p>
            <a:r>
              <a:t>依据：教案第 4 次课小结。基线服务接口第 38 到 45 行的事务注解写在接口上。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定义：三栏都是 30、30、40。每一栏里的两个子项都要有自己的证据。</a:t>
            </a:r>
          </a:p>
          <a:p>
            <a:r>
              <a:t>代价：未经核实的 AI 结论不得“验证过”分。缺哪一项，就少哪一项的证据。</a:t>
            </a:r>
          </a:p>
          <a:p>
            <a:r>
              <a:t>判定：讲清楚看问题和视图；有依据看原则、两种方案，以及对 AI 比较结论的采纳或驳回；验证过看对 AI 回答的核实记录，以及与教师示例 E2-00 的对照。</a:t>
            </a:r>
          </a:p>
          <a:p>
            <a:r>
              <a:t>权衡：示例材料对照符合，只说明那一份参考实现的记录齐。你的作业分看你自己的证据；真实例外须解释。</a:t>
            </a:r>
          </a:p>
          <a:p>
            <a:r>
              <a:t>依据：教案第 4 次课评分细则。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定义：提交是一页说明加不超过 2 分钟的本人录屏，一页说明按讲清楚、有依据、验证过组织。</a:t>
            </a:r>
          </a:p>
          <a:p>
            <a:r>
              <a:t>代价：缺其中一项，对应那一项就没有证据。</a:t>
            </a:r>
          </a:p>
          <a:p>
            <a:r>
              <a:t>判定：录屏里要能看到你指出的那一处行号，以及对 AI 回答的核实记录。</a:t>
            </a:r>
          </a:p>
          <a:p>
            <a:r>
              <a:t>权衡：参考实现可以看，不能代替本人的选择、执行和证据。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课前自学，课上只点要点。</a:t>
            </a:r>
          </a:p>
          <a:p>
            <a:r>
              <a:t>定义：逻辑视图写职责与依赖；进程视图写谁发消息、谁执行。</a:t>
            </a:r>
          </a:p>
          <a:p>
            <a:r>
              <a:t>代价：只画一张，Receiver 消费到期消息这一跳会漏。</a:t>
            </a:r>
          </a:p>
          <a:p>
            <a:r>
              <a:t>判定：图上读得出 CancelOrderReceiver，队列不执行 Java。</a:t>
            </a:r>
          </a:p>
          <a:p>
            <a:r>
              <a:t>权衡：复用公共视图，只标本题差异。</a:t>
            </a:r>
          </a:p>
          <a:p>
            <a:r>
              <a:t>依据：说明.md「公共 4+1 视图」。</a:t>
            </a:r>
          </a:p>
          <a:p>
            <a:r>
              <a:t>系统讲解在 T3（晚于本次）。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课前自学，课上只点要点。</a:t>
            </a:r>
          </a:p>
          <a:p>
            <a:r>
              <a:t>定义：信息隐藏是藏起易变的设计决定；接缝是不在原处修改就能改变行为的位置。</a:t>
            </a:r>
          </a:p>
          <a:p>
            <a:r>
              <a:t>代价：规则散在多处，改一项要动多处。</a:t>
            </a:r>
          </a:p>
          <a:p>
            <a:r>
              <a:t>判定：数同一规则出现几处。</a:t>
            </a:r>
          </a:p>
          <a:p>
            <a:r>
              <a:t>权衡：独立成类换来接缝，多一个类。</a:t>
            </a:r>
          </a:p>
          <a:p>
            <a:r>
              <a:t>依据：Parnas 1972；Feathers 第 4 章；本页不放代码。</a:t>
            </a:r>
          </a:p>
          <a:p>
            <a:r>
              <a:t>系统讲解在 T2（模块化）；接缝另见 T6。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本节 60 分钟</a:t>
            </a:r>
          </a:p>
          <a:p>
            <a:r>
              <a:t>定义：只读取教师仓库：git fetch origin 后用 git switch --detach origin/exp/E2 检出脚手架，不开分支；AI 在本地工作区改代码，可本地提交、不推送；compare.env 写三项，本地提交后运行 compare.sh。</a:t>
            </a:r>
          </a:p>
          <a:p>
            <a:r>
              <a:t>代价：不开分支，差异就留在本地工作区；换下一次实验前，要先用 git diff origin/exp/E2...HEAD 导出自己的差异，再切走。</a:t>
            </a:r>
          </a:p>
          <a:p>
            <a:r>
              <a:t>判定：Errors=0、Skipped=0、结论：符合，对照才成立。</a:t>
            </a:r>
          </a:p>
          <a:p>
            <a:r>
              <a:t>权衡：行为保持用 pass，修正错误行为用 fail。</a:t>
            </a:r>
          </a:p>
          <a:p>
            <a:r>
              <a:t>依据：学生操作手册第 2 节（@0a5eae2a）；事实卡 E2 G11、G12。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定义：取消有四个入口，定时任务的 @Component 被注释，不注册；/order/cancelOrder 只发延迟消息。</a:t>
            </a:r>
          </a:p>
          <a:p>
            <a:r>
              <a:t>代价：不得改的部分多，方案只能在服务内部动手。</a:t>
            </a:r>
          </a:p>
          <a:p>
            <a:r>
              <a:t>判定：控制器、接收者、定时任务与接口事务注解，改后仍是原样。</a:t>
            </a:r>
          </a:p>
          <a:p>
            <a:r>
              <a:t>权衡：约束越多越受限，但对外行为不变才算重构。</a:t>
            </a:r>
          </a:p>
          <a:p>
            <a:r>
              <a:t>依据：事实卡 E2 G1–G3；E1 卡 F3–F7。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定义：现有设计分层清楚，延迟消息把超时取消与下单解耦，能跑通。</a:t>
            </a:r>
          </a:p>
          <a:p>
            <a:r>
              <a:t>代价：补偿写了两份；单笔先查后改；批量先改后补；支付不判原状态。</a:t>
            </a:r>
          </a:p>
          <a:p>
            <a:r>
              <a:t>判定：每条不足都要指到方法，并写出事实卡条目。</a:t>
            </a:r>
          </a:p>
          <a:p>
            <a:r>
              <a:t>权衡：支付与取消并发的后果只是源码可见，未经运行验证。</a:t>
            </a:r>
          </a:p>
          <a:p>
            <a:r>
              <a:t>依据：E1 卡 F10–F13、F14、F15、F17、F18、R1。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定义：易修改性看同一规则改一项要动几处，指标是同一补偿规则出现几处。</a:t>
            </a:r>
          </a:p>
          <a:p>
            <a:r>
              <a:t>代价：现有取值 2 处，改一项要动 cancelTimeOutOrder 与 cancelOrder 两个方法。</a:t>
            </a:r>
          </a:p>
          <a:p>
            <a:r>
              <a:t>判定：数同一规则出现的处数，改前 2 处，改后 1 处（G17、G19）。</a:t>
            </a:r>
          </a:p>
          <a:p>
            <a:r>
              <a:t>权衡：本次只评这一个子特性，其余不展开。</a:t>
            </a:r>
          </a:p>
          <a:p>
            <a:r>
              <a:t>依据：事实卡 E2 G17、G19；E1 卡第三节。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定义：取消与补偿收进 OrderCancellation，条件更新命中一行才补偿（G4–G7）。</a:t>
            </a:r>
          </a:p>
          <a:p>
            <a:r>
              <a:t>代价：多一个类，构造参数 6→7；先取消后支付回调仍写成 1，未解决（G15）。</a:t>
            </a:r>
          </a:p>
          <a:p>
            <a:r>
              <a:t>判定：产品代码只改两个文件，paySuccess 未改（G9、G10）。</a:t>
            </a:r>
          </a:p>
          <a:p>
            <a:r>
              <a:t>权衡：多一个类换来补偿只剩一份、可单独测试。</a:t>
            </a:r>
          </a:p>
          <a:p>
            <a:r>
              <a:t>依据：事实卡 E2 G4–G10、G15、G19。</a:t>
            </a:r>
          </a:p>
          <a:p>
            <a:r>
              <a:t>注意：基线中“返还积分”这一步写在代码里但不生效——use_integration 在 OmsPortalOrderServiceImpl 第 236 行才赋值，第 224 行已写库；收进 OrderCancellation 后照样不生效，它由积分写入顺序决定，不是补偿写了几份的问题。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定义：ADR 比较两种最小方案：A 在类内抽私有补偿方法，B 独立成 OrderCancellation。</a:t>
            </a:r>
          </a:p>
          <a:p>
            <a:r>
              <a:t>代价：A 少一个类，但补偿换不掉、幂等表达不出来；B 多一个类、多一层调用。</a:t>
            </a:r>
          </a:p>
          <a:p>
            <a:r>
              <a:t>判定：比可测试性、可替换性、改动成本，再加新增一项补偿的修改点。</a:t>
            </a:r>
          </a:p>
          <a:p>
            <a:r>
              <a:t>权衡：本页讲教师示例的结果；「步骤③」讲学生要比较什么。</a:t>
            </a:r>
          </a:p>
          <a:p>
            <a:r>
              <a:t>依据：事实卡 E2 第五节、G19；A 行为推断。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定义：一页说明按讲清楚、有依据、验证过三项写，此页取自教师示例 E2-00 的真实材料。</a:t>
            </a:r>
          </a:p>
          <a:p>
            <a:r>
              <a:t>代价：三项缺一，那一项就没有证据；先取消后支付仍写成 1，本示例未解决（G15）。</a:t>
            </a:r>
          </a:p>
          <a:p>
            <a:r>
              <a:t>判定：每项都能对到文件、行号或对照结论。</a:t>
            </a:r>
          </a:p>
          <a:p>
            <a:r>
              <a:t>权衡：样例是参考写法，不是标准答案，作业要写本人的证据。</a:t>
            </a:r>
          </a:p>
          <a:p>
            <a:r>
              <a:t>依据：事实卡 E2 G11、G12、G15、G17–G19；E1 卡 F18。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定义：提示词模式是写给 AI 的规格。这条提问用了 Persona（角色设定）和 Template（输出模板）；“不要凭记忆补充”和“我不确定的地方”让 AI 暴露不确定性，不在 T1 四种模式之内。提问里没有 Few-shot，也没有 Question Refinement。</a:t>
            </a:r>
          </a:p>
          <a:p>
            <a:r>
              <a:t>代价：提问没写“补偿只能发生一次”，AI 就按字面回答“新增补偿改几处”，两种方案都漏掉了先查后改带来的重复补偿，要到核对时才发现（见下一页）。</a:t>
            </a:r>
          </a:p>
          <a:p>
            <a:r>
              <a:t>判定：能在提问原文里逐段指出它对应哪种模式，并能指出哪一段让 AI 交代了不确定的地方。</a:t>
            </a:r>
          </a:p>
          <a:p>
            <a:r>
              <a:t>权衡：把约束写进提问，提问会变长；写短了，就要靠核对补回来。</a:t>
            </a:r>
          </a:p>
          <a:p>
            <a:r>
              <a:t>依据：AI回答采集/prompt-E2.md；answer-E2-20261016-0858.md（模型 deepseek-flash，经 Claude Code CLI，只读工具）；T1-标准与规范-v2 第 43、44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定义：核对是逐条把 AI 的说法对到源码行号或事实卡，给出采纳、部分采纳、驳回或存疑，并标出用了 T1 四项核对中的哪一项。</a:t>
            </a:r>
          </a:p>
          <a:p>
            <a:r>
              <a:t>代价：只看引用都存在就全盘采纳，会漏掉“队列级 TTL”这类原理对、实现说错的地方，也会漏掉两种方案都没处理的重复补偿。</a:t>
            </a:r>
          </a:p>
          <a:p>
            <a:r>
              <a:t>判定：入口清单与补偿 2 处的引用同源码一致，采纳；TTL 机制说错，驳回，实际是逐条消息 TTL；两种方案漏掉先查后改造成的重复补偿，部分采纳；并发丢积分只是源码可见风险，未运行验证，存疑。</a:t>
            </a:r>
          </a:p>
          <a:p>
            <a:r>
              <a:t>权衡：逐条核对要打开源码，花时间；选有分量的几条核，把没验证的写成存疑，比全部采纳可靠。</a:t>
            </a:r>
          </a:p>
          <a:p>
            <a:r>
              <a:t>依据：核对-E2.md；answer-E2-20261016-0858.md；事实卡 E1 F6、F15、F18、R1，E2 G5；源码 exp/E2@41909fc4 的行号。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节：目录</a:t>
            </a:r>
          </a:p>
          <a:p>
            <a:r>
              <a:rPr lang="zh-CN" altLang="en-US"/>
              <a:t>依据：各页备注“节：”行，按出现顺序编号；目录页由统一视觉脚本生成，不另写内容。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节：结束页</a:t>
            </a:r>
          </a:p>
          <a:p>
            <a:r>
              <a:rPr lang="zh-CN" altLang="en-US"/>
              <a:t>依据：下次课名称取自下一份课件封面的“第 n 次课｜课题”行。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节：实验</a:t>
            </a:r>
          </a:p>
          <a:p>
            <a:r>
              <a:rPr lang="zh-CN" altLang="en-US"/>
              <a:t>时长见本节首页（本节 60 分钟）</a:t>
            </a:r>
          </a:p>
          <a:p>
            <a:r>
              <a:rPr lang="zh-CN" altLang="en-US"/>
              <a:t>定义：E2 的选题都在架构层面：同一条规则跨模块各写一份，或两个部署单元之间没有接缝。E2-01 是扩展题（已有参考实现）；E2-08、E2-09 为 10-20 新增，见靶点库。</a:t>
            </a:r>
          </a:p>
          <a:p>
            <a:r>
              <a:rPr lang="zh-CN" altLang="en-US"/>
              <a:t>代价：选了只在一个类里的小问题，4+1 视图与依赖方向就无从说起。</a:t>
            </a:r>
          </a:p>
          <a:p>
            <a:r>
              <a:rPr lang="zh-CN" altLang="en-US"/>
              <a:t>判定：选题要能用开发视图或物理视图说清这条规则该由哪个模块负责。</a:t>
            </a:r>
          </a:p>
          <a:p>
            <a:r>
              <a:rPr lang="zh-CN" altLang="en-US"/>
              <a:t>权衡：E2-09 只落地下架一个写入点（端口加内存假实现），不接入 ES 或消息中间件。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0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4 次课｜体系结构建模与方案评价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现场演示与投票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任务说明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实验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E1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七个模块与生成边界10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所选链从入口到服务、存储／消息的调用和数据流20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（附 文件:行号）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依赖、进程与库、数据归属中的两项实际判断20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区分设计疑点与理解不足10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本人完成构建与一次只读查询20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对所选链的一项推断用可重复运行的测试、断点或实际运行核实，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记录预期、观察与修正20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现场演示与投票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3820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取消订单原有多个入口，补偿逻辑在两处复制。改成多个入口共用一个模块后，判断“行为保持”最直接的依据是：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（A）代码行数减少；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（B）同一输入下，改前改后的订单状态、库存和优惠券结果一致；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（C）用上了设计模式；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（D）AI 回答说行为没有改变。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现场演示与投票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预习题回顾与易混点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109728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645920"/>
            <a:ext cx="8138160" cy="68580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1 选 A。自己装中间件与应用属于 IaaS。易混：PaaS</a:t>
            </a:r>
          </a:p>
        </p:txBody>
      </p:sp>
      <p:sp>
        <p:nvSpPr>
          <p:cNvPr id="103" name="fig-d"/>
          <p:cNvSpPr/>
          <p:nvPr/>
        </p:nvSpPr>
        <p:spPr>
          <a:xfrm>
            <a:off x="411480" y="2450592"/>
            <a:ext cx="109728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94360" y="2450592"/>
            <a:ext cx="813816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2 选 C。生成代码不直接改。易混：编译通过就能改</a:t>
            </a:r>
          </a:p>
        </p:txBody>
      </p:sp>
      <p:sp>
        <p:nvSpPr>
          <p:cNvPr id="105" name="fig-d"/>
          <p:cNvSpPr/>
          <p:nvPr/>
        </p:nvSpPr>
        <p:spPr>
          <a:xfrm>
            <a:off x="411480" y="3255264"/>
            <a:ext cx="109728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594360" y="3255264"/>
            <a:ext cx="8138160" cy="68580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3 选 A。环境一致，能伸缩、能恢复。易混：提升算法效率</a:t>
            </a:r>
          </a:p>
        </p:txBody>
      </p:sp>
      <p:sp>
        <p:nvSpPr>
          <p:cNvPr id="107" name="fig-d"/>
          <p:cNvSpPr/>
          <p:nvPr/>
        </p:nvSpPr>
        <p:spPr>
          <a:xfrm>
            <a:off x="411480" y="4059936"/>
            <a:ext cx="109728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594360" y="4059936"/>
            <a:ext cx="813816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4 选 B。构建方式看 pom.xml。易混：.gitignore</a:t>
            </a:r>
          </a:p>
        </p:txBody>
      </p:sp>
      <p:sp>
        <p:nvSpPr>
          <p:cNvPr id="109" name="fig-d"/>
          <p:cNvSpPr/>
          <p:nvPr/>
        </p:nvSpPr>
        <p:spPr>
          <a:xfrm>
            <a:off x="411480" y="4864608"/>
            <a:ext cx="109728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594360" y="4864608"/>
            <a:ext cx="8138160" cy="68580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5 选 A。补偿决定藏进一个模块。易混：按流程步骤拆类</a:t>
            </a: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118872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重点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645920"/>
            <a:ext cx="704088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重点：具体设计问题的识别与两种最小方案的比较。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651760"/>
            <a:ext cx="118872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难点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651760"/>
            <a:ext cx="704088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难点：区分检查规则的扫描范围与运行时事实，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不把误报当缺陷。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657600"/>
            <a:ext cx="1188720" cy="8686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选题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657600"/>
            <a:ext cx="70408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从候选选题选一项：教师示例 E2-00，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扩展题 E2-01。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663440"/>
            <a:ext cx="1188720" cy="8686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不要求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663440"/>
            <a:ext cx="70408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不要求完整迁移架构；安全、事务、对外接口仍保留。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本次要用的知识是两张 4+1 视图的画法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逻辑视图写职责与依赖方向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进程视图写谁发消息、谁执行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先复用公共视图，只标本题差异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220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1905000"/>
                <a:gridCol w="2159000"/>
                <a:gridCol w="2794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视图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回答什么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公共图件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本实验怎么用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889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逻辑视图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职责与依赖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mall-logical.html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复用后，标出本题差异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889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进程视图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运行时谁发消息、谁执行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mall-cancel.html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Receiver 消费到期消息，</a:t>
                      </a:r>
                      <a:b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队列不执行 Java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来源：exp/E2:SDC/E2/说明.md「公共 4+1 视图」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本次要用的知识是变更成本与接缝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信息隐藏：每个模块藏一个易变决定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变更成本：同一规则要改几处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接缝：不改原处就能换行为的位置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266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000"/>
                <a:gridCol w="3302000"/>
                <a:gridCol w="2667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概念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本实验怎么用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分层依赖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上层只调用下一层，不越层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看调用是否越层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信息隐藏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模块藏起一个易变的设计决定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补偿规则藏在哪几处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变更成本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同一变更要改几处、几个文件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数处数，写文件:行号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接缝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不改原处就能改变行为的位置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找可替换点，比较方案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来源：Parnas 1972；Feathers《修改代码的艺术》第 4 章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动手前的准备是只读检出 exp/E2，不开分支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只读取教师仓库，不开分支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AI 在本地工作区改代码，可本地提交、不推送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 compare.env 三项，结论须为符合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411480" y="2831328"/>
            <a:ext cx="8138160" cy="103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git fetch origin</a:t>
            </a:r>
          </a:p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git switch --detach origin/exp/E2</a:t>
            </a:r>
          </a:p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# 对照参数：SDC/E2/outputs/E2-&lt;学号&gt;/compare.env</a:t>
            </a:r>
          </a:p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SDC/compare.sh E2-&lt;学号&gt;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11480" y="3960000"/>
          <a:ext cx="8128000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0"/>
                <a:gridCol w="6477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compare.env 三项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MODULE=mall-portal；TESTS=你的测试类；EXPECT_BASE=pass 或 fail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达标判据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Errors=0、Skipped=0、结论：符合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来源：学生操作手册第 2 节第 34–41、53–65 行（@0a5eae2a）；事实卡 E2 G11、G12</a:t>
            </a:r>
          </a:p>
        </p:txBody>
      </p:sp>
      <p:sp>
        <p:nvSpPr>
          <p:cNvPr id="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① 业务需求与约束是取消有四个入口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依据：事实卡 E2 G1–G3；E1 卡 F3–F7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481328"/>
            <a:ext cx="832104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取消有四个入口，定时任务未注册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对外行为不变；接口事务注解不改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不得改：生成模型、共用表结构、实体注解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46888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595959"/>
                </a:solidFill>
                <a:latin typeface="微软雅黑"/>
                <a:ea typeface="微软雅黑"/>
              </a:rPr>
              <a:t>入口｜触发方式，约束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834640"/>
            <a:ext cx="5120640" cy="6400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cancelUserOrder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用户主动取消；控制器不改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5550408" y="3154680"/>
            <a:ext cx="786384" cy="1051560"/>
          </a:xfrm>
          <a:custGeom>
            <a:avLst/>
            <a:gdLst/>
            <a:ahLst/>
            <a:cxnLst/>
            <a:rect l="0" t="0" r="r" b="b"/>
            <a:pathLst>
              <a:path w="786384" h="1051560" fill="none">
                <a:moveTo>
                  <a:pt x="0" y="0"/>
                </a:moveTo>
                <a:lnTo>
                  <a:pt x="786384" y="105156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538728"/>
            <a:ext cx="5120640" cy="6400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CancelOrderReceiver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延迟消息到期；接收者不改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550408" y="3858768"/>
            <a:ext cx="786384" cy="347472"/>
          </a:xfrm>
          <a:custGeom>
            <a:avLst/>
            <a:gdLst/>
            <a:ahLst/>
            <a:cxnLst/>
            <a:rect l="0" t="0" r="r" b="b"/>
            <a:pathLst>
              <a:path w="786384" h="347472" fill="none">
                <a:moveTo>
                  <a:pt x="0" y="0"/>
                </a:moveTo>
                <a:lnTo>
                  <a:pt x="786384" y="347472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242816"/>
            <a:ext cx="5120640" cy="6400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cancelTimeOutOrder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批量取消超时订单；控制器不改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5550408" y="4206240"/>
            <a:ext cx="786384" cy="356616"/>
          </a:xfrm>
          <a:custGeom>
            <a:avLst/>
            <a:gdLst/>
            <a:ahLst/>
            <a:cxnLst/>
            <a:rect l="0" t="0" r="r" b="b"/>
            <a:pathLst>
              <a:path w="786384" h="356616" fill="none">
                <a:moveTo>
                  <a:pt x="0" y="356616"/>
                </a:moveTo>
                <a:lnTo>
                  <a:pt x="78638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11480" y="4946904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595959"/>
                </a:solidFill>
                <a:latin typeface="微软雅黑"/>
                <a:ea typeface="微软雅黑"/>
              </a:rPr>
              <a:t>OrderTimeOutCancelTask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定时任务，未注册；定时任务不改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5550408" y="4206240"/>
            <a:ext cx="786384" cy="1060704"/>
          </a:xfrm>
          <a:custGeom>
            <a:avLst/>
            <a:gdLst/>
            <a:ahLst/>
            <a:cxnLst/>
            <a:rect l="0" t="0" r="r" b="b"/>
            <a:pathLst>
              <a:path w="786384" h="1060704" fill="none">
                <a:moveTo>
                  <a:pt x="0" y="1060704"/>
                </a:moveTo>
                <a:lnTo>
                  <a:pt x="786384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6355080" y="3767328"/>
            <a:ext cx="23774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取消与补偿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② 优势与不足在补偿写两份、取消先查后改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能跑通：入口分层，延迟消息解耦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不足在取消与支付的状态处理上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并发风险：源码可见，未运行验证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271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9000"/>
                <a:gridCol w="5842000"/>
                <a:gridCol w="1397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入口分层清楚；延迟消息把超时取消解耦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F10–F13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补偿写了两份，两个方法各一份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F18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单笔先查后改，更新不带状态条件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批量先改状态为 4，再逐单补偿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F17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paySuccess 不判断原状态，直接置 1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F14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依据：E1 卡 F10–F13、F14、F15、F17、F18、R1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 E2-00 改前的单笔补偿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/cancelUserOrder 与 CancelOrderReceiver。Issue #42</a:t>
            </a:r>
          </a:p>
        </p:txBody>
      </p:sp>
      <p:pic>
        <p:nvPicPr>
          <p:cNvPr id="4" name="pic#archify#crop#6cf9e39ee30d314c7262bc18e2b320da6f7dc505#SDC/E2/outputs/E2-00/diagrams/logical-before.html#e2-00-single-compensate.png" descr="e2-00-single-compens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60" y="2267712"/>
            <a:ext cx="4490078" cy="33101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图片来源：archify 派生图，局部，meng004/​mall，logical-before.html，6cf9e39e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改前的批量补偿局部</a:t>
            </a:r>
          </a:p>
        </p:txBody>
      </p:sp>
      <p:pic>
        <p:nvPicPr>
          <p:cNvPr id="3" name="pic#archify#crop#6cf9e39ee30d314c7262bc18e2b320da6f7dc505#SDC/E2/outputs/E2-00/diagrams/logical-before.html#e2-00-batch-compensate.png" descr="e2-00-batch-compens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152" y="1298448"/>
            <a:ext cx="4795694" cy="356615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/cancelTimeOutOrder。OrderTimeOutCancelTask 未注册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派生图，局部，meng004/​mall，logical-before.html，6cf9e39e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改前延迟消息的进程局部</a:t>
            </a:r>
          </a:p>
        </p:txBody>
      </p:sp>
      <p:pic>
        <p:nvPicPr>
          <p:cNvPr id="3" name="pic#archify#crop#6cf9e39ee30d314c7262bc18e2b320da6f7dc505#SDC/E2/outputs/E2-00/diagrams/process-before.html#e2-00-process-before-a.png" descr="e2-00-process-befor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57" y="1298448"/>
            <a:ext cx="7397885" cy="35661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/cancelOrder 只发延迟消息。改后这一跳仍只发消息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派生图，局部，meng004/​mall，process-before.html，6cf9e39e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改前到期与批量的进程局部</a:t>
            </a:r>
          </a:p>
        </p:txBody>
      </p:sp>
      <p:pic>
        <p:nvPicPr>
          <p:cNvPr id="3" name="pic#archify#crop#6cf9e39ee30d314c7262bc18e2b320da6f7dc505#SDC/E2/outputs/E2-00/diagrams/process-before.html#e2-00-process-before-b.png" descr="e2-00-process-before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98448"/>
            <a:ext cx="8631936" cy="373723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派生图，局部，meng004/​mall，process-before.html，6cf9e39e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③ 可维护性评价看修改点 2→1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本次只评易修改性这一个子特性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指标：同一补偿规则出现几处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改进后降为 1 处，代价见 ④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154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2413000"/>
                <a:gridCol w="2159000"/>
                <a:gridCol w="2286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子特性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判定问题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现有取值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11176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易修改性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改一项要动几处？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补偿规则出现几处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处，要动两个方法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依据：事实卡 E2 G17、G19；E1 卡第三节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④ 改进方案把取消收进 OrderCancellation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取消与补偿收进一个新类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条件更新命中一行，才做补偿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补偿只剩一份：库存锁、退券、积分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271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0"/>
                <a:gridCol w="5080000"/>
                <a:gridCol w="1397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应用原则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单一职责、信息隐藏、DRY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教学判断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可维护性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同一补偿规则：修改点 2→1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G19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可单独测试，规则可替换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G5、G6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多一个类，构造参数 6→7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G4、G19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不足（未解决）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先取消后支付回调仍把状态写成 1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依据：事实卡 E2 G4–G10、G15、G19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改后取消收到一处</a:t>
            </a:r>
          </a:p>
        </p:txBody>
      </p:sp>
      <p:pic>
        <p:nvPicPr>
          <p:cNvPr id="3" name="pic#archify#crop#6cf9e39ee30d314c7262bc18e2b320da6f7dc505#SDC/E2/outputs/E2-00/diagrams/process-after.html#e2-00-process-after-b.png" descr="e2-00-process-after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97" y="1298448"/>
            <a:ext cx="7412804" cy="356615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两份补偿收到一处。写入点 2 处 → 1 处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派生图，局部，meng004/​mall，process-after.html，6cf9e39e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改后命中一行才做补偿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153619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int updated ​= ​orderMapper.​updateByExampleSelective(​record,​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 example);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if (​updated ​!= ​1)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return false;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}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303580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出处：meng004/​mall@​47f4f735b26f75deb6e149e069cfe720869f46c6:​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mall-portal/​src/​main/​java/​com/​macro/​mall/​portal/​service/​impl/​OrderCancellation.java:​85-88</a:t>
            </a:r>
          </a:p>
        </p:txBody>
      </p:sp>
      <p:pic>
        <p:nvPicPr>
          <p:cNvPr id="5" name="pic#archify#crop#6cf9e39ee30d314c7262bc18e2b320da6f7dc505#SDC/E2/outputs/E2-00/diagrams/logical-after.html#e2-00-order-cancellation.png" descr="e2-00-order-cance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008" y="3511296"/>
            <a:ext cx="4609982" cy="206654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图片来源：archify 派生图，局部，meng004/​mall，logical-after.html，6cf9e39e</a:t>
            </a:r>
          </a:p>
        </p:txBody>
      </p:sp>
      <p:sp>
        <p:nvSpPr>
          <p:cNvPr id="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⑤ 取舍对比 A 少一个类，B 便于测试和替换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 少一个类，被 ADR 否决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B 可测试、可替换，被采用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取舍依据来自 ADR 的比较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266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3048000"/>
                <a:gridCol w="3048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A：类内私有方法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 B：OrderCancellation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可测试性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补偿是私有方法，只能整体测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可单独构造，断言协作者调用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可替换性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规则换不掉，除非再改服务类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换取消规则只换这一个组件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改动成本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少一个类；幂等表达不出来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多一个类、多一层调用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8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新增补偿的修改点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处变为私有方法的两次调用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依据：事实卡 E2 第五节、G19；A 的修改点为推断，未运行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对照结论与写入点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改前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pass，预期 pass。4 个测试，失败 0，跳过 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改后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pass，预期 pass。8 个测试，失败 0，跳过 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符合。EXPECT_BASE=pass。行为保持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写入点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 2 处，改后 1 处，在 cancelIf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删掉积分返还后，8 个里 4 个失败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怎样向 AI 提问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83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把提问写成规格：角色、格式、依据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没写进提问的约束，AI 不会替你想到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330000"/>
          <a:ext cx="8128000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0"/>
                <a:gridCol w="3048000"/>
              </a:tblGrid>
              <a:tr h="3556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提问原文（节选，逐字）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对应的提示词模式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你是一名资深 Java 架构师，重点关注设计的可维护性（特别是易修改性）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Persona（角色设定）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只依据当前仓库的源码作答，不要凭记忆补充。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暴露不确定性（T1 四种之外）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每条结论后面写出依据，格式为“文件路径:行号”；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Template（输出模板）：依据的格式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 部分用一张表：方案 | 改动位置 | 可测试性 | </a:t>
                      </a:r>
                      <a:b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可替换性 | 代价；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Template（输出模板）：表的列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最后单列一节“我不确定的地方”。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暴露不确定性（T1 四种之外）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来源：prompt-E2.md。模型 deepseek-flash，2026.10.16，经 Claude Code CLI，只读工具。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怎样核对 AI 的产出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83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逐条把 AI 的说法对到行号或事实卡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结论分采纳、驳回、部分采纳、存疑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330000"/>
          <a:ext cx="8128000" cy="302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0"/>
                <a:gridCol w="3327400"/>
                <a:gridCol w="1066800"/>
                <a:gridCol w="1498600"/>
              </a:tblGrid>
              <a:tr h="3556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说法（原话）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对应的核对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334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定时兜底实际不存在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OrderTimeOutCancelTask:14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事实卡 E1 F6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核对引用</a:t>
                      </a:r>
                      <a:b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是否存在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34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库存和积分是逐字复制的两段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OmsPortalOrderServiceImpl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284-291、314-323；E1 F18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引用存在，行号对得上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队列级 TTL 下过期是队头阻塞的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CancelOrderSender:29 逐条 TTL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RabbitMqConfig:49-55 无 TTL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驳回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区分原理与实现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34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同时解决「改 2 处」和「不能替换」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 卡 F15、R1：先查后改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E2 卡 G5：条件更新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部分采纳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拿原则</a:t>
                      </a:r>
                      <a:b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与规范作依据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同一会员两笔订单并发取消会丢更新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OmsPortalOrderServiceImpl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289-290、321-322；未运行验证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存疑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核对运行时事实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96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来源：核对-E2.md 共 10 条，这里选 5 条；原话摘自 answer-E2-20261016-0858.md；四项核对见 T1 第 49 页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候选选题有扩展题 E2-01（Issue #43）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portal 与 admin 共用 mall-order-rule。改前 fail、改后 pass，这是行为修正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支付、发货、确认收货和后台关闭，各自只允许一组出发状态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public static List&lt;Integer&gt; ​from(​int target)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return switch (​target)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case PAID ​-&gt; ​List.​of(​UNPAID);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case SHIPPED ​-&gt; ​List.​of(​PAID);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case COMPLETE ​-&gt; ​List.​of(​SHIPPED);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case CLOSED ​-&gt; ​List.​of(​UNPAID);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default ​-&gt; ​List.​of(​);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};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出处：meng004/​mall@​c1cb8ca81a7de1344a05bab90a50673e955cc1e1:​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mall-order-rule/​src/​main/​java/​com/​macro/​mall/​order/​OrderStatus.java:​19-26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候选选题三项，任选一项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00200"/>
            <a:ext cx="1828800" cy="7772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E2-01　#43</a:t>
            </a:r>
            <a:endParaRPr lang="zh-CN" sz="2000"/>
          </a:p>
        </p:txBody>
      </p:sp>
      <p:sp>
        <p:nvSpPr>
          <p:cNvPr id="102" name="fig"/>
          <p:cNvSpPr/>
          <p:nvPr/>
        </p:nvSpPr>
        <p:spPr>
          <a:xfrm>
            <a:off x="2331720" y="1600200"/>
            <a:ext cx="6400800" cy="7772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订单状态流转：portal 与 admin 共用迁移规则</a:t>
            </a:r>
            <a:endParaRPr lang="zh-CN" sz="2000"/>
          </a:p>
        </p:txBody>
      </p:sp>
      <p:sp>
        <p:nvSpPr>
          <p:cNvPr id="103" name="fig-d"/>
          <p:cNvSpPr/>
          <p:nvPr/>
        </p:nvSpPr>
        <p:spPr>
          <a:xfrm>
            <a:off x="411480" y="2514600"/>
            <a:ext cx="1828800" cy="7772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E2-08　#45</a:t>
            </a:r>
            <a:endParaRPr lang="zh-CN" sz="2000"/>
          </a:p>
        </p:txBody>
      </p:sp>
      <p:sp>
        <p:nvSpPr>
          <p:cNvPr id="104" name="fig"/>
          <p:cNvSpPr/>
          <p:nvPr/>
        </p:nvSpPr>
        <p:spPr>
          <a:xfrm>
            <a:off x="2331720" y="2514600"/>
            <a:ext cx="6400800" cy="7772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商品“前台可见”规则：portal 与 search 各写一份</a:t>
            </a:r>
            <a:endParaRPr lang="zh-CN" sz="2000"/>
          </a:p>
        </p:txBody>
      </p:sp>
      <p:sp>
        <p:nvSpPr>
          <p:cNvPr id="105" name="fig-d"/>
          <p:cNvSpPr/>
          <p:nvPr/>
        </p:nvSpPr>
        <p:spPr>
          <a:xfrm>
            <a:off x="411480" y="3429000"/>
            <a:ext cx="1828800" cy="7772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E2-09　#46</a:t>
            </a:r>
            <a:endParaRPr lang="zh-CN" sz="2000"/>
          </a:p>
        </p:txBody>
      </p:sp>
      <p:sp>
        <p:nvSpPr>
          <p:cNvPr id="106" name="fig"/>
          <p:cNvSpPr/>
          <p:nvPr/>
        </p:nvSpPr>
        <p:spPr>
          <a:xfrm>
            <a:off x="2331720" y="3429000"/>
            <a:ext cx="6400800" cy="7772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商品下架后搜索索引不更新：写 ADR，定义端口</a:t>
            </a:r>
            <a:endParaRPr lang="zh-CN" sz="2000"/>
          </a:p>
        </p:txBody>
      </p:sp>
      <p:sp>
        <p:nvSpPr>
          <p:cNvPr id="107" name="fig"/>
          <p:cNvSpPr/>
          <p:nvPr/>
        </p:nvSpPr>
        <p:spPr>
          <a:xfrm>
            <a:off x="411480" y="4480560"/>
            <a:ext cx="83210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原 E2-02～07 已于 10-08 关闭，不作选题</a:t>
            </a:r>
            <a:endParaRPr lang="zh-CN" sz="2000"/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公共视图的下单链局部</a:t>
            </a:r>
          </a:p>
        </p:txBody>
      </p:sp>
      <p:pic>
        <p:nvPicPr>
          <p:cNvPr id="3" name="pic#archify#crop#c247ba6a8721f64bdfa1f0d4c7bb0b219ff6a60c#SDC/E2/diagrams/mall-logical.html#mall-logical-order.png" descr="mall-logical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80" y="1298448"/>
            <a:ext cx="6852839" cy="303580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" name="body"/>
          <p:cNvSpPr txBox="1"/>
          <p:nvPr/>
        </p:nvSpPr>
        <p:spPr>
          <a:xfrm>
            <a:off x="365760" y="4370832"/>
            <a:ext cx="8412480" cy="120700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可复用公共视图，本题差异要另外标明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3306→13306、5672→5673、6379→16379、27017→27018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派生图，局部，meng004/​mall，mall-logical.html，c247ba6a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步骤① 用相关的“4+1”视图解释所选业务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109728" cy="7772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645920"/>
            <a:ext cx="81381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逻辑视图写职责和依赖。可以复用公共图，再标出本题差在哪里。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60320"/>
            <a:ext cx="109728" cy="7772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94360" y="2560320"/>
            <a:ext cx="8138160" cy="77724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进程视图写运行时谁发消息、谁执行。队列本身不执行 Java。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474720"/>
            <a:ext cx="109728" cy="7772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594360" y="3474720"/>
            <a:ext cx="813816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开发视图写模块怎么分。物理视图把容器端口和宿主映射分开。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没有新进程或新机器时，写明物理视图沿用公共部署，不要另画一台。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步骤② 文件:行号、调用者或数据流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3877056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OmsOrderExample example ​= ​new OmsOrderExample(​);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example.​createCriteria(​).​andIdEqualTo(​orderId).​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andStatusEqualTo(​0).​andDeleteStatusEqualTo(​0);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List&lt;OmsOrder&gt; ​cancelOrderList ​= ​orderMapper.​selectByExample(​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example);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if (​CollectionUtils.​isEmpty(​cancelOrderList))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return;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OmsOrder cancelOrder ​= ​cancelOrderList.​get(​0);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if (​cancelOrder ​!=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​//修改订单状态为取消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cancelOrder.​setStatus(​4);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orderMapper.​updateByPrimaryKeySelective(​cancelOrder);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537667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出处：meng004/​mall@​dcaa93b3150352e5044708d7211b5bed0af4509f:​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mall-portal/​src/​main/​java/​com/​macro/​mall/​portal/​service/​impl/​OmsPortalOrderServiceImpl.java:​299-309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步骤③ 两种最小方案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可测试性、可替换性与代价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方案 A：私有方法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方案 B：独立的类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65760" y="3182112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测试仍绕整份服务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3182112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测试可直接构造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65760" y="4069080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规则本身换不掉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663440" y="4069080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换规则只换一处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365760" y="4956048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代价是少一个类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663440" y="4956048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代价是多一个类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步骤④ 核实 AI 对调用链与两种方案的说法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36192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用断点或日志核实一项运行时事实，用教师示例 E2-00 的对照记录核实修改点与测试成本的差异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514600"/>
            <a:ext cx="1280160" cy="621792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运行时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783080" y="2514600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断点或日志：核实 AI 说的调用链，记录预期、观察与修正。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227832"/>
            <a:ext cx="1280160" cy="621792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修改点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783080" y="3227832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修改点：教师示例 E2-00 的补偿写入点从 2 处收成 1 处。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941064"/>
            <a:ext cx="1280160" cy="621792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测试成本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783080" y="3941064"/>
            <a:ext cx="694944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测试成本：同一组测试，改前 4 个通过，改后 8 个通过，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跳过 0。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11480" y="4754880"/>
            <a:ext cx="8321040" cy="6858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没有核实的 AI 说法写“未核实”，不得写成验证过。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87452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005840" y="1691640"/>
            <a:ext cx="7726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方案还没实施，却把方案图写成已经验证过。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83464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005840" y="2651760"/>
            <a:ext cx="7726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规则一报错就当成缺陷，不核对它扫的是哪一类文件。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79476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005840" y="3611880"/>
            <a:ext cx="7726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没走的路径写成运行时已经验证，例如没发过的队列消息。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75488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005840" y="4572000"/>
            <a:ext cx="7726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不写文件:行号和调用者，或按方法长短、用了 Mapper 来判错。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1783080"/>
            <a:ext cx="109728" cy="15544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60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6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1965960"/>
            <a:ext cx="7635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规则报错就一定是缺陷吗？</a:t>
            </a:r>
            <a:br>
              <a:rPr lang="zh-CN" sz="2400">
                <a:latin typeface="微软雅黑"/>
                <a:ea typeface="微软雅黑"/>
              </a:rPr>
            </a:b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怎么判断是检查规则扫描范围的问题还是真实问题？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474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提示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E2-00 是行为保持：同一输入下改前通过，改后仍通过。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E2-01 是行为修正：改前失败，改后通过，错误行为被改掉。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928616"/>
            <a:ext cx="8321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误报例子：规则只扫实现类，会把写在接口上的事务报成缺失。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一页说明样例里三项各写什么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5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教师示例 E2-00，Issue #42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三项缺一，对应那一项就没有证据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你的作业用自己的证据，不照抄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411480" y="2831328"/>
          <a:ext cx="8128000" cy="256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5080000"/>
                <a:gridCol w="1778000"/>
              </a:tblGrid>
              <a:tr h="4318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样例怎么写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711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补偿写了两份，收进 OrderCancellation，修改点 2→1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G17–G19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711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改前两处：cancelTimeOutOrder 第 282–292 行，cancelOrder 第 313–324 行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F18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改前 pass，4 个测试；改后 pass，8 个测试；结论：符合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G11、G12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700000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依据：事实卡 E2 G11、G12、G17–G19；E1 卡 F18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真实设计问题或变化场景及源码调用关系15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相关4+1视图说明职责、依赖与运行边界15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用信息隐藏或分层依赖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解释具体风险或变更成本15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比较两种最小方案的可测试性、可替换性与代价，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并说明对 AI 比较结论的采纳或驳回15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用断点、日志或执行记录核实 AI 关于调用链或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运行时行为的一项回答，记录预期、观察与修正20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用源码与教师示例 E2-00 的对照记录核实两种方案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在修改点、依赖或测试成本上的差异20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"/>
          <p:cNvSpPr txBox="1"/>
          <p:nvPr/>
        </p:nvSpPr>
        <p:spPr>
          <a:xfrm>
            <a:off x="411480" y="5600000"/>
            <a:ext cx="8321040" cy="5000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lang="zh-CN" altLang="en-US">
                <a:latin typeface="微软雅黑"/>
                <a:ea typeface="微软雅黑"/>
                <a:cs typeface="微软雅黑"/>
              </a:rPr>
              <a:t>评分附注：未经核实的 AI 结论不得“验证过”分；不要求完整迁移架构。保留安全、事务、对外接口的既有要求，真实例外须解释。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一页说明（按讲清楚、有依据、验证过组织）＋不超过2分钟</a:t>
            </a:r>
            <a:br>
              <a:rPr sz="2300" b="0" lang="zh-CN" altLang="en-US">
                <a:latin typeface="微软雅黑"/>
                <a:ea typeface="微软雅黑"/>
              </a:rPr>
            </a:br>
            <a:r>
              <a:rPr sz="2300" b="0" lang="zh-CN" altLang="en-US">
                <a:latin typeface="微软雅黑"/>
                <a:ea typeface="微软雅黑"/>
                <a:cs typeface="微软雅黑"/>
              </a:rPr>
              <a:t>本人录屏。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只交还没实施的设想时，不得声称改进已经验证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本次课结束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下次课：第 5 次课｜体系结构设计（一）</a:t>
            </a:r>
          </a:p>
        </p:txBody>
      </p:sp>
    </p:spTree>
  </p:cSld>
  <p:clrMapOvr>
    <a:masterClrMapping/>
  </p:clrMapOvr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