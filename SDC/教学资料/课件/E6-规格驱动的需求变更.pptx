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48"/>
  </p:handoutMasterIdLst>
  <p:sldIdLst>
    <p:sldId id="256" r:id="rId9"/>
    <p:sldId id="288" r:id="rId55"/>
    <p:sldId id="257" r:id="rId10"/>
    <p:sldId id="258" r:id="rId11"/>
    <p:sldId id="259" r:id="rId12"/>
    <p:sldId id="260" r:id="rId13"/>
    <p:sldId id="261" r:id="rId35"/>
    <p:sldId id="262" r:id="rId36"/>
    <p:sldId id="263" r:id="rId30"/>
    <p:sldId id="264" r:id="rId31"/>
    <p:sldId id="265" r:id="rId32"/>
    <p:sldId id="267" r:id="rId14"/>
    <p:sldId id="270" r:id="rId33"/>
    <p:sldId id="268" r:id="rId15"/>
    <p:sldId id="269" r:id="rId16"/>
    <p:sldId id="271" r:id="rId34"/>
    <p:sldId id="266" r:id="rId37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7" r:id="rId54"/>
    <p:sldId id="286" r:id="rId53"/>
    <p:sldId id="284" r:id="rId38"/>
    <p:sldId id="283" r:id="rId28"/>
    <p:sldId id="285" r:id="rId29"/>
    <p:sldId id="289" r:id="rId56"/>
  </p:sldIdLst>
  <p:sldSz cx="9144000" cy="6858000" type="screen4x3"/>
  <p:notesSz cx="6760845" cy="9931400"/>
  <p:custDataLst>
    <p:tags r:id="rId52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4D4D"/>
    <a:srgbClr val="FF3300"/>
    <a:srgbClr val="CC0000"/>
    <a:srgbClr val="FFFFCC"/>
    <a:srgbClr val="FFCCFF"/>
    <a:srgbClr val="FFFFFF"/>
    <a:srgbClr val="3399FF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2D5ABB26-0587-4C30-8999-92F81FD0307C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73" autoAdjust="0"/>
    <p:restoredTop sz="86423" autoAdjust="0"/>
  </p:normalViewPr>
  <p:slideViewPr>
    <p:cSldViewPr showGuides="1">
      <p:cViewPr varScale="1">
        <p:scale>
          <a:sx n="93" d="100"/>
          <a:sy n="93" d="100"/>
        </p:scale>
        <p:origin x="812" y="64"/>
      </p:cViewPr>
      <p:guideLst>
        <p:guide orient="horz" pos="2160"/>
        <p:guide pos="288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>
      <p:cViewPr>
        <p:scale>
          <a:sx n="100" d="100"/>
          <a:sy n="100" d="100"/>
        </p:scale>
        <p:origin x="1662" y="-1344"/>
      </p:cViewPr>
      <p:guideLst>
        <p:guide orient="horz" pos="3129"/>
        <p:guide pos="213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12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slide" Target="slides/slide27.xml"/><Relationship Id="rId27" Type="http://schemas.openxmlformats.org/officeDocument/2006/relationships/slide" Target="slides/slide28.xml"/><Relationship Id="rId28" Type="http://schemas.openxmlformats.org/officeDocument/2006/relationships/slide" Target="slides/slide32.xml"/><Relationship Id="rId29" Type="http://schemas.openxmlformats.org/officeDocument/2006/relationships/slide" Target="slides/slide33.xml"/><Relationship Id="rId30" Type="http://schemas.openxmlformats.org/officeDocument/2006/relationships/slide" Target="slides/slide9.xml"/><Relationship Id="rId31" Type="http://schemas.openxmlformats.org/officeDocument/2006/relationships/slide" Target="slides/slide10.xml"/><Relationship Id="rId32" Type="http://schemas.openxmlformats.org/officeDocument/2006/relationships/slide" Target="slides/slide11.xml"/><Relationship Id="rId33" Type="http://schemas.openxmlformats.org/officeDocument/2006/relationships/slide" Target="slides/slide13.xml"/><Relationship Id="rId34" Type="http://schemas.openxmlformats.org/officeDocument/2006/relationships/slide" Target="slides/slide16.xml"/><Relationship Id="rId35" Type="http://schemas.openxmlformats.org/officeDocument/2006/relationships/slide" Target="slides/slide7.xml"/><Relationship Id="rId36" Type="http://schemas.openxmlformats.org/officeDocument/2006/relationships/slide" Target="slides/slide8.xml"/><Relationship Id="rId37" Type="http://schemas.openxmlformats.org/officeDocument/2006/relationships/slide" Target="slides/slide17.xml"/><Relationship Id="rId38" Type="http://schemas.openxmlformats.org/officeDocument/2006/relationships/slide" Target="slides/slide31.xml"/><Relationship Id="rId48" Type="http://schemas.openxmlformats.org/officeDocument/2006/relationships/handoutMaster" Target="handoutMasters/handout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ableStyles" Target="tableStyles.xml"/><Relationship Id="rId52" Type="http://schemas.openxmlformats.org/officeDocument/2006/relationships/tags" Target="tags/tag7.xml"/><Relationship Id="rId53" Type="http://schemas.openxmlformats.org/officeDocument/2006/relationships/slide" Target="slides/slide30.xml"/><Relationship Id="rId54" Type="http://schemas.openxmlformats.org/officeDocument/2006/relationships/slide" Target="slides/slide29.xml"/><Relationship Id="rId55" Type="http://schemas.openxmlformats.org/officeDocument/2006/relationships/slide" Target="slides/slide2.xml"/><Relationship Id="rId56" Type="http://schemas.openxmlformats.org/officeDocument/2006/relationships/slide" Target="slides/slide3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720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63975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63975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F9BFF2AA-1B51-48D4-AF79-5A13FE5BDCE2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27463" y="0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98525" y="744538"/>
            <a:ext cx="4967288" cy="372586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4688" y="4719638"/>
            <a:ext cx="5411787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/>
          <a:p>
            <a:pPr lvl="0"/>
            <a:r>
              <a:rPr lang="en-US" altLang="zh-CN" noProof="0"/>
              <a:t>Click to edit Master text styles</a:t>
            </a:r>
            <a:endParaRPr lang="en-US" altLang="zh-CN" noProof="0"/>
          </a:p>
          <a:p>
            <a:pPr lvl="1"/>
            <a:r>
              <a:rPr lang="en-US" altLang="zh-CN" noProof="0"/>
              <a:t>Second level</a:t>
            </a:r>
            <a:endParaRPr lang="en-US" altLang="zh-CN" noProof="0"/>
          </a:p>
          <a:p>
            <a:pPr lvl="2"/>
            <a:r>
              <a:rPr lang="en-US" altLang="zh-CN" noProof="0"/>
              <a:t>Third level</a:t>
            </a:r>
            <a:endParaRPr lang="en-US" altLang="zh-CN" noProof="0"/>
          </a:p>
          <a:p>
            <a:pPr lvl="3"/>
            <a:r>
              <a:rPr lang="en-US" altLang="zh-CN" noProof="0"/>
              <a:t>Fourth level</a:t>
            </a:r>
            <a:endParaRPr lang="en-US" altLang="zh-CN" noProof="0"/>
          </a:p>
          <a:p>
            <a:pPr lvl="4"/>
            <a:r>
              <a:rPr lang="en-US" altLang="zh-CN" noProof="0"/>
              <a:t>Fifth level</a:t>
            </a:r>
            <a:endParaRPr lang="en-US" altLang="zh-CN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1338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27463" y="9431338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fld id="{BF21029A-2C2D-4ABF-B6A0-347AF3B9548E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节：封面</a:t>
            </a:r>
          </a:p>
          <a:p>
            <a:r>
              <a:t>本节 15 分钟</a:t>
            </a:r>
          </a:p>
          <a:p>
            <a:r>
              <a:t>定义：这次实验把模糊需求写成规格，先看到失败测试，再实现，并保持原来的调用方式。</a:t>
            </a:r>
          </a:p>
          <a:p>
            <a:r>
              <a:t>代价：开场用这次的细则去投上一份作业，票和作品会对不上。</a:t>
            </a:r>
          </a:p>
          <a:p>
            <a:r>
              <a:t>判定：先确认被演示的是实验 E5，用 E5 的细则投票，然后再答签到。</a:t>
            </a:r>
          </a:p>
          <a:p>
            <a:r>
              <a:t>权衡：三个班周次不同，口头交代时间。课上只强调这是第 12 次课。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节：现场演示与投票</a:t>
            </a:r>
          </a:p>
          <a:p>
            <a:r>
              <a:t>时长见本节首页（本节 15 分钟）</a:t>
            </a:r>
          </a:p>
          <a:p>
            <a:r>
              <a:t>定义：这一页用的是实验 E5 的细则。被演示的是上一份影响分析，不是这次要交的实现。</a:t>
            </a:r>
          </a:p>
          <a:p>
            <a:r>
              <a:t>代价：用这次实验的三栏去投 E5 的作品，分析证据和实现证据会对错位。</a:t>
            </a:r>
          </a:p>
          <a:p>
            <a:r>
              <a:t>判定：票要能对上需求与不改边界、改动清单、被排除的方案，以及测试输入和层次。</a:t>
            </a:r>
          </a:p>
          <a:p>
            <a:r>
              <a:t>权衡：E5 不要求提前实现新需求。这次实验的细则和边界在后面单独讲。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节：现场演示与投票</a:t>
            </a:r>
          </a:p>
          <a:p>
            <a:r>
              <a:t>时长见本节首页（本节 15 分钟）</a:t>
            </a:r>
          </a:p>
          <a:p>
            <a:r>
              <a:t>题目页</a:t>
            </a:r>
          </a:p>
          <a:p>
            <a:r>
              <a:t>答案：C</a:t>
            </a:r>
          </a:p>
          <a:p>
            <a:r>
              <a:t>定义：C 同时写了功能要求（按会员价结算）和非功能要求（200 毫秒内返回），还写了失败时的做法。</a:t>
            </a:r>
          </a:p>
          <a:p>
            <a:r>
              <a:t>代价：只写功能或只写“要快”，验收时无法判定。</a:t>
            </a:r>
          </a:p>
          <a:p>
            <a:r>
              <a:t>判定：看准则里有没有可判定的数字和失败时的处理。</a:t>
            </a:r>
          </a:p>
          <a:p>
            <a:r>
              <a:t>权衡：先完成实名演示再答这一题。选错这一题，这次到场就不计入。答案只留在备注。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节：任务说明</a:t>
            </a:r>
          </a:p>
          <a:p>
            <a:r>
              <a:t>本节 5 分钟</a:t>
            </a:r>
          </a:p>
          <a:p>
            <a:r>
              <a:t>定义：这五题是 T6 课前的预习。这里只给正确答案、判定依据，以及容易混到的另一个概念。</a:t>
            </a:r>
          </a:p>
          <a:p>
            <a:r>
              <a:t>代价：特征测试顺手改成“正确”结果，E6-00 重构时就分不清是行为变了还是缺陷修了。</a:t>
            </a:r>
          </a:p>
          <a:p>
            <a:r>
              <a:t>判定：第 1、2、5 题对应本次教师示例 E6-00：先钉住现有计算结果，再重构出接缝，最后加新规则；第 3 题看调用是否经过代理。</a:t>
            </a:r>
          </a:p>
          <a:p>
            <a:r>
              <a:t>权衡：第 4 题是演化策略，本次实验不展开。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节：任务说明</a:t>
            </a:r>
          </a:p>
          <a:p>
            <a:r>
              <a:t>时长见本节首页（本节 5 分钟）</a:t>
            </a:r>
          </a:p>
          <a:p>
            <a:r>
              <a:t>定义：目标是沿用上次选的需求，写成规格后真正实现，并说明调用怎样保持兼容。</a:t>
            </a:r>
          </a:p>
          <a:p>
            <a:r>
              <a:t>代价：为了凑一次失败去编一个有缺陷的初版，红灯就不是这条需求自己的。</a:t>
            </a:r>
          </a:p>
          <a:p>
            <a:r>
              <a:t>判定：作品要能对上规格、同一组测试的前后结果、调用没有改，以及规范取舍。</a:t>
            </a:r>
          </a:p>
          <a:p>
            <a:r>
              <a:t>权衡：不要求编造有缺陷的初版。必须实际实现新需求。换题的理由在实验里单独说。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节：教师示例</a:t>
            </a:r>
          </a:p>
          <a:p>
            <a:r>
              <a:t>时长见本节首页（计入实验 60 分钟）</a:t>
            </a:r>
          </a:p>
          <a:p>
            <a:r>
              <a:t>定义：第 54 行把促销类型设为 2，第 56 行期望单价 100.00、优惠额 30.00、文案会员价。购物车单价仍是 95.00。</a:t>
            </a:r>
          </a:p>
          <a:p>
            <a:r>
              <a:t>代价：把这次失败当成编译或环境坏了，就会去改构建，而不是去实现会员价。</a:t>
            </a:r>
          </a:p>
          <a:p>
            <a:r>
              <a:t>判定：问失败是期望会员价、实际无优惠，还是测试没有编译。另外 10 项在那次运行里通过。</a:t>
            </a:r>
          </a:p>
          <a:p>
            <a:r>
              <a:t>权衡：对照记录在 03ff236b3612af315fdb144866826b9a0e096a34：改前 24 项失败 6 项，改后 a1e6679f72e7482533f76ed9cf79b0027bb05f8d 为 24 项失败 0 项。结论符合。</a:t>
            </a:r>
          </a:p>
          <a:p>
            <a:r>
              <a:t>基线 dcaa93b3150352e5044708d7211b5bed0af4509f。分支当前头 abe34e5b88c37a4a01f327ec0ee0c4f42ae0baf0。红灯是在 4a7f3d9002ffd5559e1e015f3a6b41a56603dcb1 上跑的，那时会员价策略还没登记；16 项里 6 项失败，实际是 95.00、优惠额 0、文案无优惠。这份记录保存在 6ae381b9702cc1f48b0d7a177b197c0eadc60f41 的 red-spec.txt，不是同一次提交。特征测试第 62–66 行把单价锁在 95.00；第 26 行单品促销期望单价 100.00。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节：教师示例</a:t>
            </a:r>
          </a:p>
          <a:p>
            <a:r>
              <a:t>时长见本节首页（计入实验 60 分钟）</a:t>
            </a:r>
          </a:p>
          <a:p>
            <a:r>
              <a:t>定义：第 57–62 行按登记顺序找第一个支持该类型的策略。第 66 行五个策略里，会员价在兜底之前。</a:t>
            </a:r>
          </a:p>
          <a:p>
            <a:r>
              <a:t>代价：把兜底策略登记到前面，它会接住所有类型，会员价永远走不到。</a:t>
            </a:r>
          </a:p>
          <a:p>
            <a:r>
              <a:t>判定：问类型 2 是在循环里新写分支，还是由会员价策略的 supports 回答。</a:t>
            </a:r>
          </a:p>
          <a:p>
            <a:r>
              <a:t>权衡：第 69–73 行是内部接口，含 supports 与 apply。新增一种类型要改的是策略类和这一行登记。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节：教师示例</a:t>
            </a:r>
          </a:p>
          <a:p>
            <a:r>
              <a:t>时长见本节首页（计入实验 60 分钟）</a:t>
            </a:r>
          </a:p>
          <a:p>
            <a:r>
              <a:t>定义：这页按改后结构重画。列表进 calcCartPromotion，类型 2 再进会员价策略，其余类型进兜底。</a:t>
            </a:r>
          </a:p>
          <a:p>
            <a:r>
              <a:t>代价：整图节点字只有约 7 磅。课上用这四格，不靠学生读整图。</a:t>
            </a:r>
          </a:p>
          <a:p>
            <a:r>
              <a:t>判定：能指出类型 2 走会员价，以及多条价格按 id 升序只取最小一条。</a:t>
            </a:r>
          </a:p>
          <a:p>
            <a:r>
              <a:t>权衡：确认单和下单都会拿到新的单价和优惠额。优惠券列表也会走到这里，这次没有为它另写测试。</a:t>
            </a:r>
          </a:p>
          <a:p>
            <a:r>
              <a:t>本页按整图重画为流程图。整图 SDC/E6/outputs/E6-00/diagrams/e6-00.head.html，图稿源提交 abe34e5b88c37a4a01f327ec0ee0c4f42ae0baf0，本地 e6-00-e6-00.head.png。图内标注的代码修订是 a1e6679f72e7482533f76ed9cf79b0027bb05f8d。改前整图是同目录 e6-00.base.html，本地 e6-00-e6-00.base.png。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定义：扩展题在锁定和扣减之后各查一次。可售库存严格小于阈值才记一条警告。</a:t>
            </a:r>
          </a:p>
          <a:p>
            <a:r>
              <a:t>代价：把库存预警当成每个人的题目，就盖过了本人在 E5 已经选过的需求。</a:t>
            </a:r>
          </a:p>
          <a:p>
            <a:r>
              <a:t>判定：问第 274 行返回的是不是更新行数，接口和库存 SQL 有没有改。</a:t>
            </a:r>
          </a:p>
          <a:p>
            <a:r>
              <a:t>权衡：改后代码 4a5f25b9d01ec5582da8ef95065f1dd4c37e136d。对照在 ed7b338206fd09319efd04d844222f88f17cd4a0：4 项里改前失败 3 项，改后失败 0 项，结论符合。</a:t>
            </a:r>
          </a:p>
          <a:p>
            <a:r>
              <a:t>本页按整图重画为流程图。整图 SDC/E6/outputs/E6-07/diagrams/e6-07.head.html，图稿与对照提交 ed7b338206fd09319efd04d844222f88f17cd4a0，本地 e6-07-e6-07.head.png。改前整图 e6-07.base.html，本地 e6-07-e6-07.base.png。失败的是日志条数，期望 1 实际 0，行号 60、99、148。调用在第 170–172 行和第 271–273 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定义：第一步把一句话需求写成用户故事、规则、边界、非功能需求，以及已经问清的歧义。</a:t>
            </a:r>
          </a:p>
          <a:p>
            <a:r>
              <a:t>代价：只留用户故事，边界要等实现时再猜，同一条需求会写出互相矛盾的测试。</a:t>
            </a:r>
          </a:p>
          <a:p>
            <a:r>
              <a:t>判定：问哪一条是原文就有的，哪一条是对照代码之后才写定的。</a:t>
            </a:r>
          </a:p>
          <a:p>
            <a:r>
              <a:t>权衡：教师示例里，多行会员价取 id 最小的一条，也是对照代码后写定的，不是故事原句。</a:t>
            </a:r>
          </a:p>
          <a:p>
            <a:r>
              <a:t>规格原文见 Issue #14“需求规格”。验收准则：类型 2、会员价 70.00 时单价 100.00、优惠额 30.00、文案会员价。红灯实际跑在 4a7f3d9002ffd5559e1e015f3a6b41a56603dcb1，记录保存在 6ae381b9702cc1f48b0d7a177b197c0eadc60f41。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定义：第二步让 AI 按规格生成会失败的规格测试，人核实失败原因落在新行为上。失败要落在新行为上，而不是落在构建或环境上。</a:t>
            </a:r>
          </a:p>
          <a:p>
            <a:r>
              <a:t>代价：看见红灯就改断言，测试会迁就还没实现的代码。</a:t>
            </a:r>
          </a:p>
          <a:p>
            <a:r>
              <a:t>判定：问 6 项失败期望的是会员价，还是连不上数据库。通过的 10 项守的是原有无优惠。</a:t>
            </a:r>
          </a:p>
          <a:p>
            <a:r>
              <a:t>权衡：对照把特征测试和规格测试放在一起跑，共 24 项，失败仍是那 6 项。跳过是 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定义：第三步用 AI 辅助实现时，旧调用方的代码保持不动。兼容指的是调用不用改，不是结果一个数都不许变。</a:t>
            </a:r>
          </a:p>
          <a:p>
            <a:r>
              <a:t>代价：为了新字段去改控制器或服务接口，原来的调用就会编译失败。</a:t>
            </a:r>
          </a:p>
          <a:p>
            <a:r>
              <a:t>判定：问签名有没有变，以及类型 1 的单价和文案是不是还和改前一样。</a:t>
            </a:r>
          </a:p>
          <a:p>
            <a:r>
              <a:t>权衡：优惠券列表也会走到这次计算。教师示例没有为它另写测试，这是还没验证的范围。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定义：这一页和下一讲用的是同一份黄山版、同一份 Google Java Style，条款、URL 和核对日期相同。</a:t>
            </a:r>
          </a:p>
          <a:p>
            <a:r>
              <a:t>代价：把布尔属性的 is 前缀说成和缩进、行宽并列的另一条冲突，会让人以为 Google 规定了相反写法。</a:t>
            </a:r>
          </a:p>
          <a:p>
            <a:r>
              <a:t>判定：问 4 和 2、120 和 100 各出自哪一条。再问 Google 对 is 前缀是禁止、要求，还是没有对应规定。</a:t>
            </a:r>
          </a:p>
          <a:p>
            <a:r>
              <a:t>权衡：教师示例的新策略跟随所在文件的 4 个空格。金额比较用 compareTo，因为黄山版有这条，Google 没有对应条款。学生可另选和自己代码相关的正式条款，但要给出两套原文和采用理由。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定义：第五步用架构决策记录写下上下文、决定、被否决的做法和后果。</a:t>
            </a:r>
          </a:p>
          <a:p>
            <a:r>
              <a:t>代价：只写最后选了策略，不写否决了什么，别人无法判断这个决定是不是最小的。</a:t>
            </a:r>
          </a:p>
          <a:p>
            <a:r>
              <a:t>判定：问被否决的两种做法各多付出什么，以及决定带来的金额变化。</a:t>
            </a:r>
          </a:p>
          <a:p>
            <a:r>
              <a:t>权衡：提取方法更省行数。教师示例仍用策略，是为了让新增类型时选择逻辑本身不再改。代价是多一个接口和若干内部类。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定义：第六步说明证据到哪一层。替身能证明的写替身，没跑到的路径单独标成还没验证。</a:t>
            </a:r>
          </a:p>
          <a:p>
            <a:r>
              <a:t>代价：把源码推断写成已经在运行的门户上验证过，非功能这一档就没有对应的证据。</a:t>
            </a:r>
          </a:p>
          <a:p>
            <a:r>
              <a:t>判定：问哪几条是测试断言，哪几条只是顺着第 112、117、766 行推出来的。</a:t>
            </a:r>
          </a:p>
          <a:p>
            <a:r>
              <a:t>权衡：部分验证可以得分，前提是写明限制。数据库删除或分页若写进了效果，就要有集成证据。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定义：上次做的是分析，这次把同一条需求实现出来。另选可以，但要写理由。</a:t>
            </a:r>
          </a:p>
          <a:p>
            <a:r>
              <a:t>代价：换一条更短的需求又不说明理由，两次作业的证据就对不上同一个人的选择。</a:t>
            </a:r>
          </a:p>
          <a:p>
            <a:r>
              <a:t>判定：问这次实现的是不是上次分析的那一项。若不是，理由写在哪一段。</a:t>
            </a:r>
          </a:p>
          <a:p>
            <a:r>
              <a:t>权衡：同一段实现不能既拿重构实验的分，又拿这次实现的分。分析可以沿用，实现要新做。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定义：这些对不上本次细则里的证据，也是教师示例对照时已经标出的限度。</a:t>
            </a:r>
          </a:p>
          <a:p>
            <a:r>
              <a:t>代价：缺了前后结果、原文条款或未验证的范围，对应的那一档就没有证据。</a:t>
            </a:r>
          </a:p>
          <a:p>
            <a:r>
              <a:t>判定：红灯要能对上新行为。签名没变、相邻类型仍通过，才算调用兼容有证据。</a:t>
            </a:r>
          </a:p>
          <a:p>
            <a:r>
              <a:t>权衡：允许写“这里还没验证”。不允许把没跑过的确认单或下单写成已经跑过。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本节 10 分钟</a:t>
            </a:r>
          </a:p>
          <a:p>
            <a:r>
              <a:t>定义：讨论的是规格里哪些句子不是需求原文，而是追问或对照代码之后才定下来的。</a:t>
            </a:r>
          </a:p>
          <a:p>
            <a:r>
              <a:t>代价：把后来写定的边界说成需求本来就写了，就看不出追问改变了什么。</a:t>
            </a:r>
          </a:p>
          <a:p>
            <a:r>
              <a:t>判定：回答要举出一条原句里没有、对照调用后才写上的边界。</a:t>
            </a:r>
          </a:p>
          <a:p>
            <a:r>
              <a:t>权衡：课上先听学生举自己选的需求。教师示例用来对照，不代替学生的例子。</a:t>
            </a:r>
          </a:p>
          <a:p>
            <a:r>
              <a:t>参考要点：会员价挂在商品和等级上、不挂在 SKU 上，是对照调用后写定的；同一分组两个会员号不一致时整组不优惠且不查库，也是追问后写定的。</a:t>
            </a:r>
          </a:p>
          <a:p>
            <a:r>
              <a:t>依据：Issue #14 中「与代码核对后写定的边界」；教案第 12 次课讨论题。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时长见本节首页（本节 10 分钟）</a:t>
            </a:r>
          </a:p>
          <a:p>
            <a:r>
              <a:t>定义：小结抽一个人讲：这次变更动了行为，但旧的调用代码没有改。</a:t>
            </a:r>
          </a:p>
          <a:p>
            <a:r>
              <a:t>代价：只说“接口没动”，不说明哪种输入的结果变了，兼容就成了一句空话。</a:t>
            </a:r>
          </a:p>
          <a:p>
            <a:r>
              <a:t>判定：要听到签名、没改的调用方，以及哪一类输入的结果允许变。</a:t>
            </a:r>
          </a:p>
          <a:p>
            <a:r>
              <a:t>权衡：结果变了不等于不兼容。不兼容是旧的调用方必须改代码才能编过或跑过。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时长见本节首页（本节 10 分钟）</a:t>
            </a:r>
          </a:p>
          <a:p>
            <a:r>
              <a:t>定义：三栏是 30、30、40。讲清楚两项，有依据两项，验证过三项，都要有自己的证据。</a:t>
            </a:r>
          </a:p>
          <a:p>
            <a:r>
              <a:t>代价：缺了改前失败、相邻回归或未验证的限制，验证过这一栏就少对应的那一项。</a:t>
            </a:r>
          </a:p>
          <a:p>
            <a:r>
              <a:t>判定：讲清楚看规格和调用范围。有依据看修改位置和两套规范。验证过看前后结果和证据层次。</a:t>
            </a:r>
          </a:p>
          <a:p>
            <a:r>
              <a:t>权衡：示例材料的对照结论符合，只说明那一份参考实现的记录齐。你的作业分看你自己的证据。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节：小结</a:t>
            </a:r>
          </a:p>
          <a:p>
            <a:r>
              <a:rPr lang="zh-CN" dirty="0"/>
              <a:t>时长见本节首页（本节 10 分钟）</a:t>
            </a:r>
          </a:p>
          <a:p>
            <a:r>
              <a:rPr lang="zh-CN" dirty="0"/>
              <a:t>定义：提交是一页说明加不超过 2 分钟的本人录屏，一页说明按讲清楚、有依据、验证过组织。</a:t>
            </a:r>
          </a:p>
          <a:p>
            <a:r>
              <a:rPr lang="zh-CN" dirty="0"/>
              <a:t>代价：缺其中一项，对应那一项就没有证据。</a:t>
            </a:r>
          </a:p>
          <a:p>
            <a:r>
              <a:rPr lang="zh-CN" dirty="0"/>
              <a:t>判定：录屏里要能看到失败测试、实现之后的通过，以及调用没有改。</a:t>
            </a:r>
          </a:p>
          <a:p>
            <a:r>
              <a:rPr lang="zh-CN" dirty="0"/>
              <a:t>权衡：参考实现可以看，不能代替本人的选择、执行和证据。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节：教师示例</a:t>
            </a:r>
          </a:p>
          <a:p>
            <a:r>
              <a:rPr lang="zh-CN" dirty="0"/>
              <a:t>时长计入实验 60 分钟</a:t>
            </a:r>
          </a:p>
          <a:p>
            <a:r>
              <a:rPr lang="zh-CN" dirty="0"/>
              <a:t>依据：事实卡 E6 N1–N3、N6；exp/e6-00 的 SDC/E6/outputs/E6-00/evidence/red-spec.txt；SDCE600Test 8 个 @Test、SDCE600MemberPriceTest 16 个 @Test（abe34e5b）。</a:t>
            </a:r>
          </a:p>
          <a:p>
            <a:r>
              <a:rPr lang="zh-CN" dirty="0"/>
              <a:t>定义：基线 calcCartPromotion 只处理类型 1、3、4，类型 2 落到 else 调用 handleNoReduce：单价留在 95.00、优惠额 0、文案无优惠；规格要求单价 100.00、优惠额 30.00、文案会员价（N1、N2、N6）。</a:t>
            </a:r>
          </a:p>
          <a:p>
            <a:r>
              <a:rPr lang="zh-CN" dirty="0"/>
              <a:t>代价：不先写清期望，就分不清这是缺功能，还是测试环境出了问题。</a:t>
            </a:r>
          </a:p>
          <a:p>
            <a:r>
              <a:rPr lang="zh-CN" dirty="0"/>
              <a:t>判定：问红灯里的“期望”和“实际”各是什么，以及其余三种类型的结果要不要变（N3：不变）。</a:t>
            </a:r>
          </a:p>
          <a:p>
            <a:r>
              <a:rPr lang="zh-CN" dirty="0"/>
              <a:t>权衡：教师示例穿插在实验中演示，时长计入实验 60 分钟。特征测试 SDCE600Test 共 8 项，规格测试 SDCE600MemberPriceTest 共 16 项。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节：教师示例</a:t>
            </a:r>
          </a:p>
          <a:p>
            <a:r>
              <a:rPr lang="zh-CN" dirty="0"/>
              <a:t>时长见本节首页（计入实验 60 分钟）</a:t>
            </a:r>
          </a:p>
          <a:p>
            <a:r>
              <a:rPr lang="zh-CN" dirty="0"/>
              <a:t>依据：基线 dcaa93b3150352e5044708d7211b5bed0af4509f 的 mall-portal/src/main/java/com/macro/mall/portal/service/impl/OmsPromotionServiceImpl.java 第 29、40–41、58、81、104–110 行；事实卡 E6 N4–N6。</a:t>
            </a:r>
          </a:p>
          <a:p>
            <a:r>
              <a:rPr lang="zh-CN" dirty="0"/>
              <a:t>定义：基线第 41、58、81 行分别判断类型 1、3、4，第 104–106 行的 else 把其余类型都交给 handleNoReduce（N4、N6）。</a:t>
            </a:r>
          </a:p>
          <a:p>
            <a:r>
              <a:rPr lang="zh-CN" dirty="0"/>
              <a:t>代价：再加一种类型要改这个 82 行的方法本体；漏掉一种时不会报错，只会静默走无优惠。</a:t>
            </a:r>
          </a:p>
          <a:p>
            <a:r>
              <a:rPr lang="zh-CN" dirty="0"/>
              <a:t>判定：问类型 2 走到的是第几行，以及漏掉一种类型时是谁发现的（只有规格测试）。</a:t>
            </a:r>
          </a:p>
          <a:p>
            <a:r>
              <a:rPr lang="zh-CN" dirty="0"/>
              <a:t>权衡：集中写法一处就能读完；代价是新增和遗漏都落在同一个方法里。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节：教师示例</a:t>
            </a:r>
          </a:p>
          <a:p>
            <a:r>
              <a:rPr lang="zh-CN" dirty="0"/>
              <a:t>时长见本节首页（计入实验 60 分钟）</a:t>
            </a:r>
          </a:p>
          <a:p>
            <a:r>
              <a:rPr lang="zh-CN" dirty="0"/>
              <a:t>依据：基线 dcaa93b3150352e5044708d7211b5bed0af4509f 第 104–106 行；abe34e5b88c37a4a01f327ec0ee0c4f42ae0baf0 的 mall-portal/src/main/java/com/macro/mall/portal/service/impl/OmsPromotionServiceImpl.java 第 57–66 行（按登记顺序取第一个 supports）、第 208–210 行（NoneApplier.supports 返回 true）。</a:t>
            </a:r>
          </a:p>
          <a:p>
            <a:r>
              <a:rPr lang="zh-CN" dirty="0"/>
              <a:t>定义：本次只评易修改性：新增一种类型要改几处，漏掉一种类型时由谁发现。</a:t>
            </a:r>
          </a:p>
          <a:p>
            <a:r>
              <a:rPr lang="zh-CN" dirty="0"/>
              <a:t>代价：把策略接口说成“漏了就编译不过”是错的：E6-00 的兜底 NoneApplier 对任何类型都返回 true，漏登记的类型会静默落到无优惠，和基线的 else 一样。</a:t>
            </a:r>
          </a:p>
          <a:p>
            <a:r>
              <a:rPr lang="zh-CN" dirty="0"/>
              <a:t>判定：新增：基线改方法本体，策略加一个类和一行登记。遗漏：两者都只有规格测试能发现。</a:t>
            </a:r>
          </a:p>
          <a:p>
            <a:r>
              <a:rPr lang="zh-CN" dirty="0"/>
              <a:t>权衡：策略的收益在“新增时不改调度循环”，不在“遗漏时更早报错”。其他子特性本页不评。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节：教师示例</a:t>
            </a:r>
          </a:p>
          <a:p>
            <a:r>
              <a:rPr lang="zh-CN" dirty="0"/>
              <a:t>时长见本节首页（计入实验 60 分钟）</a:t>
            </a:r>
          </a:p>
          <a:p>
            <a:r>
              <a:rPr lang="zh-CN" dirty="0"/>
              <a:t>依据：abe34e5b88c37a4a01f327ec0ee0c4f42ae0baf0 的 mall-portal/src/main/java/com/macro/mall/portal/service/impl/OmsPromotionServiceImpl.java 第 57–66、208–211 行；事实卡 E6 N7–N9。</a:t>
            </a:r>
          </a:p>
          <a:p>
            <a:r>
              <a:rPr lang="zh-CN" dirty="0"/>
              <a:t>定义：4251c662 引入 PromotionApplier 接口和 MemberPriceApplier，calcCartPromotion 改为按登记顺序找第一个 supports 的策略（N7）。最后登记的 NoneApplier 对任何类型都返回 true。</a:t>
            </a:r>
          </a:p>
          <a:p>
            <a:r>
              <a:rPr lang="zh-CN" dirty="0"/>
              <a:t>代价：兜底接住一切，所以漏登记的类型不会报错，只会走无优惠；a1e6679f 还另修了排序，按 id 升序取第一条会员价（N8）。</a:t>
            </a:r>
          </a:p>
          <a:p>
            <a:r>
              <a:rPr lang="zh-CN" dirty="0"/>
              <a:t>判定：问新增一种类型要改几处（一个类、一行登记），以及漏登记时结果是什么。</a:t>
            </a:r>
          </a:p>
          <a:p>
            <a:r>
              <a:rPr lang="zh-CN" dirty="0"/>
              <a:t>权衡：兜底保证未知类型行为与基线一致；代价是遗漏只能靠规格测试发现。产品代码只改一个文件（N9）。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节：教师示例</a:t>
            </a:r>
          </a:p>
          <a:p>
            <a:r>
              <a:rPr lang="zh-CN" dirty="0"/>
              <a:t>时长见本节首页（计入实验 60 分钟）</a:t>
            </a:r>
          </a:p>
          <a:p>
            <a:r>
              <a:rPr lang="zh-CN" dirty="0"/>
              <a:t>依据：事实卡 E6 N4–N9、第五节；SDC/E6/outputs/E6-00/evidence/alt-extract-method.diff。</a:t>
            </a:r>
          </a:p>
          <a:p>
            <a:r>
              <a:rPr lang="zh-CN" dirty="0"/>
              <a:t>定义：对比 if/else 与策略接口：新增一种类型的改动点、遗漏时的结果、测试方式（N4–N9）。</a:t>
            </a:r>
          </a:p>
          <a:p>
            <a:r>
              <a:rPr lang="zh-CN" dirty="0"/>
              <a:t>代价：把策略说成“编译期发现遗漏”或“可以单独测每种策略”，都超出了这份代码：兜底接住一切，策略是私有内部类。</a:t>
            </a:r>
          </a:p>
          <a:p>
            <a:r>
              <a:rPr lang="zh-CN" dirty="0"/>
              <a:t>判定：问这次需求是类型会继续增加，还是三四种就稳定了。</a:t>
            </a:r>
          </a:p>
          <a:p>
            <a:r>
              <a:rPr lang="zh-CN" dirty="0"/>
              <a:t>权衡：类型增多，策略省去改调度循环；类型稳定，多出的接口和内部类没有回报。备选方案 alt-extract-method.diff 存档可对比。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节：任务说明</a:t>
            </a:r>
          </a:p>
          <a:p>
            <a:r>
              <a:rPr lang="zh-CN" dirty="0"/>
              <a:t>时长见本节首页（本节 5 分钟）</a:t>
            </a:r>
          </a:p>
          <a:p>
            <a:r>
              <a:rPr lang="zh-CN" dirty="0"/>
              <a:t>依据：事实卡 E6 N11–N12；SDC/E6/outputs/E6-00/evidence/compare.txt（改前 24 项 6 项失败，改后 24 项 0 项失败）。</a:t>
            </a:r>
          </a:p>
          <a:p>
            <a:r>
              <a:rPr lang="zh-CN" dirty="0"/>
              <a:t>定义：非功能需求要写成可度量的：指明度量方式、阈值和实测值。“代码更好”无法判定；“改后 Tests run: 24, Failures: 0”可以判定（N12）。</a:t>
            </a:r>
          </a:p>
          <a:p>
            <a:r>
              <a:rPr lang="zh-CN" dirty="0"/>
              <a:t>代价：只写“提升可维护性”，验证过这一档没有可以核对的数字。</a:t>
            </a:r>
          </a:p>
          <a:p>
            <a:r>
              <a:rPr lang="zh-CN" dirty="0"/>
              <a:t>判定：能否为本人选题的非功能需求写出度量方式和阈值，并说出它在哪份记录里被测到。</a:t>
            </a:r>
          </a:p>
          <a:p>
            <a:r>
              <a:rPr lang="zh-CN" dirty="0"/>
              <a:t>权衡：课前自学，课上只点要点。系统讲解在 T7（测试的基本要求）。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节：任务说明</a:t>
            </a:r>
          </a:p>
          <a:p>
            <a:r>
              <a:rPr lang="zh-CN" dirty="0"/>
              <a:t>时长见本节首页（本节 5 分钟）</a:t>
            </a:r>
          </a:p>
          <a:p>
            <a:r>
              <a:rPr lang="zh-CN" dirty="0"/>
              <a:t>依据：事实卡 E6 N10–N13；教案 E6 实验步骤（6）。</a:t>
            </a:r>
          </a:p>
          <a:p>
            <a:r>
              <a:rPr lang="zh-CN" dirty="0"/>
              <a:t>定义：三种证据各证一层：red-spec.txt 证明规格先红（替身层），compare.txt 证明改前失败、改后通过（同一组测试的对照），前后结构图证明改动范围（N13）。</a:t>
            </a:r>
          </a:p>
          <a:p>
            <a:r>
              <a:rPr lang="zh-CN" dirty="0"/>
              <a:t>代价：把替身测试写成已经在运行的门户上验证过，非功能这一档就超出了证据。</a:t>
            </a:r>
          </a:p>
          <a:p>
            <a:r>
              <a:rPr lang="zh-CN" dirty="0"/>
              <a:t>判定：能否为每条结论说出证据在哪一层；只有替身的，说明里标成部分验证。</a:t>
            </a:r>
          </a:p>
          <a:p>
            <a:r>
              <a:rPr lang="zh-CN" dirty="0"/>
              <a:t>权衡：课前自学，课上只点要点。数据库删除、分页这类效果要有集成证据。系统讲解在 T7（测试的基本要求）。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节：实验</a:t>
            </a:r>
          </a:p>
          <a:p>
            <a:r>
              <a:rPr lang="zh-CN" dirty="0"/>
              <a:t>本节 60 分钟（含教师示例）</a:t>
            </a:r>
          </a:p>
          <a:p>
            <a:r>
              <a:rPr lang="zh-CN" dirty="0"/>
              <a:t>依据：SDC/学生操作手册.md（@0a5eae2a）第 26 行“课程不开个人分支”、第 38 行 git switch --detach、第 53–67 行 compare.env 与 compare.sh、第 77 行“E6 fail；新接口用 absent”、第 183–185 行 E6 说明；事实卡 E6 N10–N12。</a:t>
            </a:r>
          </a:p>
          <a:p>
            <a:r>
              <a:rPr lang="zh-CN" dirty="0"/>
              <a:t>定义：先只读检出脚手架 exp/E6，不开个人分支；compare.env 写三项，E6 是补功能，EXPECT_BASE 写 fail（新接口用 absent，以该分支 compare.env 为准）；本地提交后运行 compare.sh。</a:t>
            </a:r>
          </a:p>
          <a:p>
            <a:r>
              <a:rPr lang="zh-CN" dirty="0"/>
              <a:t>代价：改前就通过的测试打不到这条需求；把编译失败或连不上库当成红灯，失败原因就不是新行为。</a:t>
            </a:r>
          </a:p>
          <a:p>
            <a:r>
              <a:rPr lang="zh-CN" dirty="0"/>
              <a:t>判定：改前 fail、改后 pass，Errors=0、Skipped=0、结论：符合，对照才成立；教师示例 E6-00 改前 24 项失败 6 项，改后 0 项（N11、N12）。</a:t>
            </a:r>
          </a:p>
          <a:p>
            <a:r>
              <a:rPr lang="zh-CN" dirty="0"/>
              <a:t>权衡：先确认改前失败落在业务断言上，再开始实现。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节：小结</a:t>
            </a:r>
          </a:p>
          <a:p>
            <a:r>
              <a:rPr lang="zh-CN" dirty="0"/>
              <a:t>时长见本节首页（本节 10 分钟）</a:t>
            </a:r>
          </a:p>
          <a:p>
            <a:r>
              <a:rPr lang="zh-CN" dirty="0"/>
              <a:t>依据：事实卡 E6 N2、N4、N8、N11–N13。</a:t>
            </a:r>
          </a:p>
          <a:p>
            <a:r>
              <a:rPr lang="zh-CN" dirty="0"/>
              <a:t>定义：一页说明按讲清楚、有依据、验证过三项写，此页取自教师示例 E6-00 的真实材料，另列一条不足。</a:t>
            </a:r>
          </a:p>
          <a:p>
            <a:r>
              <a:rPr lang="zh-CN" dirty="0"/>
              <a:t>代价：三项缺一，那一项就没有证据；只有替身的部分不标成部分验证，验证过就超出了证据。</a:t>
            </a:r>
          </a:p>
          <a:p>
            <a:r>
              <a:rPr lang="zh-CN" dirty="0"/>
              <a:t>判定：每项都能对到需求、文件与行号或对照结论（N2、N4、N11–N12）。</a:t>
            </a:r>
          </a:p>
          <a:p>
            <a:r>
              <a:rPr lang="zh-CN" dirty="0"/>
              <a:t>权衡：样例是参考写法，不是标准答案，作业要写本人选题的证据。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节：小结</a:t>
            </a:r>
          </a:p>
          <a:p>
            <a:r>
              <a:rPr lang="zh-CN" dirty="0"/>
              <a:t>时长见本节首页（本节 10 分钟）</a:t>
            </a:r>
          </a:p>
          <a:p>
            <a:r>
              <a:rPr lang="zh-CN" dirty="0"/>
              <a:t>依据：工具/polish/AI回答采集/核对-E6.md（2026.10.18）；SDC/compare.sh 第 36–41 行；OmsCartItemServiceImpl.java:89；abe34e5b 的 OmsPromotionServiceImpl 第 57–66、208–210 行；四项核对来自 T1 第 43 页。</a:t>
            </a:r>
          </a:p>
          <a:p>
            <a:r>
              <a:rPr lang="zh-CN" dirty="0"/>
              <a:t>定义：按四项核对——引用是否存在、运行时事实、原理与实现、依据——逐条标对、错或无法核实，并写出用了哪一项。</a:t>
            </a:r>
          </a:p>
          <a:p>
            <a:r>
              <a:rPr lang="zh-CN" dirty="0"/>
              <a:t>代价：只说“回答基本正确”，金额保留 2 位这类 AI 自己加进规格的条目会被当成需求写进测试。</a:t>
            </a:r>
          </a:p>
          <a:p>
            <a:r>
              <a:rPr lang="zh-CN" dirty="0"/>
              <a:t>判定：每条说法都能对到行号或原则；需求原文里没有的条目，标无法核实并回到需求追问。</a:t>
            </a:r>
          </a:p>
          <a:p>
            <a:r>
              <a:rPr lang="zh-CN" dirty="0"/>
              <a:t>权衡：这次第 4 问恰好纠正了旧课件“策略能在编译期发现遗漏”的说法；AI 的回答同样要逐条核，不因为说对一条就整份采纳。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节：小结</a:t>
            </a:r>
          </a:p>
          <a:p>
            <a:r>
              <a:rPr lang="zh-CN" dirty="0"/>
              <a:t>时长见本节首页（本节 10 分钟）</a:t>
            </a:r>
          </a:p>
          <a:p>
            <a:r>
              <a:rPr lang="zh-CN" dirty="0"/>
              <a:t>依据：工具/polish/AI回答采集/prompt-E6.md 与 answer-E6-20261018-2315.md（模型 deepseek-flash，只读工具 Read、Grep、Glob）；提示词模式来自 T1 第 44–45 页（White 等 2023）。</a:t>
            </a:r>
          </a:p>
          <a:p>
            <a:r>
              <a:rPr lang="zh-CN" dirty="0"/>
              <a:t>定义：提示词三种模式组合：Persona 定角色，Template 定回答格式和证据形式，Question Refinement 把模糊的“策略好不好”细化成一个可判定的问题。</a:t>
            </a:r>
          </a:p>
          <a:p>
            <a:r>
              <a:rPr lang="zh-CN" dirty="0"/>
              <a:t>代价：不要求给出行号，回答就没法逐条核；不细化成“编译期还是运行期”，AI 容易顺着说“策略更安全”。</a:t>
            </a:r>
          </a:p>
          <a:p>
            <a:r>
              <a:rPr lang="zh-CN" dirty="0"/>
              <a:t>判定：能逐句标出属于哪种模式，并说出这一句让回答变得可核对在哪里。</a:t>
            </a:r>
          </a:p>
          <a:p>
            <a:r>
              <a:rPr lang="zh-CN" dirty="0"/>
              <a:t>权衡：本次没有用 Few-shot。问题写得越具体，回答越容易核，也越可能漏掉没问到的风险。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节：目录</a:t>
            </a:r>
          </a:p>
          <a:p>
            <a:r>
              <a:rPr lang="zh-CN" altLang="en-US"/>
              <a:t>依据：各页备注“节：”行，按出现顺序编号；目录页由统一视觉脚本生成，不另写内容。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节：结束页</a:t>
            </a:r>
          </a:p>
          <a:p>
            <a:r>
              <a:rPr lang="zh-CN" altLang="en-US"/>
              <a:t>依据：下次课名称取自下一份课件封面的“第 n 次课｜课题”行。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600200"/>
            <a:ext cx="7772400" cy="640080"/>
          </a:xfrm>
        </p:spPr>
        <p:txBody>
          <a:bodyPr anchor="b"/>
          <a:lstStyle>
            <a:lvl1pPr algn="l" marL="0" indent="0">
              <a:buNone/>
              <a:defRPr sz="2000" b="1">
                <a:solidFill>
                  <a:srgbClr val="A33B38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85800" y="2377440"/>
            <a:ext cx="7772400" cy="2926080"/>
          </a:xfrm>
        </p:spPr>
        <p:txBody>
          <a:bodyPr/>
          <a:lstStyle>
            <a:lvl1pPr algn="l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dc-toc-band"/>
          <p:cNvSpPr/>
          <p:nvPr userDrawn="1"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1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5623560"/>
            <a:ext cx="822960" cy="8229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74320" y="640080"/>
            <a:ext cx="1828800" cy="914400"/>
          </a:xfrm>
        </p:spPr>
        <p:txBody>
          <a:bodyPr anchor="t"/>
          <a:lstStyle>
            <a:lvl1pPr algn="l" marL="0" indent="0">
              <a:buNone/>
              <a:defRPr sz="3600" b="1">
                <a:solidFill>
                  <a:srgbClr val="FFFFFF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2834640" y="731520"/>
            <a:ext cx="5852160" cy="5120640"/>
          </a:xfrm>
        </p:spPr>
        <p:txBody>
          <a:bodyPr/>
          <a:lstStyle>
            <a:lvl1pPr algn="l" marL="0" indent="0">
              <a:buNone/>
              <a:defRPr sz="2200" b="0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14400" y="2011680"/>
            <a:ext cx="7315200" cy="1005840"/>
          </a:xfrm>
        </p:spPr>
        <p:txBody>
          <a:bodyPr anchor="b"/>
          <a:lstStyle>
            <a:lvl1pPr algn="ctr" marL="0" indent="0">
              <a:buNone/>
              <a:defRPr sz="3600" b="1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14400" y="3154680"/>
            <a:ext cx="7315200" cy="1280160"/>
          </a:xfrm>
        </p:spPr>
        <p:txBody>
          <a:bodyPr/>
          <a:lstStyle>
            <a:lvl1pPr algn="ctr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image" Target="../media/sdc-logo.png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576072" y="301752"/>
            <a:ext cx="8001000" cy="960120"/>
          </a:xfrm>
        </p:spPr>
        <p:txBody>
          <a:bodyPr anchor="b"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Text Placeholder"/>
          <p:cNvSpPr>
            <a:spLocks noGrp="1"/>
          </p:cNvSpPr>
          <p:nvPr>
            <p:ph type="body" idx="1"/>
          </p:nvPr>
        </p:nvSpPr>
        <p:spPr>
          <a:xfrm>
            <a:off x="576072" y="1600200"/>
            <a:ext cx="8001000" cy="4389120"/>
          </a:xfrm>
        </p:spPr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4" name="sdc-title-bar"/>
          <p:cNvSpPr/>
          <p:nvPr userDrawn="1"/>
        </p:nvSpPr>
        <p:spPr>
          <a:xfrm>
            <a:off x="612648" y="1298448"/>
            <a:ext cx="146304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cxnSp>
        <p:nvCxnSpPr>
          <p:cNvPr id="5" name="sdc-title-line"/>
          <p:cNvCxnSpPr/>
          <p:nvPr userDrawn="1"/>
        </p:nvCxnSpPr>
        <p:spPr>
          <a:xfrm>
            <a:off x="2075688" y="1330452"/>
            <a:ext cx="6492240" cy="0"/>
          </a:xfrm>
          <a:prstGeom prst="line">
            <a:avLst/>
          </a:prstGeom>
          <a:ln w="12700">
            <a:solidFill>
              <a:srgbClr val="E3C4C2"/>
            </a:solidFill>
          </a:ln>
        </p:spPr>
      </p:cxnSp>
      <p:cxnSp>
        <p:nvCxnSpPr>
          <p:cNvPr id="6" name="sdc-footer-line"/>
          <p:cNvCxnSpPr/>
          <p:nvPr userDrawn="1"/>
        </p:nvCxnSpPr>
        <p:spPr>
          <a:xfrm>
            <a:off x="457200" y="6355080"/>
            <a:ext cx="82296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pic>
        <p:nvPicPr>
          <p:cNvPr id="7" name="sdc-footer-logo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57200" y="6419088"/>
            <a:ext cx="329184" cy="329184"/>
          </a:xfrm>
          <a:prstGeom prst="rect">
            <a:avLst/>
          </a:prstGeom>
        </p:spPr>
      </p:pic>
      <p:sp>
        <p:nvSpPr>
          <p:cNvPr id="8" name="sdc-footer-college"/>
          <p:cNvSpPr/>
          <p:nvPr userDrawn="1"/>
        </p:nvSpPr>
        <p:spPr>
          <a:xfrm>
            <a:off x="841248" y="640080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zh-CN" altLang="en-US" sz="1100" b="0">
                <a:solidFill>
                  <a:srgbClr val="595959"/>
                </a:solidFill>
                <a:latin typeface="微软雅黑"/>
                <a:ea typeface="微软雅黑"/>
              </a:rPr>
              <a:t>计算机科学与技术学院</a:t>
            </a:r>
          </a:p>
        </p:txBody>
      </p:sp>
      <p:sp>
        <p:nvSpPr>
          <p:cNvPr id="9" name="sdc-page-number"/>
          <p:cNvSpPr/>
          <p:nvPr userDrawn="1"/>
        </p:nvSpPr>
        <p:spPr>
          <a:xfrm>
            <a:off x="6858000" y="64008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fld id="{B6F15528-21DE-4FAA-801E-634DDDAF4B2B}" type="slidenum">
              <a:rPr lang="zh-CN" altLang="en-US" sz="1200">
                <a:solidFill>
                  <a:srgbClr val="595959"/>
                </a:solidFill>
                <a:latin typeface="微软雅黑"/>
                <a:ea typeface="微软雅黑"/>
              </a:rPr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eaLnBrk="1" hangingPunct="1">
        <a:lnSpc>
          <a:spcPct val="90000"/>
        </a:lnSpc>
        <a:defRPr sz="2800" b="1" kern="1200">
          <a:solidFill>
            <a:srgbClr val="A33B38"/>
          </a:solidFill>
          <a:latin typeface="微软雅黑"/>
          <a:ea typeface="微软雅黑"/>
          <a:cs typeface="微软雅黑"/>
        </a:defRPr>
      </a:lvl1pPr>
    </p:titleStyle>
    <p:bodyStyle>
      <a:lvl1pPr marL="292608" indent="-292608" algn="l" eaLnBrk="1" hangingPunct="1">
        <a:lnSpc>
          <a:spcPct val="110000"/>
        </a:lnSpc>
        <a:spcBef>
          <a:spcPts val="600"/>
        </a:spcBef>
        <a:buClr>
          <a:srgbClr val="A33B38"/>
        </a:buClr>
        <a:buSzPct val="80000"/>
        <a:buFont typeface="Wingdings"/>
        <a:buChar char="n"/>
        <a:defRPr sz="2200" b="0" kern="1200">
          <a:solidFill>
            <a:srgbClr val="262626"/>
          </a:solidFill>
          <a:latin typeface="微软雅黑"/>
          <a:ea typeface="微软雅黑"/>
          <a:cs typeface="微软雅黑"/>
        </a:defRPr>
      </a:lvl1pPr>
      <a:lvl2pPr marL="640080" indent="-256032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2000" b="0" kern="1200">
          <a:solidFill>
            <a:srgbClr val="262626"/>
          </a:solidFill>
          <a:latin typeface="微软雅黑"/>
          <a:ea typeface="微软雅黑"/>
          <a:cs typeface="微软雅黑"/>
        </a:defRPr>
      </a:lvl2pPr>
      <a:lvl3pPr marL="960120" indent="-228600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1800" b="0" kern="1200">
          <a:solidFill>
            <a:srgbClr val="262626"/>
          </a:solidFill>
          <a:latin typeface="微软雅黑"/>
          <a:ea typeface="微软雅黑"/>
          <a:cs typeface="微软雅黑"/>
        </a:defRPr>
      </a:lvl3pPr>
    </p:bodyStyle>
    <p:otherStyle>
      <a:lvl1pPr algn="l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0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软件设计与规范</a:t>
            </a:r>
          </a:p>
        </p:txBody>
      </p:sp>
      <p:sp>
        <p:nvSpPr>
          <p:cNvPr id="3" name="body"/>
          <p:cNvSpPr>
            <a:spLocks noGrp="1"/>
          </p:cNvSpPr>
          <p:nvPr>
            <p:ph type="subTitle" idx="1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第 12 次课｜规格驱动的需求变更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李萌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计算机科学与技术学院</a:t>
            </a:r>
          </a:p>
        </p:txBody>
      </p:sp>
    </p:spTree>
  </p:cSld>
  <p:clrMapOvr>
    <a:masterClrMapping/>
  </p:clrMapOvr>
  <p:hf sldNum="0" hdr="0" ftr="0" dt="0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目录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现场演示与投票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任务说明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教师示例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04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实验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05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小结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演示规则与投票口径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3—5 人按评价标准实名演示，全班按同一细则投票。实验 E5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365760" y="2267712"/>
          <a:ext cx="8138160" cy="36210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6126480"/>
              </a:tblGrid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需求、范围与不改边界10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入口→接口→服务→存储／调用方的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改动与不改动清单20（附 文件:行号与理由）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修改位置的选择与被排除方案15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兼容性、数据与失败风险及其触发顺序15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沿源码、调用关系与可重复运行的测试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或实际运行核实关键影响判断（含 AI 给出的影响面）20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把需求与风险逐条映射为测试输入、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期望结果与测试层次20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现场演示与投票</a:t>
            </a:r>
          </a:p>
        </p:txBody>
      </p:sp>
    </p:spTree>
  </p:cSld>
  <p:clrMapOvr>
    <a:masterClrMapping/>
  </p:clrMapOvr>
  <p:hf sldNum="0" hdr="0" ftr="0" dt="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签到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现场演示与投票</a:t>
            </a:r>
          </a:p>
        </p:txBody>
      </p:sp>
      <p:sp>
        <p:nvSpPr>
          <p:cNvPr id="301" name="quiz"/>
          <p:cNvSpPr txBox="1"/>
          <p:nvPr/>
        </p:nvSpPr>
        <p:spPr>
          <a:xfrm>
            <a:off x="237744" y="1444752"/>
            <a:ext cx="8686800" cy="4480560"/>
          </a:xfrm>
          <a:prstGeom prst="rect">
            <a:avLst/>
          </a:prstGeo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下列哪条验收准则同时写明了功能要求和非功能要求？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（A）会员下单时按会员价结算；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（B）购物车要正确显示价格；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（C）会员下单按会员价结算，价格计算在 200 毫秒内返回，读取会员等级失败时按原价结算；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（D）价格计算要快。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请看完演示再投票</a:t>
            </a:r>
          </a:p>
        </p:txBody>
      </p:sp>
    </p:spTree>
  </p:cSld>
  <p:clrMapOvr>
    <a:masterClrMapping/>
  </p:clrMapOvr>
  <p:hf sldNum="0" hdr="0" ftr="0" dt="0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预习题回顾与易混点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72768"/>
            <a:ext cx="109728" cy="69494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594360" y="1572768"/>
            <a:ext cx="8138160" cy="713232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1 选 A。先断言 -1，修正另行决定。易混：直接断言 0</a:t>
            </a:r>
          </a:p>
        </p:txBody>
      </p:sp>
      <p:sp>
        <p:nvSpPr>
          <p:cNvPr id="103" name="fig-d"/>
          <p:cNvSpPr/>
          <p:nvPr/>
        </p:nvSpPr>
        <p:spPr>
          <a:xfrm>
            <a:off x="411480" y="2395728"/>
            <a:ext cx="109728" cy="69494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594360" y="2395728"/>
            <a:ext cx="8138160" cy="7132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2 选 D。不改被测代码就能替换行为。易混：继承关系</a:t>
            </a:r>
          </a:p>
        </p:txBody>
      </p:sp>
      <p:sp>
        <p:nvSpPr>
          <p:cNvPr id="105" name="fig-d"/>
          <p:cNvSpPr/>
          <p:nvPr/>
        </p:nvSpPr>
        <p:spPr>
          <a:xfrm>
            <a:off x="411480" y="3218688"/>
            <a:ext cx="109728" cy="69494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594360" y="3218688"/>
            <a:ext cx="8138160" cy="713232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3 错误。同类自调用不经代理。易混：写上就生效</a:t>
            </a:r>
          </a:p>
        </p:txBody>
      </p:sp>
      <p:sp>
        <p:nvSpPr>
          <p:cNvPr id="107" name="fig-d"/>
          <p:cNvSpPr/>
          <p:nvPr/>
        </p:nvSpPr>
        <p:spPr>
          <a:xfrm>
            <a:off x="411480" y="4041648"/>
            <a:ext cx="109728" cy="69494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594360" y="4041648"/>
            <a:ext cx="8138160" cy="7132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4 选 C。价值高、质量低，选再工程。易混：直接替换</a:t>
            </a:r>
          </a:p>
        </p:txBody>
      </p:sp>
      <p:sp>
        <p:nvSpPr>
          <p:cNvPr id="109" name="fig-d"/>
          <p:cNvSpPr/>
          <p:nvPr/>
        </p:nvSpPr>
        <p:spPr>
          <a:xfrm>
            <a:off x="411480" y="4864608"/>
            <a:ext cx="109728" cy="69494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594360" y="4864608"/>
            <a:ext cx="8138160" cy="713232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5 选 B。先特征测试，再接缝，后新规则。易混：先重构再补测试</a:t>
            </a: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任务说明</a:t>
            </a:r>
          </a:p>
        </p:txBody>
      </p:sp>
    </p:spTree>
  </p:cSld>
  <p:clrMapOvr>
    <a:masterClrMapping/>
  </p:clrMapOvr>
  <p:hf sldNum="0" hdr="0" ftr="0" dt="0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本次目标与不要求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72768"/>
            <a:ext cx="118872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示例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691640" y="1572768"/>
            <a:ext cx="70408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教师示例是 E6-00，Issue #14，购物车按会员等级计价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414016"/>
            <a:ext cx="118872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选题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691640" y="2414016"/>
            <a:ext cx="70408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学生沿用本人在 E5 已经选过的那一项需求来实现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255264"/>
            <a:ext cx="118872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做法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691640" y="3255264"/>
            <a:ext cx="70408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把模糊需求写成可核对的规格，再实现，并保持原来的调用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096512"/>
            <a:ext cx="1188720" cy="74980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不要求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691640" y="4096512"/>
            <a:ext cx="704088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不要求编造有缺陷的初版。必须实际实现新需求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11480" y="4937760"/>
            <a:ext cx="1188720" cy="74980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证据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1691640" y="4937760"/>
            <a:ext cx="704088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声称的数据库删除、分页等效果，须有集成证据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任务说明</a:t>
            </a:r>
          </a:p>
        </p:txBody>
      </p:sp>
    </p:spTree>
  </p:cSld>
  <p:clrMapOvr>
    <a:masterClrMapping/>
  </p:clrMapOvr>
  <p:hf sldNum="0" hdr="0" ftr="0" dt="0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本次要用的知识是可度量的非功能需求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809744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依据：事实卡 E6 N11–N12；compare.txt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508760"/>
            <a:ext cx="3291840" cy="182880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不可度量：代码更好、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可维护性提升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3886200" y="1508760"/>
            <a:ext cx="4846320" cy="8686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可度量：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Tests run: 24, Failures: 0（N12 改后）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3886200" y="2468880"/>
            <a:ext cx="4846320" cy="8686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可度量：EXPECT_BASE=fail，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改前 6 项 fail（N11）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3611880"/>
            <a:ext cx="8321040" cy="777240"/>
          </a:xfrm>
          <a:prstGeom prst="rect">
            <a:avLst/>
          </a:prstGeom>
          <a:solidFill>
            <a:srgbClr val="A33B38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写法：写明度量方式、阈值和实测值，三者缺一就无法判定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任务说明</a:t>
            </a:r>
          </a:p>
        </p:txBody>
      </p:sp>
    </p:spTree>
  </p:cSld>
  <p:clrMapOvr>
    <a:masterClrMapping/>
  </p:clrMapOvr>
  <p:hf sldNum="0" hdr="0" ftr="0" dt="0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本次要用的知识是证据层次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809744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依据：事实卡 E6 N10–N13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08760"/>
            <a:ext cx="1828800" cy="713232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red-spec.txt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2331720" y="1508760"/>
            <a:ext cx="640080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Mock 测试（red-spec.txt）：证明规格红灯（N13）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313432"/>
            <a:ext cx="1828800" cy="713232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compare.txt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2331720" y="2313432"/>
            <a:ext cx="640080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集成对照（compare.txt）：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改前 fail / 改后 pass（N11–N12）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118104"/>
            <a:ext cx="1828800" cy="713232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diagrams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2331720" y="3118104"/>
            <a:ext cx="640080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结构图（diagrams）：证明改动范围（N13）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11480" y="3977640"/>
            <a:ext cx="8321040" cy="685800"/>
          </a:xfrm>
          <a:prstGeom prst="rect">
            <a:avLst/>
          </a:prstGeom>
          <a:solidFill>
            <a:srgbClr val="A33B38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只有 Mock = 部分验证，须在说明里注明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任务说明</a:t>
            </a:r>
          </a:p>
        </p:txBody>
      </p:sp>
    </p:spTree>
  </p:cSld>
  <p:clrMapOvr>
    <a:masterClrMapping/>
  </p:clrMapOvr>
  <p:hf sldNum="0" hdr="0" ftr="0" dt="0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① promotionType=2 悄悄走了无优惠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70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promotionType=2 是会员价；基线只处理 1、3、4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其余一律走 else：单价、优惠额、文案都不对（N1、N6）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约束 N3：其余三种类型的结果不得改变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809744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依据：事实卡 E6 N1–N3、N6；red-spec.txt</a:t>
            </a:r>
          </a:p>
        </p:txBody>
      </p:sp>
      <p:graphicFrame>
        <p:nvGraphicFramePr>
          <p:cNvPr id="9" name="table"/>
          <p:cNvGraphicFramePr>
            <a:graphicFrameLocks noGrp="1"/>
          </p:cNvGraphicFramePr>
          <p:nvPr/>
        </p:nvGraphicFramePr>
        <p:xfrm>
          <a:off x="365760" y="3261328"/>
          <a:ext cx="8503920" cy="1463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0"/>
                <a:gridCol w="3108960"/>
                <a:gridCol w="3108960"/>
              </a:tblGrid>
              <a:tr h="3657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字段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规格期望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基线实际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3657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单价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95.00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3657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优惠额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30.00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文案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会员价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无优惠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教师示例</a:t>
            </a:r>
          </a:p>
        </p:txBody>
      </p:sp>
    </p:spTree>
  </p:cSld>
  <p:clrMapOvr>
    <a:masterClrMapping/>
  </p:clrMapOvr>
  <p:hf sldNum="0" hdr="0" ftr="0" dt="0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② 82 行 if/else 优势是集中，不足是没安全网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70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N4：calcCartPromotion 第 29–110 行，约 82 行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优势：所有类型一处读完；脚手架里没有策略接口（N5）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不足：漏处理一种类型，静默走 else，不报错（N6）</a:t>
            </a:r>
          </a:p>
        </p:txBody>
      </p:sp>
      <p:sp>
        <p:nvSpPr>
          <p:cNvPr id="4" name="code-excerpt"/>
          <p:cNvSpPr txBox="1"/>
          <p:nvPr/>
        </p:nvSpPr>
        <p:spPr>
          <a:xfrm>
            <a:off x="411480" y="2697480"/>
            <a:ext cx="8138160" cy="20574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40 Integer promotionType = promotionProduct.getPromotionType();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41 if (promotionType == 1) {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58 } else if (promotionType == 3) {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81 } else if (promotionType == 4) {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104 } else {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105 //无优惠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106 handleNoReduce(cartPromotionItemList, itemList,promotionProduct);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809744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代码节选：mall-portal/src/main/java/com/macro/mall/portal/service/impl/OmsPromotionServiceImpl.java:40-41、58、81、104-106（基线 dcaa93b3）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教师示例</a:t>
            </a:r>
          </a:p>
        </p:txBody>
      </p:sp>
    </p:spTree>
  </p:cSld>
  <p:clrMapOvr>
    <a:masterClrMapping/>
  </p:clrMapOvr>
  <p:hf sldNum="0" hdr="0" ftr="0" dt="0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重点是易修改性，看新增与遗漏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30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判定问题：新增一种类型改哪里，漏了谁发现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if/else：改方法本体；漏掉就静默走 else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策略：加一个类再登记；漏登记同样静默，靠规格测试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365760" y="2952000"/>
          <a:ext cx="8503920" cy="175564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28800"/>
                <a:gridCol w="3108960"/>
                <a:gridCol w="3566160"/>
              </a:tblGrid>
              <a:tr h="438912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子特性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if/else（基线）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策略接口（E6-00）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438912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新增一种类型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在方法本体加一个 else if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新增策略类，在 appliers() 登记一行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438912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漏掉一种类型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落到 else：无优惠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落到兜底 NoneApplier：无优惠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谁发现遗漏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规格测试；编译器不报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规格测试；编译器同样不报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fn"/>
          <p:cNvSpPr txBox="1"/>
          <p:nvPr/>
        </p:nvSpPr>
        <p:spPr>
          <a:xfrm>
            <a:off x="411480" y="4809744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依据：基线第 104–106 行；abe34e5b 第 65–66、208–210 行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教师示例</a:t>
            </a:r>
          </a:p>
        </p:txBody>
      </p:sp>
    </p:spTree>
  </p:cSld>
  <p:clrMapOvr>
    <a:masterClrMapping/>
  </p:clrMapOvr>
  <p:hf sldNum="0" hdr="0" ftr="0" dt="0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教师示例 E6-00 会员价先红后绿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Issue #14 的教师示例／参考实现。类型 2 期望会员价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对照改前 fail、改后 pass，结论符合。24 项里失败 6 项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1956815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fx.​member(​MEMBER_ID,​ LEVEL_ID);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fx.​prices(​price(​PRODUCT_ID,​ LEVEL_ID,​ "70.​00"));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fx.​product(​PRODUCT_ID,​ 2);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List&lt;CartPromotionItem&gt; ​result ​= ​fx.​calc(​line(​PRODUCT_ID,​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 SKU_A,​ MEMBER_ID,​ 1));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assertItems(​result,​ "100.​00|30.​00|会员价|7");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809744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出处：meng004/​mall@​abe34e5b88c37a4a01f327ec0ee0c4f42ae0baf0:​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mall-portal/​src/​test/​java/​com/​macro/​mall/​sdc/​e6/​SDCE600MemberPriceTest.java:​52-56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教师示例</a:t>
            </a:r>
          </a:p>
        </p:txBody>
      </p:sp>
    </p:spTree>
  </p:cSld>
  <p:clrMapOvr>
    <a:masterClrMapping/>
  </p:clrMapOvr>
  <p:hf sldNum="0" hdr="0" ftr="0" dt="0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④ 改进方案用策略接口，新增只加类和一行登记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200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N7：引入 PromotionApplier 接口，新增 MemberPriceApplier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appliers() 登记 5 个策略，按顺序取第一个 supports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不足：兜底接住一切，漏登记仍静默；另需 N8 排序修复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3561328"/>
            <a:ext cx="8138160" cy="1168416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private class NoneApplier implements PromotionApplier {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public boolean supports(​Integer promotionType) {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return true;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}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809744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出处：meng004/mall@abe34e5b88c37a4a01f327ec0ee0c4f42ae0baf0: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mall-portal/​src/​main/​java/​com/​macro/​mall/​portal/​service/​impl/​OmsPromotionServiceImpl.​java:208-211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教师示例</a:t>
            </a:r>
          </a:p>
        </p:txBody>
      </p:sp>
    </p:spTree>
  </p:cSld>
  <p:clrMapOvr>
    <a:masterClrMapping/>
  </p:clrMapOvr>
  <p:hf sldNum="0" hdr="0" ftr="0" dt="0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第 66 行登记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84708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 66 行把会员价策略登记在兜底策略之前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公开方法仍是 calcCartPromotion，接口第 17 行没改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 57 行起按 supports 挑选，不为类型 2 再写分支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3401568"/>
            <a:ext cx="8138160" cy="1408175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private List&lt;PromotionApplier&gt; ​appliers(​) {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return Arrays.​asList(​new SingleApplier(​),​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 new MemberPriceApplier(​),​ new LadderApplier(​),​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 new FullApplier(​),​ new NoneApplier(​));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828032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出处：meng004/​mall@​abe34e5b88c37a4a01f327ec0ee0c4f42ae0baf0:​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mall-portal/​src/​main/​java/​com/​macro/​mall/​portal/​service/​impl/​OmsPromotionServiceImpl.java:​65-66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教师示例</a:t>
            </a:r>
          </a:p>
        </p:txBody>
      </p:sp>
    </p:spTree>
  </p:cSld>
  <p:clrMapOvr>
    <a:masterClrMapping/>
  </p:clrMapOvr>
  <p:hf sldNum="0" hdr="0" ftr="0" dt="0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4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改后怎么调用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购物车列表进入计算</a:t>
            </a:r>
          </a:p>
        </p:txBody>
      </p:sp>
      <p:sp>
        <p:nvSpPr>
          <p:cNvPr id="4" name="fig"/>
          <p:cNvSpPr/>
          <p:nvPr/>
        </p:nvSpPr>
        <p:spPr>
          <a:xfrm>
            <a:off x="4434840" y="2379726"/>
            <a:ext cx="274320" cy="164592"/>
          </a:xfrm>
          <a:prstGeom prst="downArrow">
            <a:avLst/>
          </a:prstGeom>
          <a:solidFill>
            <a:srgbClr val="A33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ig"/>
          <p:cNvSpPr/>
          <p:nvPr/>
        </p:nvSpPr>
        <p:spPr>
          <a:xfrm>
            <a:off x="411480" y="2654046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类型 2 交给会员价策略</a:t>
            </a:r>
          </a:p>
        </p:txBody>
      </p:sp>
      <p:sp>
        <p:nvSpPr>
          <p:cNvPr id="6" name="fig"/>
          <p:cNvSpPr/>
          <p:nvPr/>
        </p:nvSpPr>
        <p:spPr>
          <a:xfrm>
            <a:off x="4434840" y="3461004"/>
            <a:ext cx="274320" cy="164592"/>
          </a:xfrm>
          <a:prstGeom prst="downArrow">
            <a:avLst/>
          </a:prstGeom>
          <a:solidFill>
            <a:srgbClr val="A33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ig"/>
          <p:cNvSpPr/>
          <p:nvPr/>
        </p:nvSpPr>
        <p:spPr>
          <a:xfrm>
            <a:off x="411480" y="3735324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按 id 升序取最小一条</a:t>
            </a:r>
          </a:p>
        </p:txBody>
      </p:sp>
      <p:sp>
        <p:nvSpPr>
          <p:cNvPr id="8" name="fig"/>
          <p:cNvSpPr/>
          <p:nvPr/>
        </p:nvSpPr>
        <p:spPr>
          <a:xfrm>
            <a:off x="4434840" y="4542282"/>
            <a:ext cx="274320" cy="164592"/>
          </a:xfrm>
          <a:prstGeom prst="downArrow">
            <a:avLst/>
          </a:prstGeom>
          <a:solidFill>
            <a:srgbClr val="A33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ig"/>
          <p:cNvSpPr/>
          <p:nvPr/>
        </p:nvSpPr>
        <p:spPr>
          <a:xfrm>
            <a:off x="411480" y="4816602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单价和优惠额交给下单</a:t>
            </a:r>
          </a:p>
        </p:txBody>
      </p:sp>
      <p:sp>
        <p:nvSpPr>
          <p:cNvPr id="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教师示例</a:t>
            </a:r>
          </a:p>
        </p:txBody>
      </p:sp>
    </p:spTree>
  </p:cSld>
  <p:clrMapOvr>
    <a:masterClrMapping/>
  </p:clrMapOvr>
  <p:hf sldNum="0" hdr="0" ftr="0" dt="0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⑤ 取舍对比看出类型多了策略才有回报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70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类型少且稳定时，if/else 已够用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类型增多时方法越来越长，策略的收益变大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策略列表可改为从配置读取，不改调度循环（设计讨论）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365760" y="3218688"/>
          <a:ext cx="8503920" cy="15727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28800"/>
                <a:gridCol w="2743200"/>
                <a:gridCol w="3931920"/>
              </a:tblGrid>
              <a:tr h="393192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比较点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if/else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策略接口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393192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新增一种类型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修改方法本体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新增一个类，登记一行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393192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漏掉一种类型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静默走 else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静默落到兜底策略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测试方式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 calcCartPromotion 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私有内部类，仍经入口方法测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fn"/>
          <p:cNvSpPr txBox="1"/>
          <p:nvPr/>
        </p:nvSpPr>
        <p:spPr>
          <a:xfrm>
            <a:off x="411480" y="4809744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依据：事实卡 E6 N4–N9；演进场景为设计讨论，非代码事实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教师示例</a:t>
            </a:r>
          </a:p>
        </p:txBody>
      </p:sp>
    </p:spTree>
  </p:cSld>
  <p:clrMapOvr>
    <a:masterClrMapping/>
  </p:clrMapOvr>
  <p:hf sldNum="0" hdr="0" ftr="0" dt="0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动手前的准备是只读检出 exp/E6，不开分支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200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在本地工作区改代码，本地提交后对照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compare.env：MODULE、TESTS、EXPECT_BASE=fail（N10）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对照达标：Errors=0、Skipped=0、结论：符合</a:t>
            </a:r>
          </a:p>
        </p:txBody>
      </p:sp>
      <p:sp>
        <p:nvSpPr>
          <p:cNvPr id="4" name="code-cmd"/>
          <p:cNvSpPr txBox="1"/>
          <p:nvPr/>
        </p:nvSpPr>
        <p:spPr>
          <a:xfrm>
            <a:off x="411480" y="3561328"/>
            <a:ext cx="8138160" cy="1168416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git fetch origin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git switch --detach origin/exp/E6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# 对照参数：SDC/E6/outputs/E6-&lt;学号&gt;/compare.env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SDC/compare.sh E6-&lt;学号&gt;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809744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依据：学生操作手册（@0a5eae2a）第 26、38、53–67、77、183–185 行；事实卡 E6 N10–N11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4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候选选题有扩展题 E6-07 库存预警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Issue #26，只改订单服务实现</a:t>
            </a:r>
          </a:p>
        </p:txBody>
      </p:sp>
      <p:sp>
        <p:nvSpPr>
          <p:cNvPr id="4" name="fig"/>
          <p:cNvSpPr/>
          <p:nvPr/>
        </p:nvSpPr>
        <p:spPr>
          <a:xfrm>
            <a:off x="4434840" y="2379726"/>
            <a:ext cx="274320" cy="164592"/>
          </a:xfrm>
          <a:prstGeom prst="downArrow">
            <a:avLst/>
          </a:prstGeom>
          <a:solidFill>
            <a:srgbClr val="A33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ig"/>
          <p:cNvSpPr/>
          <p:nvPr/>
        </p:nvSpPr>
        <p:spPr>
          <a:xfrm>
            <a:off x="411480" y="2654046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锁定库存之后调用 warnSku</a:t>
            </a:r>
          </a:p>
        </p:txBody>
      </p:sp>
      <p:sp>
        <p:nvSpPr>
          <p:cNvPr id="6" name="fig"/>
          <p:cNvSpPr/>
          <p:nvPr/>
        </p:nvSpPr>
        <p:spPr>
          <a:xfrm>
            <a:off x="4434840" y="3461004"/>
            <a:ext cx="274320" cy="164592"/>
          </a:xfrm>
          <a:prstGeom prst="downArrow">
            <a:avLst/>
          </a:prstGeom>
          <a:solidFill>
            <a:srgbClr val="A33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ig"/>
          <p:cNvSpPr/>
          <p:nvPr/>
        </p:nvSpPr>
        <p:spPr>
          <a:xfrm>
            <a:off x="411480" y="3735324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扣减库存之后再调用一次</a:t>
            </a:r>
          </a:p>
        </p:txBody>
      </p:sp>
      <p:sp>
        <p:nvSpPr>
          <p:cNvPr id="8" name="fig"/>
          <p:cNvSpPr/>
          <p:nvPr/>
        </p:nvSpPr>
        <p:spPr>
          <a:xfrm>
            <a:off x="4434840" y="4542282"/>
            <a:ext cx="274320" cy="164592"/>
          </a:xfrm>
          <a:prstGeom prst="downArrow">
            <a:avLst/>
          </a:prstGeom>
          <a:solidFill>
            <a:srgbClr val="A33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ig"/>
          <p:cNvSpPr/>
          <p:nvPr/>
        </p:nvSpPr>
        <p:spPr>
          <a:xfrm>
            <a:off x="411480" y="4816602"/>
            <a:ext cx="8321040" cy="80695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 274 行仍返回原来的行数</a:t>
            </a:r>
          </a:p>
        </p:txBody>
      </p:sp>
      <p:sp>
        <p:nvSpPr>
          <p:cNvPr id="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4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步骤① 需求规格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481328"/>
            <a:ext cx="1371600" cy="78638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用户故事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874520" y="1481328"/>
            <a:ext cx="6858000" cy="78638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用户故事：作为已登录会员，我希望购物车里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设置了会员价的商品按我的等级显示优惠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331720"/>
            <a:ext cx="1371600" cy="78638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规则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874520" y="2331720"/>
            <a:ext cx="6858000" cy="78638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规则：只对类型 2 生效；会员价不低于 SKU 原价时不优惠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182112"/>
            <a:ext cx="1371600" cy="78638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边界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874520" y="3182112"/>
            <a:ext cx="6858000" cy="78638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边界：会员不存在、等级为空、查无会员价，整组无优惠，不抛异常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032504"/>
            <a:ext cx="1371600" cy="78638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非功能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874520" y="4032504"/>
            <a:ext cx="6858000" cy="78638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非功能：公开方法仍只有 calcCartPromotion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每个商品分组至多查一次会员、一次会员价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11480" y="4882896"/>
            <a:ext cx="1371600" cy="78638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歧义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1874520" y="4882896"/>
            <a:ext cx="6858000" cy="78638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已澄清的歧义：多条会员价取 id 最小一条，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是对照代码后写定的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4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步骤② 让 AI 按规格生成失败测试，核实失败原因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508760"/>
            <a:ext cx="83210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同一组规格测试，未实现时不满足，实现后通过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2331720"/>
            <a:ext cx="1188720" cy="65836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红灯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691640" y="2331720"/>
            <a:ext cx="7040880" cy="65836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红灯是期望会员价，实际仍是 95.00 和无优惠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3081528"/>
            <a:ext cx="1188720" cy="65836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红灯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1691640" y="3081528"/>
            <a:ext cx="7040880" cy="65836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那次运行 16 项里 6 项失败、10 项通过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11480" y="3831336"/>
            <a:ext cx="1188720" cy="65836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红灯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1691640" y="3831336"/>
            <a:ext cx="7040880" cy="65836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失败原因不是编译错误，也不是环境错误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411480" y="4663440"/>
            <a:ext cx="832104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特征测试 8 项在重构前后都保持通过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4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步骤③ 让 AI 实现，审查旧调用方无需修改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463040"/>
            <a:ext cx="83210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用AI辅助实现并提交可评审的变更，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保持旧调用方无需修改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2395728"/>
            <a:ext cx="5120640" cy="38404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不变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5669280" y="2395728"/>
            <a:ext cx="3063240" cy="38404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变化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2852928"/>
            <a:ext cx="5120640" cy="8686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接口签名仍是 calcCartPromotion，参数和返回值都没改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3794760"/>
            <a:ext cx="5120640" cy="8686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购物车列表、优惠券列表、确认单、下单都不用改调用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4736592"/>
            <a:ext cx="5120640" cy="8686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类型 1、3、4 和未知类型保持原结果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5669280" y="2852928"/>
            <a:ext cx="3063240" cy="275234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行为变化只发生在类型 2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以前是无优惠，现在可能改单价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4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步骤④ 编码规范对照操作卡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463040"/>
            <a:ext cx="83210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明确冲突只列缩进 4/2、行宽 120/100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https://google.github.io/styleguide/javaguide.html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2331720"/>
            <a:ext cx="1463040" cy="78638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冲突·缩进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965960" y="2331720"/>
            <a:ext cx="6766560" cy="78638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缩进 4 与 2。黄山版：（三）代码格式第5条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Google 4.2。https://github.com/alibaba/p3c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3182112"/>
            <a:ext cx="1463040" cy="786384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冲突·行宽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1965960" y="3182112"/>
            <a:ext cx="6766560" cy="78638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行宽 120 与 100。黄山版：（三）代码格式第8条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Google Java Style 第 4.4 节是 100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11480" y="4032504"/>
            <a:ext cx="1463040" cy="78638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单方规定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1965960" y="4032504"/>
            <a:ext cx="6766560" cy="78638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阿里巴巴明确禁止 POJO 布尔属性加 is 前缀，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Google 未作对应规定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411480" y="4892040"/>
            <a:ext cx="8321040" cy="78638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两套原文依据。黄山版：（一）命名风格第9条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核对日期：2026.10.10。T7 将系统展开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步骤⑤ 写架构决策记录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72768"/>
            <a:ext cx="118872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上下文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691640" y="1572768"/>
            <a:ext cx="70408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上下文：基线里类型 2 走无优惠，结果文案是无优惠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414016"/>
            <a:ext cx="118872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决定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691640" y="2414016"/>
            <a:ext cx="70408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决定：新策略在第 66 行登记，排在兜底策略之前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255264"/>
            <a:ext cx="1188720" cy="74980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否决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691640" y="3255264"/>
            <a:ext cx="704088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否决在循环里逐条查会员：会超过每组各查一次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096512"/>
            <a:ext cx="1188720" cy="74980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否决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691640" y="4096512"/>
            <a:ext cx="704088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否决把会员价折进查询 SQL：替身和语句都要改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11480" y="4937760"/>
            <a:ext cx="118872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后果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1691640" y="4937760"/>
            <a:ext cx="70408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后果：调度循环不改；确认单和下单金额会变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4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步骤⑥ 部分验证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72768"/>
            <a:ext cx="118872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已跑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691640" y="1572768"/>
            <a:ext cx="70408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直接跑过的是 Mock：不连数据库，也不走 HTTP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414016"/>
            <a:ext cx="118872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已跑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691640" y="2414016"/>
            <a:ext cx="70408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规格测试和特征测试都在替身里，跳过是 0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255264"/>
            <a:ext cx="1188720" cy="74980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推断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691640" y="3255264"/>
            <a:ext cx="704088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确认单应付、下单写入、优惠券列表只按源码推断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096512"/>
            <a:ext cx="1188720" cy="74980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部分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691640" y="4096512"/>
            <a:ext cx="704088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每组各查一次有交互断言；库里的真实排序没验证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411480" y="5029200"/>
            <a:ext cx="8321040" cy="658368"/>
          </a:xfrm>
          <a:prstGeom prst="rect">
            <a:avLst/>
          </a:prstGeom>
          <a:solidFill>
            <a:srgbClr val="A33B38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只用 Mock 的部分标为部分验证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沿用本人选题，另选须说明理由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508760"/>
            <a:ext cx="8321040" cy="685800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另选须说明理由。原则上实现本人在 E5 所选的需求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2377440"/>
            <a:ext cx="1188720" cy="713232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扩展题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691640" y="2377440"/>
            <a:ext cx="704088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扩展题 E6-07 演示的是库存预警这一条需求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3182112"/>
            <a:ext cx="1188720" cy="713232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扩展题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1691640" y="3182112"/>
            <a:ext cx="704088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库存预警不是全体学生都要做的统一题目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11480" y="3986784"/>
            <a:ext cx="1188720" cy="713232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边界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1691640" y="3986784"/>
            <a:ext cx="7040880" cy="71323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不得用同一实现重复领取 E2/E4 或 E3/E6 成绩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411480" y="4892040"/>
            <a:ext cx="8321040" cy="68580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换题要在说明里写清为什么不沿用上次的选择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常见失分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4592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960120" y="1508760"/>
            <a:ext cx="777240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09728" rIns="109728" tIns="54864" bIns="5486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把编译失败或连不上数据库写成规格没有实现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46888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960120" y="2331720"/>
            <a:ext cx="777240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09728" rIns="109728" tIns="54864" bIns="5486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规格只有故事，没有规则、边界和已经问清的歧义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29184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960120" y="3154680"/>
            <a:ext cx="777240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09728" rIns="109728" tIns="54864" bIns="5486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规范只写听谁的，不写同一处代码差在哪、原文是哪一条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11480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960120" y="3977640"/>
            <a:ext cx="777240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09728" rIns="109728" tIns="54864" bIns="5486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只用替身，却不写哪些判断还没有在集成环境里做过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11480" y="493776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960120" y="4800600"/>
            <a:ext cx="777240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09728" rIns="109728" tIns="54864" bIns="5486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改了原来的方法签名，或没有回归相邻类型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1783080"/>
            <a:ext cx="109728" cy="15544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17320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60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6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1965960"/>
            <a:ext cx="7635240" cy="1371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262626"/>
                </a:solidFill>
                <a:latin typeface="微软雅黑"/>
                <a:ea typeface="微软雅黑"/>
              </a:rPr>
              <a:t>需求中哪些内容是靠追问才明确的？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3474720"/>
            <a:ext cx="27432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提示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3794760"/>
            <a:ext cx="832104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先分开：故事原句里就有的，和对照代码之后才写定的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4361688"/>
            <a:ext cx="832104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会员价挂在商品和等级上，不挂在 SKU 上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11480" y="4928616"/>
            <a:ext cx="832104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同一分组两个会员号不一致时，整组不优惠且不查库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4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抽一人讲兼容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00200"/>
            <a:ext cx="8321040" cy="868680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A33B38"/>
                </a:solidFill>
                <a:latin typeface="微软雅黑"/>
                <a:ea typeface="微软雅黑"/>
              </a:rPr>
              <a:t>抽 1 人，用自己的变更讲调用方为什么不用改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2670048"/>
            <a:ext cx="27432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示例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3017520"/>
            <a:ext cx="1188720" cy="713232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签名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691640" y="3017520"/>
            <a:ext cx="704088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教师示例的签名仍是一个列表进、一个列表出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840480"/>
            <a:ext cx="1188720" cy="713232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变化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691640" y="3840480"/>
            <a:ext cx="7040880" cy="71323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类型 2 的单价和优惠额会变，这是需求要的变化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663440"/>
            <a:ext cx="1188720" cy="713232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保持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691640" y="4663440"/>
            <a:ext cx="7040880" cy="71323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类型 1、3、4 的结果保持，证据是原来的特征测试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4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怎样向 AI 提问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481328"/>
            <a:ext cx="7863840" cy="713232"/>
          </a:xfrm>
          <a:prstGeom prst="wedgeRectCallou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Persona：你是维护 mall 的 Java Web 开发者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395728"/>
            <a:ext cx="7863840" cy="713232"/>
          </a:xfrm>
          <a:prstGeom prst="wedgeRectCallou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Template：逐条回答，给出类名、方法名和行号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310128"/>
            <a:ext cx="7863840" cy="713232"/>
          </a:xfrm>
          <a:prstGeom prst="wedgeRectCallou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Question Refinement：漏登记策略，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编译期报错还是运行期兜底？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4315968"/>
            <a:ext cx="832104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每一句标出模式和它在本次任务里的作用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4956048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采集：deepseek-flash，2026.10.18，exp/E6 只读检出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4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怎样核对 AI 的产出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91056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005840" y="1481328"/>
            <a:ext cx="7726680" cy="69494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只有 OmsCartItemServiceImpl 第 89 行直接调用：引用存在，对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377440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005840" y="2267712"/>
            <a:ext cx="7726680" cy="69494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compare.sh 把 Errors 也算 fail：第 39 行可见，对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163824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005840" y="3054096"/>
            <a:ext cx="7726680" cy="69494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漏登记走兜底、编译期不报：与 E6-00 实现一致，对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3950208"/>
            <a:ext cx="457200" cy="457200"/>
          </a:xfrm>
          <a:prstGeom prst="ellipse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?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005840" y="3840480"/>
            <a:ext cx="7726680" cy="69494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金额保留 2 位：需求里没有，是规格建议，无法核实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411480" y="4754880"/>
            <a:ext cx="8321040" cy="777240"/>
          </a:xfrm>
          <a:prstGeom prst="rect">
            <a:avLst/>
          </a:prstGeom>
          <a:solidFill>
            <a:srgbClr val="A33B38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结论：采纳；金额精度和查询次数要回到需求追问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一页说明样例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809744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依据：事实卡 E6 N2、N4、N8、N11–N13（教师示例）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371600"/>
            <a:ext cx="8321040" cy="32004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594360" y="1463040"/>
            <a:ext cx="7772400" cy="6583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讲清楚：要改什么 — promotionType=2 补会员价分支（N2）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594360" y="2176272"/>
            <a:ext cx="7772400" cy="6583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有依据：文件与行号 — 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OmsPromotionServiceImpl.java:29-110（N4）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594360" y="2889504"/>
            <a:ext cx="7772400" cy="6583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验证过：改前改后结论，教师示例 — 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24/6 fail → 24/0 pass（N11–N12）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594360" y="3657600"/>
            <a:ext cx="7589520" cy="18288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594360" y="3749040"/>
            <a:ext cx="7589520" cy="6583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不足：a1e6679f 需额外修复排序问题（N8）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评分细则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138160" cy="4297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6126480"/>
              </a:tblGrid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用户故事、规则、边界、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非功能需求与已澄清的歧义15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实际改动、调用与数据流及兼容范围15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职责放在哪个类，以及类型、数据、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接口契约的取舍15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两套编码规范对同一处代码的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区别与采用理由15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用执行记录核实新规格在实现前不满足、实现后通过15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核实旧调用及边界与副作用回归15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395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非功能要求的证据层次与未验证的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限制10（仅用Mock时标为部分验证）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提交要求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384048" y="1444752"/>
            <a:ext cx="8366760" cy="4480560"/>
          </a:xfrm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300" b="0" lang="zh-CN" altLang="en-US">
                <a:latin typeface="微软雅黑"/>
                <a:ea typeface="微软雅黑"/>
                <a:cs typeface="微软雅黑"/>
              </a:rPr>
              <a:t>一页说明（按讲清楚、有依据、验证过组织）＋不超过2分钟</a:t>
            </a:r>
            <a:br>
              <a:rPr sz="2300" b="0" lang="zh-CN" altLang="en-US">
                <a:latin typeface="微软雅黑"/>
                <a:ea typeface="微软雅黑"/>
              </a:rPr>
            </a:br>
            <a:r>
              <a:rPr sz="2300" b="0" lang="zh-CN" altLang="en-US">
                <a:latin typeface="微软雅黑"/>
                <a:ea typeface="微软雅黑"/>
                <a:cs typeface="微软雅黑"/>
              </a:rPr>
              <a:t>本人录屏。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300" b="0" lang="zh-CN" altLang="en-US">
                <a:latin typeface="微软雅黑"/>
                <a:ea typeface="微软雅黑"/>
                <a:cs typeface="微软雅黑"/>
              </a:rPr>
              <a:t>录屏由本人讲解，并展示本实验的规格、失败测试和回归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300" b="0" lang="zh-CN" altLang="en-US">
                <a:latin typeface="微软雅黑"/>
                <a:ea typeface="微软雅黑"/>
                <a:cs typeface="微软雅黑"/>
              </a:rPr>
              <a:t>说明里写本人的选择、本人的执行和本人的证据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300" b="0" lang="zh-CN" altLang="en-US">
                <a:latin typeface="微软雅黑"/>
                <a:ea typeface="微软雅黑"/>
                <a:cs typeface="微软雅黑"/>
              </a:rPr>
              <a:t>教师示例是参考实现，不能代替你自己的变更</a:t>
            </a:r>
          </a:p>
        </p:txBody>
      </p:sp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本次课结束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下次课：第 13 次课｜编码、测试与部署</a:t>
            </a:r>
          </a:p>
        </p:txBody>
      </p:sp>
    </p:spTree>
  </p:cSld>
  <p:clrMapOvr>
    <a:masterClrMapping/>
  </p:clrMapOvr>
</p:sld>
</file>

<file path=ppt/tags/tag7.xml><?xml version="1.0" encoding="utf-8"?>
<p:tagLst xmlns:p="http://schemas.openxmlformats.org/presentationml/2006/main">
  <p:tag name="commondata" val="eyJoZGlkIjoiZDkzYzZkNDRlZDllNjdlNTFlNDRjOWFlMDM3NGQyOTAifQ=="/>
</p:tagLst>
</file>

<file path=ppt/theme/theme1.xml><?xml version="1.0" encoding="utf-8"?>
<a:theme xmlns:a="http://schemas.openxmlformats.org/drawingml/2006/main" name="2_985平台">
  <a:themeElements>
    <a:clrScheme name="SDC-2026">
      <a:dk1>
        <a:srgbClr val="262626"/>
      </a:dk1>
      <a:lt1>
        <a:srgbClr val="FFFFFF"/>
      </a:lt1>
      <a:dk2>
        <a:srgbClr val="A33B38"/>
      </a:dk2>
      <a:lt2>
        <a:srgbClr val="F6E8E6"/>
      </a:lt2>
      <a:accent1>
        <a:srgbClr val="A33B38"/>
      </a:accent1>
      <a:accent2>
        <a:srgbClr val="A33B38"/>
      </a:accent2>
      <a:accent3>
        <a:srgbClr val="595959"/>
      </a:accent3>
      <a:accent4>
        <a:srgbClr val="2E7D32"/>
      </a:accent4>
      <a:accent5>
        <a:srgbClr val="B26A00"/>
      </a:accent5>
      <a:accent6>
        <a:srgbClr val="D9D9D9"/>
      </a:accent6>
      <a:hlink>
        <a:srgbClr val="A33B38"/>
      </a:hlink>
      <a:folHlink>
        <a:srgbClr val="7F7F7F"/>
      </a:folHlink>
    </a:clrScheme>
    <a:fontScheme name="SDC-2026">
      <a:maj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985平台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985平台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3022</Words>
  <Application>WPS 演示</Application>
  <PresentationFormat>全屏显示(4:3)</PresentationFormat>
  <Paragraphs>283</Paragraphs>
  <Slides>44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59" baseType="lpstr">
      <vt:lpstr>Arial</vt:lpstr>
      <vt:lpstr>宋体</vt:lpstr>
      <vt:lpstr>Wingdings</vt:lpstr>
      <vt:lpstr>Verdana</vt:lpstr>
      <vt:lpstr>隶书</vt:lpstr>
      <vt:lpstr>Cambria</vt:lpstr>
      <vt:lpstr>黑体</vt:lpstr>
      <vt:lpstr>Times New Roman</vt:lpstr>
      <vt:lpstr>新宋体</vt:lpstr>
      <vt:lpstr>Tahoma</vt:lpstr>
      <vt:lpstr>微软雅黑</vt:lpstr>
      <vt:lpstr>Arial Unicode MS</vt:lpstr>
      <vt:lpstr>Calibri</vt:lpstr>
      <vt:lpstr>华文行楷</vt:lpstr>
      <vt:lpstr>2_985平台</vt:lpstr>
      <vt:lpstr>软件设计与规范 </vt:lpstr>
      <vt:lpstr>自我介绍</vt:lpstr>
      <vt:lpstr>超星学习通</vt:lpstr>
      <vt:lpstr>超星学习通</vt:lpstr>
      <vt:lpstr>教材</vt:lpstr>
      <vt:lpstr>推荐参考书</vt:lpstr>
      <vt:lpstr>参考书</vt:lpstr>
      <vt:lpstr>课程定位</vt:lpstr>
      <vt:lpstr>PowerPoint 演示文稿</vt:lpstr>
      <vt:lpstr>PowerPoint 演示文稿</vt:lpstr>
      <vt:lpstr>解决两大难题</vt:lpstr>
      <vt:lpstr>教学困难--实践能力</vt:lpstr>
      <vt:lpstr>PowerPoint 演示文稿</vt:lpstr>
      <vt:lpstr>PowerPoint 演示文稿</vt:lpstr>
      <vt:lpstr>PowerPoint 演示文稿</vt:lpstr>
      <vt:lpstr>教学困难--解决问题的能力</vt:lpstr>
      <vt:lpstr>PowerPoint 演示文稿</vt:lpstr>
      <vt:lpstr>PowerPoint 演示文稿</vt:lpstr>
      <vt:lpstr>教学改革</vt:lpstr>
      <vt:lpstr>PowerPoint 演示文稿</vt:lpstr>
      <vt:lpstr>PowerPoint 演示文稿</vt:lpstr>
      <vt:lpstr>教学设计</vt:lpstr>
      <vt:lpstr>翻转课堂学习绩效</vt:lpstr>
      <vt:lpstr>考核安排</vt:lpstr>
      <vt:lpstr>PowerPoint 演示文稿</vt:lpstr>
      <vt:lpstr>PowerPoint 演示文稿</vt:lpstr>
      <vt:lpstr>优秀</vt:lpstr>
      <vt:lpstr>课程网站扩展项目</vt:lpstr>
      <vt:lpstr>课程设计</vt:lpstr>
      <vt:lpstr>课程网站案例分类</vt:lpstr>
      <vt:lpstr>案例的使用</vt:lpstr>
      <vt:lpstr>授课方式</vt:lpstr>
      <vt:lpstr>PowerPoint 演示文稿</vt:lpstr>
      <vt:lpstr>课程网站</vt:lpstr>
      <vt:lpstr>能力构成</vt:lpstr>
      <vt:lpstr>环境</vt:lpstr>
      <vt:lpstr>助教</vt:lpstr>
      <vt:lpstr>SWOT分析</vt:lpstr>
      <vt:lpstr>课后阅读</vt:lpstr>
      <vt:lpstr>课后练习</vt:lpstr>
      <vt:lpstr>作业</vt:lpstr>
      <vt:lpstr>Tips</vt:lpstr>
      <vt:lpstr>Tips（续）</vt:lpstr>
      <vt:lpstr>PowerPoint 演示文稿</vt:lpstr>
    </vt:vector>
  </TitlesOfParts>
  <Company>sei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1-1课程简介</dc:title>
  <dc:creator>李萌</dc:creator>
  <cp:lastModifiedBy>lemon 牛</cp:lastModifiedBy>
  <cp:revision>1036</cp:revision>
  <cp:lastPrinted>2003-09-14T10:10:00Z</cp:lastPrinted>
  <dcterms:created xsi:type="dcterms:W3CDTF">2003-08-28T12:03:00Z</dcterms:created>
  <dcterms:modified xsi:type="dcterms:W3CDTF">2024-02-25T15:12:44Z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6B7E428AAD9D47FD86FE404DDCE365B0_12</vt:lpwstr>
  </property>
  <property fmtid="{D5CDD505-2E9C-101B-9397-08002B2CF9AE}" pid="3" name="KSOProductBuildVer">
    <vt:lpwstr>2052-12.1.0.16250</vt:lpwstr>
  </property>
</Properties>
</file>