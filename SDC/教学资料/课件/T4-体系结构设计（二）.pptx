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节：表现层模式</a:t>
            </a:r>
          </a:p>
          <a:p>
            <a:r>
              <a:t>本节 20 分钟</a:t>
            </a:r>
          </a:p>
          <a:p>
            <a:r>
              <a:t>定义：这一讲讲表现层怎么和领域分开，以及依赖、映射和不确定组件怎么设计。</a:t>
            </a:r>
          </a:p>
          <a:p>
            <a:r>
              <a:t>代价：原则和框架名缠在一起，换一种实现就讲不下去。</a:t>
            </a:r>
          </a:p>
          <a:p>
            <a:r>
              <a:t>判定：开场先点明这是第 7 次课，讲体系结构设计的后半。</a:t>
            </a:r>
          </a:p>
          <a:p>
            <a:r>
              <a:t>权衡：三个班周次不同，口头交代各班时间，课上只强调课次。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节：表现层模式</a:t>
            </a:r>
          </a:p>
          <a:p>
            <a:r>
              <a:t>时长见本节首页（本节 20 分钟）</a:t>
            </a:r>
          </a:p>
          <a:p>
            <a:r>
              <a:t>定义：这一页把本次四项目标和课次衔接放在一起：上一讲的分层与约束，实验 E3 的验收准则，引出实验 E4。</a:t>
            </a:r>
          </a:p>
          <a:p>
            <a:r>
              <a:t>代价：不衔接的话，注入和映射会像一套新名词，接不上已经写过的验收准则。</a:t>
            </a:r>
          </a:p>
          <a:p>
            <a:r>
              <a:t>判定：能否说出四项目标，并指出实验 E4 要在特征测试保护下做局部重构。</a:t>
            </a:r>
          </a:p>
          <a:p>
            <a:r>
              <a:t>权衡：时间紧时先保住表现与领域分开、以及预测出错时系统目标仍要成立。实验 E4 预习题在布置里。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节：表现层模式</a:t>
            </a:r>
          </a:p>
          <a:p>
            <a:r>
              <a:t>时长见本节首页（本节 20 分钟）</a:t>
            </a:r>
          </a:p>
          <a:p>
            <a:r>
              <a:t>定义：表现逻辑管界面，领域逻辑管规则；状态从领域一侧同步到页面。</a:t>
            </a:r>
          </a:p>
          <a:p>
            <a:r>
              <a:t>代价：规则写进页面，换一种界面就要把计算再写一遍。</a:t>
            </a:r>
          </a:p>
          <a:p>
            <a:r>
              <a:t>判定：问这行代码是在画界面、收输入，还是在算金额、改状态。</a:t>
            </a:r>
          </a:p>
          <a:p>
            <a:r>
              <a:t>权衡：分开之后，页面和规则可以各自替换；多一层同步，也多一处要对齐。来源是 2024 第 3-2 讲第 4 页的界面与应用分离，以及 Fowler《GUI Architectures》。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节：表现层模式</a:t>
            </a:r>
          </a:p>
          <a:p>
            <a:r>
              <a:t>时长见本节首页（本节 20 分钟）</a:t>
            </a:r>
          </a:p>
          <a:p>
            <a:r>
              <a:t>定义：视图负责显示和收集输入，不含领域逻辑与业务规则。MVC 里视图把输入交给控制器，控制器调用模型，视图观察模型。MVVM 里视图绑定视图模型，视图模型调用模型，视图不直接依赖模型。</a:t>
            </a:r>
          </a:p>
          <a:p>
            <a:r>
              <a:t>代价：把模式名当成框架名，会以为换了库就自动分开了。</a:t>
            </a:r>
          </a:p>
          <a:p>
            <a:r>
              <a:t>判定：问输入是交给控制器还是绑在视图模型上，以及视图是否直接依赖模型。</a:t>
            </a:r>
          </a:p>
          <a:p>
            <a:r>
              <a:t>权衡：控制器把输入路径写清楚；视图模型让界面少写同步代码，绑定错了更难从点击追。依赖方向按 Fowler《GUI Architectures》。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节：表现层模式</a:t>
            </a:r>
          </a:p>
          <a:p>
            <a:r>
              <a:t>时长见本节首页（本节 20 分钟）</a:t>
            </a:r>
          </a:p>
          <a:p>
            <a:r>
              <a:t>定义：事件驱动这一方：按钮事件里创建具体算法，计算流程只面向接口。</a:t>
            </a:r>
          </a:p>
          <a:p>
            <a:r>
              <a:t>代价：用分支语句在流程里直接实例化，每加一种运算都要改那处分支。</a:t>
            </a:r>
          </a:p>
          <a:p>
            <a:r>
              <a:t>判定：问新增一种运算时，改的是事件处理器，还是计算流程本身。</a:t>
            </a:r>
          </a:p>
          <a:p>
            <a:r>
              <a:t>权衡：流程稳定，事件侧要为每个按钮写处理器。内容来自 2024 第 3-3 讲第 4–10 页，不把某一种语言的事件机制写进原理。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节：表现层模式</a:t>
            </a:r>
          </a:p>
          <a:p>
            <a:r>
              <a:t>时长见本节首页（本节 20 分钟）</a:t>
            </a:r>
          </a:p>
          <a:p>
            <a:r>
              <a:t>定义：两段代码只证明状态赋值与模板读取分开，不单独证明领域逻辑已移出页面。</a:t>
            </a:r>
          </a:p>
          <a:p>
            <a:r>
              <a:t>代价：把赋值和显示写在一起，改显示就会碰到取数，改取数也会碰到版式。</a:t>
            </a:r>
          </a:p>
          <a:p>
            <a:r>
              <a:t>判定：问这一段是在给 list、total、listLoading 赋值，还是在模板里读 name 和 brandName。</a:t>
            </a:r>
          </a:p>
          <a:p>
            <a:r>
              <a:t>权衡：绑定少写手工同步；状态名和模板对不上时，页面会空着。计价是否已离开页面，要到服务里再看。提交 81fc17e5。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节：表现层模式</a:t>
            </a:r>
          </a:p>
          <a:p>
            <a:r>
              <a:t>时长见本节首页（本节 20 分钟）</a:t>
            </a:r>
          </a:p>
          <a:p>
            <a:r>
              <a:t>定义：计算器走事件，商品列表走绑定；共同原则是表现和领域分开。</a:t>
            </a:r>
          </a:p>
          <a:p>
            <a:r>
              <a:t>代价：只记住某一种写法，换页面时会把同步机制当成业务规则。</a:t>
            </a:r>
          </a:p>
          <a:p>
            <a:r>
              <a:t>判定：问状态是事件送出去的，还是模板按名字读走的；规则是否仍在页面外。</a:t>
            </a:r>
          </a:p>
          <a:p>
            <a:r>
              <a:t>权衡：事件路径看得见每次点击；绑定少写搬运代码。两种都要求页面不自己算价。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节：表现层模式</a:t>
            </a:r>
          </a:p>
          <a:p>
            <a:r>
              <a:t>时长见本节首页（本节 20 分钟）</a:t>
            </a:r>
          </a:p>
          <a:p>
            <a:r>
              <a:t>定义：可测试性看规则能不能离开页面断言，表现只检查同步有没有发生。</a:t>
            </a:r>
          </a:p>
          <a:p>
            <a:r>
              <a:t>代价：只有打开页面才能知道算得对不对，规则一改就要把界面再点一遍。</a:t>
            </a:r>
          </a:p>
          <a:p>
            <a:r>
              <a:t>判定：问这次失败是金额错了，还是事件没送到、绑定没读到。</a:t>
            </a:r>
          </a:p>
          <a:p>
            <a:r>
              <a:t>权衡：领域测试不依赖界面；表现测试不替代金额和状态的断言。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节：依赖注入与控制反转</a:t>
            </a:r>
          </a:p>
          <a:p>
            <a:r>
              <a:t>本节 25 分钟</a:t>
            </a:r>
          </a:p>
          <a:p>
            <a:r>
              <a:t>定义：依赖倒置规定依赖方向；控制反转把创建权和控制权交出去；依赖注入是落实控制反转的常用手段，也可以用来落实依赖倒置。</a:t>
            </a:r>
          </a:p>
          <a:p>
            <a:r>
              <a:t>代价：把三个词当成同义词，会分不清是方向错了，还是创建权还在调用方手里。</a:t>
            </a:r>
          </a:p>
          <a:p>
            <a:r>
              <a:t>判定：问这段代码约束的是依赖指向谁，还是谁来创建对象。</a:t>
            </a:r>
          </a:p>
          <a:p>
            <a:r>
              <a:t>权衡：注入能同时服务这两件事，换容器并不改变依赖方向。见 Fowler《IoC 容器与依赖注入》；依赖倒置的讲法对应 2024 第 7-3 讲第 14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节：依赖注入与控制反转</a:t>
            </a:r>
          </a:p>
          <a:p>
            <a:r>
              <a:t>时长见本节首页（本节 25 分钟）</a:t>
            </a:r>
          </a:p>
          <a:p>
            <a:r>
              <a:t>定义：使用方只表明要什么；注册和组装集中在靠近入口的组合根。</a:t>
            </a:r>
          </a:p>
          <a:p>
            <a:r>
              <a:t>代价：每个类自己 new 依赖，换实现就要改所有使用方。</a:t>
            </a:r>
          </a:p>
          <a:p>
            <a:r>
              <a:t>判定：问 new 或注册出现在业务方法里，还是只出现在入口附近。</a:t>
            </a:r>
          </a:p>
          <a:p>
            <a:r>
              <a:t>权衡：依赖集中可见，入口的注册表会变长。组合根只做组装，不写订单规则。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节：依赖注入与控制反转</a:t>
            </a:r>
          </a:p>
          <a:p>
            <a:r>
              <a:t>时长见本节首页（本节 25 分钟）</a:t>
            </a:r>
          </a:p>
          <a:p>
            <a:r>
              <a:t>定义：第 34–41 行是四个完整字段：注解和字段成对，容器填入的就是这四个协作对象。</a:t>
            </a:r>
          </a:p>
          <a:p>
            <a:r>
              <a:t>代价：依赖不在构造参数里，读类签名不知道它要哪些协作对象。</a:t>
            </a:r>
          </a:p>
          <a:p>
            <a:r>
              <a:t>判定：看是不是四组 @Autowired 加私有字段，行号到第 41 行的优惠券字段为止。</a:t>
            </a:r>
          </a:p>
          <a:p>
            <a:r>
              <a:t>权衡：字段少写构造函数；测试不能在 new 的时候把替身传进来。行号与基线 baseline-dcaa93b3 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节：依赖注入与控制反转</a:t>
            </a:r>
          </a:p>
          <a:p>
            <a:r>
              <a:t>时长见本节首页（本节 25 分钟）</a:t>
            </a:r>
          </a:p>
          <a:p>
            <a:r>
              <a:t>定义：课程说的三种方式是构造函数、Setter 和字段；组合根是唯一集中组装的地方。</a:t>
            </a:r>
          </a:p>
          <a:p>
            <a:r>
              <a:t>代价：三种混在一个类里，测试要同时准备容器、setter 和构造参数。</a:t>
            </a:r>
          </a:p>
          <a:p>
            <a:r>
              <a:t>判定：问依赖出现在参数、setter 还是字段，注册是否只在入口。</a:t>
            </a:r>
          </a:p>
          <a:p>
            <a:r>
              <a:t>权衡：构造函数把依赖一次说完；字段注入写起来短，替换时要绕开构造函数。Setter 可以后补，对象会有一段依赖还不齐。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节：依赖注入与控制反转</a:t>
            </a:r>
          </a:p>
          <a:p>
            <a:r>
              <a:t>时长见本节首页（本节 25 分钟）</a:t>
            </a:r>
          </a:p>
          <a:p>
            <a:r>
              <a:t>定义：注入是把依赖送进来；服务定位器是使用方自己去要。</a:t>
            </a:r>
          </a:p>
          <a:p>
            <a:r>
              <a:t>代价：定位器藏在方法体里，换实现或写测试都要先碰到那个全局入口。</a:t>
            </a:r>
          </a:p>
          <a:p>
            <a:r>
              <a:t>判定：问协作对象是参数或字段已经带着，还是方法执行到一半才去要。</a:t>
            </a:r>
          </a:p>
          <a:p>
            <a:r>
              <a:t>权衡：定位器少改构造函数，依赖关系从签名上消失。对照见 Fowler《IoC 容器与依赖注入》。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节：依赖注入与控制反转</a:t>
            </a:r>
          </a:p>
          <a:p>
            <a:r>
              <a:t>时长见本节首页（本节 25 分钟）</a:t>
            </a:r>
          </a:p>
          <a:p>
            <a:r>
              <a:t>定义：Spring 这一侧是字段注入；2024 课件里的 Autofac 在解析窗体时走构造函数。</a:t>
            </a:r>
          </a:p>
          <a:p>
            <a:r>
              <a:t>代价：把容器的类名当成原理，换一门语言就好像要重学一遍。</a:t>
            </a:r>
          </a:p>
          <a:p>
            <a:r>
              <a:t>判定：问依赖是写在字段上由容器填，还是写在构造函数里由容器传入。</a:t>
            </a:r>
          </a:p>
          <a:p>
            <a:r>
              <a:t>权衡：字段注入少改构造函数；构造函数注入在 new 的时候就能换实现。Autofac 按注册创建接口的实现并传给窗体。材料是 2024 第 8-3 讲第 13–18 页，不涉及具体业务名称。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节：依赖注入与控制反转</a:t>
            </a:r>
          </a:p>
          <a:p>
            <a:r>
              <a:t>时长见本节首页（本节 25 分钟）</a:t>
            </a:r>
          </a:p>
          <a:p>
            <a:r>
              <a:t>定义：特征测试要在不改被测类的前提下替换协作对象；构造函数把这个口子留在参数上。</a:t>
            </a:r>
          </a:p>
          <a:p>
            <a:r>
              <a:t>代价：字段是私有的时候，测试要么反射去改，要么把整个容器拉起来。</a:t>
            </a:r>
          </a:p>
          <a:p>
            <a:r>
              <a:t>判定：问替身是 new 的时候传入的，还是事后改私有字段。</a:t>
            </a:r>
          </a:p>
          <a:p>
            <a:r>
              <a:t>权衡：下单服务现在是字段注入。实验预习已经把这种方式列为最难写特征测试的一种，下一页请学生自己说原因。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节：依赖注入与控制反转</a:t>
            </a:r>
          </a:p>
          <a:p>
            <a:r>
              <a:t>时长见本节首页（本节 25 分钟）</a:t>
            </a:r>
          </a:p>
          <a:p>
            <a:r>
              <a:t>定义：讨论哪一种注入让特征测试更容易替换协作对象，并说出原因。</a:t>
            </a:r>
          </a:p>
          <a:p>
            <a:r>
              <a:t>代价：只答一个名字，不说测试怎么把替身放进去，下一讲的接缝还是对不上。</a:t>
            </a:r>
          </a:p>
          <a:p>
            <a:r>
              <a:t>判定：回答要选一种，并说明测试是否必须启动容器或改私有字段。</a:t>
            </a:r>
          </a:p>
          <a:p>
            <a:r>
              <a:t>权衡：构造函数注入在创建时传入替身；字段注入的依赖在私有字段上。课上先听学生的理由。</a:t>
            </a:r>
          </a:p>
          <a:p>
            <a:r>
              <a:t>参考要点：构造函数注入可以在创建时传入替身，不必启动容器；字段注入要靠反射或容器才能替换私有字段上的依赖。</a:t>
            </a:r>
          </a:p>
          <a:p>
            <a:r>
              <a:t>依据：大纲「依赖注入与控制反转」；回扣实验预习里最难写特征测试的是字段注入。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节：对象关系映射</a:t>
            </a:r>
          </a:p>
          <a:p>
            <a:r>
              <a:t>本节 20 分钟</a:t>
            </a:r>
          </a:p>
          <a:p>
            <a:r>
              <a:t>定义：阻抗失配是对象模型和关系模型对不齐：类、属性、关联，对上表、行和外键。</a:t>
            </a:r>
          </a:p>
          <a:p>
            <a:r>
              <a:t>代价：当成同一件事，改一个属性名就会以为表结构自动跟着变，或反过来。</a:t>
            </a:r>
          </a:p>
          <a:p>
            <a:r>
              <a:t>判定：问这一处改的是内存里的对象关系，还是表里的行和外键。</a:t>
            </a:r>
          </a:p>
          <a:p>
            <a:r>
              <a:t>权衡：映射填上这条缝，领域语言和表结构就可以不一样。对象侧的讲法来自 2024 第 8-4 讲第 12 页，不涉及具体业务名称。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节：对象关系映射</a:t>
            </a:r>
          </a:p>
          <a:p>
            <a:r>
              <a:t>时长见本节首页（本节 20 分钟）</a:t>
            </a:r>
          </a:p>
          <a:p>
            <a:r>
              <a:t>定义：四种模式差在 SQL 和领域对象各放在哪；模型和表越不像，越不该让对象自己保存。</a:t>
            </a:r>
          </a:p>
          <a:p>
            <a:r>
              <a:t>代价：模型和表已经分叉还用活动记录，领域对象会长满列名和 SQL。</a:t>
            </a:r>
          </a:p>
          <a:p>
            <a:r>
              <a:t>判定：问保存方法在领域对象上，还是在单独的入口或映射器上。</a:t>
            </a:r>
          </a:p>
          <a:p>
            <a:r>
              <a:t>权衡：表数据入口简单，领域语言弱；数据映射器让模型干净，多一层要维护。名称与适用场合见 Fowler《企业应用架构模式》。mall 的写入在 Mapper 和手写 Dao 上，实体方法里看不到保存。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节：对象关系映射</a:t>
            </a:r>
          </a:p>
          <a:p>
            <a:r>
              <a:t>时长见本节首页（本节 20 分钟）</a:t>
            </a:r>
          </a:p>
          <a:p>
            <a:r>
              <a:t>定义：工作单元把一次业务里的写入合成一次提交；标识映射和延迟加载是两项配套。事务边界是本例证据，不等于完整的工作单元实现。</a:t>
            </a:r>
          </a:p>
          <a:p>
            <a:r>
              <a:t>代价：没有工作单元，库存锁了、订单没写成，库里会留下半截。</a:t>
            </a:r>
          </a:p>
          <a:p>
            <a:r>
              <a:t>判定：问这些写入是一次提交，还是每次调用各自提交；同一行在这次业务里是不是同一份对象。</a:t>
            </a:r>
          </a:p>
          <a:p>
            <a:r>
              <a:t>权衡：绑在一起，要么全成要么全撤；事务会变长。看到服务上的事务，还不能说标识映射和延迟加载已经配齐。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节：对象关系映射</a:t>
            </a:r>
          </a:p>
          <a:p>
            <a:r>
              <a:t>时长见本节首页（本节 20 分钟）</a:t>
            </a:r>
          </a:p>
          <a:p>
            <a:r>
              <a:t>定义：一次生成订单里要锁库存、写订单与明细、改优惠券、扣积分，大纲把这四步看作同一笔业务。</a:t>
            </a:r>
          </a:p>
          <a:p>
            <a:r>
              <a:t>代价：四步拆成四次提交，中间失败会留下锁了库存却没有订单的数据。</a:t>
            </a:r>
          </a:p>
          <a:p>
            <a:r>
              <a:t>判定：问这四步是不是同一个方法里的连续调用，事务注在这个方法上还是注在每一次插入上。</a:t>
            </a:r>
          </a:p>
          <a:p>
            <a:r>
              <a:t>权衡：放在一个方法里，一致性好讲；方法也因此变长。删购物车在第 243 行，发延迟消息在第 245 行，也在这个方法里。锁库存第 165 行，插入订单第 224 行，插入明细第 229 行，优惠券第 232 行，积分第 240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节：对象关系映射</a:t>
            </a:r>
          </a:p>
          <a:p>
            <a:r>
              <a:t>时长见本节首页（本节 20 分钟）</a:t>
            </a:r>
          </a:p>
          <a:p>
            <a:r>
              <a:t>定义：事务由服务接口承担；明细插入的 SQL 写在门户自己的 Dao XML 里。</a:t>
            </a:r>
          </a:p>
          <a:p>
            <a:r>
              <a:t>代价：把事务注在每一次 insert 上，四步就会变成四次提交，中间失败留半截数据。</a:t>
            </a:r>
          </a:p>
          <a:p>
            <a:r>
              <a:t>判定：接口第 26 行有没有 @Transactional；实现类第 94 行的签名上有没有；XML 第 4 行是不是 insertList。</a:t>
            </a:r>
          </a:p>
          <a:p>
            <a:r>
              <a:t>权衡：注解在接口上，运行时仍包住整个方法。手写 SQL 能一次插入多行明细，生成器的单表 Mapper 不承担这句。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节：对象关系映射</a:t>
            </a:r>
          </a:p>
          <a:p>
            <a:r>
              <a:t>时长见本节首页（本节 20 分钟）</a:t>
            </a:r>
          </a:p>
          <a:p>
            <a:r>
              <a:t>定义：mall-mbg 生成 Example。第 359 行创建 OmsOrderExample，第 360 行 createCriteria() 创建条件对象 Criteria，第 361–366 行写下删除标记、会员和可选状态，第 367 行 selectByExample() 交给 Mapper。</a:t>
            </a:r>
          </a:p>
          <a:p>
            <a:r>
              <a:t>代价：把条件字符串散落在各处，改一个状态值要搜很多句 SQL。</a:t>
            </a:r>
          </a:p>
          <a:p>
            <a:r>
              <a:t>判定：框里第 359 行是否 new 了 OmsOrderExample；第 361 行起是否在写删除标记和会员。两个调用写在要点里，避免整行折开。</a:t>
            </a:r>
          </a:p>
          <a:p>
            <a:r>
              <a:t>权衡：第 360 行和第 367 行各自超过代码框一行的宽度，放进框里会把调用折开，所以框里只保留创建和条件。这段是列表查询，不是生成订单那一个事务。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节：对象关系映射</a:t>
            </a:r>
          </a:p>
          <a:p>
            <a:r>
              <a:t>时长见本节首页（本节 20 分钟）</a:t>
            </a:r>
          </a:p>
          <a:p>
            <a:r>
              <a:t>定义：MyBatis 把 SQL 留在映射里；2024 课件用 Entity Framework 把类映射到表。</a:t>
            </a:r>
          </a:p>
          <a:p>
            <a:r>
              <a:t>代价：以为两种都是“对象一点就进库”，会漏掉谁来写 SQL、谁来跟踪改动。</a:t>
            </a:r>
          </a:p>
          <a:p>
            <a:r>
              <a:t>判定：问 SQL 是业务旁边的映射文件，还是由映射规则和上下文生成。</a:t>
            </a:r>
          </a:p>
          <a:p>
            <a:r>
              <a:t>权衡：SQL 映射改语句直接；全映射少写 SQL，迁移和上下文要单独维护。Entity Framework 一侧见 2024 第 8-4 讲第 12–22 页：类与表的映射、用迁移初始化、仓储实现接口。不涉及具体业务名称。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节：对象关系映射</a:t>
            </a:r>
          </a:p>
          <a:p>
            <a:r>
              <a:t>时长见本节首页（本节 20 分钟）</a:t>
            </a:r>
          </a:p>
          <a:p>
            <a:r>
              <a:t>定义：业务修改先问它穿过计算、SQL 还是查询条件，再问事务是否仍由服务上的那一个注解承担。</a:t>
            </a:r>
          </a:p>
          <a:p>
            <a:r>
              <a:t>代价：改列名只改了实体没改手写 SQL，插入会在运行时对不上。</a:t>
            </a:r>
          </a:p>
          <a:p>
            <a:r>
              <a:t>判定：问这次改动落在 generateOrder 的计算、Dao XML，还是 Example 的条件。</a:t>
            </a:r>
          </a:p>
          <a:p>
            <a:r>
              <a:t>权衡：计算留在服务里，事务边界不用动；改 SQL 要同时看生成代码和手写文件两处。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节：面向不确定性的设计与 AI 验收的特殊性</a:t>
            </a:r>
          </a:p>
          <a:p>
            <a:r>
              <a:t>本节 25 分钟</a:t>
            </a:r>
          </a:p>
          <a:p>
            <a:r>
              <a:t>定义：把模型预测当作不可靠组件：不假设它正确，只假设错误不可避免，下面七条都从这里来。</a:t>
            </a:r>
          </a:p>
          <a:p>
            <a:r>
              <a:t>代价：只做准确率，出错时没有人机分工、拒绝和恢复，系统目标会跟着预测一起倒。</a:t>
            </a:r>
          </a:p>
          <a:p>
            <a:r>
              <a:t>判定：问这一条是在假设错误、限制输入输出、复核、拒绝、降级，还是在恢复。</a:t>
            </a:r>
          </a:p>
          <a:p>
            <a:r>
              <a:t>权衡：七条都做，功能会变窄，整体目标在出错时还站得住。条目来自 CMU MLiP 第 7 章，课程收成这七条。具体规则留到测试与部署。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节：面向不确定性的设计与 AI 验收的特殊性</a:t>
            </a:r>
          </a:p>
          <a:p>
            <a:r>
              <a:t>时长见本节首页（本节 25 分钟）</a:t>
            </a:r>
          </a:p>
          <a:p>
            <a:r>
              <a:t>定义：前三条落在系统和界面两侧：预测可以错，高风险留下人，限制用确定规则。</a:t>
            </a:r>
          </a:p>
          <a:p>
            <a:r>
              <a:t>代价：界面把预测显示成已完成，用户会以为库里已经写上了。</a:t>
            </a:r>
          </a:p>
          <a:p>
            <a:r>
              <a:t>判定：问限制是一段确定的规则，还是又叫了一次模型。</a:t>
            </a:r>
          </a:p>
          <a:p>
            <a:r>
              <a:t>权衡：人工确认变慢，换来高风险动作可以停。护栏的例子是取值区间、禁用词过滤、已知输入覆盖。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节：面向不确定性的设计与 AI 验收的特殊性</a:t>
            </a:r>
          </a:p>
          <a:p>
            <a:r>
              <a:t>时长见本节首页（本节 25 分钟）</a:t>
            </a:r>
          </a:p>
          <a:p>
            <a:r>
              <a:t>定义：后四条要求独立复核、拒绝分布外、降级和恢复；检查者不靠模型自报的置信度。</a:t>
            </a:r>
          </a:p>
          <a:p>
            <a:r>
              <a:t>代价：用模型给自己的分数当检查者，分数和预测会一起错。</a:t>
            </a:r>
          </a:p>
          <a:p>
            <a:r>
              <a:t>判定：问拒绝的是输入越界，还是模型暂时不可用；不可用时界面有没有标明降级。</a:t>
            </a:r>
          </a:p>
          <a:p>
            <a:r>
              <a:t>权衡：拒绝和降级让能答的范围变小，避免低置信度的猜测冒充结果。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节：面向不确定性的设计与 AI 验收的特殊性</a:t>
            </a:r>
          </a:p>
          <a:p>
            <a:r>
              <a:t>时长见本节首页（本节 25 分钟）</a:t>
            </a:r>
          </a:p>
          <a:p>
            <a:r>
              <a:t>定义：不可靠组件接在调用方和结果之间：护栏、模型、检查者、降级排成一条，预测不是终点。</a:t>
            </a:r>
          </a:p>
          <a:p>
            <a:r>
              <a:t>代价：调用方直接执行模型原文，权限和写入会跟着预测走。</a:t>
            </a:r>
          </a:p>
          <a:p>
            <a:r>
              <a:t>判定：问事实、权限和写入是模型决定的，还是检查者之后的确定代码决定的。</a:t>
            </a:r>
          </a:p>
          <a:p>
            <a:r>
              <a:t>权衡：多几段确定代码，模型可以换；每段都要有失败时的去向。这是组件关系，不是四张视图。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节：面向不确定性的设计与 AI 验收的特殊性</a:t>
            </a:r>
          </a:p>
          <a:p>
            <a:r>
              <a:t>时长见本节首页（本节 25 分钟）</a:t>
            </a:r>
          </a:p>
          <a:p>
            <a:r>
              <a:t>定义：传统测试追求同一输入同一结果、通过或不通过；这里六条都不成立。</a:t>
            </a:r>
          </a:p>
          <a:p>
            <a:r>
              <a:t>代价：只看现有测试全绿，会把一次碰巧的输出当成可以放行。</a:t>
            </a:r>
          </a:p>
          <a:p>
            <a:r>
              <a:t>判定：问同一输入是否允许多个输出，结论是两种还是三种。</a:t>
            </a:r>
          </a:p>
          <a:p>
            <a:r>
              <a:t>权衡：阈值把准确率、拒答率、延迟、成本和幻觉容忍度写成可比较的数；定得严，可用范围变小。据题集调过参的题只能计回归，不能再当新的验收。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节：面向不确定性的设计与 AI 验收的特殊性</a:t>
            </a:r>
          </a:p>
          <a:p>
            <a:r>
              <a:t>时长见本节首页（本节 25 分钟）</a:t>
            </a:r>
          </a:p>
          <a:p>
            <a:r>
              <a:t>定义：验收报告的结论只取放行／降级／驳回，并记录评测证据与风险。</a:t>
            </a:r>
          </a:p>
          <a:p>
            <a:r>
              <a:t>代价：没有独立标注的评测集，模型可以自己给自己出题、自己判分。</a:t>
            </a:r>
          </a:p>
          <a:p>
            <a:r>
              <a:t>判定：问题目和标准答案是不是独立于被测模型；报告结论是三种里的哪一种。</a:t>
            </a:r>
          </a:p>
          <a:p>
            <a:r>
              <a:t>权衡：四样都要留档，验收变重；没有它们就只剩一次对话记录。具体题量和阈值留到测试与部署。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节：面向不确定性的设计与 AI 验收的特殊性</a:t>
            </a:r>
          </a:p>
          <a:p>
            <a:r>
              <a:t>时长见本节首页（本节 25 分钟）</a:t>
            </a:r>
          </a:p>
          <a:p>
            <a:r>
              <a:t>定义：讨论把预测当作不可靠组件时，设计要保证的是什么。</a:t>
            </a:r>
          </a:p>
          <a:p>
            <a:r>
              <a:t>代价：答成“把准确率做到百分之百”，七条原则就没有落点。</a:t>
            </a:r>
          </a:p>
          <a:p>
            <a:r>
              <a:t>判定：回答要说到出错时系统的整体目标还在不在，而不是只说模型更准。</a:t>
            </a:r>
          </a:p>
          <a:p>
            <a:r>
              <a:t>权衡：目标不是消灭错误，而是出错时整体目标仍然成立。课上先听学生怎么说。</a:t>
            </a:r>
          </a:p>
          <a:p>
            <a:r>
              <a:t>参考要点：设计目标不是消除错误，而是出错时系统的整体目标仍然成立；预测不能直接当成已经提交的事实。</a:t>
            </a:r>
          </a:p>
          <a:p>
            <a:r>
              <a:t>依据：大纲「面向不确定性的设计与 AI 验收的特殊性」；课程把模型预测当作不可靠组件。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节：面向不确定性的设计与 AI 验收的特殊性</a:t>
            </a:r>
          </a:p>
          <a:p>
            <a:r>
              <a:t>时长见本节首页（本节 25 分钟）</a:t>
            </a:r>
          </a:p>
          <a:p>
            <a:r>
              <a:t>定义：讨论护栏为什么尽量用确定规则，而不是再调用一次模型。</a:t>
            </a:r>
          </a:p>
          <a:p>
            <a:r>
              <a:t>代价：护栏本身也是模型时，限制和预测会一起错，等于没有限位。</a:t>
            </a:r>
          </a:p>
          <a:p>
            <a:r>
              <a:t>判定：回答要举出一种确定规则，并说明它在模型出错时是否还生效。</a:t>
            </a:r>
          </a:p>
          <a:p>
            <a:r>
              <a:t>权衡：取值区间、禁用词过滤、已知输入覆盖都不依赖模型的这次输出。课上先听学生的例子。</a:t>
            </a:r>
          </a:p>
          <a:p>
            <a:r>
              <a:t>参考要点：护栏若也交给模型，会和预测一起失败；取值区间、禁用词过滤和已知输入覆盖用确定规则，模型出错时仍然生效。</a:t>
            </a:r>
          </a:p>
          <a:p>
            <a:r>
              <a:t>依据：大纲「面向不确定性的设计与 AI 验收的特殊性」；七条原则里的护栏要求非模型的硬性手段。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节：面向不确定性的设计与 AI 验收的特殊性</a:t>
            </a:r>
          </a:p>
          <a:p>
            <a:r>
              <a:t>时长见本节首页（本节 25 分钟）</a:t>
            </a:r>
          </a:p>
          <a:p>
            <a:r>
              <a:t>定义：这一讲收成四句：分离、注入、映射的落点，以及验收结论的三种取值。</a:t>
            </a:r>
          </a:p>
          <a:p>
            <a:r>
              <a:t>代价：只记住模式名字，下次实验仍不知道特征测试要固定哪一段行为。</a:t>
            </a:r>
          </a:p>
          <a:p>
            <a:r>
              <a:t>判定：能否各用一句说出表现层、依赖注入、事务归谁，以及报告的三种结论。</a:t>
            </a:r>
          </a:p>
          <a:p>
            <a:r>
              <a:t>权衡：实验 E4 在特征测试保护下做局部重构；预习题和阅读在下一节。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节：布置</a:t>
            </a:r>
          </a:p>
          <a:p>
            <a:r>
              <a:t>本节 25 分钟（并入上一节）</a:t>
            </a:r>
          </a:p>
          <a:p>
            <a:r>
              <a:t>题目页</a:t>
            </a:r>
          </a:p>
          <a:p>
            <a:r>
              <a:t>答案：1B 2B 3D</a:t>
            </a:r>
          </a:p>
          <a:p>
            <a:r>
              <a:t>定义：这三题是实验 E4 前的预习，课前按客观题完成。</a:t>
            </a:r>
          </a:p>
          <a:p>
            <a:r>
              <a:t>代价：未做的话，下一讲分不清模式的效果和特征测试固定的是什么。</a:t>
            </a:r>
          </a:p>
          <a:p>
            <a:r>
              <a:t>判定：引入模式并不因此降低复杂度；特征测试固定的是现有行为，包括不合理的部分。</a:t>
            </a:r>
          </a:p>
          <a:p>
            <a:r>
              <a:t>权衡：接缝是不改被测代码就能替换其行为的位置。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节：布置</a:t>
            </a:r>
          </a:p>
          <a:p>
            <a:r>
              <a:t>时长见本节首页（本节 25 分钟（并入上一节））</a:t>
            </a:r>
          </a:p>
          <a:p>
            <a:r>
              <a:t>题目页</a:t>
            </a:r>
          </a:p>
          <a:p>
            <a:r>
              <a:t>答案：4B 5C</a:t>
            </a:r>
          </a:p>
          <a:p>
            <a:r>
              <a:t>定义：第 4 题问自调用时注解是否经由代理生效；第 5 题问效果回答什么。</a:t>
            </a:r>
          </a:p>
          <a:p>
            <a:r>
              <a:t>代价：把效果答成类的名单，下一讲就说不清引入模式失去了什么。</a:t>
            </a:r>
          </a:p>
          <a:p>
            <a:r>
              <a:t>判定：同类方法自调用时，内层注解不会经由代理生效；效果要写得到什么、失去什么。</a:t>
            </a:r>
          </a:p>
          <a:p>
            <a:r>
              <a:t>权衡：预读先看特征测试和接缝那两章，实验课上再动手。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节：布置</a:t>
            </a:r>
          </a:p>
          <a:p>
            <a:r>
              <a:t>时长见本节首页（本节 25 分钟（并入上一节））</a:t>
            </a:r>
          </a:p>
          <a:p>
            <a:r>
              <a:t>定义：课后按作业第 2 条核对这些文献；预读仍是 Feathers 第 4、13 章。</a:t>
            </a:r>
          </a:p>
          <a:p>
            <a:r>
              <a:t>代价：不读界面架构和依赖注入那两篇，模式名字会和某一种框架绑死。</a:t>
            </a:r>
          </a:p>
          <a:p>
            <a:r>
              <a:t>判定：页上要能对上 Fowler《GUI Architectures》和 Fowler《IoC 容器与依赖注入》。</a:t>
            </a:r>
          </a:p>
          <a:p>
            <a:r>
              <a:t>权衡：先读这两篇和企业应用架构模式里的数据源，再看机器学习生产里对出错的规划。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7 次课｜体系结构设计（二）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本次目标与衔接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承接上一讲的分层与不可变约束，以及实验 E3 先写验收准则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表现与领域分开，规则能离开页面测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298698"/>
            <a:ext cx="7918704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分清依赖方向、创建权，以及依赖注入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一次修改穿过哪一层，事务归谁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031486"/>
            <a:ext cx="7114031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预测会错，系统目标仍要成立</a:t>
            </a:r>
          </a:p>
        </p:txBody>
      </p:sp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表现逻辑与领域逻辑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页面负责显示，并收集输入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计价和规则留在领域一侧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状态用事件或绑定同步过来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不打开页面，规则仍可单独测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MVC 与 MVVM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MVC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MVVM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视图负责显示与收集输入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不含领域逻辑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视图负责显示与收集输入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不含领域逻辑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223260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视图→控制器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223260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视图绑定视图模型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096511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控制器→模型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096511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视图模型→模型</a:t>
            </a:r>
          </a:p>
        </p:txBody>
      </p:sp>
      <p:sp>
        <p:nvSpPr>
          <p:cNvPr id="11" name="fig"/>
          <p:cNvSpPr/>
          <p:nvPr/>
        </p:nvSpPr>
        <p:spPr>
          <a:xfrm>
            <a:off x="365760" y="4969764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视图观察模型</a:t>
            </a:r>
          </a:p>
        </p:txBody>
      </p:sp>
      <p:sp>
        <p:nvSpPr>
          <p:cNvPr id="12" name="fig"/>
          <p:cNvSpPr/>
          <p:nvPr/>
        </p:nvSpPr>
        <p:spPr>
          <a:xfrm>
            <a:off x="4663440" y="4969764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视图不直接依赖模型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计算器：事件驱动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计算流程只调用接口，实例化留在事件里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点击按钮，触发事件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302437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298698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处理器创建算法对象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389077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4165091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赋给接口类型的变量</a:t>
            </a:r>
          </a:p>
        </p:txBody>
      </p:sp>
      <p:sp>
        <p:nvSpPr>
          <p:cNvPr id="9" name="fig"/>
          <p:cNvSpPr/>
          <p:nvPr/>
        </p:nvSpPr>
        <p:spPr>
          <a:xfrm>
            <a:off x="4434840" y="475716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"/>
          <p:cNvSpPr/>
          <p:nvPr/>
        </p:nvSpPr>
        <p:spPr>
          <a:xfrm>
            <a:off x="411480" y="5031486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计算过程只调用接口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商品列表：状态与模板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上段给列表、总条数和加载状态赋值，下段只读名称和品牌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绑定式表现层的分离原则的实例：只证明赋值与模板读取分开，不证明领域逻辑已移出页面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98755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listLoading.​value ​= ​false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list.​value ​= ​response.​data.​list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total.​value ​= ​response.​data.​total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84048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出处：meng004/​mall-admin-web@​81fc17e5a19f452bd854b106a9d59fa1ed5c7eac:​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src/​views/​pms/​product/​index.vue:​41-43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4315968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​&lt;p&gt;{{ scope.​row.​name }}&lt;/p&gt;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​&lt;p&gt;品牌：{{ scope.​row.​brandName }}&lt;/p&gt;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5047488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出处：meng004/​mall-admin-web@​81fc17e5a19f452bd854b106a9d59fa1ed5c7eac:​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src/​views/​pms/​product/​index.vue:​442-443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同一页面的两种实现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两边都不把规则写进页面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事件驱动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绑定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按钮触发处理器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脚本里给状态赋值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处理器调用接口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模板读同一批状态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状态靠事件送出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规则仍留在页面外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离开页面怎么测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测领域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测表现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直接调用计算或服务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事件有没有送到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不必把页面打开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绑定有没有读到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断言金额和状态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不在页面里重写规则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依赖注入：方向与创建权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依赖倒置规定方向：调用方依赖抽象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控制反转交出创建权和控制权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依赖注入是落实控制反转的常用手段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注入同时可以落实依赖倒置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配置与使用分开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使用方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组合根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只声明要哪个接口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靠近程序入口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方法里不自己 new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注册接口的实现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签名或字段露出依赖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把对象图组装好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门户下单的字段注入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会员、购物车、地址和优惠券四个字段成对出现，由容器填入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235915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@Autowired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UmsMemberService memberService;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@Autowired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OmsCartItemService cartItemService;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@Autowired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UmsMemberReceiveAddressService memberReceiveAddressService;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@Autowired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UmsMemberCouponService memberCouponService;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出处：mall-portal/​src/​main/​java/​com/​macro/​mall/​portal/​service/​impl/​OmsPortalOrderServiceImpl.java:​34-41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三种注入与组合根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构造函数注入：依赖写在参数上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Setter 注入：对象先建好再设入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字段注入：注解标在字段上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组合根只在入口完成注册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注入与服务定位器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依赖注入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服务定位器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依赖从外面送入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方法里向定位器要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参数或字段可见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签名上看不见依赖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测试直接传入替身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测试先配置定位器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横向比较：Spring 与 Autofac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两边都由容器创建对象，使用方不自己 new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Spring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Autofac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门户的下单服务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C# 的 WinForm 窗体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注解标在字段上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构造函数接收接口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启动后把字段填上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按注册创建并传入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替换依赖的两条路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特征测试要换掉协作对象，又不能改被测类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构造函数注入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字段注入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创建时传入替身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字段多半是私有的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不必把容器启动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要靠反射或容器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依赖在参数里可见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下单服务就是这种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字段注入与构造函数注入，哪一种让特征测试更好写？为什么？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对象和表对不齐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这里的对应是属性和字段，不是页面上的状态绑定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对象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关系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类用来描述结构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表用来描述结构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属性承载取值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一行是一条记录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还有关联和继承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一对多靠外键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对象关系映射：四种数据源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表数据入口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一张表对应一个入口对象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SQL 集中在该对象</a:t>
            </a:r>
          </a:p>
        </p:txBody>
      </p:sp>
      <p:sp>
        <p:nvSpPr>
          <p:cNvPr id="4" name="fig"/>
          <p:cNvSpPr/>
          <p:nvPr/>
        </p:nvSpPr>
        <p:spPr>
          <a:xfrm>
            <a:off x="4640580" y="1572768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行数据入口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一行一个对象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适合逐行修改</a:t>
            </a:r>
          </a:p>
        </p:txBody>
      </p:sp>
      <p:sp>
        <p:nvSpPr>
          <p:cNvPr id="5" name="fig"/>
          <p:cNvSpPr/>
          <p:nvPr/>
        </p:nvSpPr>
        <p:spPr>
          <a:xfrm>
            <a:off x="411480" y="3758183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活动记录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领域对象自己保存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模型和表很接近</a:t>
            </a:r>
          </a:p>
        </p:txBody>
      </p:sp>
      <p:sp>
        <p:nvSpPr>
          <p:cNvPr id="6" name="fig"/>
          <p:cNvSpPr/>
          <p:nvPr/>
        </p:nvSpPr>
        <p:spPr>
          <a:xfrm>
            <a:off x="4640580" y="3758183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数据映射器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领域对象不知道表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模型和表差得远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工作单元与两项配套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事务边界是本例证据，不等于完整的工作单元实现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工作单元：一次业务的改动一起提交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298698"/>
            <a:ext cx="7918704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标识映射：同一主键只留一份对象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延迟加载：用到关联时再去读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031486"/>
            <a:ext cx="7114031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下单能指到的是服务上的事务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下单方法里的多次写入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这些写入都在 generateOrder 里面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先锁库存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302437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298698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再写订单和明细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389077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4165091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然后更新优惠券</a:t>
            </a:r>
          </a:p>
        </p:txBody>
      </p:sp>
      <p:sp>
        <p:nvSpPr>
          <p:cNvPr id="9" name="fig"/>
          <p:cNvSpPr/>
          <p:nvPr/>
        </p:nvSpPr>
        <p:spPr>
          <a:xfrm>
            <a:off x="4434840" y="475716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"/>
          <p:cNvSpPr/>
          <p:nvPr/>
        </p:nvSpPr>
        <p:spPr>
          <a:xfrm>
            <a:off x="411480" y="5031486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并扣掉使用的积分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事务在接口，SQL 在手写文件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事务注解写在服务接口的 generateOrder 上，实现类第 94 行并没有这个注解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订单明细用门户手写的 insert 语句入库，不靠生成器代写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@Transactional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Map&lt;String,​ Object&gt; ​generateOrder(​OrderParam orderParam);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56616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出处：mall-portal/​src/​main/​java/​com/​macro/​mall/​portal/​service/​OmsPortalOrderService.java:​26-27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840480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​&lt;insert id="insertList"&gt;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insert into oms_order_item (​order_id,​ order_sn,​ product_id,​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457200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出处：mall-portal/​src/​main/​resources/​dao/​PortalOrderItemDao.xml:​4-5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条件用生成的 Example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360 行 createCriteria() 取得条件，第 367 行 selectByExample() 提交查询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未删除、当前会员，以及可选的订单状态，都写在条件上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43891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OmsOrderExample orderExample ​= ​new OmsOrderExample(​);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29184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出处：mall-portal/​src/​main/​java/​com/​macro/​mall/​portal/​service/​impl/​OmsPortalOrderServiceImpl.java:​359-359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566160"/>
            <a:ext cx="8138160" cy="181051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criteria.​andDeleteStatusEqualTo(​0)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.​andMemberIdEqualTo(​member.​getId(​));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if(​status!=null){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criteria.​andStatusEqualTo(​status);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orderExample.​setOrderByClause(​"create_time desc");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539496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出处：mall-portal/​src/​main/​java/​com/​macro/​mall/​portal/​service/​impl/​OmsPortalOrderServiceImpl.java:​361-366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横向比较：MyBatis 与 Entity Framework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一边把 SQL 留下，一边把类直接映射成表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MyBatis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Entity Framework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SQL 写在映射文件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C# 里做全映射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Example 负责拼条件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上下文代表数据库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门户另有手写 Dao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集合代表一张表</a:t>
            </a:r>
          </a:p>
        </p:txBody>
      </p:sp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一次修改穿过哪一层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改金额怎么算：仍在下单服务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改插入哪些列：改手写 SQL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改列表条件：改 Example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事务归服务接口，不归单次写入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七条原则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假设错误不可避免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190641"/>
            <a:ext cx="7918704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按后果分级，决定人机怎么分工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2808514"/>
            <a:ext cx="7516367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护栏用确定规则，不交给模型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3426387"/>
            <a:ext cx="7114031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执行者和检查者分开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4044260"/>
            <a:ext cx="6711696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分布外就拒绝，不硬给结果</a:t>
            </a:r>
          </a:p>
        </p:txBody>
      </p:sp>
      <p:sp>
        <p:nvSpPr>
          <p:cNvPr id="8" name="fig"/>
          <p:cNvSpPr/>
          <p:nvPr/>
        </p:nvSpPr>
        <p:spPr>
          <a:xfrm>
            <a:off x="1417320" y="4662133"/>
            <a:ext cx="6309359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失效时降级，而不是整站停</a:t>
            </a:r>
          </a:p>
        </p:txBody>
      </p:sp>
      <p:sp>
        <p:nvSpPr>
          <p:cNvPr id="9" name="fig"/>
          <p:cNvSpPr/>
          <p:nvPr/>
        </p:nvSpPr>
        <p:spPr>
          <a:xfrm>
            <a:off x="1618488" y="5280006"/>
            <a:ext cx="5907023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检测、纠正和恢复一起设计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前三条：系统和界面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错误不可避免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系统：预测不直接落成写入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界面：标成建议，并允许人改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3014472"/>
            <a:ext cx="7918704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按后果分人机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系统：高风险先经人工确认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界面：低风险给建议，并留撤销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4456176"/>
            <a:ext cx="7516367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护栏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系统：区间、权限、只读用代码限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界面：禁用词和已知输入先滤掉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后四条：系统和界面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执行者与检查者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事实复核，界面给人看依据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分布外检测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越界就拒绝，界面明确不答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降级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模型不可用走原功能，并标明降级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检测与恢复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能回到出错前，界面提供撤销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不可靠组件怎么接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调用方只提出问题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163470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437790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护栏先限制输入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02849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302812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模型只产出预测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3893515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167835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检查者核对事实</a:t>
            </a:r>
          </a:p>
        </p:txBody>
      </p:sp>
      <p:sp>
        <p:nvSpPr>
          <p:cNvPr id="10" name="fig"/>
          <p:cNvSpPr/>
          <p:nvPr/>
        </p:nvSpPr>
        <p:spPr>
          <a:xfrm>
            <a:off x="4434840" y="4758537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ig"/>
          <p:cNvSpPr/>
          <p:nvPr/>
        </p:nvSpPr>
        <p:spPr>
          <a:xfrm>
            <a:off x="411480" y="5032857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不行就降级返回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验收和传统测试不同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同一输入，输出可能不同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293620"/>
            <a:ext cx="7918704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没有完备预言，靠独立标注的评测集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014472"/>
            <a:ext cx="7516367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错误用阈值管，含幻觉容忍度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3735324"/>
            <a:ext cx="7114031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分布外和提示注入，要对抗用例与最小权限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4456176"/>
            <a:ext cx="6711696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模型或提示词一变就重测，公开题只计回归</a:t>
            </a:r>
          </a:p>
        </p:txBody>
      </p:sp>
      <p:sp>
        <p:nvSpPr>
          <p:cNvPr id="8" name="fig"/>
          <p:cNvSpPr/>
          <p:nvPr/>
        </p:nvSpPr>
        <p:spPr>
          <a:xfrm>
            <a:off x="1417320" y="5177028"/>
            <a:ext cx="6309359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结论是放行、降级或驳回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由此要交的四样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即验收报告的结论只取放行／降级／驳回，并记录评测证据与风险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评测集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独立标注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不由被测模型出题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2432304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对抗用例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守住权限、只读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和事实边界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4187952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风险台账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记下已知出错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不靠平均分盖住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4187952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验收报告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结论只取这三种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并记下证据与风险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把模型预测当作不可靠组件，设计目标是什么？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护栏为什么应当尽量用非AI的硬性手段实现？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表现与领域分开，状态用事件或绑定同步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依赖倒置定方向，依赖注入落实控制反转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改动看穿过哪一层，事务在服务接口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预测会错；报告结论只取放行、降级或驳回</a:t>
            </a:r>
          </a:p>
        </p:txBody>
      </p:sp>
    </p:spTree>
  </p:cSld>
  <p:clrMapOvr>
    <a:masterClrMapping/>
  </p:clrMapOvr>
  <p:hf sldNum="0" hdr="0" ftr="0" dt="0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请同学们在实验开始前完成全部五题，题干和选项须与课前作业一致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引入设计模式一定降低复杂度。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特征测试固定的是行为还是实现？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实现细节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现有行为，包括其中不合理的行为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新功能的行为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代码风格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“接缝”指什么？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类与类之间的继承关系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编译期依赖的注入点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代码中留待后续实现的空方法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不改动被测代码就能替换其行为的位置</a:t>
            </a:r>
          </a:p>
        </p:txBody>
      </p:sp>
    </p:spTree>
  </p:cSld>
  <p:clrMapOvr>
    <a:masterClrMapping/>
  </p:clrMapOvr>
  <p:hf sldNum="0" hdr="0" ftr="0" dt="0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预习题（4—5）与预读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同类方法自调用时，内层方法的注解会经由代理生效。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模式四要素中，“效果”一项回答什么问题？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这个模式由哪几个类组成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这个模式解决什么问题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采用这个模式后得到什么、失去什么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这个模式最早出现在哪本书里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实验 E4 前预读 Feathers《修改代码的艺术》第 4、13 章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请同学们在实验开始之前读完指定的那两章，然后再做上面这两道题</a:t>
            </a:r>
          </a:p>
        </p:txBody>
      </p:sp>
    </p:spTree>
  </p:cSld>
  <p:clrMapOvr>
    <a:masterClrMapping/>
  </p:clrMapOvr>
  <p:hf sldNum="0" hdr="0" ftr="0" dt="0"/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本讲重点阅读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[1]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《软件设计与体系结构》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[6]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Feathers《修改代码的艺术》第 4、13 章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[7]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Fowler《企业应用架构模式》第 1、3、4 章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[36]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Fowler《GUI Architectures》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[37]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Fowler《IoC 容器与依赖注入》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[38]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Microsoft《Model-View-ViewModel》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[39]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Spring 参考文档 Dependency Injection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[14]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Kästner《Machine Learning in Production》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[40]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CMU《Machine Learning in Production》第 7 章</a:t>
                      </a:r>
                    </a:p>
                  </a:txBody>
                  <a:tcPr anchor="ctr"/>
                </a:tc>
              </a:tr>
              <a:tr h="3907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[41]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Stanford CS 329S 公开讲义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