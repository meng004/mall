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5" r:id="rId56"/>
    <p:sldId id="257" r:id="rId10"/>
    <p:sldId id="292" r:id="rId53"/>
    <p:sldId id="294" r:id="rId55"/>
    <p:sldId id="293" r:id="rId54"/>
    <p:sldId id="264" r:id="rId17"/>
    <p:sldId id="265" r:id="rId18"/>
    <p:sldId id="267" r:id="rId20"/>
    <p:sldId id="268" r:id="rId21"/>
    <p:sldId id="266" r:id="rId19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8" r:id="rId41"/>
    <p:sldId id="289" r:id="rId42"/>
    <p:sldId id="290" r:id="rId43"/>
    <p:sldId id="291" r:id="rId44"/>
    <p:sldId id="296" r:id="rId57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1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41" Type="http://schemas.openxmlformats.org/officeDocument/2006/relationships/slide" Target="slides/slide23.xml"/><Relationship Id="rId42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4.xml"/><Relationship Id="rId54" Type="http://schemas.openxmlformats.org/officeDocument/2006/relationships/slide" Target="slides/slide6.xml"/><Relationship Id="rId55" Type="http://schemas.openxmlformats.org/officeDocument/2006/relationships/slide" Target="slides/slide5.xml"/><Relationship Id="rId56" Type="http://schemas.openxmlformats.org/officeDocument/2006/relationships/slide" Target="slides/slide2.xml"/><Relationship Id="rId57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20 分钟</a:t>
            </a:r>
          </a:p>
          <a:p>
            <a:r>
              <a:t>定义：这一讲讲 SOLID 五条、依赖注入与控制反转，以及对象关系映射。</a:t>
            </a:r>
          </a:p>
          <a:p>
            <a:r>
              <a:t>代价：原则和框架名缠在一起，换一种实现就讲不下去。</a:t>
            </a:r>
          </a:p>
          <a:p>
            <a:r>
              <a:t>判定：开场先点明这是第 7 次课，讲体系结构设计的后半。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定义：这一页把本次目标和课次衔接放在一起（教案三块：SOLID 五条的判定与取舍；控制反转与依赖注入；阻抗失配与数据源模式）：上一讲的分层与约束，实验 E3 的验收准则，引出实验 E4。</a:t>
            </a:r>
          </a:p>
          <a:p>
            <a:r>
              <a:t>代价：不衔接的话，注入和映射会像一套新名词，接不上已经写过的验收准则。</a:t>
            </a:r>
          </a:p>
          <a:p>
            <a:r>
              <a:t>判定：能否说出两项目标，并指出实验 E4 要在特征测试保护下做局部重构。</a:t>
            </a:r>
          </a:p>
          <a:p>
            <a:r>
              <a:t>权衡：时间紧时先保住依赖注入与依赖倒置的区分。本课预习题在布置里逐题讲评。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本节 25 分钟</a:t>
            </a:r>
          </a:p>
          <a:p>
            <a:r>
              <a:t>定义：依赖倒置规定依赖方向；控制反转把创建权和控制权交出去；依赖注入是落实控制反转的常用手段，也可以用来落实依赖倒置。</a:t>
            </a:r>
          </a:p>
          <a:p>
            <a:r>
              <a:t>代价：把三个词当成同义词，会分不清是方向错了，还是创建权还在调用方手里。</a:t>
            </a:r>
          </a:p>
          <a:p>
            <a:r>
              <a:t>判定：问这段代码约束的是依赖指向谁，还是谁来创建对象。</a:t>
            </a:r>
          </a:p>
          <a:p>
            <a:r>
              <a:t>权衡：注入能同时服务这两件事，换容器并不改变依赖方向。见 Fowler《IoC 容器与依赖注入》；依赖倒置的讲法对应 2024 第 7-3 讲第 14 页。左侧图按 2024 第 7-3 讲第 17 页重画：商品类只依赖打折接口，打折方案的具体实现去实现这个接口。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定义：使用方只表明要什么；注册和组装集中在靠近入口的组合根。</a:t>
            </a:r>
          </a:p>
          <a:p>
            <a:r>
              <a:t>代价：每个类自己 new 依赖，换实现就要改所有使用方。</a:t>
            </a:r>
          </a:p>
          <a:p>
            <a:r>
              <a:t>判定：问 new 或注册出现在业务方法里，还是只出现在入口附近。</a:t>
            </a:r>
          </a:p>
          <a:p>
            <a:r>
              <a:t>权衡：依赖集中可见，入口的注册表会变长。组合根只做组装，不写订单规则。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定义：第 34–41 行是四个完整字段：注解和字段成对，容器填入的就是这四个协作对象。</a:t>
            </a:r>
          </a:p>
          <a:p>
            <a:r>
              <a:t>代价：依赖不在构造参数里，读类签名不知道它要哪些协作对象。</a:t>
            </a:r>
          </a:p>
          <a:p>
            <a:r>
              <a:t>判定：看是不是四组 @Autowired 加私有字段，行号到第 41 行的优惠券字段为止。</a:t>
            </a:r>
          </a:p>
          <a:p>
            <a:r>
              <a:t>权衡：字段少写构造函数；测试不能在 new 的时候把替身传进来。行号与基线 baseline-dcaa93b3 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定义：课程说的三种方式是构造函数、Setter 和字段；组合根是唯一集中组装的地方。</a:t>
            </a:r>
          </a:p>
          <a:p>
            <a:r>
              <a:t>代价：三种混在一个类里，测试要同时准备容器、setter 和构造参数。</a:t>
            </a:r>
          </a:p>
          <a:p>
            <a:r>
              <a:t>判定：问依赖出现在参数、setter 还是字段，注册是否只在入口。</a:t>
            </a:r>
          </a:p>
          <a:p>
            <a:r>
              <a:t>权衡：构造函数把依赖一次说完；字段注入写起来短，替换时要绕开构造函数。Setter 可以后补，对象会有一段依赖还不齐。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定义：注入是把依赖送进来；服务定位器是使用方自己去要。</a:t>
            </a:r>
          </a:p>
          <a:p>
            <a:r>
              <a:t>代价：定位器藏在方法体里，换实现或写测试都要先碰到那个全局入口。</a:t>
            </a:r>
          </a:p>
          <a:p>
            <a:r>
              <a:t>判定：问协作对象是参数或字段已经带着，还是方法执行到一半才去要。</a:t>
            </a:r>
          </a:p>
          <a:p>
            <a:r>
              <a:t>权衡：定位器少改构造函数，依赖关系从签名上消失。对照见 Fowler《IoC 容器与依赖注入》。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定义：Spring 这一侧是字段注入；2024 课件里的 Autofac 在解析窗体时走构造函数。</a:t>
            </a:r>
          </a:p>
          <a:p>
            <a:r>
              <a:t>代价：把容器的类名当成原理，换一门语言就好像要重学一遍。</a:t>
            </a:r>
          </a:p>
          <a:p>
            <a:r>
              <a:t>判定：问依赖是写在字段上由容器填，还是写在构造函数里由容器传入。</a:t>
            </a:r>
          </a:p>
          <a:p>
            <a:r>
              <a:t>权衡：字段注入少改构造函数；构造函数注入在 new 的时候就能换实现。Autofac 按注册创建接口的实现并传给窗体。材料是 2024 第 8-3 讲第 13–18 页，不涉及具体业务名称。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定义：特征测试要在不改被测类的前提下替换协作对象；构造函数把这个口子留在参数上。</a:t>
            </a:r>
          </a:p>
          <a:p>
            <a:r>
              <a:t>代价：字段是私有的时候，测试要么反射去改，要么把整个容器拉起来。</a:t>
            </a:r>
          </a:p>
          <a:p>
            <a:r>
              <a:t>判定：问替身是 new 的时候传入的，还是事后改私有字段。</a:t>
            </a:r>
          </a:p>
          <a:p>
            <a:r>
              <a:t>权衡：下单服务现在是字段注入。本课预习已经把这种方式列为最难写特征测试的一种，下一页请学生自己说原因。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节：依赖注入与控制反转</a:t>
            </a:r>
          </a:p>
          <a:p>
            <a:r>
              <a:t>时长见本节首页（本节 25 分钟）</a:t>
            </a:r>
          </a:p>
          <a:p>
            <a:r>
              <a:t>定义：讨论哪一种注入让特征测试更容易替换协作对象，并说出原因。</a:t>
            </a:r>
          </a:p>
          <a:p>
            <a:r>
              <a:t>代价：只答一个名字，不说测试怎么把替身放进去，下一讲的接缝还是对不上。</a:t>
            </a:r>
          </a:p>
          <a:p>
            <a:r>
              <a:t>判定：回答要选一种，并说明测试是否必须启动容器或改私有字段。</a:t>
            </a:r>
          </a:p>
          <a:p>
            <a:r>
              <a:t>权衡：构造函数注入在创建时传入替身；字段注入的依赖在私有字段上。课上先听学生的理由。</a:t>
            </a:r>
          </a:p>
          <a:p>
            <a:r>
              <a:t>参考要点：构造函数注入可以在创建时传入替身，不必启动容器；字段注入要靠反射或容器才能替换私有字段上的依赖。</a:t>
            </a:r>
          </a:p>
          <a:p>
            <a:r>
              <a:t>依据：大纲「依赖注入与控制反转」；回扣本课预习：最难写特征测试的是字段注入。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本节 20 分钟</a:t>
            </a:r>
          </a:p>
          <a:p>
            <a:r>
              <a:t>定义：阻抗失配是对象模型和关系模型对不齐：类、属性、关联，对上表、行和外键。</a:t>
            </a:r>
          </a:p>
          <a:p>
            <a:r>
              <a:t>代价：当成同一件事，改一个属性名就会以为表结构自动跟着变，或反过来。</a:t>
            </a:r>
          </a:p>
          <a:p>
            <a:r>
              <a:t>判定：问这一处改的是内存里的对象关系，还是表里的行和外键。</a:t>
            </a:r>
          </a:p>
          <a:p>
            <a:r>
              <a:t>权衡：映射填上这条缝，领域语言和表结构就可以不一样。对象侧的讲法来自 2024 第 8-4 讲第 12 页，不涉及具体业务名称。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定义：四种模式差在 SQL 和领域对象各放在哪；模型和表越不像，越不该让对象自己保存。</a:t>
            </a:r>
          </a:p>
          <a:p>
            <a:r>
              <a:t>代价：模型和表已经分叉还用活动记录，领域对象会长满列名和 SQL。</a:t>
            </a:r>
          </a:p>
          <a:p>
            <a:r>
              <a:t>判定：问保存方法在领域对象上，还是在单独的入口或映射器上。</a:t>
            </a:r>
          </a:p>
          <a:p>
            <a:r>
              <a:t>权衡：表数据入口简单，领域语言弱；数据映射器让模型干净，多一层要维护。名称与适用场合见 Fowler《企业应用架构模式》。mall 的写入在 Mapper 和手写 Dao 上，实体方法里看不到保存。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定义：工作单元把一次业务里的写入合成一次提交；标识映射和延迟加载是两项配套。事务边界是本例证据，不等于完整的工作单元实现。</a:t>
            </a:r>
          </a:p>
          <a:p>
            <a:r>
              <a:t>代价：没有工作单元，库存锁了、订单没写成，库里会留下半截。</a:t>
            </a:r>
          </a:p>
          <a:p>
            <a:r>
              <a:t>判定：问这些写入是一次提交，还是每次调用各自提交；同一行在这次业务里是不是同一份对象。</a:t>
            </a:r>
          </a:p>
          <a:p>
            <a:r>
              <a:t>权衡：绑在一起，要么全成要么全撤；事务会变长。看到服务上的事务，还不能说标识映射和延迟加载已经配齐。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定义：一次生成订单里要锁库存、写订单与明细、改优惠券、扣积分，大纲把这四步看作同一笔业务。</a:t>
            </a:r>
          </a:p>
          <a:p>
            <a:r>
              <a:t>代价：四步拆成四次提交，中间失败会留下锁了库存却没有订单的数据。</a:t>
            </a:r>
          </a:p>
          <a:p>
            <a:r>
              <a:t>判定：问这四步是不是同一个方法里的连续调用，事务注在这个方法上还是注在每一次插入上。</a:t>
            </a:r>
          </a:p>
          <a:p>
            <a:r>
              <a:t>权衡：放在一个方法里，一致性好讲；方法也因此变长。删购物车在第 243 行，发延迟消息在第 245 行，也在这个方法里。锁库存第 165 行，插入订单第 224 行，插入明细第 229 行，优惠券第 232 行，积分第 240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定义：事务由服务接口承担；明细插入的 SQL 写在门户自己的 Dao XML 里。</a:t>
            </a:r>
          </a:p>
          <a:p>
            <a:r>
              <a:t>代价：把事务注在每一次 insert 上，四步就会变成四次提交，中间失败留半截数据。</a:t>
            </a:r>
          </a:p>
          <a:p>
            <a:r>
              <a:t>判定：接口第 26 行有没有 @Transactional；实现类第 94 行的签名上有没有；XML 第 4 行是不是 insertList。</a:t>
            </a:r>
          </a:p>
          <a:p>
            <a:r>
              <a:t>权衡：注解在接口上，运行时仍包住整个方法。手写 SQL 能一次插入多行明细，生成器的单表 Mapper 不承担这句。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定义：mall-mbg 生成 Example。第 359 行创建 OmsOrderExample，第 360 行 createCriteria() 创建条件对象 Criteria，第 361–366 行写下删除标记、会员和可选状态，第 367 行 selectByExample() 交给 Mapper。</a:t>
            </a:r>
          </a:p>
          <a:p>
            <a:r>
              <a:t>代价：把条件字符串散落在各处，改一个状态值要搜很多句 SQL。</a:t>
            </a:r>
          </a:p>
          <a:p>
            <a:r>
              <a:t>判定：框里第 359 行是否 new 了 OmsOrderExample；第 361 行起是否在写删除标记和会员。两个调用写在要点里，避免整行折开。</a:t>
            </a:r>
          </a:p>
          <a:p>
            <a:r>
              <a:t>权衡：第 360 行和第 367 行各自超过代码框一行的宽度，放进框里会把调用折开，所以框里只保留创建和条件。这段是列表查询，不是生成订单那一个事务。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定义：MyBatis 把 SQL 留在映射里；2024 课件用 Entity Framework 把类映射到表。</a:t>
            </a:r>
          </a:p>
          <a:p>
            <a:r>
              <a:t>代价：以为两种都是“对象一点就进库”，会漏掉谁来写 SQL、谁来跟踪改动。</a:t>
            </a:r>
          </a:p>
          <a:p>
            <a:r>
              <a:t>判定：问 SQL 是业务旁边的映射文件，还是由映射规则和上下文生成。</a:t>
            </a:r>
          </a:p>
          <a:p>
            <a:r>
              <a:t>权衡：SQL 映射改语句直接；全映射少写 SQL，迁移和上下文要单独维护。Entity Framework 一侧见 2024 第 8-4 讲第 12–22 页：类与表的映射、用迁移初始化、仓储实现接口。不涉及具体业务名称。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定义：业务修改先问它穿过计算、SQL 还是查询条件，再问事务是否仍由服务上的那一个注解承担。</a:t>
            </a:r>
          </a:p>
          <a:p>
            <a:r>
              <a:t>代价：改列名只改了实体没改手写 SQL，插入会在运行时对不上。</a:t>
            </a:r>
          </a:p>
          <a:p>
            <a:r>
              <a:t>判定：问这次改动落在 generateOrder 的计算、Dao XML，还是 Example 的条件。</a:t>
            </a:r>
          </a:p>
          <a:p>
            <a:r>
              <a:t>权衡：计算留在服务里，事务边界不用动；改 SQL 要同时看生成代码和手写文件两处。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节：对象关系映射</a:t>
            </a:r>
          </a:p>
          <a:p>
            <a:r>
              <a:t>时长见本节首页（本节 20 分钟）</a:t>
            </a:r>
          </a:p>
          <a:p>
            <a:r>
              <a:t>定义：这一讲收成两句：SOLID 要看证据，注入、映射的修改位置要说得出。</a:t>
            </a:r>
          </a:p>
          <a:p>
            <a:r>
              <a:t>代价：只记住模式名字，下次实验仍不知道特征测试要固定哪一段行为。</a:t>
            </a:r>
          </a:p>
          <a:p>
            <a:r>
              <a:t>判定：能否各用一句说出 SOLID 的证据、依赖注入、事务归谁。</a:t>
            </a:r>
          </a:p>
          <a:p>
            <a:r>
              <a:t>权衡：实验 E4 在特征测试保护下做局部重构；预习题和阅读在下一节。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20 分钟（并入上一节）</a:t>
            </a:r>
          </a:p>
          <a:p>
            <a:r>
              <a:t>题目页</a:t>
            </a:r>
          </a:p>
          <a:p>
            <a:r>
              <a:t>答案：1A 2D 3A</a:t>
            </a:r>
          </a:p>
          <a:p>
            <a:r>
              <a:t>定义：这三题问哪种注入让特征测试难写、事务归属是什么决策、新增券范围改三个文件违背哪条原则。</a:t>
            </a:r>
          </a:p>
          <a:p>
            <a:r>
              <a:t>代价：未做的话，课上分不清注入方式的差别，也判不出开闭原则被违背。</a:t>
            </a:r>
          </a:p>
          <a:p>
            <a:r>
              <a:t>判定：字段注入最难替换依赖；事务由哪一层承担是体系结构决策；新增一种范围要改三个文件，说明没有做到对扩展开放、对修改关闭。</a:t>
            </a:r>
          </a:p>
          <a:p>
            <a:r>
              <a:t>权衡：开闭与单一职责在 SOLID 一节以优惠券适用范围展开（实验 E4 的教师示例）。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答案：4B 5C</a:t>
            </a:r>
          </a:p>
          <a:p>
            <a:r>
              <a:t>定义：第 4 题问把模型当不可靠组件时的设计目标；第 5 题问护栏用什么实现。</a:t>
            </a:r>
          </a:p>
          <a:p>
            <a:r>
              <a:t>代价：指望把模型训练到零错误，就不会去设计护栏与降级。</a:t>
            </a:r>
          </a:p>
          <a:p>
            <a:r>
              <a:t>判定：目标是模型出错时系统的整体目标仍成立；护栏尽量用非 AI 的硬性手段。</a:t>
            </a:r>
          </a:p>
          <a:p>
            <a:r>
              <a:t>权衡：预读先看特征测试和接缝那两章，实验课上再动手。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节：布置</a:t>
            </a:r>
          </a:p>
          <a:p>
            <a:r>
              <a:rPr lang="zh-CN" dirty="0"/>
              <a:t>时长见本节首页（本节 20 分钟（并入上一节））</a:t>
            </a:r>
          </a:p>
          <a:p>
            <a:r>
              <a:rPr lang="zh-CN" dirty="0"/>
              <a:t>依据：教案 T4“复习思考及作业”第 2 条课后阅读与 E4 前预读。</a:t>
            </a:r>
          </a:p>
          <a:p>
            <a:r>
              <a:rPr lang="zh-CN" dirty="0"/>
              <a:t>定义：课后按作业第 2 条读这些文献；实验 E4 前先读 Feathers《修改代码的艺术》第 4、13 章。</a:t>
            </a:r>
          </a:p>
          <a:p>
            <a:r>
              <a:rPr lang="zh-CN" dirty="0"/>
              <a:t>代价：不读依赖注入那篇，模式名字会和某一种框架绑死。</a:t>
            </a:r>
          </a:p>
          <a:p>
            <a:r>
              <a:rPr lang="zh-CN" dirty="0"/>
              <a:t>判定：页上的编号与题名与教案逐项一致。</a:t>
            </a:r>
          </a:p>
          <a:p>
            <a:r>
              <a:rPr lang="zh-CN" dirty="0"/>
              <a:t>权衡：先读 [37] 与 [7] 第 3 章，[39] 选读，用来区分原理与框架实现。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节：本次课目标</a:t>
            </a:r>
          </a:p>
          <a:p>
            <a:r>
              <a:rPr lang="zh-CN" dirty="0"/>
              <a:t>依据：教案 T4“重点与难点”（逐字）。</a:t>
            </a:r>
          </a:p>
          <a:p>
            <a:r>
              <a:rPr lang="zh-CN" dirty="0"/>
              <a:t>定义：重点是三块内容：SOLID、控制反转与依赖注入、数据源模式；难点落在“原理与实现的区分”上。</a:t>
            </a:r>
          </a:p>
          <a:p>
            <a:r>
              <a:rPr lang="zh-CN" dirty="0"/>
              <a:t>代价：难点不讲透，学生会把 Spring 的注解当成依赖倒置本身。</a:t>
            </a:r>
          </a:p>
          <a:p>
            <a:r>
              <a:rPr lang="zh-CN" dirty="0"/>
              <a:t>判定：讲完本讲，学生能用一句话说出依赖注入与依赖倒置的关系。</a:t>
            </a:r>
          </a:p>
          <a:p>
            <a:r>
              <a:rPr lang="zh-CN" dirty="0"/>
              <a:t>权衡：时间紧时先保住依赖注入与依赖倒置的关系。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节：SOLID 五条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依据：E2 课件第 18、19 页（事实卡 E2 G4、G19：OrderCancellation，修改点 2→1，构造参数 6→7，ADR 比较两种最小方案）；T5 课件第 24 页（开闭：加范围可以不改循环，登记仍要改）；教案 E4 实验目标（E4-00 把优惠券范围分支重构为策略模式）。</a:t>
            </a:r>
          </a:p>
          <a:p>
            <a:r>
              <a:rPr lang="zh-CN" dirty="0"/>
              <a:t>定义：原则之间会冲突：单一职责与 DRY 主张拆分、集中，KISS 主张少一层；开闭主张留扩展点，YAGNI 主张不为将来建。</a:t>
            </a:r>
          </a:p>
          <a:p>
            <a:r>
              <a:rPr lang="zh-CN" dirty="0"/>
              <a:t>代价：只按一条原则判，拆得越细越“对”，类和跳转会越来越多。</a:t>
            </a:r>
          </a:p>
          <a:p>
            <a:r>
              <a:rPr lang="zh-CN" dirty="0"/>
              <a:t>判定：取舍要写出当前需求下的理由，例如补偿项会不会继续增加、优惠券范围会不会继续增加。</a:t>
            </a:r>
          </a:p>
          <a:p>
            <a:r>
              <a:rPr lang="zh-CN" dirty="0"/>
              <a:t>权衡：E2-00 的取舍理由写在它的决策记录里；E4-00 在实验里比较策略模式与只提取方法两种做法。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节：SOLID 五条</a:t>
            </a:r>
          </a:p>
          <a:p>
            <a:r>
              <a:rPr lang="zh-CN" dirty="0"/>
              <a:t>本节 20 分钟</a:t>
            </a:r>
          </a:p>
          <a:p>
            <a:r>
              <a:rPr lang="zh-CN" dirty="0"/>
              <a:t>依据：工具/polish/来源卡原文/ood.txt（Martin，The Principles of OOD：“A class should have one, and only one, reason to change.”“You should be able to extend a classes behavior, without modifying it.”“Derived classes must be substitutable for their base classes.”“Make fine grained interfaces that are client specific.”“Depend on abstractions, not on concretions.”）；基线 OmsPortalOrderServiceImpl.java:34–41、94、253、297、337、353（全文 775 行）；UmsMemberCouponServiceImpl.java:127、137、150；PmsProductServiceImpl.java:72–74；mall-common RedisService.java:11–182（34 个方法声明），应用代码 redisService 调用只有 set、get、del、incr。</a:t>
            </a:r>
          </a:p>
          <a:p>
            <a:r>
              <a:rPr lang="zh-CN" dirty="0"/>
              <a:t>定义：SOLID 是面向对象设计的五条基本原则：单一职责、开闭、里氏替换、接口隔离、依赖倒置，每条一句定义，各配一处 mall 证据。</a:t>
            </a:r>
          </a:p>
          <a:p>
            <a:r>
              <a:rPr lang="zh-CN" dirty="0"/>
              <a:t>代价：只背定义不落到代码，判定时会凭感觉说“违背了单一职责”，说不出是哪几个变化理由挤在一起。</a:t>
            </a:r>
          </a:p>
          <a:p>
            <a:r>
              <a:rPr lang="zh-CN" dirty="0"/>
              <a:t>判定：单一职责数变化理由；开闭看加一种情况要不要改已有方法；里氏替换看子类能否原样顶替基类；接口隔离看使用方用到接口的几成；依赖倒置看字段与参数的类型是接口还是实现类。</a:t>
            </a:r>
          </a:p>
          <a:p>
            <a:r>
              <a:rPr lang="zh-CN" dirty="0"/>
              <a:t>权衡：证据有的是违背（单一职责、开闭、接口隔离），有的是遵守（里氏替换、依赖倒置）；依赖倒置与依赖注入的关系在下一节展开。</a:t>
            </a:r>
          </a:p>
          <a:p>
            <a:r>
              <a:t>开闭一行的证据就是实验 E4 的教师示例 E4-00（Issue #20）：useType 判定写在 UmsMemberCouponServiceImpl（第 124 行起）、OmsPortalOrderServiceImpl（第 639–646 行）、SmsCouponServiceImpl（第 45、52、89、97 行）三个文件，新增一种范围要改三处；本讲识别与评估，E4 在特征测试保护下重构。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7 次课｜体系结构设计（二）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SOLID 五条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依赖注入与控制反转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对象关系映射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0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17904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body"/>
          <p:cNvSpPr/>
          <p:nvPr/>
        </p:nvSpPr>
        <p:spPr>
          <a:xfrm>
            <a:off x="411480" y="1810512"/>
            <a:ext cx="83210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承接上一讲的分层与不得修改的部分，以及实验 E3 先写验收准则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572000" y="2514600"/>
            <a:ext cx="9144" cy="431800"/>
          </a:xfrm>
          <a:custGeom>
            <a:avLst/>
            <a:gdLst/>
            <a:ahLst/>
            <a:cxnLst/>
            <a:rect l="0" t="0" r="r" b="b"/>
            <a:pathLst>
              <a:path w="9144" h="4318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48640" y="357784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097280" y="2971800"/>
            <a:ext cx="3383280" cy="1651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 SOLID 判定，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分清依赖方向与注入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800600" y="357784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349240" y="2971800"/>
            <a:ext cx="3383280" cy="1651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一次修改穿过哪一层，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事务归谁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重点与难点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737360"/>
          <a:ext cx="8503920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1600"/>
                <a:gridCol w="7132320"/>
              </a:tblGrid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内容（教案原句）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SOLID五条原则；控制反转与依赖注入；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数据源架构模式。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18872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难点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区分设计原理与具体框架的实现；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20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依赖注入与依赖倒置的关系。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SOLID 五条的定义与 mall 证据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325880"/>
          <a:ext cx="8412480" cy="3840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/>
                <a:gridCol w="2651760"/>
                <a:gridCol w="4754880"/>
              </a:tblGrid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一句定义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mall 证据（基线 baseline-dcaa93b3）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单一职责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一个类只有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一个变化的理由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 共 775 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下单、支付、取消、确认收货、列表都在此类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不改已有代码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就能扩展行为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UmsMemberCouponServiceImpl:127–150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按适用范围三路分支，加一种范围要改此方法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里氏替换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子类必须能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替换基类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PmsProductServiceImpl:72–74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子类 PmsProductParam 只加字段，当基类入库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接口隔离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接口要细，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按使用方划分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RedisService 声明 34 个方法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应用代码只调用 set、get、del、incr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依赖倒置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依赖抽象，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不依赖具体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OmsPortalOrderServiceImpl:34–41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下单服务的四个字段都是服务接口类型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fn"/>
          <p:cNvSpPr txBox="1"/>
          <p:nvPr/>
        </p:nvSpPr>
        <p:spPr>
          <a:xfrm>
            <a:off x="365760" y="5852160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000" b="0" lang="zh-CN" altLang="en-US">
                <a:latin typeface="微软雅黑"/>
                <a:ea typeface="微软雅黑"/>
                <a:cs typeface="微软雅黑"/>
              </a:rPr>
              <a:t>定义：Robert C. Martin《The Principles of OOD》（中文为本课译述）；证据：基线 baseline-dcaa93b3 源码</a:t>
            </a:r>
          </a:p>
        </p:txBody>
      </p:sp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SOLID 五条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原则之间的冲突与取舍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32588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原则之间会冲突：选哪一边，要写出当前需求下的理由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1874520"/>
            <a:ext cx="160020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冲突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103120" y="1874520"/>
            <a:ext cx="374904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mall 中的例子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943600" y="1874520"/>
            <a:ext cx="2788920" cy="411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取舍要写出的理由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2377440"/>
            <a:ext cx="160020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单一职责、DRY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对 KISS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2103120" y="237744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E2-00 把取消与补偿收进 OrderCancellation：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补偿写入点 2 处变 1 处；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多一个类，构造参数 6→7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943600" y="2377440"/>
            <a:ext cx="278892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补偿项还会增加；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拆出类后只改一处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（E2-00 的决策记录）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023360"/>
            <a:ext cx="1600200" cy="1554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开闭 对 YAGNI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2103120" y="4023360"/>
            <a:ext cx="3749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优惠券范围三路分支最直白；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E4-00 改成策略后，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加一种范围不改循环，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但登记仍要改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0" y="4023360"/>
            <a:ext cx="2788920" cy="1554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范围确实在增加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才引入策略；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只有三种且不变时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分支更简单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SOLID 五条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依赖注入的方向与创建权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1691640"/>
            <a:ext cx="256032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商品类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828800" y="2240280"/>
            <a:ext cx="9144" cy="457200"/>
          </a:xfrm>
          <a:custGeom>
            <a:avLst/>
            <a:gdLst/>
            <a:ahLst/>
            <a:cxnLst/>
            <a:rect l="0" t="0" r="r" b="b"/>
            <a:pathLst>
              <a:path w="9144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920240" y="233172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48640" y="2697480"/>
            <a:ext cx="256032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«接口» 打折接口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728216" y="3246120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828800" y="3410712"/>
            <a:ext cx="9144" cy="566928"/>
          </a:xfrm>
          <a:custGeom>
            <a:avLst/>
            <a:gdLst/>
            <a:ahLst/>
            <a:cxnLst/>
            <a:rect l="0" t="0" r="r" b="b"/>
            <a:pathLst>
              <a:path w="9144" h="566928" fill="none">
                <a:moveTo>
                  <a:pt x="0" y="0"/>
                </a:moveTo>
                <a:lnTo>
                  <a:pt x="0" y="566928"/>
                </a:lnTo>
              </a:path>
            </a:pathLst>
          </a:custGeom>
          <a:noFill/>
          <a:ln w="12700">
            <a:solidFill>
              <a:srgbClr val="A33B38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920240" y="3520440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977640"/>
            <a:ext cx="2834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打折方案具体实现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3611880" y="1691640"/>
            <a:ext cx="5120640" cy="749808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依赖倒置规定方向：调用方依赖抽象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069080" y="2450592"/>
            <a:ext cx="137160" cy="192024"/>
          </a:xfrm>
          <a:custGeom>
            <a:avLst/>
            <a:gdLst/>
            <a:ahLst/>
            <a:cxnLst/>
            <a:rect l="0" t="0" r="r" b="b"/>
            <a:pathLst>
              <a:path w="137160" h="192024" fill="none">
                <a:moveTo>
                  <a:pt x="0" y="0"/>
                </a:moveTo>
                <a:lnTo>
                  <a:pt x="137160" y="19202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3749040" y="2651760"/>
            <a:ext cx="498348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控制反转交出创建权和控制权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206240" y="3410712"/>
            <a:ext cx="137160" cy="192024"/>
          </a:xfrm>
          <a:custGeom>
            <a:avLst/>
            <a:gdLst/>
            <a:ahLst/>
            <a:cxnLst/>
            <a:rect l="0" t="0" r="r" b="b"/>
            <a:pathLst>
              <a:path w="137160" h="192024" fill="none">
                <a:moveTo>
                  <a:pt x="0" y="0"/>
                </a:moveTo>
                <a:lnTo>
                  <a:pt x="137160" y="19202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3886200" y="3611880"/>
            <a:ext cx="4846320" cy="749808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依赖注入是落实控制反转的常用手段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023360" y="4572000"/>
            <a:ext cx="47091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注入同时可以落实依赖倒置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7-3 讲第 17 页（依赖倒置：商品类依赖打折接口）重画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配置与使用分开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3566160" cy="54864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使用方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24028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只声明要哪个接口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333756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方法里不自己 new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4434840"/>
            <a:ext cx="356616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签名或字段露出依赖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212080" y="1572768"/>
            <a:ext cx="3566160" cy="5486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组合根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212080" y="224028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靠近程序入口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5212080" y="333756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注册接口的实现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212080" y="4434840"/>
            <a:ext cx="356616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把对象图组装好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977640" y="3749040"/>
            <a:ext cx="1188720" cy="9144"/>
          </a:xfrm>
          <a:custGeom>
            <a:avLst/>
            <a:gdLst/>
            <a:ahLst/>
            <a:cxnLst/>
            <a:rect l="0" t="0" r="r" b="b"/>
            <a:pathLst>
              <a:path w="1188720" h="9144" fill="none">
                <a:moveTo>
                  <a:pt x="1188720" y="0"/>
                </a:moveTo>
                <a:lnTo>
                  <a:pt x="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950208" y="3291840"/>
            <a:ext cx="12435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组装后送入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三种注入与组合根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构造函数注入：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依赖写在参数上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218688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Setter 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对象先建好再设入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6025896" y="1691640"/>
            <a:ext cx="2697480" cy="21945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字段注入：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注解标在字段上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组合根只在入口完成注册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注入与服务定位器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依赖注入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服务定位器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48640" y="233172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外部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017520" y="2331720"/>
            <a:ext cx="128016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对象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847088" y="2560320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0" y="0"/>
                </a:moveTo>
                <a:lnTo>
                  <a:pt x="115214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874520" y="221284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A33B38"/>
                </a:solidFill>
                <a:latin typeface="微软雅黑"/>
                <a:ea typeface="微软雅黑"/>
              </a:rPr>
              <a:t>送入依赖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846320" y="2331720"/>
            <a:ext cx="128016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对象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315200" y="2331720"/>
            <a:ext cx="12801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定位器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144768" y="2487168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0" y="0"/>
                </a:moveTo>
                <a:lnTo>
                  <a:pt x="1152144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144768" y="2670048"/>
            <a:ext cx="1152144" cy="9144"/>
          </a:xfrm>
          <a:custGeom>
            <a:avLst/>
            <a:gdLst/>
            <a:ahLst/>
            <a:cxnLst/>
            <a:rect l="0" t="0" r="r" b="b"/>
            <a:pathLst>
              <a:path w="1152144" h="9144" fill="none">
                <a:moveTo>
                  <a:pt x="1152144" y="0"/>
                </a:moveTo>
                <a:lnTo>
                  <a:pt x="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172200" y="2121408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要依赖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365760" y="306324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依赖从外面送入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365760" y="393192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参数或字段可见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365760" y="4800600"/>
            <a:ext cx="4114800" cy="74980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测试直接传入替身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4663440" y="306324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方法里向定位器要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663440" y="393192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签名上看不见依赖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4800600"/>
            <a:ext cx="4114800" cy="74980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测试先配置定位器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门户下单的字段注入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会员、购物车、地址和优惠券四个字段成对出现，由容器填入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UmsMemberService memberService;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OmsCartItemService cartItemService;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UmsMemberReceiveAddressService memberReceiveAddressService;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@Autowired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UmsMemberCouponService memberCouponService;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451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出处：mall-portal/​src/​main/​java/​com/​macro/​mall/​portal/​service/​impl/​OmsPortalOrderServiceImpl.java:​34-41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横向比较 Spring 与 Autofac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两边都由容器创建对象，使用方不自己 new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Spring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Autofac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门户的下单服务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C# 的 WinForm 窗体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注解标在字段上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构造函数接收接口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启动后把字段填上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按注册创建并传入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替换依赖的两条路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特征测试要换掉协作对象，又不能改被测类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0574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构造函数注入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60320"/>
            <a:ext cx="822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252728" y="28346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463040" y="2377440"/>
            <a:ext cx="2377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创建时传入替身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858768" y="28346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069080" y="2377440"/>
            <a:ext cx="23774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不必把容器启动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629400" y="237744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依赖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在参数里可见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36576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595959"/>
                </a:solidFill>
                <a:latin typeface="微软雅黑"/>
                <a:ea typeface="微软雅黑"/>
              </a:rPr>
              <a:t>字段注入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160520"/>
            <a:ext cx="8229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1252728" y="44348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1463040" y="3977640"/>
            <a:ext cx="2377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要靠反射或容器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858768" y="4434840"/>
            <a:ext cx="210312" cy="9144"/>
          </a:xfrm>
          <a:custGeom>
            <a:avLst/>
            <a:gdLst/>
            <a:ahLst/>
            <a:cxnLst/>
            <a:rect l="0" t="0" r="r" b="b"/>
            <a:pathLst>
              <a:path w="210312" h="9144" fill="none">
                <a:moveTo>
                  <a:pt x="0" y="0"/>
                </a:moveTo>
                <a:lnTo>
                  <a:pt x="2103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069080" y="3977640"/>
            <a:ext cx="23774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字段多半是私有的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6629400" y="3977640"/>
            <a:ext cx="2103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下单服务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就是这种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字段注入与构造函数注入，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哪一种让特征测试更好写？为什么？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依赖注入与控制反转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对象和表对不齐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这里的对应是属性和字段，不是页面上的状态绑定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对象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关系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类用来描述结构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表用来描述结构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属性承载取值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一行是一条记录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还有关联和继承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一对多靠外键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对象关系映射的四种数据源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011680" cy="301752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表数据入口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一张表对应一个入口对象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SQL 集中在该对象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514600" y="1691640"/>
            <a:ext cx="2011680" cy="3017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行数据入口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一行一个对象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适合逐行修改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17720" y="1691640"/>
            <a:ext cx="2011680" cy="301752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活动记录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领域对象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自己保存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模型和表很接近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6720840" y="1691640"/>
            <a:ext cx="2011680" cy="30175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数据映射器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领域对象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不知道表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模型和表差得远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502920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2857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5120640"/>
            <a:ext cx="3200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模型与表越来越不像 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工作单元与两项配套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事务边界是本例证据，不等于完整的工作单元实现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2697480" cy="1828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工作单元：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一次业务的改动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一起提交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218688" y="2331720"/>
            <a:ext cx="269748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标识映射：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同一主键只留一份对象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6025896" y="2331720"/>
            <a:ext cx="269748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延迟加载：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用到关联时再去读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434840"/>
            <a:ext cx="8321040" cy="77724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下单能指到的是服务上的事务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下单方法里的多次写入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这些写入都在 generateOrder 里面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286000"/>
            <a:ext cx="8321040" cy="2926080"/>
          </a:xfrm>
          <a:prstGeom prst="rect">
            <a:avLst/>
          </a:prstGeom>
          <a:solidFill>
            <a:srgbClr val="FBF3F2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48640" y="2359152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generateOrder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2588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008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先锁库存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47802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33756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265176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再写订单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和明细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48970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34924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66344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然后更新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优惠券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6501384" y="4160520"/>
            <a:ext cx="164592" cy="9144"/>
          </a:xfrm>
          <a:custGeom>
            <a:avLst/>
            <a:gdLst/>
            <a:ahLst/>
            <a:cxnLst/>
            <a:rect l="0" t="0" r="r" b="b"/>
            <a:pathLst>
              <a:path w="164592" h="9144" fill="none">
                <a:moveTo>
                  <a:pt x="0" y="0"/>
                </a:moveTo>
                <a:lnTo>
                  <a:pt x="164592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7360920" y="2880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6675120" y="3474720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并扣掉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使用的积分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事务在接口，SQL 在手写文件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事务注解写在服务接口的 generateOrder 上，实现类第 94 行并没有这个注解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订单明细用门户手写的 insert 语句入库，不靠生成器代写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@Transactional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Map&lt;String,​ Object&gt; ​generateOrder(​OrderParam orderParam);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出处：mall-portal/​src/​main/​java/​com/​macro/​mall/​portal/​service/​OmsPortalOrderService.java:​26-27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40480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​&lt;insert id="insertList"&gt;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insert into oms_order_item (​order_id,​ order_sn,​ product_id,​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5720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出处：mall-portal/​src/​main/​resources/​dao/​PortalOrderItemDao.xml:​4-5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条件用生成的 Example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360 行 createCriteria() 取得条件，第 367 行 selectByExample() 提交查询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未删除、当前会员，以及可选的订单状态，都写在条件上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43891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OmsOrderExample orderExample ​= ​new OmsOrderExample(​);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29184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出处：mall-portal/​src/​main/​java/​com/​macro/​mall/​portal/​service/​impl/​OmsPortalOrderServiceImpl.java:​359-359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66160"/>
            <a:ext cx="8138160" cy="1810511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criteria.​andDeleteStatusEqualTo(​0)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.​andMemberIdEqualTo(​member.​getId(​));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if(​status!=null){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criteria.​andStatusEqualTo(​status);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orderExample.​setOrderByClause(​"create_time desc");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53949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出处：mall-portal/​src/​main/​java/​com/​macro/​mall/​portal/​service/​impl/​OmsPortalOrderServiceImpl.java:​361-366</a:t>
            </a:r>
          </a:p>
        </p:txBody>
      </p:sp>
      <p:sp>
        <p:nvSpPr>
          <p:cNvPr id="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横向比较 MyBatis 与 Entity Framework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一边把 SQL 留下，一边把类直接映射成表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MyBatis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Entity Framework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SQL 写在映射文件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C# 里做全映射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Example 负责拼条件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上下文代表数据库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门户另有手写 Dao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集合代表一张表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一次修改穿过哪一层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73736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改金额怎么算：仍在下单服务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01768" y="214884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669280" y="1737360"/>
            <a:ext cx="306324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下单服务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74320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改列表条件：改 Example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01768" y="315468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669280" y="2743200"/>
            <a:ext cx="3063240" cy="822960"/>
          </a:xfrm>
          <a:prstGeom prst="rect">
            <a:avLst/>
          </a:prstGeom>
          <a:solidFill>
            <a:srgbClr val="E3C4C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Example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749040"/>
            <a:ext cx="457200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改插入哪些列：改手写 SQL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001768" y="4160520"/>
            <a:ext cx="649224" cy="9144"/>
          </a:xfrm>
          <a:custGeom>
            <a:avLst/>
            <a:gdLst/>
            <a:ahLst/>
            <a:cxnLst/>
            <a:rect l="0" t="0" r="r" b="b"/>
            <a:pathLst>
              <a:path w="649224" h="9144" fill="none">
                <a:moveTo>
                  <a:pt x="0" y="0"/>
                </a:moveTo>
                <a:lnTo>
                  <a:pt x="649224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669280" y="3749040"/>
            <a:ext cx="306324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手写 SQL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11480" y="484632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事务归服务接口，不归单次写入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1691640"/>
            <a:ext cx="91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417320" y="1691640"/>
            <a:ext cx="7315200" cy="139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SOLID 各有证据；依赖注入落实控制反转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342640"/>
            <a:ext cx="91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417320" y="3342640"/>
            <a:ext cx="7315200" cy="1397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改动看穿过哪一层，事务在服务接口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对象关系映射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依赖注入的三种方式（构造函数、Setter、字段）中，哪一种最容易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让你在单元测试时不启动 Spring 容器就换掉依赖？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构造函数注入，测试中可以直接传入替代实现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Setter 注入，可以在任何时候替换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字段注入，Spring 会自动处理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三种方式没有差别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“事务由数据访问层承担还是由服务层承担”属于哪一类设计决策？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命名决策；B. 格式决策；C. 测试框架选型；D. 体系结构决策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mall 新增一种优惠券适用范围，要改门户可用券判定、下单金额分摊和后台券管理三个文件。这最直接说明哪条原则没有满足？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开闭原则；B. 里氏替换原则；C. 接口隔离原则；D. 迪米特法则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预习题（4—5）与预读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依赖倒置原则与依赖注入的关系是：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同一概念的两种叫法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依赖倒置是设计原则，依赖注入是实现它的一种机制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依赖注入是原则，依赖倒置是 Spring 的实现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两者无关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“正方形”继承“长方形”，设置宽度时同时改了高度。调用方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按长方形使用它时，面积算错了。这违背了哪条原则？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单一职责；B. 开闭；C. 里氏替换；D. 接口隔离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实验 E4 前预读 Feathers《修改代码的艺术》第 4、13 章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请同学们在实验开始之前读完指定的那两章，然后再做上面这两道题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课后阅读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325880"/>
          <a:ext cx="8509000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"/>
                <a:gridCol w="3276600"/>
                <a:gridCol w="609600"/>
                <a:gridCol w="4013200"/>
              </a:tblGrid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[37]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Fowler《IoC 容器与依赖注入》（必读）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[39]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Spring 参考文档“Dependency Injection”（选读，区分原理与框架实现）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[7]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Fowler《企业应用架构模式》第3章（必读）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[6]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Feathers《修改代码的艺术》第4、13章（E4 前预读）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8 次课｜设计模式与重构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