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节：需求分析</a:t>
            </a:r>
          </a:p>
          <a:p>
            <a:r>
              <a:t>本节 25 分钟</a:t>
            </a:r>
          </a:p>
          <a:p>
            <a:r>
              <a:t>定义：这一讲先把需求说清楚，再把既有系统画成视图和约束。</a:t>
            </a:r>
          </a:p>
          <a:p>
            <a:r>
              <a:t>代价：需求含混，后面的图和规则会对着不同的理解做。</a:t>
            </a:r>
          </a:p>
          <a:p>
            <a:r>
              <a:t>判定：开场点明这是第 5 次课，讲体系结构设计的前半。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节：需求分析</a:t>
            </a:r>
          </a:p>
          <a:p>
            <a:r>
              <a:t>时长见本节首页（本节 25 分钟）</a:t>
            </a:r>
          </a:p>
          <a:p>
            <a:r>
              <a:t>定义：目标是会写验收准则、对上视图与关注点、认出分层缺陷、判定不可修改的部分。</a:t>
            </a:r>
          </a:p>
          <a:p>
            <a:r>
              <a:t>代价：不接上一次课和本周实验，这四项目标会变成另一套词。</a:t>
            </a:r>
          </a:p>
          <a:p>
            <a:r>
              <a:t>判定：能否说出从 T2、E2 接来什么，以及 E3 开始前必须先交出什么。</a:t>
            </a:r>
          </a:p>
          <a:p>
            <a:r>
              <a:t>权衡：时间不够时，先保住验收准则和不可修改的部分。T2 已经讲过哪些文件不能改。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节：需求分析</a:t>
            </a:r>
          </a:p>
          <a:p>
            <a:r>
              <a:t>时长见本节首页（本节 25 分钟）</a:t>
            </a:r>
          </a:p>
          <a:p>
            <a:r>
              <a:t>定义：需求是对待开发系统有意义、并且说得没有二义的陈述。</a:t>
            </a:r>
          </a:p>
          <a:p>
            <a:r>
              <a:t>代价：三层混在一句里，就分不清目标、任务和必须实现的功能。</a:t>
            </a:r>
          </a:p>
          <a:p>
            <a:r>
              <a:t>判定：问这句话是在说目标、任务，还是在说必须实现的功能。</a:t>
            </a:r>
          </a:p>
          <a:p>
            <a:r>
              <a:t>权衡：3-1 把功能需求和非功能需求写在同一层。非功能需求留到实验再展开。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节：需求分析</a:t>
            </a:r>
          </a:p>
          <a:p>
            <a:r>
              <a:t>时长见本节首页（本节 25 分钟）</a:t>
            </a:r>
          </a:p>
          <a:p>
            <a:r>
              <a:t>定义：用例描述参与者看得到的功能，以及它和系统边界的关系。</a:t>
            </a:r>
          </a:p>
          <a:p>
            <a:r>
              <a:t>代价：把内部步骤写成用例，边界会画到实现里面去。</a:t>
            </a:r>
          </a:p>
          <a:p>
            <a:r>
              <a:t>判定：问这个名字是不是参与者在系统外面能看见的一件事。</a:t>
            </a:r>
          </a:p>
          <a:p>
            <a:r>
              <a:t>权衡：操作清单来自 2024 第 8-3 讲第 2 页。谁是参与者，那一页没有写死。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节：需求分析</a:t>
            </a:r>
          </a:p>
          <a:p>
            <a:r>
              <a:t>时长见本节首页（本节 25 分钟）</a:t>
            </a:r>
          </a:p>
          <a:p>
            <a:r>
              <a:t>定义：完整的用例描述要有名称、参与者、前后条件，以及主事件流和辅事件流。</a:t>
            </a:r>
          </a:p>
          <a:p>
            <a:r>
              <a:t>代价：只写名称，异常怎么结束就没处放。</a:t>
            </a:r>
          </a:p>
          <a:p>
            <a:r>
              <a:t>判定：六项缺了哪一项，这项就还不能拿去验收。</a:t>
            </a:r>
          </a:p>
          <a:p>
            <a:r>
              <a:t>权衡：结构来自 2024 第 6-1 讲第 16 页。教材管理还没有填好的六项，留给追问。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节：需求分析</a:t>
            </a:r>
          </a:p>
          <a:p>
            <a:r>
              <a:t>时长见本节首页（本节 25 分钟）</a:t>
            </a:r>
          </a:p>
          <a:p>
            <a:r>
              <a:t>定义：业务规则约束一种情况怎么处理；验收准则用来判定这条需求是否合格。</a:t>
            </a:r>
          </a:p>
          <a:p>
            <a:r>
              <a:t>代价：准则补在实现之后，就变成给已有代码找理由。</a:t>
            </a:r>
          </a:p>
          <a:p>
            <a:r>
              <a:t>判定：问这句话能不能直接判定对错；不能判定的，还是待追问。</a:t>
            </a:r>
          </a:p>
          <a:p>
            <a:r>
              <a:t>权衡：不把课件里没有的期限、重名规则补进幻灯片。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节：需求分析</a:t>
            </a:r>
          </a:p>
          <a:p>
            <a:r>
              <a:t>时长见本节首页（本节 25 分钟）</a:t>
            </a:r>
          </a:p>
          <a:p>
            <a:r>
              <a:t>定义：口述需求要整理成参与者与用例、业务规则、需求验收准则三份清单。</a:t>
            </a:r>
          </a:p>
          <a:p>
            <a:r>
              <a:t>代价：三份叠在一段话里，后面就无法逐条验收。</a:t>
            </a:r>
          </a:p>
          <a:p>
            <a:r>
              <a:t>判定：每一句能放进且只放进这三份中的一份。</a:t>
            </a:r>
          </a:p>
          <a:p>
            <a:r>
              <a:t>权衡：8-3、8-4 只给了列表操作和仓储接口，没有给满的规则。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节：需求分析</a:t>
            </a:r>
          </a:p>
          <a:p>
            <a:r>
              <a:t>时长见本节首页（本节 25 分钟）</a:t>
            </a:r>
          </a:p>
          <a:p>
            <a:r>
              <a:t>定义：追问是把一句口述拆开，挤出参与者、用例边界和可判定的结果。</a:t>
            </a:r>
          </a:p>
          <a:p>
            <a:r>
              <a:t>代价：不追问就按含混的句子做，验收时各说各的。</a:t>
            </a:r>
          </a:p>
          <a:p>
            <a:r>
              <a:t>判定：三轮要分别问到参与者、用例和怎样算做对。</a:t>
            </a:r>
          </a:p>
          <a:p>
            <a:r>
              <a:t>权衡：旧课件没有写死参与者，所以第一轮不能替学生填一个名字。</a:t>
            </a:r>
          </a:p>
          <a:p>
            <a:r>
              <a:t>参考要点：先分开参与者和用例；验收准则写成可观察的结果</a:t>
            </a:r>
          </a:p>
          <a:p>
            <a:r>
              <a:t>依据：课件大纲需求分析：参与者与用例、业务规则、需求验收准则。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本节 20 分钟</a:t>
            </a:r>
          </a:p>
          <a:p>
            <a:r>
              <a:t>定义：体系结构描述软件元素、对外可见的属性，以及元素之间的关系。每张视图只看一个侧面。</a:t>
            </a:r>
          </a:p>
          <a:p>
            <a:r>
              <a:t>代价：用一张图回答四个问题，关注点会叠在一起。</a:t>
            </a:r>
          </a:p>
          <a:p>
            <a:r>
              <a:t>判定：问这张图回答的是功能、模块、运行时通信，还是机器和网络。</a:t>
            </a:r>
          </a:p>
          <a:p>
            <a:r>
              <a:t>权衡：定义来自 4-1 第 17 页，四面的分法来自第 8–9 页。风格与边界在本节后面单独说。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时长见本节首页（本节 20 分钟）</a:t>
            </a:r>
          </a:p>
          <a:p>
            <a:r>
              <a:t>定义：上半是控制器到服务，下半是服务到生成查询对象。边上的字分开放大。</a:t>
            </a:r>
          </a:p>
          <a:p>
            <a:r>
              <a:t>代价：两跳画成一条长图，边上的字会缩到看不清。</a:t>
            </a:r>
          </a:p>
          <a:p>
            <a:r>
              <a:t>判定：上半要读出“名字是取消，实际发消息”；下半要读出“直接使用生成查询”。</a:t>
            </a:r>
          </a:p>
          <a:p>
            <a:r>
              <a:t>权衡：基线 OmsPortalOrderController.java 第 65–69 行只调用 sendDelayMessageCancelOrder。第 93–97 行的 /cancelUserOrder 才调用 cancelOrder。archify 自动门禁通过。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时长见本节首页（本节 20 分钟）</a:t>
            </a:r>
          </a:p>
          <a:p>
            <a:r>
              <a:t>定义：这一截是改密链：后台控制器把服务返回的整数译成文案。</a:t>
            </a:r>
          </a:p>
          <a:p>
            <a:r>
              <a:t>代价：和订单链画在同一张全景里，改密这条边会被订单链盖住。</a:t>
            </a:r>
          </a:p>
          <a:p>
            <a:r>
              <a:t>判定：能读出“服务只返回整数”，以及两端的控制器和服务。</a:t>
            </a:r>
          </a:p>
          <a:p>
            <a:r>
              <a:t>权衡：服务如何得出整数，在下一节的代码里看。这里只看逻辑视图上的边。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时长见本节首页（本节 20 分钟）</a:t>
            </a:r>
          </a:p>
          <a:p>
            <a:r>
              <a:t>定义：立即返回这一截：调用方发取消请求，控制器只发延迟消息，成功返回时订单仍待付款。</a:t>
            </a:r>
          </a:p>
          <a:p>
            <a:r>
              <a:t>代价：把这次成功理解成订单已经取消，后面的到期消息就没人等了。</a:t>
            </a:r>
          </a:p>
          <a:p>
            <a:r>
              <a:t>判定：看返回箭头上是不是写着成功，并且订单仍待付款。</a:t>
            </a:r>
          </a:p>
          <a:p>
            <a:r>
              <a:t>权衡：队列在这一截只是消息要去的地方。谁在到期后执行，看下一页。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时长见本节首页（本节 20 分钟）</a:t>
            </a:r>
          </a:p>
          <a:p>
            <a:r>
              <a:t>定义：紫色虚线“到期后 cancelOrder”从 RabbitMQ 指回订单服务。接收方是 CancelOrderReceiver，队列本身不执行 Java。</a:t>
            </a:r>
          </a:p>
          <a:p>
            <a:r>
              <a:t>代价：把队列画成会执行取消的程序，排障会去队列里找 Java。</a:t>
            </a:r>
          </a:p>
          <a:p>
            <a:r>
              <a:t>判定：看虚线箭头是否指向订单服务。sendDelayMessage 那一跳在上一页。</a:t>
            </a:r>
          </a:p>
          <a:p>
            <a:r>
              <a:t>权衡：说明第 16 行写明由 CancelOrderReceiver 消费。只读环境关掉消费者时，这张图不等于这次已经跑过取消。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时长见本节首页（本节 20 分钟）</a:t>
            </a:r>
          </a:p>
          <a:p>
            <a:r>
              <a:t>定义：七个模块都在这一张紧边界局部里。后台连认证，检索连生成代码。生成代码标着不可直接改。</a:t>
            </a:r>
          </a:p>
          <a:p>
            <a:r>
              <a:t>代价：只看下一页生成代码那一截，会漏掉 mall-admin 和 mall-security。</a:t>
            </a:r>
          </a:p>
          <a:p>
            <a:r>
              <a:t>判定：能指出 mall-admin、mall-portal、mall-search、mall-demo、mall-security、mall-mbg 和 mall-common。</a:t>
            </a:r>
          </a:p>
          <a:p>
            <a:r>
              <a:t>权衡：四周留白和标题区没有放进这一截。连向 mall-mbg 的线在下一页放大。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时长见本节首页（本节 20 分钟）</a:t>
            </a:r>
          </a:p>
          <a:p>
            <a:r>
              <a:t>定义：这一页放大生成代码，以及前台、检索、演示和公共模块连向它的线。</a:t>
            </a:r>
          </a:p>
          <a:p>
            <a:r>
              <a:t>代价：整张依赖图画在一页里，这几条线会细到看不清。</a:t>
            </a:r>
          </a:p>
          <a:p>
            <a:r>
              <a:t>判定：能顺着线指出 mall-search、mall-demo、mall-portal、mall-mbg 和 mall-common。</a:t>
            </a:r>
          </a:p>
          <a:p>
            <a:r>
              <a:t>权衡：认证模块在这张局部的上方，没有放进这一截。mall-mbg 标着不可直接改。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时长见本节首页（本节 20 分钟）</a:t>
            </a:r>
          </a:p>
          <a:p>
            <a:r>
              <a:t>定义：物理视图补的是这次开发部署：门户进程在宿主机上，四个中间件在容器里。</a:t>
            </a:r>
          </a:p>
          <a:p>
            <a:r>
              <a:t>代价：只记容器端口，连课程环境时会连到 3306 而不是映射出来的端口。</a:t>
            </a:r>
          </a:p>
          <a:p>
            <a:r>
              <a:t>判定：页上要同时看见容器端口、宿主映射和 13306。</a:t>
            </a:r>
          </a:p>
          <a:p>
            <a:r>
              <a:t>权衡：图是说明第 18–25 行 mermaid 块的原样导出，节点和边没有改。它不是生产拓扑。门户 HTTP 18085 是宿主端口。图下四格是宿主映射，不在源图里。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时长见本节首页（本节 20 分钟）</a:t>
            </a:r>
          </a:p>
          <a:p>
            <a:r>
              <a:t>定义：场景是一次重要活动，用来把逻辑、进程、开发和物理四张视图串起来。</a:t>
            </a:r>
          </a:p>
          <a:p>
            <a:r>
              <a:t>代价：没有这条场景，四张图是四张互不相干的图。</a:t>
            </a:r>
          </a:p>
          <a:p>
            <a:r>
              <a:t>判定：问下单、支付、超时取消各落到哪一张视图上的哪一个元素。</a:t>
            </a:r>
          </a:p>
          <a:p>
            <a:r>
              <a:t>权衡：步骤来自公共视图说明。只读环境关掉了消息消费者，图不等于这次已经跑过取消。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时长见本节首页（本节 20 分钟）</a:t>
            </a:r>
          </a:p>
          <a:p>
            <a:r>
              <a:t>定义：风格是一类系统共同的组织方式；边界是依赖不许越过的位置。</a:t>
            </a:r>
          </a:p>
          <a:p>
            <a:r>
              <a:t>代价：边界只写在说明里，下一次修改仍会越过去。</a:t>
            </a:r>
          </a:p>
          <a:p>
            <a:r>
              <a:t>判定：问这条依赖有没有越过已经标出的边界，例如直接改生成代码。</a:t>
            </a:r>
          </a:p>
          <a:p>
            <a:r>
              <a:t>权衡：风格的定义来自 4-1 第 17 页。怎么把方向写成检查，是下一节的事。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节：视图建模</a:t>
            </a:r>
          </a:p>
          <a:p>
            <a:r>
              <a:t>时长见本节首页（本节 20 分钟）</a:t>
            </a:r>
          </a:p>
          <a:p>
            <a:r>
              <a:t>定义：Layer 是逻辑职责的划分，不绑定某一种部署。Tier 是放在独立进程或机器上的部署单元。</a:t>
            </a:r>
          </a:p>
          <a:p>
            <a:r>
              <a:t>代价：用过不过网络来定义 Layer，会把同一种职责说成两种层。</a:t>
            </a:r>
          </a:p>
          <a:p>
            <a:r>
              <a:t>判定：先问这是职责边界还是部署单元。跨网络通常意味着跨了 Tier，不能拿它定义 Layer。</a:t>
            </a:r>
          </a:p>
          <a:p>
            <a:r>
              <a:t>权衡：旧课件只列出题目。门户进程和数据库容器只用来说明 Tier，不用来改写 Layer。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节：分层与架构约束</a:t>
            </a:r>
          </a:p>
          <a:p>
            <a:r>
              <a:t>本节 25 分钟</a:t>
            </a:r>
          </a:p>
          <a:p>
            <a:r>
              <a:t>定义：分层是按职责把控制器、服务和数据访问分开，依赖只指向下一层。</a:t>
            </a:r>
          </a:p>
          <a:p>
            <a:r>
              <a:t>代价：方向反了，改一个文案会牵动存储，改一张表会牵动入口。</a:t>
            </a:r>
          </a:p>
          <a:p>
            <a:r>
              <a:t>判定：问这个判断放在控制器、服务，还是数据访问。</a:t>
            </a:r>
          </a:p>
          <a:p>
            <a:r>
              <a:t>权衡：mall 的事务注解放在服务接口上。由谁承担事务，是体系结构决策。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节：分层与架构约束</a:t>
            </a:r>
          </a:p>
          <a:p>
            <a:r>
              <a:t>时长见本节首页（本节 25 分钟）</a:t>
            </a:r>
          </a:p>
          <a:p>
            <a:r>
              <a:t>定义：逻辑泄漏是业务判断跑到了不该懂这层含义的地方。</a:t>
            </a:r>
          </a:p>
          <a:p>
            <a:r>
              <a:t>代价：返回码一改含义，控制器里的三句文案要跟着改，而且容易改漏。</a:t>
            </a:r>
          </a:p>
          <a:p>
            <a:r>
              <a:t>判定：看控制器是否必须知道 -1、-2、-3 分别是什么业务原因。</a:t>
            </a:r>
          </a:p>
          <a:p>
            <a:r>
              <a:t>权衡：服务怎么得出这三个整数，在 UmsAdminServiceImpl。这页只看翻译发生在控制器。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节：分层与架构约束</a:t>
            </a:r>
          </a:p>
          <a:p>
            <a:r>
              <a:t>时长见本节首页（本节 25 分钟）</a:t>
            </a:r>
          </a:p>
          <a:p>
            <a:r>
              <a:t>定义：依赖生成代码，是服务直接使用生成器的查询对象，而不是经过手写的数据访问接口。</a:t>
            </a:r>
          </a:p>
          <a:p>
            <a:r>
              <a:t>代价：生成器一改条件的写法，服务里的这几行就要跟着改。</a:t>
            </a:r>
          </a:p>
          <a:p>
            <a:r>
              <a:t>判定：问 OmsOrderExample 是手写的，还是生成出来的。</a:t>
            </a:r>
          </a:p>
          <a:p>
            <a:r>
              <a:t>权衡：算不算违背，要看边界划在哪。这页先摆出代码，不先定罪。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节：分层与架构约束</a:t>
            </a:r>
          </a:p>
          <a:p>
            <a:r>
              <a:t>时长见本节首页（本节 25 分钟）</a:t>
            </a:r>
          </a:p>
          <a:p>
            <a:r>
              <a:t>定义：检测口径看注解写在哪。运行时只讨论这一条调用是不是经过代理。</a:t>
            </a:r>
          </a:p>
          <a:p>
            <a:r>
              <a:t>代价：只扫实现类，会把写在接口上的事务报成缺失。</a:t>
            </a:r>
          </a:p>
          <a:p>
            <a:r>
              <a:t>判定：先看接口第 26–27 行有没有注解，再看实现类第 94 行有没有。</a:t>
            </a:r>
          </a:p>
          <a:p>
            <a:r>
              <a:t>权衡：在本基线的 Spring 代理调用路径下仍生效。这句不推广到自调用，也不推广到别的织入方式。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节：分层与架构约束</a:t>
            </a:r>
          </a:p>
          <a:p>
            <a:r>
              <a:t>时长见本节首页（本节 25 分钟）</a:t>
            </a:r>
          </a:p>
          <a:p>
            <a:r>
              <a:t>定义：这四种是依赖方向被违背时常见的样子。</a:t>
            </a:r>
          </a:p>
          <a:p>
            <a:r>
              <a:t>代价：只盯着一种，另外三种会在评审里漏掉。</a:t>
            </a:r>
          </a:p>
          <a:p>
            <a:r>
              <a:t>判定：改密返回码归逻辑泄漏；Example 归依赖生成代码。这页的另外两种，用调用方向来认。</a:t>
            </a:r>
          </a:p>
          <a:p>
            <a:r>
              <a:t>权衡：跨层和循环，这门课的例子不在刚才两段代码里，不要硬套。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节：分层与架构约束</a:t>
            </a:r>
          </a:p>
          <a:p>
            <a:r>
              <a:t>时长见本节首页（本节 25 分钟）</a:t>
            </a:r>
          </a:p>
          <a:p>
            <a:r>
              <a:t>定义：把依赖方向写成可执行规则，是为了在以后的修改里自动发现越界。</a:t>
            </a:r>
          </a:p>
          <a:p>
            <a:r>
              <a:t>代价：规则写错扫描范围，会把仍然生效的事务报成缺失。</a:t>
            </a:r>
          </a:p>
          <a:p>
            <a:r>
              <a:t>判定：这页是结构示意。仓库里没有对应的 ArchUnit 测试，不能当成已经装上的检查。</a:t>
            </a:r>
          </a:p>
          <a:p>
            <a:r>
              <a:t>权衡：示意只表达方向。不把一段没出处的测试代码贴上来。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节：分层与架构约束</a:t>
            </a:r>
          </a:p>
          <a:p>
            <a:r>
              <a:t>时长见本节首页（本节 25 分钟）</a:t>
            </a:r>
          </a:p>
          <a:p>
            <a:r>
              <a:t>定义：含模型的结构，仍是在系统里加一个会出错的外部依赖。</a:t>
            </a:r>
          </a:p>
          <a:p>
            <a:r>
              <a:t>代价：把它当成可靠子系统，模型一停，整条业务就停。</a:t>
            </a:r>
          </a:p>
          <a:p>
            <a:r>
              <a:t>判定：问失败时是否还有隔离、超时和一条不经过模型的降级路径。</a:t>
            </a:r>
          </a:p>
          <a:p>
            <a:r>
              <a:t>权衡：具体验收规则留到后面的课。这里只定架构上怎么对待它。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节：分层与架构约束</a:t>
            </a:r>
          </a:p>
          <a:p>
            <a:r>
              <a:t>时长见本节首页（本节 25 分钟）</a:t>
            </a:r>
          </a:p>
          <a:p>
            <a:r>
              <a:t>定义：讨论的是约束若只存在于文档，为什么挡不住以后的修改。</a:t>
            </a:r>
          </a:p>
          <a:p>
            <a:r>
              <a:t>代价：答成“人会忘”，就没有落到检查会不会跟着提交跑。</a:t>
            </a:r>
          </a:p>
          <a:p>
            <a:r>
              <a:t>判定：回答要说到文档不会执行，以及构建失败和口头提醒的差别。</a:t>
            </a:r>
          </a:p>
          <a:p>
            <a:r>
              <a:t>权衡：上一页的示意就是一种会在构建时响的写法。mall 目前并没有装上它。</a:t>
            </a:r>
          </a:p>
          <a:p>
            <a:r>
              <a:t>参考要点：文档不随提交执行；可执行规则会在构建时失败</a:t>
            </a:r>
          </a:p>
          <a:p>
            <a:r>
              <a:t>依据：课件大纲分层与架构约束：把依赖方向写成可自动执行的检查规则。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节：不可变约束与 ADR</a:t>
            </a:r>
          </a:p>
          <a:p>
            <a:r>
              <a:t>本节 20 分钟</a:t>
            </a:r>
          </a:p>
          <a:p>
            <a:r>
              <a:t>定义：不可变约束是接手既有系统时先判定、随后不直接改动的部分。</a:t>
            </a:r>
          </a:p>
          <a:p>
            <a:r>
              <a:t>代价：先改生成代码或共用表，后台和前台会一起对不上。</a:t>
            </a:r>
          </a:p>
          <a:p>
            <a:r>
              <a:t>判定：问这次改动有没有落在生成代码、共用表，或已经公开的注解说明上。</a:t>
            </a:r>
          </a:p>
          <a:p>
            <a:r>
              <a:t>权衡：业务代码可以在个人分支里改。这三处保持和基线一致。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节：不可变约束与 ADR</a:t>
            </a:r>
          </a:p>
          <a:p>
            <a:r>
              <a:t>时长见本节首页（本节 20 分钟）</a:t>
            </a:r>
          </a:p>
          <a:p>
            <a:r>
              <a:t>定义：生成实体上的 Schema 注解，对外就是字段含义的说明，不能随手改标题。</a:t>
            </a:r>
          </a:p>
          <a:p>
            <a:r>
              <a:t>代价：改一句标题，接口文档和调用方看到的字段含义会一起变。</a:t>
            </a:r>
          </a:p>
          <a:p>
            <a:r>
              <a:t>判定：看注解在不在生成类上；没有注解的字段，不要假装它也有说明。</a:t>
            </a:r>
          </a:p>
          <a:p>
            <a:r>
              <a:t>权衡：第 12–14 行的 memberId、couponId 没有 Schema。不能说每个字段都带了注解。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节：不可变约束与 ADR</a:t>
            </a:r>
          </a:p>
          <a:p>
            <a:r>
              <a:t>时长见本节首页（本节 20 分钟）</a:t>
            </a:r>
          </a:p>
          <a:p>
            <a:r>
              <a:t>定义：视图回答系统是什么样；架构决策记录回答当初为什么这样定。</a:t>
            </a:r>
          </a:p>
          <a:p>
            <a:r>
              <a:t>代价：只有图、没有记录，后来的人会把现状当成唯一合理的做法。</a:t>
            </a:r>
          </a:p>
          <a:p>
            <a:r>
              <a:t>判定：问这份材料是在描述现状，还是在说明一次选择和被放弃的方案。</a:t>
            </a:r>
          </a:p>
          <a:p>
            <a:r>
              <a:t>权衡：记录不代替视图。图过时了仍要改图，记录保留当时的理由。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节：不可变约束与 ADR</a:t>
            </a:r>
          </a:p>
          <a:p>
            <a:r>
              <a:t>时长见本节首页（本节 20 分钟）</a:t>
            </a:r>
          </a:p>
          <a:p>
            <a:r>
              <a:t>定义：一份架构决策记录至少写上下文、决定、后果，以及被否决的方案。</a:t>
            </a:r>
          </a:p>
          <a:p>
            <a:r>
              <a:t>代价：只写决定，后来无法判断这个决定是不是还适用。</a:t>
            </a:r>
          </a:p>
          <a:p>
            <a:r>
              <a:t>判定：四段缺一段，这份记录就还不能当决策记录。</a:t>
            </a:r>
          </a:p>
          <a:p>
            <a:r>
              <a:t>权衡：以不手改 mall-mbg 为例：上下文是它会被重新生成，决定是不改产物。被否决的做法是直接改生成类。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节：不可变约束与 ADR</a:t>
            </a:r>
          </a:p>
          <a:p>
            <a:r>
              <a:t>时长见本节首页（本节 20 分钟）</a:t>
            </a:r>
          </a:p>
          <a:p>
            <a:r>
              <a:t>定义：讨论两套订单服务是缺陷，还是按入口分开的边界。</a:t>
            </a:r>
          </a:p>
          <a:p>
            <a:r>
              <a:t>代价：先定罪，就会忽略两个类注释本来就不是同一句话。</a:t>
            </a:r>
          </a:p>
          <a:p>
            <a:r>
              <a:t>判定：回答要先说出两个入口各管什么，再说规则有没有在两处各写一份。</a:t>
            </a:r>
          </a:p>
          <a:p>
            <a:r>
              <a:t>权衡：后台是 OmsOrderServiceImpl，前台是 OmsPortalOrderServiceImpl。这页不给封闭答案。</a:t>
            </a:r>
          </a:p>
          <a:p>
            <a:r>
              <a:t>参考要点：两个类注释对的是不同入口；同一规则两处各写才是重复</a:t>
            </a:r>
          </a:p>
          <a:p>
            <a:r>
              <a:t>依据：课件大纲不可变约束与 ADR：各一套订单服务是缺陷还是合理边界。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节：不可变约束与 ADR</a:t>
            </a:r>
          </a:p>
          <a:p>
            <a:r>
              <a:t>时长见本节首页（本节 20 分钟）</a:t>
            </a:r>
          </a:p>
          <a:p>
            <a:r>
              <a:t>定义：这一讲收成需求怎么写清、系统怎么画、约束怎么守住。</a:t>
            </a:r>
          </a:p>
          <a:p>
            <a:r>
              <a:t>代价：只记得图、不记得准则，下一实验会从实现倒推需求。</a:t>
            </a:r>
          </a:p>
          <a:p>
            <a:r>
              <a:t>判定：能否分别说出三份清单、场景名称、四种违背，以及三处不改的部分。</a:t>
            </a:r>
          </a:p>
          <a:p>
            <a:r>
              <a:t>权衡：依赖规则在课上只作结构示意。具体怎么检查，实验里再落地。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本节 20 分钟（并入上一节）</a:t>
            </a:r>
          </a:p>
          <a:p>
            <a:r>
              <a:t>题目页</a:t>
            </a:r>
          </a:p>
          <a:p>
            <a:r>
              <a:t>答案：1B 2B 3C</a:t>
            </a:r>
          </a:p>
          <a:p>
            <a:r>
              <a:t>定义：这三题问准则何时写、测试全绿能否合并、哪种注入让特征测试难写。</a:t>
            </a:r>
          </a:p>
          <a:p>
            <a:r>
              <a:t>代价：未做计零分。准则补在实现之后，实验会从错误的顺序开始。</a:t>
            </a:r>
          </a:p>
          <a:p>
            <a:r>
              <a:t>判定：准则写在与 AI 协作生成之前。测试通过不等于可以直接合并。</a:t>
            </a:r>
          </a:p>
          <a:p>
            <a:r>
              <a:t>权衡：字段注入最容易让特征测试变困难。三种方式的展开在下一讲。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20 分钟（并入上一节））</a:t>
            </a:r>
          </a:p>
          <a:p>
            <a:r>
              <a:t>题目页</a:t>
            </a:r>
          </a:p>
          <a:p>
            <a:r>
              <a:t>答案：4D 5A</a:t>
            </a:r>
          </a:p>
          <a:p>
            <a:r>
              <a:t>定义：第 4 题问事务放在哪一层是什么决策；第 5 题问交给 AI 之前要先交出什么。</a:t>
            </a:r>
          </a:p>
          <a:p>
            <a:r>
              <a:t>代价：把事务归属当成命名问题，分层讨论会停在用词上。</a:t>
            </a:r>
          </a:p>
          <a:p>
            <a:r>
              <a:t>判定：事务由哪一层承担，是体系结构决策。交给模型之前要先有准则和不可变约束。</a:t>
            </a:r>
          </a:p>
          <a:p>
            <a:r>
              <a:t>权衡：书目放在单独的阅读页，避免和题干挤在一起。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20 分钟（并入上一节））</a:t>
            </a:r>
          </a:p>
          <a:p>
            <a:r>
              <a:t>定义：课后按作业第 2 条读这些文献。先读视图模型和微服务边界。</a:t>
            </a:r>
          </a:p>
          <a:p>
            <a:r>
              <a:t>代价：不读 Kruchten 1995，四张视图的分法只能停在转述。</a:t>
            </a:r>
          </a:p>
          <a:p>
            <a:r>
              <a:t>判定：页上要能对上 Kruchten 1995 和 Newman《微服务设计》。</a:t>
            </a:r>
          </a:p>
          <a:p>
            <a:r>
              <a:t>权衡：其余书目仍在作业第 2 条。这一页只列和本讲直接相关的四条。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 descr="usc_r5_c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3" descr="usc_r5_c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30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3" descr="（白底）中文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28600"/>
            <a:ext cx="16764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816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524000"/>
            <a:ext cx="7772400" cy="1371600"/>
          </a:xfrm>
        </p:spPr>
        <p:txBody>
          <a:bodyPr/>
          <a:lstStyle>
            <a:lvl1pPr>
              <a:defRPr sz="4500"/>
            </a:lvl1pPr>
          </a:lstStyle>
          <a:p>
            <a:pPr lvl="0"/>
            <a:r>
              <a:rPr lang="zh-CN" altLang="en-US" noProof="0"/>
              <a:t>单击此处编辑母版标题样式</a:t>
            </a:r>
            <a:endParaRPr lang="zh-CN" altLang="en-US" noProof="0"/>
          </a:p>
        </p:txBody>
      </p:sp>
      <p:sp>
        <p:nvSpPr>
          <p:cNvPr id="11816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3429000"/>
            <a:ext cx="7010400" cy="16002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000"/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fld id="{13B25BE5-3F7A-4904-922D-A053C7DF1757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667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34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73838" y="304800"/>
            <a:ext cx="2001837" cy="5715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66738" y="304800"/>
            <a:ext cx="5854700" cy="57150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4.jpeg"/><Relationship Id="rId13" Type="http://schemas.openxmlformats.org/officeDocument/2006/relationships/image" Target="../media/image1.jpeg"/><Relationship Id="rId14" Type="http://schemas.openxmlformats.org/officeDocument/2006/relationships/image" Target="../media/image2.jpeg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pattFill prst="ltHorz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74675" y="304800"/>
            <a:ext cx="8001000" cy="96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7526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609600" y="1295400"/>
            <a:ext cx="7958138" cy="109538"/>
          </a:xfrm>
          <a:custGeom>
            <a:avLst/>
            <a:gdLst>
              <a:gd name="T0" fmla="*/ 0 w 1000"/>
              <a:gd name="T1" fmla="*/ 0 h 1000"/>
              <a:gd name="T2" fmla="*/ 4655511 w 1000"/>
              <a:gd name="T3" fmla="*/ 0 h 1000"/>
              <a:gd name="T4" fmla="*/ 4655511 w 1000"/>
              <a:gd name="T5" fmla="*/ 109538 h 1000"/>
              <a:gd name="T6" fmla="*/ 0 w 1000"/>
              <a:gd name="T7" fmla="*/ 109538 h 1000"/>
              <a:gd name="T8" fmla="*/ 0 w 1000"/>
              <a:gd name="T9" fmla="*/ 0 h 1000"/>
              <a:gd name="T10" fmla="*/ 7958138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609600" y="6172200"/>
            <a:ext cx="79248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548313" y="6308725"/>
            <a:ext cx="36718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zh-CN" altLang="en-US">
                <a:solidFill>
                  <a:srgbClr val="009900"/>
                </a:solidFill>
                <a:latin typeface="Verdana" panose="020B0604030504040204" pitchFamily="34" charset="0"/>
                <a:ea typeface="隶书" panose="02010509060101010101" pitchFamily="49" charset="-122"/>
              </a:rPr>
              <a:t>计算机科学与技术学院</a:t>
            </a:r>
            <a:endParaRPr lang="zh-CN" altLang="en-US">
              <a:solidFill>
                <a:srgbClr val="009900"/>
              </a:solidFill>
              <a:latin typeface="Verdana" panose="020B0604030504040204" pitchFamily="34" charset="0"/>
              <a:ea typeface="隶书" panose="02010509060101010101" pitchFamily="49" charset="-122"/>
            </a:endParaRPr>
          </a:p>
        </p:txBody>
      </p:sp>
      <p:pic>
        <p:nvPicPr>
          <p:cNvPr id="1031" name="Picture 8" descr="计算机学院logo-1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6413" y="6261100"/>
            <a:ext cx="50958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 descr="usc_r5_c1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38" y="6221413"/>
            <a:ext cx="2217737" cy="60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13" descr="usc_r5_c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1938" y="6219825"/>
            <a:ext cx="2227262" cy="60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88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304925" indent="-39560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3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94180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94230" indent="-398780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3200" b="0" lang="zh-CN" altLang="en-US"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第 5 次课｜体系结构设计（一）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847087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要会写需求验收准则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要对上视图和关注点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要认出分层缺陷和不可修改处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3493007"/>
            <a:ext cx="8321040" cy="45491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承接 T2：运行环境约束物理视图</a:t>
            </a:r>
          </a:p>
        </p:txBody>
      </p:sp>
      <p:sp>
        <p:nvSpPr>
          <p:cNvPr id="5" name="fig"/>
          <p:cNvSpPr/>
          <p:nvPr/>
        </p:nvSpPr>
        <p:spPr>
          <a:xfrm>
            <a:off x="612648" y="4094225"/>
            <a:ext cx="7918704" cy="45491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承接 E2：4+1 已看过下单场景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4695444"/>
            <a:ext cx="7516367" cy="45491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本讲写清需求、分层和不可变约束</a:t>
            </a:r>
          </a:p>
        </p:txBody>
      </p:sp>
      <p:sp>
        <p:nvSpPr>
          <p:cNvPr id="7" name="fig"/>
          <p:cNvSpPr/>
          <p:nvPr/>
        </p:nvSpPr>
        <p:spPr>
          <a:xfrm>
            <a:off x="1014984" y="5296662"/>
            <a:ext cx="7114031" cy="45491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引出 E3：先写验收准则，再与 AI 协作</a:t>
            </a:r>
          </a:p>
        </p:txBody>
      </p:sp>
    </p:spTree>
  </p:cSld>
  <p:clrMapOvr>
    <a:masterClrMapping/>
  </p:clrMapOvr>
  <p:hf sldNum="0" hdr="0" ftr="0" dt="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需求分成三层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31673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教材管理只在这一节当例子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说法来自 2024 第 3-1 讲第 3–4 页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962656"/>
            <a:ext cx="8321040" cy="58750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陈述要清晰、简明、一致、无二义</a:t>
            </a:r>
          </a:p>
        </p:txBody>
      </p:sp>
      <p:sp>
        <p:nvSpPr>
          <p:cNvPr id="5" name="fig"/>
          <p:cNvSpPr/>
          <p:nvPr/>
        </p:nvSpPr>
        <p:spPr>
          <a:xfrm>
            <a:off x="612648" y="3696462"/>
            <a:ext cx="7918704" cy="58750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业务需求：对目标的高层次要求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4430268"/>
            <a:ext cx="7516367" cy="58750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用户需求：软件必须完成的任务</a:t>
            </a:r>
          </a:p>
        </p:txBody>
      </p:sp>
      <p:sp>
        <p:nvSpPr>
          <p:cNvPr id="7" name="fig"/>
          <p:cNvSpPr/>
          <p:nvPr/>
        </p:nvSpPr>
        <p:spPr>
          <a:xfrm>
            <a:off x="1014984" y="5164074"/>
            <a:ext cx="7114031" cy="58750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功能需求：为完成任务必须做的功能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参与者与用例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教材管理已写明：筛选、排序、增、删、改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场景：从一个参与者看外部行为</a:t>
            </a:r>
          </a:p>
        </p:txBody>
      </p:sp>
      <p:sp>
        <p:nvSpPr>
          <p:cNvPr id="5" name="fig"/>
          <p:cNvSpPr/>
          <p:nvPr/>
        </p:nvSpPr>
        <p:spPr>
          <a:xfrm>
            <a:off x="612648" y="3298698"/>
            <a:ext cx="7918704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用例：一类场景的共同抽象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4165091"/>
            <a:ext cx="7516367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参与者可以是人，也可以是外部系统</a:t>
            </a:r>
          </a:p>
        </p:txBody>
      </p:sp>
      <p:sp>
        <p:nvSpPr>
          <p:cNvPr id="7" name="fig"/>
          <p:cNvSpPr/>
          <p:nvPr/>
        </p:nvSpPr>
        <p:spPr>
          <a:xfrm>
            <a:off x="1014984" y="5031486"/>
            <a:ext cx="7114031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参与者看不见的内部步骤，不算用例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用例描述的六项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要写清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用例名称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参与者看得见的一件事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参与者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谁发起，包括外部系统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前置条件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开始前已经成立的事实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主事件流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正常情况下的交互顺序</a:t>
                      </a:r>
                    </a:p>
                  </a:txBody>
                  <a:tcPr anchor="ctr"/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辅事件流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特殊或异常时改走哪条</a:t>
                      </a:r>
                    </a:p>
                  </a:txBody>
                  <a:tcPr anchor="ctr"/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后置条件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结束后系统处在什么状态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规则和验收准则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教材管理的旧课件没有写死具体规则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业务规则：这种情况必须怎样处理</a:t>
            </a:r>
          </a:p>
        </p:txBody>
      </p:sp>
      <p:sp>
        <p:nvSpPr>
          <p:cNvPr id="5" name="fig"/>
          <p:cNvSpPr/>
          <p:nvPr/>
        </p:nvSpPr>
        <p:spPr>
          <a:xfrm>
            <a:off x="612648" y="3298698"/>
            <a:ext cx="7918704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验收准则：做到哪一步才算合格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4165091"/>
            <a:ext cx="7516367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准则要在和 AI 协作生成之前写</a:t>
            </a:r>
          </a:p>
        </p:txBody>
      </p:sp>
      <p:sp>
        <p:nvSpPr>
          <p:cNvPr id="7" name="fig"/>
          <p:cNvSpPr/>
          <p:nvPr/>
        </p:nvSpPr>
        <p:spPr>
          <a:xfrm>
            <a:off x="1014984" y="5031486"/>
            <a:ext cx="7114031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写不出判据的，先标成待追问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口述收成三份清单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847087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教材管理先只收到列表上的操作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一句口述拆进这三份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写不清的不补课件里没有的数字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3675887"/>
            <a:ext cx="2468879" cy="13258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参与者与用例</a:t>
            </a:r>
          </a:p>
        </p:txBody>
      </p:sp>
      <p:sp>
        <p:nvSpPr>
          <p:cNvPr id="5" name="fig"/>
          <p:cNvSpPr/>
          <p:nvPr/>
        </p:nvSpPr>
        <p:spPr>
          <a:xfrm>
            <a:off x="2953512" y="4192523"/>
            <a:ext cx="310896" cy="292608"/>
          </a:xfrm>
          <a:prstGeom prst="right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3337560" y="3675887"/>
            <a:ext cx="2468879" cy="13258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业务规则</a:t>
            </a:r>
          </a:p>
        </p:txBody>
      </p:sp>
      <p:sp>
        <p:nvSpPr>
          <p:cNvPr id="7" name="fig"/>
          <p:cNvSpPr/>
          <p:nvPr/>
        </p:nvSpPr>
        <p:spPr>
          <a:xfrm>
            <a:off x="5879592" y="4192523"/>
            <a:ext cx="310896" cy="292608"/>
          </a:xfrm>
          <a:prstGeom prst="right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6263640" y="3675887"/>
            <a:ext cx="2468879" cy="13258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需求验收准则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追问演练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教材管理只提供筛选、排序、增、删、改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学生提一条需求，教师连续追问三轮，把含混的地方挤出来</a:t>
            </a:r>
          </a:p>
        </p:txBody>
      </p:sp>
      <p:sp>
        <p:nvSpPr>
          <p:cNvPr id="5" name="fig"/>
          <p:cNvSpPr/>
          <p:nvPr/>
        </p:nvSpPr>
        <p:spPr>
          <a:xfrm>
            <a:off x="612648" y="3298698"/>
            <a:ext cx="7918704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第一轮：参与者是谁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4165091"/>
            <a:ext cx="7516367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第二轮：哪些才是用例</a:t>
            </a:r>
          </a:p>
        </p:txBody>
      </p:sp>
      <p:sp>
        <p:nvSpPr>
          <p:cNvPr id="7" name="fig"/>
          <p:cNvSpPr/>
          <p:nvPr/>
        </p:nvSpPr>
        <p:spPr>
          <a:xfrm>
            <a:off x="1014984" y="5031486"/>
            <a:ext cx="7114031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第三轮：怎样才算做对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体系结构与四张视图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847087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结构是元素、可见属性，以及它们的关系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场景把一次活动串起这四张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名称来自 Kruchten 1995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3493007"/>
            <a:ext cx="4091939" cy="1088136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逻辑视图：功能与结构</a:t>
            </a:r>
          </a:p>
        </p:txBody>
      </p:sp>
      <p:sp>
        <p:nvSpPr>
          <p:cNvPr id="5" name="fig"/>
          <p:cNvSpPr/>
          <p:nvPr/>
        </p:nvSpPr>
        <p:spPr>
          <a:xfrm>
            <a:off x="4640580" y="3493007"/>
            <a:ext cx="4091939" cy="1088136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进程视图：运行时谁通信</a:t>
            </a:r>
          </a:p>
        </p:txBody>
      </p:sp>
      <p:sp>
        <p:nvSpPr>
          <p:cNvPr id="6" name="fig"/>
          <p:cNvSpPr/>
          <p:nvPr/>
        </p:nvSpPr>
        <p:spPr>
          <a:xfrm>
            <a:off x="411480" y="4718303"/>
            <a:ext cx="4091939" cy="1088136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开发视图：模块怎么分</a:t>
            </a:r>
          </a:p>
        </p:txBody>
      </p:sp>
      <p:sp>
        <p:nvSpPr>
          <p:cNvPr id="7" name="fig"/>
          <p:cNvSpPr/>
          <p:nvPr/>
        </p:nvSpPr>
        <p:spPr>
          <a:xfrm>
            <a:off x="4640580" y="4718303"/>
            <a:ext cx="4091939" cy="1088136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物理视图：落到哪台机器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逻辑视图局部：订单链</a:t>
            </a:r>
          </a:p>
        </p:txBody>
      </p:sp>
      <p:pic>
        <p:nvPicPr>
          <p:cNvPr id="3" name="pic#archify#crop#c247ba6a8721f64bdfa1f0d4c7bb0b219ff6a60c#SDC/E2/diagrams/mall-logical.html#mall-logical-order.png" descr="mall-logical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88" y="1298448"/>
            <a:ext cx="8050022" cy="356615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4901183"/>
            <a:ext cx="8412480" cy="67665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/order/cancelOrder 只发延迟消息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派生图，局部，meng004/​mall，mall-logical.html，c247ba6a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逻辑视图局部：改密链</a:t>
            </a:r>
          </a:p>
        </p:txBody>
      </p:sp>
      <p:pic>
        <p:nvPicPr>
          <p:cNvPr id="3" name="pic#archify#crop#c247ba6a8721f64bdfa1f0d4c7bb0b219ff6a60c#SDC/E2/diagrams/mall-logical.html#mall-logical-password.png" descr="mall-logical-passw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298448"/>
            <a:ext cx="8631936" cy="1489775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4901183"/>
            <a:ext cx="8412480" cy="67665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返回码在控制器里译成文案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派生图，局部，meng004/​mall，mall-logical.html，c247ba6a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进程视图局部：立即返回</a:t>
            </a:r>
          </a:p>
        </p:txBody>
      </p:sp>
      <p:pic>
        <p:nvPicPr>
          <p:cNvPr id="3" name="pic#archify#crop#c247ba6a8721f64bdfa1f0d4c7bb0b219ff6a60c#SDC/E2/diagrams/mall-cancel.html#mall-cancel-now.png" descr="mall-cancel-n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298448"/>
            <a:ext cx="8631935" cy="3214601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4901183"/>
            <a:ext cx="8412480" cy="67665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成功返回时，订单仍待付款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派生图，局部，meng004/​mall，mall-cancel.html，c247ba6a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局部：虚线从队列回到订单服务</a:t>
            </a:r>
          </a:p>
        </p:txBody>
      </p:sp>
      <p:pic>
        <p:nvPicPr>
          <p:cNvPr id="3" name="pic#archify#crop#c247ba6a8721f64bdfa1f0d4c7bb0b219ff6a60c#SDC/E2/diagrams/mall-cancel.html#mall-cancel-later.png" descr="mall-cancel-la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417" y="1298448"/>
            <a:ext cx="7043166" cy="4279392"/>
          </a:xfrm>
          <a:prstGeom prst="rect">
            <a:avLst/>
          </a:prstGeom>
        </p:spPr>
      </p:pic>
      <p:sp>
        <p:nvSpPr>
          <p:cNvPr id="4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派生图，局部，meng004/​mall，mall-cancel.html，c247ba6a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开发视图局部：七个模块</a:t>
            </a:r>
          </a:p>
        </p:txBody>
      </p:sp>
      <p:pic>
        <p:nvPicPr>
          <p:cNvPr id="3" name="pic#archify#crop#c247ba6a8721f64bdfa1f0d4c7bb0b219ff6a60c#SDC/E2/diagrams/mall-dependencies.html#mall-dependencies-all.png" descr="mall-dependencies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2" y="1298448"/>
            <a:ext cx="8082714" cy="4279392"/>
          </a:xfrm>
          <a:prstGeom prst="rect">
            <a:avLst/>
          </a:prstGeom>
        </p:spPr>
      </p:pic>
      <p:sp>
        <p:nvSpPr>
          <p:cNvPr id="4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派生图，局部，meng004/​mall，mall-dependencies.html，c247ba6a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开发视图局部：生成代码</a:t>
            </a:r>
          </a:p>
        </p:txBody>
      </p:sp>
      <p:pic>
        <p:nvPicPr>
          <p:cNvPr id="3" name="pic#archify#crop#c247ba6a8721f64bdfa1f0d4c7bb0b219ff6a60c#SDC/E2/diagrams/mall-dependencies.html#mall-dependencies-mbg.png" descr="mall-dependencies-m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298448"/>
            <a:ext cx="8631936" cy="3531246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4901183"/>
            <a:ext cx="8412480" cy="67665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放大后能看清连向 mall-mbg 的线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派生图，局部，meng004/​mall，mall-dependencies.html，c247ba6a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物理视图：容器端口与宿主映射</a:t>
            </a:r>
          </a:p>
        </p:txBody>
      </p:sp>
      <p:pic>
        <p:nvPicPr>
          <p:cNvPr id="3" name="pic#derived#derived#c247ba6a8721f64bdfa1f0d4c7bb0b219ff6a60c#SDC/E2/说明.md" descr="说明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45" y="1481328"/>
            <a:ext cx="8198909" cy="3639311"/>
          </a:xfrm>
          <a:prstGeom prst="rect">
            <a:avLst/>
          </a:prstGeom>
        </p:spPr>
      </p:pic>
      <p:sp>
        <p:nvSpPr>
          <p:cNvPr id="4" name="ann"/>
          <p:cNvSpPr/>
          <p:nvPr/>
        </p:nvSpPr>
        <p:spPr>
          <a:xfrm>
            <a:off x="365760" y="5157216"/>
            <a:ext cx="2020824" cy="402336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36576" rIns="36576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DB 13306</a:t>
            </a:r>
          </a:p>
        </p:txBody>
      </p:sp>
      <p:sp>
        <p:nvSpPr>
          <p:cNvPr id="5" name="ann"/>
          <p:cNvSpPr/>
          <p:nvPr/>
        </p:nvSpPr>
        <p:spPr>
          <a:xfrm>
            <a:off x="2496312" y="5157216"/>
            <a:ext cx="2020824" cy="402336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36576" rIns="36576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MQ 5673</a:t>
            </a:r>
          </a:p>
        </p:txBody>
      </p:sp>
      <p:sp>
        <p:nvSpPr>
          <p:cNvPr id="6" name="ann"/>
          <p:cNvSpPr/>
          <p:nvPr/>
        </p:nvSpPr>
        <p:spPr>
          <a:xfrm>
            <a:off x="4626864" y="5157216"/>
            <a:ext cx="2020824" cy="402336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36576" rIns="36576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Redis 16379</a:t>
            </a:r>
          </a:p>
        </p:txBody>
      </p:sp>
      <p:sp>
        <p:nvSpPr>
          <p:cNvPr id="7" name="ann"/>
          <p:cNvSpPr/>
          <p:nvPr/>
        </p:nvSpPr>
        <p:spPr>
          <a:xfrm>
            <a:off x="6757416" y="5157216"/>
            <a:ext cx="2020824" cy="402336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36576" rIns="36576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Mongo 27018</a:t>
            </a:r>
          </a:p>
        </p:txBody>
      </p:sp>
      <p:sp>
        <p:nvSpPr>
          <p:cNvPr id="8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图片来源：Mermaid 派生图，meng004/​mall，说明.md，c247ba6a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+1 场景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下单—支付—超时取消把四张视图串起来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432304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下单：同一请求写订单，并发出延迟消息</a:t>
            </a:r>
          </a:p>
        </p:txBody>
      </p:sp>
      <p:sp>
        <p:nvSpPr>
          <p:cNvPr id="5" name="fig"/>
          <p:cNvSpPr/>
          <p:nvPr/>
        </p:nvSpPr>
        <p:spPr>
          <a:xfrm>
            <a:off x="4434840" y="3313175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ig"/>
          <p:cNvSpPr/>
          <p:nvPr/>
        </p:nvSpPr>
        <p:spPr>
          <a:xfrm>
            <a:off x="411480" y="3587496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支付：更新订单，并扣减库存</a:t>
            </a:r>
          </a:p>
        </p:txBody>
      </p:sp>
      <p:sp>
        <p:nvSpPr>
          <p:cNvPr id="7" name="fig"/>
          <p:cNvSpPr/>
          <p:nvPr/>
        </p:nvSpPr>
        <p:spPr>
          <a:xfrm>
            <a:off x="4434840" y="4468368"/>
            <a:ext cx="274320" cy="164592"/>
          </a:xfrm>
          <a:prstGeom prst="downArrow">
            <a:avLst/>
          </a:prstGeom>
          <a:solidFill>
            <a:srgbClr val="C05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ig"/>
          <p:cNvSpPr/>
          <p:nvPr/>
        </p:nvSpPr>
        <p:spPr>
          <a:xfrm>
            <a:off x="411480" y="4742688"/>
            <a:ext cx="8321040" cy="880871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超时取消：到期后检查状态，释放锁库存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风格与边界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风格是某类系统惯用的组织方式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边界是依赖不许越过的地方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开发视图把生成代码标成不可直接改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分层是一种风格，方向要能被检查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Layer 与 Tier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31673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4-1 第 14 页列出这个题目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Layer 不由部署方式来定义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962656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Layer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962656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Tier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739896"/>
            <a:ext cx="4114800" cy="6156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逻辑上的职责划分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739896"/>
            <a:ext cx="4114800" cy="6156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独立进程或机器</a:t>
            </a:r>
          </a:p>
        </p:txBody>
      </p:sp>
      <p:sp>
        <p:nvSpPr>
          <p:cNvPr id="8" name="fig"/>
          <p:cNvSpPr/>
          <p:nvPr/>
        </p:nvSpPr>
        <p:spPr>
          <a:xfrm>
            <a:off x="365760" y="4447032"/>
            <a:ext cx="4114800" cy="6156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控制器、服务、数据访问</a:t>
            </a:r>
          </a:p>
        </p:txBody>
      </p:sp>
      <p:sp>
        <p:nvSpPr>
          <p:cNvPr id="9" name="fig"/>
          <p:cNvSpPr/>
          <p:nvPr/>
        </p:nvSpPr>
        <p:spPr>
          <a:xfrm>
            <a:off x="4663440" y="4447032"/>
            <a:ext cx="4114800" cy="6156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门户进程与数据库容器</a:t>
            </a:r>
          </a:p>
        </p:txBody>
      </p:sp>
      <p:sp>
        <p:nvSpPr>
          <p:cNvPr id="10" name="fig"/>
          <p:cNvSpPr/>
          <p:nvPr/>
        </p:nvSpPr>
        <p:spPr>
          <a:xfrm>
            <a:off x="365760" y="5154168"/>
            <a:ext cx="4114800" cy="6156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与部署无必然绑定</a:t>
            </a:r>
          </a:p>
        </p:txBody>
      </p:sp>
      <p:sp>
        <p:nvSpPr>
          <p:cNvPr id="11" name="fig"/>
          <p:cNvSpPr/>
          <p:nvPr/>
        </p:nvSpPr>
        <p:spPr>
          <a:xfrm>
            <a:off x="4663440" y="5154168"/>
            <a:ext cx="4114800" cy="61569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跨网络通常是跨 Tier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分层各自干什么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控制器接收请求，转给服务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服务写业务规则，并标事务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数据访问负责读写存储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依赖向下，下层不调用上层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逻辑泄漏：改密返回码</a:t>
            </a:r>
          </a:p>
        </p:txBody>
      </p:sp>
      <p:sp>
        <p:nvSpPr>
          <p:cNvPr id="3" name="code"/>
          <p:cNvSpPr txBox="1"/>
          <p:nvPr/>
        </p:nvSpPr>
        <p:spPr>
          <a:xfrm>
            <a:off x="411480" y="1481328"/>
            <a:ext cx="8138160" cy="318211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int status ​= ​adminService.​updatePassword(​updatePasswordParam);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if (​status ​&gt; ​0)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return CommonResult.​success(​status);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 else if (​status ​== ​-1)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return CommonResult.​failed(​"提交参数不合法");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 else if (​status ​== ​-2)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return CommonResult.​failed(​"找不到该用户");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 else if (​status ​== ​-3)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return CommonResult.​failed(​"旧密码错误");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 else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return CommonResult.​failed(​);</a:t>
            </a:r>
          </a:p>
        </p:txBody>
      </p:sp>
      <p:sp>
        <p:nvSpPr>
          <p:cNvPr id="4" name="fn"/>
          <p:cNvSpPr txBox="1"/>
          <p:nvPr/>
        </p:nvSpPr>
        <p:spPr>
          <a:xfrm>
            <a:off x="411480" y="4681728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出处：mall-admin/​src/​main/​java/​com/​macro/​mall/​controller/​UmsAdminController.java:​148-158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服务使用生成查询</a:t>
            </a:r>
          </a:p>
        </p:txBody>
      </p:sp>
      <p:sp>
        <p:nvSpPr>
          <p:cNvPr id="3" name="code"/>
          <p:cNvSpPr txBox="1"/>
          <p:nvPr/>
        </p:nvSpPr>
        <p:spPr>
          <a:xfrm>
            <a:off x="411480" y="1481328"/>
            <a:ext cx="8138160" cy="318211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OmsOrderExample orderExample ​= ​new OmsOrderExample(​);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OmsOrderExample.​Criteria criteria ​= ​orderExample.​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createCriteria(​);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criteria.​andDeleteStatusEqualTo(​0)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    .​andMemberIdEqualTo(​member.​getId(​));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if(​status!=null){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criteria.​andStatusEqualTo(​status);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orderExample.​setOrderByClause(​"create_time desc");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List&lt;OmsOrder&gt; ​orderList ​= ​orderMapper.​selectByExample(​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orderExample);</a:t>
            </a:r>
          </a:p>
        </p:txBody>
      </p:sp>
      <p:sp>
        <p:nvSpPr>
          <p:cNvPr id="4" name="fn"/>
          <p:cNvSpPr txBox="1"/>
          <p:nvPr/>
        </p:nvSpPr>
        <p:spPr>
          <a:xfrm>
            <a:off x="411480" y="4681728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出处：mall-portal/​src/​main/​java/​com/​macro/​mall/​portal/​service/​impl/​OmsPortalOrderServiceImpl.java:​359-367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事务注解在接口上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generateOrder 的事务注解锁在接口上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实现类第 94 行没有重复这行注解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Map&lt;String,​ Object&gt; ​generateOrder(​OrderParam orderParam);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5661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出处：mall-portal/​src/​main/​java/​com/​macro/​mall/​portal/​service/​OmsPortalOrderService.java:​26-27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840480"/>
            <a:ext cx="8138160" cy="43891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public Map&lt;String,​ Object&gt; ​generateOrder(​OrderParam orderParam) {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429768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出处：mall-portal/​src/​main/​java/​com/​macro/​mall/​portal/​service/​impl/​OmsPortalOrderServiceImpl.java:​94-94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违背分层的四种形态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逻辑泄漏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业务判断跑到上层</a:t>
            </a:r>
          </a:p>
        </p:txBody>
      </p:sp>
      <p:sp>
        <p:nvSpPr>
          <p:cNvPr id="4" name="fig"/>
          <p:cNvSpPr/>
          <p:nvPr/>
        </p:nvSpPr>
        <p:spPr>
          <a:xfrm>
            <a:off x="4640580" y="1572768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跨层调用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越过相邻的层</a:t>
            </a:r>
          </a:p>
        </p:txBody>
      </p:sp>
      <p:sp>
        <p:nvSpPr>
          <p:cNvPr id="5" name="fig"/>
          <p:cNvSpPr/>
          <p:nvPr/>
        </p:nvSpPr>
        <p:spPr>
          <a:xfrm>
            <a:off x="411480" y="3758183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依赖生成代码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直接拿生成查询</a:t>
            </a:r>
          </a:p>
        </p:txBody>
      </p:sp>
      <p:sp>
        <p:nvSpPr>
          <p:cNvPr id="6" name="fig"/>
          <p:cNvSpPr/>
          <p:nvPr/>
        </p:nvSpPr>
        <p:spPr>
          <a:xfrm>
            <a:off x="4640580" y="3758183"/>
            <a:ext cx="4091939" cy="2048255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循环依赖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两层互相调用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依赖规则的结构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示意：mall 里没有 ArchUnit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规则：服务层的类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不得依赖控制器所在的包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违反时构建失败，不靠人翻文档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含 AI 组件时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接入可以是模型即服务、检索增强、智能体编排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模型按不可靠的外部依赖对待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架构上要隔离、超时、重试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还要能缓存，并且能够降级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约束只写在文档里，为什么迟早会被违背？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文档不会在每次提交时执行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后来的修改对不上旧句子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可执行的规则才会让构建失败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先找出不许改的部分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mall-mbg 的生成代码，不手改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后台和前台共用的表结构，不改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实体上的 Schema 注解，被直接当成接口说明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接手时先标出这三处，再谈改哪里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注解被当成接口说明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676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注解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订单 id 与订单编号有；memberId、couponId 没有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code"/>
          <p:cNvSpPr txBox="1"/>
          <p:nvPr/>
        </p:nvSpPr>
        <p:spPr>
          <a:xfrm>
            <a:off x="411480" y="2231136"/>
            <a:ext cx="8138160" cy="290779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public class OmsOrder implements Serializable {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@Schema(​title ​= ​"订单id")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Long id;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/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Long memberId;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/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Long couponId;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/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@Schema(​title ​= ​"订单编号")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private String orderSn;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157216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出处：mall-mbg/​src/​main/​java/​com/​macro/​mall/​model/​OmsOrder.java:​8-17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视图和决策记录</a:t>
            </a:r>
          </a:p>
        </p:txBody>
      </p:sp>
      <p:sp>
        <p:nvSpPr>
          <p:cNvPr id="3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视图</a:t>
            </a:r>
          </a:p>
        </p:txBody>
      </p:sp>
      <p:sp>
        <p:nvSpPr>
          <p:cNvPr id="4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决策记录</a:t>
            </a:r>
          </a:p>
        </p:txBody>
      </p:sp>
      <p:sp>
        <p:nvSpPr>
          <p:cNvPr id="5" name="fig"/>
          <p:cNvSpPr/>
          <p:nvPr/>
        </p:nvSpPr>
        <p:spPr>
          <a:xfrm>
            <a:off x="36576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说明系统现在长什么样</a:t>
            </a:r>
          </a:p>
        </p:txBody>
      </p:sp>
      <p:sp>
        <p:nvSpPr>
          <p:cNvPr id="6" name="fig"/>
          <p:cNvSpPr/>
          <p:nvPr/>
        </p:nvSpPr>
        <p:spPr>
          <a:xfrm>
            <a:off x="4663440" y="2350008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说明当初为什么这样定</a:t>
            </a:r>
          </a:p>
        </p:txBody>
      </p:sp>
      <p:sp>
        <p:nvSpPr>
          <p:cNvPr id="7" name="fig"/>
          <p:cNvSpPr/>
          <p:nvPr/>
        </p:nvSpPr>
        <p:spPr>
          <a:xfrm>
            <a:off x="36576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元素、依赖、部署</a:t>
            </a:r>
          </a:p>
        </p:txBody>
      </p:sp>
      <p:sp>
        <p:nvSpPr>
          <p:cNvPr id="8" name="fig"/>
          <p:cNvSpPr/>
          <p:nvPr/>
        </p:nvSpPr>
        <p:spPr>
          <a:xfrm>
            <a:off x="4663440" y="3520439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上下文、决定、后果</a:t>
            </a:r>
          </a:p>
        </p:txBody>
      </p:sp>
      <p:sp>
        <p:nvSpPr>
          <p:cNvPr id="9" name="fig"/>
          <p:cNvSpPr/>
          <p:nvPr/>
        </p:nvSpPr>
        <p:spPr>
          <a:xfrm>
            <a:off x="36576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改了结构就要改图</a:t>
            </a:r>
          </a:p>
        </p:txBody>
      </p:sp>
      <p:sp>
        <p:nvSpPr>
          <p:cNvPr id="10" name="fig"/>
          <p:cNvSpPr/>
          <p:nvPr/>
        </p:nvSpPr>
        <p:spPr>
          <a:xfrm>
            <a:off x="4663440" y="4690872"/>
            <a:ext cx="4114800" cy="107899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还要写被否决的方案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决策记录的四段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段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要写清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上下文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当时面对什么限制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决定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选了哪一种做法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后果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因此得到什么、失去什么</a:t>
                      </a:r>
                    </a:p>
                  </a:txBody>
                  <a:tcPr anchor="ctr"/>
                </a:tc>
              </a:tr>
              <a:tr h="749811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被否决方案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放弃了什么，为什么放弃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后台和门户各有一套订单服务，这是架构缺陷，还是合理的边界？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后台类注释写的是订单管理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前台类注释写的是前台订单管理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816602"/>
            <a:ext cx="7114031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同一条规则若两处各写一份，就变成重复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记住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要点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需求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收成三份清单；含混处靠追问挤出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视图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四张视图加场景；场景是下单—支付—超时取消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分层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四种违背；依赖方向要能被检查</a:t>
                      </a:r>
                    </a:p>
                  </a:txBody>
                  <a:tcPr anchor="ctr"/>
                </a:tc>
              </a:tr>
              <a:tr h="749811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约束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生成代码、共用表、Schema 注解；决策记录写四段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实验 E3 开始前完成。题干和选项与课前作业一致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需求验收准则应当在什么时间写出来？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代码实现完成之后，用于验收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与 AI 协作生成之前，作为判定产出是否合格的依据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提交作品时随说明一起补写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期末答辩前统一补写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AI 生成的代码只要通过现有测试，就可以直接合并。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依赖注入的三种方式中，哪一种最容易让编写特征测试变困难？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构造函数注入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Setter 注入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字段注入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三种方式没有差别</a:t>
            </a:r>
          </a:p>
        </p:txBody>
      </p:sp>
    </p:spTree>
  </p:cSld>
  <p:clrMapOvr>
    <a:masterClrMapping/>
  </p:clrMapOvr>
  <p:hf sldNum="0" hdr="0" ftr="0" dt="0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预习题（4—5）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“事务由数据访问层承担还是由服务层承担”属于哪一类设计决策？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命名决策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格式决策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测试框架选型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体系结构决策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让 AI 生成代码之前，应当先交出需求验收准则与不可变约束。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做完这两题，再看下一页的阅读</a:t>
            </a:r>
          </a:p>
        </p:txBody>
      </p:sp>
    </p:spTree>
  </p:cSld>
  <p:clrMapOvr>
    <a:masterClrMapping/>
  </p:clrMapOvr>
  <p:hf sldNum="0" hdr="0" ftr="0" dt="0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课后阅读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766560"/>
              </a:tblGrid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[25]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Kruchten 1995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[11]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Newman《微服务设计》</a:t>
                      </a:r>
                    </a:p>
                  </a:txBody>
                  <a:tcPr anchor="ctr"/>
                </a:tc>
              </a:tr>
              <a:tr h="749807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[7]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Fowler《企业应用架构模式》第 1、3、4 章</a:t>
                      </a:r>
                    </a:p>
                  </a:txBody>
                  <a:tcPr anchor="ctr"/>
                </a:tc>
              </a:tr>
              <a:tr h="749811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[8]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latin typeface="微软雅黑"/>
                          <a:ea typeface="微软雅黑"/>
                          <a:cs typeface="微软雅黑"/>
                        </a:rPr>
                        <a:t>Ford 等《演进式架构》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